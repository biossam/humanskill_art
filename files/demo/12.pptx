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9B%90%ED%96%89%EC%9D%84%EB%AC%98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9B%90%ED%96%89%EC%9D%84%EB%AC%98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C%98%81%EC%A1%B0%EC%99%95%EC%84%B8%EC%A0%9C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8%81%EC%A1%B0%EC%99%95%EC%84%B8%EC%A0%9C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relicId=PS0100501100100076900000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D%99%94%EC%84%B1%EC%84%B1%EC%97%AD%EC%9D%98%EA%B6%A4&amp;pageNum=1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0154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기록화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연결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확장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도전하기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12차시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8947327" y="2942753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947327" y="4040033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6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3" name="Oval 102"/>
          <p:cNvSpPr/>
          <p:nvPr/>
        </p:nvSpPr>
        <p:spPr>
          <a:xfrm>
            <a:off x="760708" y="3013329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sz="20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60708" y="4110609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10648111" y="2942753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10648111" y="4040033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기록화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기록화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DFF106-B51D-3025-3F62-DB84F8E31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2" y="1325880"/>
            <a:ext cx="8534400" cy="4800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3FF32B-F004-AF2C-2DE3-EC57EE0B316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 err="1">
                <a:solidFill>
                  <a:srgbClr val="3B3B3B"/>
                </a:solidFill>
                <a:latin typeface="고양덕양 B"/>
                <a:ea typeface="고양덕양 B"/>
              </a:rPr>
              <a:t>화성원행의궤도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를 함께 감상해봅시다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012103"/>
              </p:ext>
            </p:extLst>
          </p:nvPr>
        </p:nvGraphicFramePr>
        <p:xfrm>
          <a:off x="566010" y="1696749"/>
          <a:ext cx="9753647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806556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47091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화성원행의궤도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</a:t>
                      </a:r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정조가 그의 부친인 사도세자의 묘소가 있는 수원으로 행차하는 장면을 그린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화첩식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의궤이다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1795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19)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정조는 어머니인 혜경궁 홍씨의 회갑을 기념하여 아버지의 묘소가 있는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현륭원에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행차하였다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한강을 건널 때는 배다리를 이용하였고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화성에 도착해서는 회갑연을 비롯한 여러 가지 행사를 개최하였다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 과정의 행렬 모습과 행사의 여러 장면을 그린 것이다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19" name="그림 18">
            <a:hlinkClick r:id="rId3"/>
            <a:extLst>
              <a:ext uri="{FF2B5EF4-FFF2-40B4-BE49-F238E27FC236}">
                <a16:creationId xmlns:a16="http://schemas.microsoft.com/office/drawing/2014/main" id="{6613FE0A-87A5-4D17-D717-FDB12AABA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78" y="3066348"/>
            <a:ext cx="3297159" cy="20922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418018-A452-A50C-06F7-930E10DD757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화성원행의궤도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4" name="Picture 2" descr="1유형">
            <a:extLst>
              <a:ext uri="{FF2B5EF4-FFF2-40B4-BE49-F238E27FC236}">
                <a16:creationId xmlns:a16="http://schemas.microsoft.com/office/drawing/2014/main" id="{284EB08A-ABC7-8128-3F73-CD852A1B0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8204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연결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(Connect)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확장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(Extend)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도전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(Challenge)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연결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작품은 여러분이 이미 알고 있던 내용과 어떻게 연결되나요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확장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작품을 통해 새롭게 떠오르는 생각이나 인상은 무엇인가요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도전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작품을 통해 어떤 도전 과제나 궁금한 점이 생겼나요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543757"/>
              </p:ext>
            </p:extLst>
          </p:nvPr>
        </p:nvGraphicFramePr>
        <p:xfrm>
          <a:off x="301895" y="1754701"/>
          <a:ext cx="11553372" cy="4624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11524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화성원행의궤도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연결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작품은 여러분이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이미 알고 있던 내용과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어떻게 연결되나요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확장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새롭게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떠오르는 생각이나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인상은 무엇인가요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도전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도전 과제나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궁금한 점이 생겼나요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13" name="그림 12">
            <a:hlinkClick r:id="rId3"/>
            <a:extLst>
              <a:ext uri="{FF2B5EF4-FFF2-40B4-BE49-F238E27FC236}">
                <a16:creationId xmlns:a16="http://schemas.microsoft.com/office/drawing/2014/main" id="{D367E6B5-9F10-37DA-9CE7-7294473E11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551" y="3675017"/>
            <a:ext cx="2652135" cy="1682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86E8AA-0541-F8FE-11C1-C31780942909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화성원행의궤도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5" name="Picture 2" descr="1유형">
            <a:extLst>
              <a:ext uri="{FF2B5EF4-FFF2-40B4-BE49-F238E27FC236}">
                <a16:creationId xmlns:a16="http://schemas.microsoft.com/office/drawing/2014/main" id="{BE3749A0-04DB-FEFB-46AA-6BBA59750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8204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597986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봉수당진찬도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영조왕세제책례반차도권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화성성역 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의궤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16" name="그림 15">
            <a:hlinkClick r:id="rId3"/>
            <a:extLst>
              <a:ext uri="{FF2B5EF4-FFF2-40B4-BE49-F238E27FC236}">
                <a16:creationId xmlns:a16="http://schemas.microsoft.com/office/drawing/2014/main" id="{A220FE2F-D005-80F1-FFD2-FF605862B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146" y="3108961"/>
            <a:ext cx="3547572" cy="2107474"/>
          </a:xfrm>
          <a:prstGeom prst="rect">
            <a:avLst/>
          </a:prstGeom>
        </p:spPr>
      </p:pic>
      <p:pic>
        <p:nvPicPr>
          <p:cNvPr id="18" name="그림 17">
            <a:hlinkClick r:id="rId5"/>
            <a:extLst>
              <a:ext uri="{FF2B5EF4-FFF2-40B4-BE49-F238E27FC236}">
                <a16:creationId xmlns:a16="http://schemas.microsoft.com/office/drawing/2014/main" id="{656769BD-D16E-4307-B0B7-C9F3DBDED8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3860" y="2956285"/>
            <a:ext cx="3193660" cy="2701836"/>
          </a:xfrm>
          <a:prstGeom prst="rect">
            <a:avLst/>
          </a:prstGeom>
        </p:spPr>
      </p:pic>
      <p:pic>
        <p:nvPicPr>
          <p:cNvPr id="19" name="그림 18">
            <a:hlinkClick r:id="rId7"/>
            <a:extLst>
              <a:ext uri="{FF2B5EF4-FFF2-40B4-BE49-F238E27FC236}">
                <a16:creationId xmlns:a16="http://schemas.microsoft.com/office/drawing/2014/main" id="{5D1C62EA-B9B6-5D0B-7C6B-06F465125F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0055" y="2638003"/>
            <a:ext cx="1486631" cy="3338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280064-6FA9-E5F7-155F-D5922BCE3C0C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178177"/>
              </p:ext>
            </p:extLst>
          </p:nvPr>
        </p:nvGraphicFramePr>
        <p:xfrm>
          <a:off x="301895" y="1754701"/>
          <a:ext cx="11553372" cy="4624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11524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  <a:p>
                      <a:pPr algn="ctr" latinLnBrk="1"/>
                      <a:r>
                        <a:rPr lang="en-US" altLang="ko-KR" dirty="0"/>
                        <a:t>_____________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연결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작품은 여러분이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이미 알고 있던 내용과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어떻게 연결되나요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확장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새롭게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떠오르는 생각이나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인상은 무엇인가요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도전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도전 과제나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궁금한 점이 생겼나요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기록화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이전 생각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지금 생각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을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678</Words>
  <Application>Microsoft Office PowerPoint</Application>
  <PresentationFormat>와이드스크린</PresentationFormat>
  <Paragraphs>158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Noto Sans KR</vt:lpstr>
      <vt:lpstr>Noto Sans KR Black</vt:lpstr>
      <vt:lpstr>Noto Sans KR Medium</vt:lpstr>
      <vt:lpstr>고양덕양 B</vt:lpstr>
      <vt:lpstr>나눔바른고딕 Light</vt:lpstr>
      <vt:lpstr>나눔스퀘어 ExtraBold</vt:lpstr>
      <vt:lpstr>땅스부대찌개 Bold</vt:lpstr>
      <vt:lpstr>Arial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&lt;기록화&gt;를 알아봅시다(영상제목: 기록화)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46</cp:revision>
  <dcterms:created xsi:type="dcterms:W3CDTF">2026-07-09T22:35:37Z</dcterms:created>
  <dcterms:modified xsi:type="dcterms:W3CDTF">2026-10-21T06:34:12Z</dcterms:modified>
  <cp:version/>
</cp:coreProperties>
</file>