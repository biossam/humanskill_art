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64" r:id="rId2"/>
    <p:sldId id="265" r:id="rId3"/>
    <p:sldId id="267" r:id="rId4"/>
    <p:sldId id="268" r:id="rId5"/>
    <p:sldId id="279" r:id="rId6"/>
    <p:sldId id="272" r:id="rId7"/>
    <p:sldId id="275" r:id="rId8"/>
    <p:sldId id="276" r:id="rId9"/>
    <p:sldId id="277" r:id="rId10"/>
    <p:sldId id="278" r:id="rId11"/>
    <p:sldId id="269" r:id="rId12"/>
    <p:sldId id="27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3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30">
          <p15:clr>
            <a:srgbClr val="A4A3A4"/>
          </p15:clr>
        </p15:guide>
        <p15:guide id="2" pos="215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82788"/>
  </p:normalViewPr>
  <p:slideViewPr>
    <p:cSldViewPr snapToGrid="0" snapToObjects="1">
      <p:cViewPr varScale="1">
        <p:scale>
          <a:sx n="56" d="100"/>
          <a:sy n="56" d="100"/>
        </p:scale>
        <p:origin x="905" y="41"/>
      </p:cViewPr>
      <p:guideLst>
        <p:guide orient="horz" pos="2157"/>
        <p:guide pos="3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3830"/>
        <p:guide pos="215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pPr lv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3676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ko-KR" dirty="0"/>
              <a:t>[6미02-01] 다양한 방법으로 아이디어를 연결하여 확장된 표현 주제로 발전시킬 수 있다.</a:t>
            </a:r>
            <a:endParaRPr lang="en-US" altLang="ko-KR" b="0" i="0" u="none" strike="noStrike" baseline="0" dirty="0">
              <a:solidFill>
                <a:srgbClr val="000000"/>
              </a:solidFill>
              <a:latin typeface="나눔바른고딕"/>
              <a:ea typeface="나눔바른고딕"/>
              <a:cs typeface="나눔바른고딕"/>
            </a:endParaRPr>
          </a:p>
        </p:txBody>
      </p:sp>
    </p:spTree>
    <p:extLst>
      <p:ext uri="{BB962C8B-B14F-4D97-AF65-F5344CB8AC3E}">
        <p14:creationId xmlns:p14="http://schemas.microsoft.com/office/powerpoint/2010/main" val="4104098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https://youtube.com/shorts/YxNTvRJvAn8?feature=share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957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예술가(나)는 아이디어를 연결해 새롭게 [재구성]할 수 있다.</a:t>
            </a:r>
          </a:p>
          <a:p>
            <a:endParaRPr/>
          </a:p>
          <a:p>
            <a:r>
              <a:t>핵심 문장 [빈칸] 추론하기</a:t>
            </a:r>
          </a:p>
          <a:p>
            <a:r>
              <a:t>•교사: “오늘의 목표는 스티로폼과 자연, 서로 다른 재료의 아이디어를 연결해서 새로운 작품을 만드는 거예요.”</a:t>
            </a:r>
          </a:p>
          <a:p>
            <a:r>
              <a:t>(정답 '재구성'은 학생들이 추론한 뒤 확인한다.)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AI는? 나는? https://youtu.be/pSufBQ-n8R4</a:t>
            </a:r>
          </a:p>
          <a:p>
            <a:endParaRPr/>
          </a:p>
          <a:p>
            <a:r>
              <a:t>AI는 ‘자연스러운 돌 질감’을 입력하면 그럴듯한 이미지를 즉시 만들어 낸다.</a:t>
            </a:r>
          </a:p>
          <a:p>
            <a:r>
              <a:t>나는 스티로폼을 직접 깎고 칠하며, 인공물이 자연을 닮아 가는 과정을 손으로 재구성한다.</a:t>
            </a:r>
          </a:p>
          <a:p>
            <a:r>
              <a:t>→ 서로 다른 재료의 아이디어를 연결해 새로운 의미를 만드는 것, 이것이 예술가의 힘이다.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924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수업의 흐름 (40분)</a:t>
            </a:r>
          </a:p>
          <a:p>
            <a:r>
              <a:t>질문하기(5분) → 판단하기(17분) → 공감하기(7분) → 의미 만들기(11분)</a:t>
            </a:r>
          </a:p>
          <a:p>
            <a:r>
              <a:t>※ 4차시(재구성)는 ‘판단하기’ 비중이 가장 크다. 스티로폼을 깎아 돌처럼 만드는 판단 자체가 이 차시의 핵심이기 때문이다.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432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노트 개체 틀 1">
            <a:extLst>
              <a:ext uri="{FF2B5EF4-FFF2-40B4-BE49-F238E27FC236}">
                <a16:creationId xmlns:a16="http://schemas.microsoft.com/office/drawing/2014/main" id="{69A61E2D-8C38-D4F9-7DB6-5F55EA5D3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t>https://www.youtube.com/watch?v=paHca6xc_lo</a:t>
            </a:r>
          </a:p>
          <a:p>
            <a:endParaRPr/>
          </a:p>
          <a:p>
            <a:r>
              <a:t>작가 소개</a:t>
            </a:r>
          </a:p>
          <a:p>
            <a:r>
              <a:t>장한나: 장한나 작가는 바닷가에서 발견한, 오랜 시간 풍화되어 돌처럼 변한 플라스틱을 ‘뉴 락(New Rock)’이라 부르며 작품화한다.</a:t>
            </a:r>
          </a:p>
          <a:p>
            <a:r>
              <a:t>•교사: “플라스틱이 지구상에서 사라지는 데 얼마나 걸리죠? 결국 사라지지 못하고 돌처럼 변해 자연 속에 남아 있는 모습을 본 적 있나요? 장한나 작가는 그런 플라스틱을 ‘뉴 락’이라는 작품으로 만들었어요. 오늘 우리도 스티로폼을 진짜 돌처럼 만들어 볼 거예요.”</a:t>
            </a:r>
          </a:p>
        </p:txBody>
      </p:sp>
    </p:spTree>
    <p:extLst>
      <p:ext uri="{BB962C8B-B14F-4D97-AF65-F5344CB8AC3E}">
        <p14:creationId xmlns:p14="http://schemas.microsoft.com/office/powerpoint/2010/main" val="2297102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돌 모양 만들기</a:t>
            </a:r>
          </a:p>
          <a:p>
            <a:r>
              <a:t>•스티로폼을 조각칼과 사포로 다듬어 돌 모양을 만들고, 진짜 돌을 관찰하며 질감과 색을 계획한다.</a:t>
            </a:r>
          </a:p>
          <a:p>
            <a:r>
              <a:t>[유의점] 조각칼과 사포 사용 시 장갑을 끼고, 사전에 안전 지도를 한다.</a:t>
            </a:r>
          </a:p>
          <a:p>
            <a:r>
              <a:t>•교사: “진짜 돌을 한번 만져 보세요. 표면이 어떤가요? 이제 스티로폼을 어떻게 깎아야 이 돌의 느낌에 가까워질지 생각해 봅시다. 조각칼과 사포는 몸쪽이 아닌 바깥쪽으로 움직여요. 깎으면서 계속 진짜 돌과 비교해 보세요. 더 다듬을 곳이 있나요?”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806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의미 담아 채색하기</a:t>
            </a:r>
          </a:p>
          <a:p>
            <a:r>
              <a:t>•완성한 돌 모양에 색을 칠하며, 이 작품에 담고 싶은 의미(경고, 걱정, 질문 등)를 함께 떠올린다.</a:t>
            </a:r>
          </a:p>
          <a:p>
            <a:r>
              <a:t>•교사: “이 가짜 돌에 어떤 메시지를 담고 싶나요? 색을 칠하며 생각해 보세요. 이 돌이 친구들에게 어떤 이야기를 전했으면 좋을까요?”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171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https://www.youtube.com/embed/9799LnBeb7o?start=112&amp;end=162&amp;autoplay=1</a:t>
            </a:r>
          </a:p>
          <a:p>
            <a:r>
              <a:t>장한나 1:52~2:42</a:t>
            </a:r>
          </a:p>
          <a:p>
            <a:endParaRPr/>
          </a:p>
          <a:p>
            <a:r>
              <a:t>진짜 돌 VS 가짜 돌</a:t>
            </a:r>
          </a:p>
          <a:p>
            <a:r>
              <a:t>•교사: “완성한 돌을 2차시에 만든 산, 들, 바다 지형 위 진짜 자연물 사이에 숨겨 볼게요. 스티로폼 돌이 자연 속에서도 감쪽같이 섞여 보이나요? 다른 모둠이 찾아보게 합시다!”</a:t>
            </a:r>
          </a:p>
          <a:p>
            <a:r>
              <a:t>•교사: “스티로폼이 어떻게 돌이 될 수 있었을까요? 서로 다른 두 재료의 느낌을 어떻게 연결했는지 한 문장으로 말해 봅시다.”</a:t>
            </a:r>
          </a:p>
          <a:p>
            <a:r>
              <a:t>•교사: “플라스틱이 자연을 닮아 가는 건 좋은 일일까요?” (학생 생각을 충분히 들은 뒤)</a:t>
            </a:r>
          </a:p>
          <a:p>
            <a:r>
              <a:t>•교사: “감쪽같이 숨은 플라스틱은 사라진 게 아니라, 아무도 모르게 오래 남아 있어요.”</a:t>
            </a:r>
          </a:p>
          <a:p>
            <a:r>
              <a:t>[유의점] 질문을 먼저 보여 주고, 정리 메시지는 학생 발표 뒤에 보여 준다.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386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형성평가</a:t>
            </a:r>
          </a:p>
          <a:p>
            <a:r>
              <a:t>•예술가(나)는 아이디어를 연결해 새롭게 [재구성]할 수 있다.</a:t>
            </a:r>
          </a:p>
          <a:p>
            <a:r>
              <a:t>•스티로폼으로 만든 가짜 돌이 진짜 돌 사이에서 자연스럽게 보이는 조형 원리는 [조화]이다.</a:t>
            </a:r>
          </a:p>
          <a:p>
            <a:r>
              <a:t>•AI는 '자연스러운 돌 질감'을 입력하면 그럴듯한 이미지를 즉시 만들어 내고, 나는 스티로폼을 직접 깎고 칠하며 인공물이 자연을 닮아 가는 과정을 손으로 재구성한다.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noFill/>
          <a:ln w="12700" cap="flat" cmpd="sng" algn="ctr">
            <a:solidFill>
              <a:prstClr val="black"/>
            </a:solidFill>
            <a:prstDash val="solid"/>
            <a:round/>
            <a:headEnd w="med" len="med"/>
            <a:tailEnd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</p:spPr>
        <p:txBody>
          <a:bodyPr/>
          <a:lstStyle/>
          <a:p>
            <a:r>
              <a:t>다음 시간 안내하기</a:t>
            </a:r>
          </a:p>
          <a:p>
            <a:r>
              <a:t>•교사: “다음 시간에는 [감정을 채운 병뚜껑] 수업을 하겠습니다.”</a:t>
            </a:r>
          </a:p>
          <a:p>
            <a:r>
              <a:t>준비물: 병뚜껑, 클레이, 목공풀</a:t>
            </a:r>
          </a:p>
        </p:txBody>
      </p:sp>
    </p:spTree>
    <p:extLst>
      <p:ext uri="{BB962C8B-B14F-4D97-AF65-F5344CB8AC3E}">
        <p14:creationId xmlns:p14="http://schemas.microsoft.com/office/powerpoint/2010/main" val="275037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youtube.com/shorts/YxNTvRJvAn8?feature=shar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youtu.be/pSufBQ-n8R4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paHca6xc_lo?feature=oembed" TargetMode="Externa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9799LnBeb7o?start=112&amp;feature=oembed" TargetMode="Externa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512135" y="3025980"/>
            <a:ext cx="7718219" cy="995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5867" spc="-200" dirty="0">
                <a:solidFill>
                  <a:srgbClr val="F6877E"/>
                </a:solidFill>
                <a:latin typeface="+mj-ea"/>
                <a:ea typeface="+mj-ea"/>
              </a:rPr>
              <a:t>예술가의 재구성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/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>
                <a:schemeClr val="lt1"/>
              </a:buClr>
              <a:buSzPct val="25000"/>
              <a:buNone/>
              <a:defRPr/>
            </a:pPr>
            <a:r>
              <a:rPr lang="en-US" altLang="ko-KR" sz="3733">
                <a:solidFill>
                  <a:schemeClr val="bg1"/>
                </a:solidFill>
                <a:latin typeface="Noto Sans KR Black"/>
                <a:ea typeface="Noto Sans KR Black"/>
              </a:rPr>
              <a:t>4</a:t>
            </a:r>
            <a:r>
              <a:rPr lang="ko-KR" altLang="en-US" sz="3733">
                <a:solidFill>
                  <a:schemeClr val="bg1"/>
                </a:solidFill>
                <a:latin typeface="Noto Sans KR Black"/>
                <a:ea typeface="Noto Sans KR Black"/>
              </a:rPr>
              <a:t>차시</a:t>
            </a:r>
          </a:p>
        </p:txBody>
      </p:sp>
      <p:sp>
        <p:nvSpPr>
          <p:cNvPr id="4" name="가로 글상자 32">
            <a:extLst>
              <a:ext uri="{FF2B5EF4-FFF2-40B4-BE49-F238E27FC236}">
                <a16:creationId xmlns:a16="http://schemas.microsoft.com/office/drawing/2014/main" id="{777DBD46-63F0-EBD8-91A9-D31380011720}"/>
              </a:ext>
            </a:extLst>
          </p:cNvPr>
          <p:cNvSpPr txBox="1"/>
          <p:nvPr/>
        </p:nvSpPr>
        <p:spPr>
          <a:xfrm>
            <a:off x="6082212" y="4439446"/>
            <a:ext cx="5655208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lvl="0" indent="0" algn="r" defTabSz="102883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2800" b="0" i="0" u="none" baseline="0" dirty="0">
                <a:solidFill>
                  <a:srgbClr val="4472C4">
                    <a:alpha val="100000"/>
                  </a:srgbClr>
                </a:solidFill>
                <a:latin typeface="에스코어 드림 8 Heavy"/>
                <a:ea typeface="에스코어 드림 8 Heavy"/>
              </a:rPr>
              <a:t>자연이 된 스티로폼</a:t>
            </a: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2639561" y="2564907"/>
            <a:ext cx="8129387" cy="2050138"/>
            <a:chOff x="3017890" y="1780272"/>
            <a:chExt cx="5272941" cy="751455"/>
          </a:xfrm>
        </p:grpSpPr>
        <p:grpSp>
          <p:nvGrpSpPr>
            <p:cNvPr id="15" name="그룹 14"/>
            <p:cNvGrpSpPr/>
            <p:nvPr/>
          </p:nvGrpSpPr>
          <p:grpSpPr>
            <a:xfrm>
              <a:off x="3017890" y="1780272"/>
              <a:ext cx="5272941" cy="213229"/>
              <a:chOff x="1397760" y="2088461"/>
              <a:chExt cx="6231767" cy="252000"/>
            </a:xfrm>
          </p:grpSpPr>
          <p:sp>
            <p:nvSpPr>
              <p:cNvPr id="4" name="타원 3"/>
              <p:cNvSpPr/>
              <p:nvPr/>
            </p:nvSpPr>
            <p:spPr>
              <a:xfrm>
                <a:off x="1397760" y="2088461"/>
                <a:ext cx="441595" cy="252000"/>
              </a:xfrm>
              <a:prstGeom prst="ellipse">
                <a:avLst/>
              </a:prstGeom>
              <a:solidFill>
                <a:srgbClr val="F687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en-US" altLang="ko-KR" sz="2400">
                    <a:solidFill>
                      <a:schemeClr val="bg1"/>
                    </a:solidFill>
                    <a:latin typeface="+mn-ea"/>
                  </a:rPr>
                  <a:t>1</a:t>
                </a:r>
                <a:endParaRPr lang="ko-KR" altLang="en-US" sz="240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9" name="직사각형 58"/>
              <p:cNvSpPr/>
              <p:nvPr/>
            </p:nvSpPr>
            <p:spPr>
              <a:xfrm>
                <a:off x="1912929" y="2126112"/>
                <a:ext cx="5716597" cy="195549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pPr lvl="0">
                  <a:defRPr/>
                </a:pPr>
                <a:r>
                  <a:rPr lang="ko-KR" altLang="en-US" sz="2400" spc="-147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</a:rPr>
                  <a:t>스티로폼과 자연물을 비교하며 돌처럼 재구성해 표현할 수 있다</a:t>
                </a:r>
                <a:r>
                  <a:rPr lang="en-US" altLang="ko-KR" sz="2400" spc="-147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</a:rPr>
                  <a:t>.</a:t>
                </a:r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>
              <a:off x="3017911" y="2227134"/>
              <a:ext cx="5112001" cy="304593"/>
              <a:chOff x="1397760" y="2662845"/>
              <a:chExt cx="6041552" cy="359978"/>
            </a:xfrm>
          </p:grpSpPr>
          <p:sp>
            <p:nvSpPr>
              <p:cNvPr id="61" name="타원 60"/>
              <p:cNvSpPr/>
              <p:nvPr/>
            </p:nvSpPr>
            <p:spPr>
              <a:xfrm>
                <a:off x="1397760" y="2714548"/>
                <a:ext cx="441594" cy="252000"/>
              </a:xfrm>
              <a:prstGeom prst="ellipse">
                <a:avLst/>
              </a:prstGeom>
              <a:solidFill>
                <a:srgbClr val="F687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en-US" altLang="ko-KR" sz="2400">
                    <a:solidFill>
                      <a:schemeClr val="bg1"/>
                    </a:solidFill>
                    <a:latin typeface="+mn-ea"/>
                  </a:rPr>
                  <a:t>2</a:t>
                </a:r>
                <a:endParaRPr lang="ko-KR" altLang="en-US" sz="240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1912952" y="2662845"/>
                <a:ext cx="5526360" cy="359978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pPr lvl="0">
                  <a:defRPr/>
                </a:pPr>
                <a:r>
                  <a:rPr lang="ko-KR" altLang="en-US" sz="24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</a:rPr>
                  <a:t>스티로폼과 자연물을 연결해 새로운 작품으로 발전시킬 수 있다</a:t>
                </a:r>
                <a:r>
                  <a:rPr lang="en-US" altLang="ko-KR" sz="24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The image depicts a large, textured rock contrasted with a meticulously carved sculpture, symbolizing the artistic transformation of natural elements.&#10;&#10;AI 생성 콘텐츠는 정확하지 않을 수 있습니다.">
            <a:extLst>
              <a:ext uri="{FF2B5EF4-FFF2-40B4-BE49-F238E27FC236}">
                <a16:creationId xmlns:a16="http://schemas.microsoft.com/office/drawing/2014/main" id="{89777F7B-68D4-5E9E-F2DA-E58020969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0687"/>
            <a:ext cx="12192000" cy="5437632"/>
          </a:xfrm>
          <a:prstGeom prst="rect">
            <a:avLst/>
          </a:prstGeom>
        </p:spPr>
      </p:pic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자연이 된 스티로폼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5" name="실행 단추: 앞으로 또는 다음 18">
            <a:hlinkClick r:id="rId4"/>
            <a:extLst>
              <a:ext uri="{FF2B5EF4-FFF2-40B4-BE49-F238E27FC236}">
                <a16:creationId xmlns:a16="http://schemas.microsoft.com/office/drawing/2014/main" id="{052C59B2-7543-9D66-C4DE-87B6B93825AD}"/>
              </a:ext>
            </a:extLst>
          </p:cNvPr>
          <p:cNvSpPr/>
          <p:nvPr/>
        </p:nvSpPr>
        <p:spPr>
          <a:xfrm>
            <a:off x="4194133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45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32658"/>
            <a:ext cx="12192000" cy="5367163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4</a:t>
            </a:fld>
            <a:endParaRPr lang="en-US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예술가의 비밀 무기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E99C67D-D1B6-CB00-794A-1EBDB09A0336}"/>
              </a:ext>
            </a:extLst>
          </p:cNvPr>
          <p:cNvGrpSpPr/>
          <p:nvPr/>
        </p:nvGrpSpPr>
        <p:grpSpPr>
          <a:xfrm>
            <a:off x="2272091" y="4162097"/>
            <a:ext cx="2856958" cy="1197208"/>
            <a:chOff x="2589517" y="2870101"/>
            <a:chExt cx="2942985" cy="19651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FA3E9B5-6A83-4E86-BA07-E5E417143FF8}"/>
                </a:ext>
              </a:extLst>
            </p:cNvPr>
            <p:cNvSpPr/>
            <p:nvPr/>
          </p:nvSpPr>
          <p:spPr>
            <a:xfrm>
              <a:off x="2589517" y="2966037"/>
              <a:ext cx="2942985" cy="17903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" name="그래픽 3" descr="휘갈겨 쓰다 윤곽선">
              <a:extLst>
                <a:ext uri="{FF2B5EF4-FFF2-40B4-BE49-F238E27FC236}">
                  <a16:creationId xmlns:a16="http://schemas.microsoft.com/office/drawing/2014/main" id="{7E3C44AB-60E1-1A3D-6437-A9F628EC7B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78432" y="2870101"/>
              <a:ext cx="1965157" cy="1965157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32657"/>
            <a:ext cx="12192000" cy="5367163"/>
          </a:xfrm>
          <a:prstGeom prst="rect">
            <a:avLst/>
          </a:prstGeom>
        </p:spPr>
      </p:pic>
      <p:sp>
        <p:nvSpPr>
          <p:cNvPr id="19" name="실행 단추: 앞으로 또는 다음 18">
            <a:hlinkClick r:id="rId4" highlightClick="1"/>
          </p:cNvPr>
          <p:cNvSpPr/>
          <p:nvPr/>
        </p:nvSpPr>
        <p:spPr>
          <a:xfrm>
            <a:off x="2929537" y="452670"/>
            <a:ext cx="613190" cy="564815"/>
          </a:xfrm>
          <a:prstGeom prst="actionButtonForwardNext">
            <a:avLst/>
          </a:prstGeom>
          <a:solidFill>
            <a:srgbClr val="FFE7D8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5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AI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나는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1139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31855"/>
            <a:ext cx="12192000" cy="5367966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6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안내</a:t>
            </a:r>
          </a:p>
        </p:txBody>
      </p:sp>
    </p:spTree>
    <p:extLst>
      <p:ext uri="{BB962C8B-B14F-4D97-AF65-F5344CB8AC3E}">
        <p14:creationId xmlns:p14="http://schemas.microsoft.com/office/powerpoint/2010/main" val="78045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7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ko-KR" b="1" i="0" u="none" baseline="0" dirty="0" err="1">
                <a:solidFill>
                  <a:srgbClr val="ED7D31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질</a:t>
            </a:r>
            <a:r>
              <a:rPr kumimoji="0" lang="en-US" altLang="ko-KR" b="1" i="0" u="none" baseline="0" dirty="0" err="1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문하기</a:t>
            </a:r>
            <a:r>
              <a:rPr kumimoji="0" lang="en-US" altLang="ko-KR" b="1" i="0" u="none" baseline="0" dirty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 — </a:t>
            </a:r>
            <a:r>
              <a:rPr kumimoji="0" lang="ko-KR" altLang="en-US" b="1" i="0" u="none" baseline="0" dirty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버려진</a:t>
            </a:r>
            <a:r>
              <a:rPr kumimoji="0" lang="en-US" altLang="ko-KR" b="1" i="0" u="none" baseline="0" dirty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 </a:t>
            </a:r>
            <a:r>
              <a:rPr kumimoji="0" lang="ko-KR" altLang="en-US" b="1" i="0" u="none" baseline="0" dirty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인공물이 </a:t>
            </a:r>
            <a:r>
              <a:rPr kumimoji="0" lang="ko-KR" altLang="en-US" b="1" i="0" u="none" baseline="0" dirty="0">
                <a:solidFill>
                  <a:srgbClr val="ED7D31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자연</a:t>
            </a:r>
            <a:r>
              <a:rPr kumimoji="0" lang="ko-KR" altLang="en-US" b="1" i="0" u="none" baseline="0" dirty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을 닮아가다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D365AE-E718-DF7E-1869-3EE80D0252C9}"/>
              </a:ext>
            </a:extLst>
          </p:cNvPr>
          <p:cNvSpPr txBox="1"/>
          <p:nvPr/>
        </p:nvSpPr>
        <p:spPr>
          <a:xfrm>
            <a:off x="9312649" y="2217857"/>
            <a:ext cx="27172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 err="1">
                <a:highlight>
                  <a:srgbClr val="FFFF00"/>
                </a:highlight>
              </a:rPr>
              <a:t>장한나</a:t>
            </a:r>
            <a:r>
              <a:rPr lang="ko-KR" altLang="en-US" sz="2400" dirty="0"/>
              <a:t> 작가는</a:t>
            </a:r>
          </a:p>
          <a:p>
            <a:r>
              <a:rPr lang="ko-KR" altLang="en-US" sz="2400" dirty="0"/>
              <a:t>오랜 시간 파도에</a:t>
            </a:r>
          </a:p>
          <a:p>
            <a:r>
              <a:rPr lang="ko-KR" altLang="en-US" sz="2400" dirty="0"/>
              <a:t>깎이고 둥글어지며</a:t>
            </a:r>
          </a:p>
          <a:p>
            <a:r>
              <a:rPr lang="ko-KR" altLang="en-US" sz="2400" dirty="0"/>
              <a:t>마치 </a:t>
            </a:r>
            <a:r>
              <a:rPr lang="ko-KR" altLang="en-US" sz="2400" dirty="0">
                <a:highlight>
                  <a:srgbClr val="FFFF00"/>
                </a:highlight>
              </a:rPr>
              <a:t>돌</a:t>
            </a:r>
            <a:r>
              <a:rPr lang="ko-KR" altLang="en-US" sz="2400" dirty="0"/>
              <a:t>처럼 변한</a:t>
            </a:r>
          </a:p>
          <a:p>
            <a:r>
              <a:rPr lang="ko-KR" altLang="en-US" sz="2400" dirty="0"/>
              <a:t>플라스틱을</a:t>
            </a:r>
          </a:p>
          <a:p>
            <a:r>
              <a:rPr lang="en-US" altLang="ko-KR" sz="2400" dirty="0"/>
              <a:t>'</a:t>
            </a:r>
            <a:r>
              <a:rPr lang="ko-KR" altLang="en-US" sz="2400" dirty="0"/>
              <a:t>뉴 </a:t>
            </a:r>
            <a:r>
              <a:rPr lang="ko-KR" altLang="en-US" sz="2400" dirty="0" err="1"/>
              <a:t>락</a:t>
            </a:r>
            <a:r>
              <a:rPr lang="en-US" altLang="ko-KR" sz="2400" dirty="0"/>
              <a:t>(New Rock)'</a:t>
            </a:r>
          </a:p>
          <a:p>
            <a:r>
              <a:rPr lang="ko-KR" altLang="en-US" sz="2400" dirty="0"/>
              <a:t>이라 부르며</a:t>
            </a:r>
          </a:p>
          <a:p>
            <a:r>
              <a:rPr lang="ko-KR" altLang="en-US" sz="2400" dirty="0"/>
              <a:t>예술 작품으로</a:t>
            </a:r>
          </a:p>
          <a:p>
            <a:r>
              <a:rPr lang="ko-KR" altLang="en-US" sz="2400" dirty="0"/>
              <a:t>만들었어요</a:t>
            </a:r>
            <a:r>
              <a:rPr lang="en-US" altLang="ko-KR" sz="24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4AAC5F-FF41-3AA2-1AF6-71A35C1E0925}"/>
              </a:ext>
            </a:extLst>
          </p:cNvPr>
          <p:cNvSpPr txBox="1"/>
          <p:nvPr/>
        </p:nvSpPr>
        <p:spPr>
          <a:xfrm>
            <a:off x="1624" y="6167088"/>
            <a:ext cx="11107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출처: 국립현대미술관 MMCA, 「</a:t>
            </a:r>
            <a:r>
              <a:rPr lang="ko-KR" altLang="en-US" dirty="0" err="1"/>
              <a:t>Chang</a:t>
            </a:r>
            <a:r>
              <a:rPr lang="ko-KR" altLang="en-US" dirty="0"/>
              <a:t> </a:t>
            </a:r>
            <a:r>
              <a:rPr lang="ko-KR" altLang="en-US" dirty="0" err="1"/>
              <a:t>Hanna</a:t>
            </a:r>
            <a:r>
              <a:rPr lang="ko-KR" altLang="en-US" dirty="0"/>
              <a:t> | MMCA </a:t>
            </a:r>
            <a:r>
              <a:rPr lang="ko-KR" altLang="en-US" dirty="0" err="1"/>
              <a:t>Residency</a:t>
            </a:r>
            <a:r>
              <a:rPr lang="ko-KR" altLang="en-US" dirty="0"/>
              <a:t> </a:t>
            </a:r>
            <a:r>
              <a:rPr lang="ko-KR" altLang="en-US" dirty="0" err="1"/>
              <a:t>Goyang</a:t>
            </a:r>
            <a:r>
              <a:rPr lang="ko-KR" altLang="en-US" dirty="0"/>
              <a:t> </a:t>
            </a:r>
            <a:r>
              <a:rPr lang="ko-KR" altLang="en-US" dirty="0" err="1"/>
              <a:t>Artists</a:t>
            </a:r>
            <a:r>
              <a:rPr lang="ko-KR" altLang="en-US" dirty="0"/>
              <a:t>' </a:t>
            </a:r>
            <a:r>
              <a:rPr lang="ko-KR" altLang="en-US" dirty="0" err="1"/>
              <a:t>Interviews</a:t>
            </a:r>
            <a:r>
              <a:rPr lang="ko-KR" altLang="en-US" dirty="0"/>
              <a:t>」, 2023</a:t>
            </a:r>
          </a:p>
        </p:txBody>
      </p:sp>
      <p:pic>
        <p:nvPicPr>
          <p:cNvPr id="15" name="온라인 미디어 14" title="장한나 작가 | 2023년 국립현대미술관 고양레지던시 국내 일반 입주작가 소개 | MMCA Residency Goyang Artists’ Interviews">
            <a:hlinkClick r:id="" action="ppaction://media"/>
            <a:extLst>
              <a:ext uri="{FF2B5EF4-FFF2-40B4-BE49-F238E27FC236}">
                <a16:creationId xmlns:a16="http://schemas.microsoft.com/office/drawing/2014/main" id="{B5952C31-6EFA-66EA-6D99-5A180817C78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72909" y="1223282"/>
            <a:ext cx="87122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7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Shall we carve a stone like a sculpture? Prepare chisel, spatula, and gloves. Move them outside the body!&#10;&#10;AI 생성 콘텐츠는 정확하지 않을 수 있습니다.">
            <a:extLst>
              <a:ext uri="{FF2B5EF4-FFF2-40B4-BE49-F238E27FC236}">
                <a16:creationId xmlns:a16="http://schemas.microsoft.com/office/drawing/2014/main" id="{3DFB7CD3-0412-3BD5-5043-FE96B9F07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9712"/>
            <a:ext cx="12192000" cy="5388864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8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 defTabSz="1028836">
              <a:spcAft>
                <a:spcPct val="0"/>
              </a:spcAft>
              <a:defRPr/>
            </a:pPr>
            <a:r>
              <a:rPr kumimoji="0" lang="ko-KR" altLang="en-US" b="1" i="0" u="none" baseline="0" dirty="0">
                <a:solidFill>
                  <a:srgbClr val="289B6E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판</a:t>
            </a:r>
            <a:r>
              <a:rPr kumimoji="0" lang="ko-KR" altLang="en-US" b="1" i="0" u="none" baseline="0" dirty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단하기 — 돌 </a:t>
            </a:r>
            <a:r>
              <a:rPr lang="ko-KR" altLang="en-US" b="1" dirty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모양 만들기</a:t>
            </a:r>
            <a:endParaRPr kumimoji="0" lang="ko-KR" altLang="en-US" b="1" i="0" u="none" baseline="0" dirty="0">
              <a:solidFill>
                <a:srgbClr val="404040">
                  <a:alpha val="100000"/>
                </a:srgbClr>
              </a:solidFill>
              <a:latin typeface="에스코어 드림 8 Heavy"/>
              <a:ea typeface="에스코어 드림 8 Heavy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2604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132658"/>
            <a:ext cx="12192000" cy="5367162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9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>
                <a:solidFill>
                  <a:srgbClr val="9D5CBB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공</a:t>
            </a:r>
            <a:r>
              <a:rPr kumimoji="0" lang="ko-KR" altLang="en-US" b="1" i="0" u="none" baseline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감하기 — 의미 담아 채색하기</a:t>
            </a:r>
          </a:p>
        </p:txBody>
      </p:sp>
      <p:sp>
        <p:nvSpPr>
          <p:cNvPr id="21" name="가로 글상자 20"/>
          <p:cNvSpPr txBox="1"/>
          <p:nvPr/>
        </p:nvSpPr>
        <p:spPr>
          <a:xfrm>
            <a:off x="0" y="6248804"/>
            <a:ext cx="2053590" cy="241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chemeClr val="lt1"/>
                </a:solidFill>
              </a:rPr>
              <a:t>AI(Google Flow)</a:t>
            </a:r>
            <a:r>
              <a:rPr lang="ko-KR" altLang="en-US" sz="1000">
                <a:solidFill>
                  <a:schemeClr val="lt1"/>
                </a:solidFill>
              </a:rPr>
              <a:t>로</a:t>
            </a:r>
            <a:r>
              <a:rPr lang="en-US" altLang="ko-KR" sz="1000">
                <a:solidFill>
                  <a:schemeClr val="lt1"/>
                </a:solidFill>
              </a:rPr>
              <a:t> </a:t>
            </a:r>
            <a:r>
              <a:rPr lang="ko-KR" altLang="en-US" sz="1000">
                <a:solidFill>
                  <a:schemeClr val="lt1"/>
                </a:solidFill>
              </a:rPr>
              <a:t>제작한 이미지</a:t>
            </a:r>
          </a:p>
        </p:txBody>
      </p:sp>
    </p:spTree>
    <p:extLst>
      <p:ext uri="{BB962C8B-B14F-4D97-AF65-F5344CB8AC3E}">
        <p14:creationId xmlns:p14="http://schemas.microsoft.com/office/powerpoint/2010/main" val="2225247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10</a:t>
            </a:fld>
            <a:endParaRPr lang="en-US" altLang="ko-KR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marL="0" lvl="0" indent="0" algn="l" defTabSz="102883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ko-KR" altLang="en-US" b="1" i="0" u="none" baseline="0" dirty="0">
                <a:solidFill>
                  <a:srgbClr val="4472C4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의</a:t>
            </a:r>
            <a:r>
              <a:rPr kumimoji="0" lang="ko-KR" altLang="en-US" b="1" i="0" u="none" baseline="0" dirty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미 만들기 — 진짜 돌 </a:t>
            </a:r>
            <a:r>
              <a:rPr kumimoji="0" lang="en-US" altLang="ko-KR" b="1" i="0" u="none" baseline="0" dirty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VS</a:t>
            </a:r>
            <a:r>
              <a:rPr kumimoji="0" lang="ko-KR" altLang="en-US" b="1" i="0" u="none" baseline="0" dirty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 </a:t>
            </a:r>
            <a:r>
              <a:rPr lang="ko-KR" altLang="en-US" b="1" dirty="0">
                <a:solidFill>
                  <a:srgbClr val="404040">
                    <a:alpha val="100000"/>
                  </a:srgbClr>
                </a:solidFill>
                <a:latin typeface="에스코어 드림 8 Heavy"/>
                <a:ea typeface="에스코어 드림 8 Heavy"/>
                <a:sym typeface="Calibri"/>
              </a:rPr>
              <a:t>가짜 돌</a:t>
            </a:r>
            <a:endParaRPr kumimoji="0" lang="ko-KR" altLang="en-US" b="1" i="0" u="none" baseline="0" dirty="0">
              <a:solidFill>
                <a:srgbClr val="404040">
                  <a:alpha val="100000"/>
                </a:srgbClr>
              </a:solidFill>
              <a:latin typeface="에스코어 드림 8 Heavy"/>
              <a:ea typeface="에스코어 드림 8 Heavy"/>
              <a:sym typeface="Calibri"/>
            </a:endParaRPr>
          </a:p>
        </p:txBody>
      </p:sp>
      <p:sp>
        <p:nvSpPr>
          <p:cNvPr id="15" name="가로 글상자 14"/>
          <p:cNvSpPr txBox="1"/>
          <p:nvPr/>
        </p:nvSpPr>
        <p:spPr>
          <a:xfrm>
            <a:off x="8952113" y="2046625"/>
            <a:ext cx="3162300" cy="11169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marL="203200" lvl="0" indent="-10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ko-KR" sz="2400" dirty="0"/>
              <a:t>플라스틱이 </a:t>
            </a:r>
            <a:endParaRPr lang="en-US" altLang="ko-KR" sz="2400" dirty="0"/>
          </a:p>
          <a:p>
            <a:pPr marL="203200" lvl="0" indent="-10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ko-KR" sz="2400" dirty="0"/>
              <a:t>자연을 닮아 가는 건 좋은 일일까</a:t>
            </a:r>
            <a:r>
              <a:rPr lang="en-US" altLang="ko-KR" sz="2400" dirty="0"/>
              <a:t>?</a:t>
            </a:r>
          </a:p>
          <a:p>
            <a:pPr marL="203200" lvl="0" indent="-10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400" dirty="0"/>
          </a:p>
        </p:txBody>
      </p:sp>
      <p:pic>
        <p:nvPicPr>
          <p:cNvPr id="7" name="온라인 미디어 5" title="[온라인전시] 동시대미감전 - 지구를 위한 소네트 A Sonnet for The Earth : 2024.04.19 ~ 2024.6.9">
            <a:hlinkClick r:id="" action="ppaction://media"/>
            <a:extLst>
              <a:ext uri="{FF2B5EF4-FFF2-40B4-BE49-F238E27FC236}">
                <a16:creationId xmlns:a16="http://schemas.microsoft.com/office/drawing/2014/main" id="{E8AD28B1-65CA-B48F-1C62-464180ACF46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62091" y="1261514"/>
            <a:ext cx="8712200" cy="4914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B03508-D22D-6DE3-5996-4B59A6937559}"/>
              </a:ext>
            </a:extLst>
          </p:cNvPr>
          <p:cNvSpPr txBox="1"/>
          <p:nvPr/>
        </p:nvSpPr>
        <p:spPr>
          <a:xfrm>
            <a:off x="0" y="6149945"/>
            <a:ext cx="12029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출처: 성남문화재단, 「[온라인전시] </a:t>
            </a:r>
            <a:r>
              <a:rPr lang="ko-KR" altLang="en-US" dirty="0" err="1"/>
              <a:t>동시대미감전</a:t>
            </a:r>
            <a:r>
              <a:rPr lang="ko-KR" altLang="en-US" dirty="0"/>
              <a:t> - 지구를 위한 소네트 </a:t>
            </a:r>
            <a:r>
              <a:rPr lang="ko-KR" altLang="en-US" dirty="0" err="1"/>
              <a:t>A</a:t>
            </a:r>
            <a:r>
              <a:rPr lang="ko-KR" altLang="en-US" dirty="0"/>
              <a:t> </a:t>
            </a:r>
            <a:r>
              <a:rPr lang="ko-KR" altLang="en-US" dirty="0" err="1"/>
              <a:t>Sonnet</a:t>
            </a:r>
            <a:r>
              <a:rPr lang="ko-KR" altLang="en-US" dirty="0"/>
              <a:t> </a:t>
            </a:r>
            <a:r>
              <a:rPr lang="ko-KR" altLang="en-US" dirty="0" err="1"/>
              <a:t>for</a:t>
            </a:r>
            <a:r>
              <a:rPr lang="ko-KR" altLang="en-US" dirty="0"/>
              <a:t> The </a:t>
            </a:r>
            <a:r>
              <a:rPr lang="ko-KR" altLang="en-US" dirty="0" err="1"/>
              <a:t>Earth</a:t>
            </a:r>
            <a:r>
              <a:rPr lang="ko-KR" altLang="en-US" dirty="0"/>
              <a:t>」, 2024 (1:54~2:42)</a:t>
            </a:r>
          </a:p>
        </p:txBody>
      </p:sp>
      <p:sp>
        <p:nvSpPr>
          <p:cNvPr id="3" name="가로 글상자 14">
            <a:extLst>
              <a:ext uri="{FF2B5EF4-FFF2-40B4-BE49-F238E27FC236}">
                <a16:creationId xmlns:a16="http://schemas.microsoft.com/office/drawing/2014/main" id="{48E96A0F-416C-4525-BDC5-D939327DE5A7}"/>
              </a:ext>
            </a:extLst>
          </p:cNvPr>
          <p:cNvSpPr txBox="1"/>
          <p:nvPr/>
        </p:nvSpPr>
        <p:spPr>
          <a:xfrm>
            <a:off x="8952113" y="3525292"/>
            <a:ext cx="3162300" cy="25772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marL="203200" lvl="0" indent="-10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ko-KR" sz="2400" dirty="0"/>
              <a:t>자연을 닮아 </a:t>
            </a:r>
            <a:endParaRPr lang="en-US" altLang="ko-KR" sz="2400" dirty="0"/>
          </a:p>
          <a:p>
            <a:pPr marL="203200" lvl="0" indent="-10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ko-KR" sz="2400" dirty="0"/>
              <a:t>감쪽같이 숨은 플라스틱은 </a:t>
            </a:r>
            <a:endParaRPr lang="en-US" altLang="ko-KR" sz="2400" dirty="0"/>
          </a:p>
          <a:p>
            <a:pPr marL="203200" lvl="0" indent="-10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ko-KR" sz="2400" dirty="0"/>
              <a:t>사라진 게 아니라, </a:t>
            </a:r>
            <a:endParaRPr lang="en-US" altLang="ko-KR" sz="2400" dirty="0"/>
          </a:p>
          <a:p>
            <a:pPr marL="203200" lvl="0" indent="-10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ko-KR" sz="2400" dirty="0"/>
              <a:t>아무도 모르게 </a:t>
            </a:r>
            <a:endParaRPr lang="en-US" altLang="ko-KR" sz="2400" dirty="0"/>
          </a:p>
          <a:p>
            <a:pPr marL="203200" lvl="0" indent="-10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ko-KR" sz="2400" dirty="0"/>
              <a:t>오래 남아 있는 것이다.</a:t>
            </a:r>
            <a:endParaRPr lang="en-US" altLang="ko-KR" sz="2400" b="0" i="0" u="none" strike="noStrike" baseline="0" dirty="0">
              <a:solidFill>
                <a:srgbClr val="000000"/>
              </a:solidFill>
              <a:cs typeface="나눔바른고딕"/>
            </a:endParaRPr>
          </a:p>
        </p:txBody>
      </p:sp>
    </p:spTree>
    <p:extLst>
      <p:ext uri="{BB962C8B-B14F-4D97-AF65-F5344CB8AC3E}">
        <p14:creationId xmlns:p14="http://schemas.microsoft.com/office/powerpoint/2010/main" val="423747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11</a:t>
            </a:fld>
            <a:endParaRPr lang="en-US" altLang="ko-KR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2" name="가로 글상자 11"/>
          <p:cNvSpPr txBox="1"/>
          <p:nvPr/>
        </p:nvSpPr>
        <p:spPr>
          <a:xfrm>
            <a:off x="892019" y="1991960"/>
            <a:ext cx="7071163" cy="356542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>
            <a:noAutofit/>
          </a:bodyPr>
          <a:lstStyle/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  <a:sym typeface="Wingdings"/>
              </a:rPr>
              <a:t> </a:t>
            </a: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진짜 돌을 관찰하며 스티로폼을 어떻게 깎을지 판단해 돌처럼 재구성함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endParaRPr kumimoji="1" lang="ko-KR" altLang="en-US" sz="2500" b="0" i="0" u="none" baseline="0" dirty="0">
              <a:solidFill>
                <a:srgbClr val="2C2C2A">
                  <a:alpha val="100000"/>
                </a:srgbClr>
              </a:solidFill>
              <a:latin typeface="Noto Sans KR Medium"/>
              <a:ea typeface="Noto Sans KR Medium"/>
            </a:endParaRP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  <a:sym typeface="Wingdings"/>
              </a:rPr>
              <a:t> </a:t>
            </a: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장한나처럼 서로 다른 재료의 아이디어를 연결해 새로운 작품을 만듦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endParaRPr kumimoji="1" lang="ko-KR" altLang="en-US" sz="2500" b="0" i="0" u="none" baseline="0" dirty="0">
              <a:solidFill>
                <a:srgbClr val="2C2C2A">
                  <a:alpha val="100000"/>
                </a:srgbClr>
              </a:solidFill>
              <a:latin typeface="Noto Sans KR Medium"/>
              <a:ea typeface="Noto Sans KR Medium"/>
              <a:sym typeface="Wingdings"/>
            </a:endParaRP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□ 다음 시간 예고: 감정을 채운 병뚜껑</a:t>
            </a:r>
          </a:p>
          <a:p>
            <a:pPr marL="0" lvl="0" indent="0" algn="l" defTabSz="1028836" rtl="0" eaLnBrk="1" latinLnBrk="0" hangingPunct="1">
              <a:lnSpc>
                <a:spcPct val="100000"/>
              </a:lnSpc>
              <a:spcBef>
                <a:spcPts val="1400"/>
              </a:spcBef>
              <a:spcAft>
                <a:spcPct val="0"/>
              </a:spcAft>
              <a:buNone/>
              <a:defRPr/>
            </a:pP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준비물: 병뚜껑</a:t>
            </a:r>
            <a:r>
              <a:rPr kumimoji="1" lang="en-US" altLang="ko-KR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,</a:t>
            </a: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 클레이</a:t>
            </a:r>
            <a:r>
              <a:rPr kumimoji="1" lang="en-US" altLang="ko-KR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,</a:t>
            </a:r>
            <a:r>
              <a:rPr kumimoji="1" lang="ko-KR" altLang="en-US" sz="2500" b="0" i="0" u="none" baseline="0" dirty="0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 </a:t>
            </a:r>
            <a:r>
              <a:rPr kumimoji="1" lang="ko-KR" altLang="en-US" sz="2500" b="0" i="0" u="none" baseline="0" dirty="0" err="1">
                <a:solidFill>
                  <a:srgbClr val="2C2C2A">
                    <a:alpha val="100000"/>
                  </a:srgbClr>
                </a:solidFill>
                <a:latin typeface="Noto Sans KR Medium"/>
                <a:ea typeface="Noto Sans KR Medium"/>
              </a:rPr>
              <a:t>목공풀</a:t>
            </a:r>
            <a:endParaRPr kumimoji="1" lang="ko-KR" altLang="en-US" sz="2500" b="0" i="0" u="none" baseline="0" dirty="0">
              <a:solidFill>
                <a:srgbClr val="2C2C2A">
                  <a:alpha val="100000"/>
                </a:srgbClr>
              </a:solidFill>
              <a:latin typeface="Noto Sans KR Medium"/>
              <a:ea typeface="Noto Sans KR Medium"/>
            </a:endParaRPr>
          </a:p>
        </p:txBody>
      </p:sp>
      <p:pic>
        <p:nvPicPr>
          <p:cNvPr id="15" name="그림 14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8137583" y="1776700"/>
            <a:ext cx="3136909" cy="399715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4192C3B-3297-A2D6-2084-BC3D75246FBB}"/>
              </a:ext>
            </a:extLst>
          </p:cNvPr>
          <p:cNvSpPr/>
          <p:nvPr/>
        </p:nvSpPr>
        <p:spPr>
          <a:xfrm>
            <a:off x="9008062" y="5920310"/>
            <a:ext cx="264093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출처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: AI(Google Gemini)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로</a:t>
            </a:r>
            <a:r>
              <a:rPr lang="en-US" altLang="ko-KR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1000" b="0" i="0" strike="noStrike" dirty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생성한 이미지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868</Words>
  <Application>Microsoft Office PowerPoint</Application>
  <PresentationFormat>와이드스크린</PresentationFormat>
  <Paragraphs>113</Paragraphs>
  <Slides>12</Slides>
  <Notes>12</Notes>
  <HiddenSlides>0</HiddenSlides>
  <MMClips>2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Noto Sans KR Black</vt:lpstr>
      <vt:lpstr>Noto Sans KR Medium</vt:lpstr>
      <vt:lpstr>나눔바른고딕</vt:lpstr>
      <vt:lpstr>나눔스퀘어 ExtraBold</vt:lpstr>
      <vt:lpstr>땅스부대찌개 Bold</vt:lpstr>
      <vt:lpstr>에스코어 드림 8 Heavy</vt:lpstr>
      <vt:lpstr>Arial</vt:lpstr>
      <vt:lpstr>Office Theme</vt:lpstr>
      <vt:lpstr>PowerPoint 프레젠테이션</vt:lpstr>
      <vt:lpstr>PowerPoint 프레젠테이션</vt:lpstr>
      <vt:lpstr>자연이 된 스티로폼</vt:lpstr>
      <vt:lpstr>예술가의 비밀 무기</vt:lpstr>
      <vt:lpstr>AI는? 나는?</vt:lpstr>
      <vt:lpstr>활동 안내</vt:lpstr>
      <vt:lpstr>질문하기 — 버려진 인공물이 자연을 닮아가다</vt:lpstr>
      <vt:lpstr>판단하기 — 돌 모양 만들기</vt:lpstr>
      <vt:lpstr>공감하기 — 의미 담아 채색하기</vt:lpstr>
      <vt:lpstr>의미 만들기 — 진짜 돌 VS 가짜 돌</vt:lpstr>
      <vt:lpstr>정리하기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153</cp:revision>
  <dcterms:created xsi:type="dcterms:W3CDTF">2026-07-09T22:35:37Z</dcterms:created>
  <dcterms:modified xsi:type="dcterms:W3CDTF">2026-10-18T08:48:54Z</dcterms:modified>
  <cp:version/>
</cp:coreProperties>
</file>