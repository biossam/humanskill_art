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6" r:id="rId2"/>
  </p:sldMasterIdLst>
  <p:notesMasterIdLst>
    <p:notesMasterId r:id="rId34"/>
  </p:notesMasterIdLst>
  <p:sldIdLst>
    <p:sldId id="256" r:id="rId3"/>
    <p:sldId id="265" r:id="rId4"/>
    <p:sldId id="311" r:id="rId5"/>
    <p:sldId id="314" r:id="rId6"/>
    <p:sldId id="315" r:id="rId7"/>
    <p:sldId id="316" r:id="rId8"/>
    <p:sldId id="313" r:id="rId9"/>
    <p:sldId id="279" r:id="rId10"/>
    <p:sldId id="280" r:id="rId11"/>
    <p:sldId id="318" r:id="rId12"/>
    <p:sldId id="319" r:id="rId13"/>
    <p:sldId id="317" r:id="rId14"/>
    <p:sldId id="320" r:id="rId15"/>
    <p:sldId id="278" r:id="rId16"/>
    <p:sldId id="321" r:id="rId17"/>
    <p:sldId id="266" r:id="rId18"/>
    <p:sldId id="322" r:id="rId19"/>
    <p:sldId id="290" r:id="rId20"/>
    <p:sldId id="323" r:id="rId21"/>
    <p:sldId id="324" r:id="rId22"/>
    <p:sldId id="302" r:id="rId23"/>
    <p:sldId id="325" r:id="rId24"/>
    <p:sldId id="293" r:id="rId25"/>
    <p:sldId id="294" r:id="rId26"/>
    <p:sldId id="295" r:id="rId27"/>
    <p:sldId id="296" r:id="rId28"/>
    <p:sldId id="297" r:id="rId29"/>
    <p:sldId id="298" r:id="rId30"/>
    <p:sldId id="299" r:id="rId31"/>
    <p:sldId id="300" r:id="rId32"/>
    <p:sldId id="270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7" d="100"/>
          <a:sy n="67" d="100"/>
        </p:scale>
        <p:origin x="-616" y="-76"/>
      </p:cViewPr>
      <p:guideLst>
        <p:guide orient="horz" pos="2158"/>
        <p:guide pos="383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=""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=""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=""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=""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=""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=""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=""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=""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=""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=""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=""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=""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=""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=""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=""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image" Target="../media/image6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=""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=""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=""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=""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=""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=""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=""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=""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=""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=""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=""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=""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=""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8.jpe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="" xmlns:a16="http://schemas.microsoft.com/office/drawing/2014/main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846" y="3028834"/>
            <a:ext cx="8902146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동물도 감정이 있어요</a:t>
            </a:r>
            <a:r>
              <a:rPr lang="en-US" altLang="ko-KR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!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8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슬픈 동물은 어떤 얼굴일까요</a:t>
            </a:r>
            <a:r>
              <a:rPr lang="en-US" altLang="ko-KR" sz="28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  <a:endParaRPr lang="en-US" altLang="ko-KR" sz="2800" dirty="0">
              <a:solidFill>
                <a:srgbClr val="F6877E"/>
              </a:solidFill>
              <a:latin typeface="에스코어 드림 8 Heavy" panose="020B0903030302020204" pitchFamily="34" charset="-127"/>
              <a:ea typeface="에스코어 드림 8 Heavy" panose="020B0903030302020204" pitchFamily="34" charset="-127"/>
            </a:endParaRPr>
          </a:p>
        </p:txBody>
      </p:sp>
      <p:sp>
        <p:nvSpPr>
          <p:cNvPr id="8197" name="AutoShape 5">
            <a:extLst>
              <a:ext uri="{FF2B5EF4-FFF2-40B4-BE49-F238E27FC236}">
                <a16:creationId xmlns=""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=""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=""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=""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16</a:t>
            </a:r>
            <a:r>
              <a:rPr lang="ko-KR" altLang="en-US" sz="3703" dirty="0" err="1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  <a:endParaRPr lang="ko-KR" altLang="en-US" sz="40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451735" y="2497455"/>
            <a:ext cx="7243370" cy="2282190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혹시 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[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유기견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]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이라는 말을 들어본 적 있나요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lvl="0" algn="ctr">
              <a:defRPr/>
            </a:pP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[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유기견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]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은 주인이 돌보지 않고 내다버린 개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강아지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)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를 말해요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태어나서 얼마 되지 않아 주인한테 버림받은 강아지 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‘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몽이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는</a:t>
            </a:r>
          </a:p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유기견 보호센터에서 지내다가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생후 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2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개월쯤 되어</a:t>
            </a:r>
          </a:p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새 주인을 만나 건강하게 자라고 있답니다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여러분도 몽이를 만나러 가볼까요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  <a:endParaRPr lang="ko-KR" altLang="en-US" sz="24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  <a:endParaRPr lang="ko-KR" altLang="en-US" sz="40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38" b="26945"/>
          <a:stretch/>
        </p:blipFill>
        <p:spPr>
          <a:xfrm>
            <a:off x="3389433" y="2125104"/>
            <a:ext cx="3183042" cy="356029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타원형 설명선 2"/>
          <p:cNvSpPr/>
          <p:nvPr/>
        </p:nvSpPr>
        <p:spPr>
          <a:xfrm>
            <a:off x="6684857" y="2125104"/>
            <a:ext cx="3506893" cy="1981200"/>
          </a:xfrm>
          <a:prstGeom prst="wedgeEllipseCallout">
            <a:avLst>
              <a:gd name="adj1" fmla="val -50783"/>
              <a:gd name="adj2" fmla="val 34615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안녕하세요</a:t>
            </a:r>
            <a:r>
              <a:rPr lang="en-US" altLang="ko-KR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 </a:t>
            </a:r>
          </a:p>
          <a:p>
            <a:pPr algn="ctr"/>
            <a:r>
              <a:rPr lang="ko-KR" altLang="en-US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제 이름은</a:t>
            </a:r>
            <a:r>
              <a:rPr lang="en-US" altLang="ko-KR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……</a:t>
            </a:r>
          </a:p>
          <a:p>
            <a:pPr algn="ctr"/>
            <a:r>
              <a:rPr lang="ko-KR" altLang="en-US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저는 주인에게 버림받고 </a:t>
            </a:r>
            <a:r>
              <a:rPr lang="ko-KR" altLang="en-US" dirty="0" err="1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유기견</a:t>
            </a:r>
            <a:r>
              <a:rPr lang="ko-KR" altLang="en-US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 보호센터에서 지내고 있었어요</a:t>
            </a:r>
            <a:r>
              <a:rPr lang="en-US" altLang="ko-KR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494999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  <a:endParaRPr lang="ko-KR" altLang="en-US" sz="40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3" name="타원형 설명선 2"/>
          <p:cNvSpPr/>
          <p:nvPr/>
        </p:nvSpPr>
        <p:spPr>
          <a:xfrm>
            <a:off x="638176" y="1628775"/>
            <a:ext cx="3961370" cy="2447925"/>
          </a:xfrm>
          <a:prstGeom prst="wedgeEllipseCallout">
            <a:avLst>
              <a:gd name="adj1" fmla="val 45597"/>
              <a:gd name="adj2" fmla="val 34651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어느 날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,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 </a:t>
            </a:r>
            <a:r>
              <a:rPr lang="ko-KR" altLang="en-US" sz="1600" dirty="0" err="1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유기견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 보호센터에서 가끔씩 봉사하러 오시던 마음씨 착한 아주머니가 저를 입양해서 집으로 데려오셨어요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아직은 많이 낯설고 어색해요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9871" y="2045726"/>
            <a:ext cx="1849050" cy="3287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1573" y="2045726"/>
            <a:ext cx="3488298" cy="3488298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62421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  <a:endParaRPr lang="ko-KR" altLang="en-US" sz="40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3" name="타원형 설명선 2"/>
          <p:cNvSpPr/>
          <p:nvPr/>
        </p:nvSpPr>
        <p:spPr>
          <a:xfrm>
            <a:off x="7461475" y="1647825"/>
            <a:ext cx="4073299" cy="2381250"/>
          </a:xfrm>
          <a:prstGeom prst="wedgeEllipseCallout">
            <a:avLst>
              <a:gd name="adj1" fmla="val -45068"/>
              <a:gd name="adj2" fmla="val 44874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이제 저도 이름이 생겼어요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</a:t>
            </a: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주인 아주머니께서 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‘</a:t>
            </a:r>
            <a:r>
              <a:rPr lang="ko-KR" altLang="en-US" sz="1600" dirty="0" err="1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몽쉘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’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이라고 지었다가 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“</a:t>
            </a:r>
            <a:r>
              <a:rPr lang="ko-KR" altLang="en-US" sz="1600" dirty="0" err="1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몽이야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 </a:t>
            </a:r>
            <a:r>
              <a:rPr lang="ko-KR" altLang="en-US" sz="1600" dirty="0" err="1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몽이야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!”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하고 부르시면서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 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‘</a:t>
            </a:r>
            <a:r>
              <a:rPr lang="ko-KR" altLang="en-US" sz="1600" dirty="0" err="1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몽이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’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가 되었어요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  <a:endParaRPr lang="en-US" altLang="ko-KR" sz="1600" dirty="0"/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새 이름이 정말 마음에 들어요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87" t="12036" r="13125" b="8750"/>
          <a:stretch/>
        </p:blipFill>
        <p:spPr>
          <a:xfrm rot="5400000">
            <a:off x="4287576" y="2511814"/>
            <a:ext cx="3579974" cy="282497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578337" y="2575276"/>
            <a:ext cx="3527702" cy="26457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740011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  <a:endParaRPr lang="ko-KR" altLang="en-US" sz="40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3" name="타원형 설명선 2"/>
          <p:cNvSpPr/>
          <p:nvPr/>
        </p:nvSpPr>
        <p:spPr>
          <a:xfrm>
            <a:off x="571499" y="1552574"/>
            <a:ext cx="3227945" cy="1598713"/>
          </a:xfrm>
          <a:prstGeom prst="wedgeEllipseCallout">
            <a:avLst>
              <a:gd name="adj1" fmla="val 27435"/>
              <a:gd name="adj2" fmla="val 58654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집이 정말 편안해요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</a:p>
          <a:p>
            <a:pPr algn="ctr"/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 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침대에 누우면 </a:t>
            </a:r>
            <a:endParaRPr lang="en-US" altLang="ko-KR" sz="1600" dirty="0" smtClean="0">
              <a:solidFill>
                <a:schemeClr val="accent6">
                  <a:lumMod val="50000"/>
                </a:schemeClr>
              </a:solidFill>
              <a:latin typeface="+mj-lt"/>
            </a:endParaRP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잠이 솔솔 온다니까요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37" t="38113" r="23484" b="20403"/>
          <a:stretch/>
        </p:blipFill>
        <p:spPr>
          <a:xfrm>
            <a:off x="2190014" y="2908069"/>
            <a:ext cx="4242761" cy="2559281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6123340" y="2652356"/>
            <a:ext cx="3593074" cy="269480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3" name="타원형 설명선 12"/>
          <p:cNvSpPr/>
          <p:nvPr/>
        </p:nvSpPr>
        <p:spPr>
          <a:xfrm>
            <a:off x="8258175" y="666750"/>
            <a:ext cx="3829051" cy="1943100"/>
          </a:xfrm>
          <a:prstGeom prst="wedgeEllipseCallout">
            <a:avLst>
              <a:gd name="adj1" fmla="val -28292"/>
              <a:gd name="adj2" fmla="val 55675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바깥 나들이도 가고 산책도 매일매일 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주인 아주머니와 계속 이렇게</a:t>
            </a:r>
            <a:endParaRPr lang="en-US" altLang="ko-KR" sz="1600" dirty="0" smtClean="0">
              <a:solidFill>
                <a:schemeClr val="accent6">
                  <a:lumMod val="50000"/>
                </a:schemeClr>
              </a:solidFill>
              <a:latin typeface="+mj-lt"/>
            </a:endParaRP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행복하게 살고 싶어요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</a:t>
            </a:r>
            <a:endParaRPr lang="en-US" altLang="ko-KR" sz="1600" dirty="0" smtClean="0"/>
          </a:p>
        </p:txBody>
      </p:sp>
    </p:spTree>
    <p:extLst>
      <p:ext uri="{BB962C8B-B14F-4D97-AF65-F5344CB8AC3E}">
        <p14:creationId xmlns:p14="http://schemas.microsoft.com/office/powerpoint/2010/main" val="47163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  <a:endParaRPr lang="ko-KR" altLang="en-US" sz="40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6912" y="2145982"/>
            <a:ext cx="2541033" cy="338804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타원형 설명선 11"/>
          <p:cNvSpPr/>
          <p:nvPr/>
        </p:nvSpPr>
        <p:spPr>
          <a:xfrm>
            <a:off x="5967968" y="2045726"/>
            <a:ext cx="4147582" cy="2186111"/>
          </a:xfrm>
          <a:prstGeom prst="wedgeEllipseCallout">
            <a:avLst>
              <a:gd name="adj1" fmla="val -53522"/>
              <a:gd name="adj2" fmla="val 32561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지금 제 기분이 어떤지 맞춰볼래요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?</a:t>
            </a: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제 얼굴이 항상 똑같아 보인다고요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? 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그렇지 않아요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 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저도 다양한 감정을 느낀답니다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제 얼굴을 보고 어떤 기</a:t>
            </a:r>
            <a:r>
              <a:rPr lang="ko-KR" altLang="en-US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분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인지 퀴즈로 풀어볼까요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949997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7" t="13056" r="65902" b="46111"/>
          <a:stretch/>
        </p:blipFill>
        <p:spPr>
          <a:xfrm>
            <a:off x="3373386" y="2371725"/>
            <a:ext cx="2310088" cy="2800350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628" t="54167" r="2082" b="4445"/>
          <a:stretch/>
        </p:blipFill>
        <p:spPr>
          <a:xfrm>
            <a:off x="6287981" y="2371725"/>
            <a:ext cx="2371725" cy="283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97" t="12201" r="66071" b="46111"/>
          <a:stretch/>
        </p:blipFill>
        <p:spPr>
          <a:xfrm>
            <a:off x="4890318" y="2427388"/>
            <a:ext cx="2286663" cy="2858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30" t="13056" r="33922" b="46111"/>
          <a:stretch/>
        </p:blipFill>
        <p:spPr>
          <a:xfrm>
            <a:off x="3389891" y="2257424"/>
            <a:ext cx="2578077" cy="3076575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628" t="54167" r="2082" b="4445"/>
          <a:stretch/>
        </p:blipFill>
        <p:spPr>
          <a:xfrm>
            <a:off x="6176127" y="2257424"/>
            <a:ext cx="2570695" cy="3076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2745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929" t="12201" r="34044" b="46111"/>
          <a:stretch/>
        </p:blipFill>
        <p:spPr>
          <a:xfrm>
            <a:off x="4818842" y="2322613"/>
            <a:ext cx="2657989" cy="3230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6897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90" t="13056" r="1973" b="46111"/>
          <a:stretch/>
        </p:blipFill>
        <p:spPr>
          <a:xfrm>
            <a:off x="3236999" y="2238372"/>
            <a:ext cx="2730969" cy="3209925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628" t="54167" r="2082" b="4445"/>
          <a:stretch/>
        </p:blipFill>
        <p:spPr>
          <a:xfrm>
            <a:off x="6110361" y="2238371"/>
            <a:ext cx="2682119" cy="3209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2745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33" t="12201" r="2018" b="46111"/>
          <a:stretch/>
        </p:blipFill>
        <p:spPr>
          <a:xfrm>
            <a:off x="4656025" y="2227361"/>
            <a:ext cx="2879950" cy="3454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689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69897" y="2887356"/>
            <a:ext cx="8794678" cy="133882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동물의 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[         ]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을 추측하고 슬픔을 느끼는 상황을 상상하여 그림으로 표현할 수 있으며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[             ] 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발생 예방을 위해 할 수 있는 일을 서술할 수 있다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69897" y="2887356"/>
            <a:ext cx="8794678" cy="133882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동물의 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[ 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감정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]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을 추측하고 슬픔을 느끼는 상황을 상상하여 그림으로 표현할 수 있으며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[ </a:t>
            </a:r>
            <a:r>
              <a:rPr lang="ko-KR" altLang="en-US" sz="27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유기견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 ] 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발생 예방을 위해 할 수 있는 일을 서술할 수 있다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571930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&lt;1025: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사람과 사람 없이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감상하기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7178321" y="2649456"/>
            <a:ext cx="4762688" cy="2246769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1939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년 한국에서 태어난 윤석남 작가는 제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6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회 안양공공예술프로젝트에 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&lt;1025: 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사람과 사람 없이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라는 작품을 출품했어요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</a:p>
          <a:p>
            <a:r>
              <a:rPr lang="ko-KR" altLang="en-US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지금 이 작품을 영상으로 자세히 살펴보고</a:t>
            </a:r>
            <a:r>
              <a:rPr lang="en-US" altLang="ko-KR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, </a:t>
            </a:r>
          </a:p>
          <a:p>
            <a:r>
              <a:rPr lang="ko-KR" altLang="en-US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작가가 어떤 주제로 이 작품을 만들었는지 함께 알아봅시다</a:t>
            </a:r>
            <a:r>
              <a:rPr lang="en-US" altLang="ko-KR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2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266" y="1873110"/>
            <a:ext cx="6274610" cy="418045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직사각형 7"/>
          <p:cNvSpPr/>
          <p:nvPr/>
        </p:nvSpPr>
        <p:spPr>
          <a:xfrm>
            <a:off x="519761" y="6052369"/>
            <a:ext cx="2844550" cy="276999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en-US" altLang="ko-KR" sz="12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17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&lt;1025: </a:t>
            </a:r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사람과 사람 없이</a:t>
            </a:r>
            <a:r>
              <a:rPr lang="en-US" altLang="ko-KR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</a:t>
            </a:r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에 대해 생각하기</a:t>
            </a:r>
            <a:endParaRPr lang="ko-KR" altLang="en-US" sz="32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310099" y="2127635"/>
            <a:ext cx="11315890" cy="267765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영상을 보면서 들었던 내용이나 머릿속에 떠오른 생각을 나눠봅시다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marL="457200" indent="-457200">
              <a:buAutoNum type="arabicParenBoth"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작가는 왜 </a:t>
            </a:r>
            <a:r>
              <a:rPr lang="ko-KR" altLang="en-US" sz="28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유기견을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나무에 그리고 마당에 설치했을까요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  <a:p>
            <a:pPr marL="457200" indent="-457200">
              <a:buAutoNum type="arabicParenBoth"/>
            </a:pPr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marL="457200" indent="-457200">
              <a:buAutoNum type="arabicParenBoth"/>
            </a:pPr>
            <a:r>
              <a:rPr lang="ko-KR" altLang="en-US" sz="28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유기견에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대해 들어본 적이 있거나 직접 만난 경험이 있다면 얘기해볼까요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  <a:p>
            <a:pPr marL="457200" indent="-457200">
              <a:buAutoNum type="arabicParenBoth"/>
            </a:pP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210609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슬픈 동물의 표정을 상상하고 그리기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동물의 감정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1708325" y="2627225"/>
            <a:ext cx="9117399" cy="1200329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동물은 어떤 상황에서 슬픔을 느끼고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그럴 때 어떤 표정을 지을까요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lvl="0" algn="ctr">
              <a:defRPr/>
            </a:pPr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활동지에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동물이 처한 상황을 쓰고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</a:p>
          <a:p>
            <a:pPr lvl="0" algn="ctr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 상황에서 동물이 지을 수 있을 표정을 상상해서 그려보세요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19011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슬픈 동물의 표정을 상상하고 그리기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동물의 감정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761" y="1290878"/>
            <a:ext cx="8938564" cy="5027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3773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슬픈 동물의 표정을 상상하고 그리기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동물의 감정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175" y="1276350"/>
            <a:ext cx="9124950" cy="5132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8621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21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평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가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sz="3800" b="1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유기견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발생 예방 방법 쓰기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생각 쓰기</a:t>
            </a:r>
            <a:endParaRPr lang="en-US" altLang="ko-KR" sz="2400" spc="-147" dirty="0">
              <a:solidFill>
                <a:schemeClr val="bg1">
                  <a:alpha val="99000"/>
                </a:schemeClr>
              </a:solidFill>
              <a:latin typeface="Noto Sans KR Black"/>
              <a:ea typeface="Noto Sans KR Black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015062" y="2805925"/>
            <a:ext cx="10305962" cy="156966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유기견을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포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함하여 다양한 반려동물이 버려지는 상황을 예방하기 위해서</a:t>
            </a: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‘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나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’, ‘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지역사회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’, ‘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국가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에서 할 수 있는 일을 써 보세요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실제로 실천할 수 있는 방법을 구체적으로 적어주세요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820760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평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가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sz="3800" b="1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유기견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발생 예방 방법 쓰기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평가지</a:t>
            </a:r>
            <a:endParaRPr lang="en-US" altLang="ko-KR" sz="2400" spc="-147" dirty="0">
              <a:solidFill>
                <a:schemeClr val="bg1">
                  <a:alpha val="99000"/>
                </a:schemeClr>
              </a:solidFill>
              <a:latin typeface="Noto Sans KR Black"/>
              <a:ea typeface="Noto Sans KR Black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0" y="1270595"/>
            <a:ext cx="9296400" cy="5229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2318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형성평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010471" y="2740135"/>
            <a:ext cx="8209170" cy="1815882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 가지 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미술 재료와 재료를 사용해서 그린 그림을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보고 </a:t>
            </a:r>
            <a:endParaRPr lang="en-US" altLang="ko-KR" sz="28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어떤 재료인지 맞춰보세요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3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준비되어 있습니다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6742" y="2045727"/>
            <a:ext cx="3198515" cy="3935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588919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328080" y="3459414"/>
            <a:ext cx="1526316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크레파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스</a:t>
            </a: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0312" y="2471737"/>
            <a:ext cx="7191375" cy="2619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8957787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136044" y="3459414"/>
            <a:ext cx="1929439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수채화 물감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302426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800" y="2195513"/>
            <a:ext cx="4724400" cy="3152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221104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495786" y="3459414"/>
            <a:ext cx="1190903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색연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필</a:t>
            </a:r>
          </a:p>
        </p:txBody>
      </p:sp>
    </p:spTree>
    <p:extLst>
      <p:ext uri="{BB962C8B-B14F-4D97-AF65-F5344CB8AC3E}">
        <p14:creationId xmlns:p14="http://schemas.microsoft.com/office/powerpoint/2010/main" val="14984817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19757" y="1503313"/>
            <a:ext cx="9117399" cy="2308324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시간에는 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공공미술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네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번째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시간으로 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안녕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우리 동네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! 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내가 사는 곳을 어떻게 아끼고 사랑할 수 있을까요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?’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라는</a:t>
            </a: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주제로 수업을 진행합니다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편안한 마음으로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열린 자세로 수업에 참여해 주세요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 만나요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7684" y="3162299"/>
            <a:ext cx="3674850" cy="2597277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3775" y="5435164"/>
            <a:ext cx="976874" cy="976874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7762834" y="5923601"/>
            <a:ext cx="2844550" cy="276999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APAP </a:t>
            </a: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)</a:t>
            </a:r>
            <a:endParaRPr lang="en-US" altLang="ko-KR" sz="12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597</Words>
  <Application>Microsoft Office PowerPoint</Application>
  <PresentationFormat>사용자 지정</PresentationFormat>
  <Paragraphs>112</Paragraphs>
  <Slides>31</Slides>
  <Notes>8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31</vt:i4>
      </vt:variant>
    </vt:vector>
  </HeadingPairs>
  <TitlesOfParts>
    <vt:vector size="33" baseType="lpstr">
      <vt:lpstr>Office Theme</vt:lpstr>
      <vt:lpstr>내용 4개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활동 1. &lt;1025: 사람과 사람 없이&gt; 감상하기</vt:lpstr>
      <vt:lpstr>활동 1. &lt;1025: 사람과 사람 없이&gt;에 대해 생각하기</vt:lpstr>
      <vt:lpstr>활동 2. 슬픈 동물의 표정을 상상하고 그리기</vt:lpstr>
      <vt:lpstr>활동 2. 슬픈 동물의 표정을 상상하고 그리기</vt:lpstr>
      <vt:lpstr> 슬픈 동물의 표정을 상상하고 그리기</vt:lpstr>
      <vt:lpstr>평가: 유기견 발생 예방 방법 쓰기</vt:lpstr>
      <vt:lpstr>평가: 유기견 발생 예방 방법 쓰기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/>
  <cp:lastModifiedBy/>
  <cp:revision>71</cp:revision>
  <dcterms:created xsi:type="dcterms:W3CDTF">2026-07-09T22:35:37Z</dcterms:created>
  <dcterms:modified xsi:type="dcterms:W3CDTF">2026-10-18T12:18:43Z</dcterms:modified>
  <cp:version/>
</cp:coreProperties>
</file>