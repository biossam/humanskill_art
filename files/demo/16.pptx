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34"/>
  </p:notesMasterIdLst>
  <p:sldIdLst>
    <p:sldId id="256" r:id="rId3"/>
    <p:sldId id="265" r:id="rId4"/>
    <p:sldId id="311" r:id="rId5"/>
    <p:sldId id="314" r:id="rId6"/>
    <p:sldId id="315" r:id="rId7"/>
    <p:sldId id="316" r:id="rId8"/>
    <p:sldId id="313" r:id="rId9"/>
    <p:sldId id="279" r:id="rId10"/>
    <p:sldId id="280" r:id="rId11"/>
    <p:sldId id="318" r:id="rId12"/>
    <p:sldId id="319" r:id="rId13"/>
    <p:sldId id="317" r:id="rId14"/>
    <p:sldId id="320" r:id="rId15"/>
    <p:sldId id="278" r:id="rId16"/>
    <p:sldId id="321" r:id="rId17"/>
    <p:sldId id="266" r:id="rId18"/>
    <p:sldId id="322" r:id="rId19"/>
    <p:sldId id="290" r:id="rId20"/>
    <p:sldId id="323" r:id="rId21"/>
    <p:sldId id="324" r:id="rId22"/>
    <p:sldId id="302" r:id="rId23"/>
    <p:sldId id="325" r:id="rId24"/>
    <p:sldId id="293" r:id="rId25"/>
    <p:sldId id="294" r:id="rId26"/>
    <p:sldId id="295" r:id="rId27"/>
    <p:sldId id="296" r:id="rId28"/>
    <p:sldId id="297" r:id="rId29"/>
    <p:sldId id="298" r:id="rId30"/>
    <p:sldId id="299" r:id="rId31"/>
    <p:sldId id="300" r:id="rId32"/>
    <p:sldId id="270" r:id="rId33"/>
  </p:sldIdLst>
  <p:sldSz cx="12192000" cy="6858000"/>
  <p:notesSz cx="6858000" cy="12192000"/>
  <p:embeddedFontLst>
    <p:embeddedFont>
      <p:font typeface="Noto Sans KR Black" panose="020B0200000000000000" pitchFamily="50" charset="-127"/>
      <p:bold r:id="rId35"/>
    </p:embeddedFont>
    <p:embeddedFont>
      <p:font typeface="Noto Sans KR Medium" panose="020B0200000000000000" pitchFamily="50" charset="-127"/>
      <p:regular r:id="rId36"/>
    </p:embeddedFont>
    <p:embeddedFont>
      <p:font typeface="나눔스퀘어 ExtraBold" panose="020B0600000101010101" pitchFamily="50" charset="-127"/>
      <p:bold r:id="rId37"/>
    </p:embeddedFont>
    <p:embeddedFont>
      <p:font typeface="땅스부대찌개 Bold" panose="02020603020101020101" pitchFamily="18" charset="-127"/>
      <p:bold r:id="rId38"/>
    </p:embeddedFont>
    <p:embeddedFont>
      <p:font typeface="에스코어 드림 8 Heavy" panose="020B0903030302020204" pitchFamily="34" charset="-127"/>
      <p:bold r:id="rId3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6669DCDE-839F-45A5-BBBA-002CD9F8819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447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5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846" y="3028834"/>
            <a:ext cx="890214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동물도 감정이 있어요</a:t>
            </a:r>
            <a:r>
              <a:rPr lang="en-US" altLang="ko-KR" sz="3200" b="1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!</a:t>
            </a:r>
          </a:p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800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슬픈 동물은 어떤 얼굴일까요</a:t>
            </a:r>
            <a:r>
              <a:rPr lang="en-US" altLang="ko-KR" sz="2800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?</a:t>
            </a: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 dirty="0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16</a:t>
            </a:r>
            <a:r>
              <a:rPr lang="ko-KR" altLang="en-US" sz="3703" dirty="0" err="1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endParaRPr lang="ko-KR" altLang="en-US" sz="3703" dirty="0">
              <a:solidFill>
                <a:srgbClr val="FFFFFF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451735" y="2497455"/>
            <a:ext cx="7243370" cy="228219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혹시 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[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유기견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]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이라는 말을 들어본 적 있나요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lvl="0" algn="ctr">
              <a:defRPr/>
            </a:pP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[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유기견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]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은 주인이 돌보지 않고 내다버린 개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강아지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)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말해요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태어나서 얼마 되지 않아 주인한테 버림받은 강아지 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‘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몽이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는</a:t>
            </a:r>
          </a:p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유기견 보호센터에서 지내다가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생후 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2</a:t>
            </a: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개월쯤 되어</a:t>
            </a:r>
          </a:p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새 주인을 만나 건강하게 자라고 있답니다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r>
              <a:rPr lang="ko-KR" altLang="en-US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여러분도 몽이를 만나러 가볼까요</a:t>
            </a:r>
            <a:r>
              <a:rPr lang="en-US" altLang="ko-KR" sz="24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  <a:endParaRPr lang="ko-KR" altLang="en-US" sz="24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38" b="26945"/>
          <a:stretch/>
        </p:blipFill>
        <p:spPr>
          <a:xfrm>
            <a:off x="3389433" y="2125104"/>
            <a:ext cx="3183042" cy="35602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타원형 설명선 2"/>
          <p:cNvSpPr/>
          <p:nvPr/>
        </p:nvSpPr>
        <p:spPr>
          <a:xfrm>
            <a:off x="6684857" y="2125104"/>
            <a:ext cx="3506893" cy="1981200"/>
          </a:xfrm>
          <a:prstGeom prst="wedgeEllipseCallout">
            <a:avLst>
              <a:gd name="adj1" fmla="val -50783"/>
              <a:gd name="adj2" fmla="val 34615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안녕하세요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 </a:t>
            </a:r>
          </a:p>
          <a:p>
            <a:pPr algn="ctr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제 이름은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……</a:t>
            </a:r>
          </a:p>
          <a:p>
            <a:pPr algn="ctr"/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저는 주인에게 버림받고 </a:t>
            </a:r>
            <a:r>
              <a:rPr lang="ko-KR" altLang="en-US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유기견</a:t>
            </a:r>
            <a:r>
              <a:rPr lang="ko-KR" altLang="en-US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보호센터에서 지내고 있었어요</a:t>
            </a:r>
            <a:r>
              <a:rPr lang="en-US" altLang="ko-KR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4999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sp>
        <p:nvSpPr>
          <p:cNvPr id="3" name="타원형 설명선 2"/>
          <p:cNvSpPr/>
          <p:nvPr/>
        </p:nvSpPr>
        <p:spPr>
          <a:xfrm>
            <a:off x="638176" y="1628775"/>
            <a:ext cx="3961370" cy="2447925"/>
          </a:xfrm>
          <a:prstGeom prst="wedgeEllipseCallout">
            <a:avLst>
              <a:gd name="adj1" fmla="val 45597"/>
              <a:gd name="adj2" fmla="val 34651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어느 날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,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유기견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보호센터에서 가끔씩 봉사하러 오시던 마음씨 착한 아주머니가 저를 입양해서 집으로 데려오셨어요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아직은 많이 낯설고 어색해요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9871" y="2045726"/>
            <a:ext cx="1849050" cy="3287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573" y="2045726"/>
            <a:ext cx="3488298" cy="348829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42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sp>
        <p:nvSpPr>
          <p:cNvPr id="3" name="타원형 설명선 2"/>
          <p:cNvSpPr/>
          <p:nvPr/>
        </p:nvSpPr>
        <p:spPr>
          <a:xfrm>
            <a:off x="7461475" y="1647825"/>
            <a:ext cx="4073299" cy="2381250"/>
          </a:xfrm>
          <a:prstGeom prst="wedgeEllipseCallout">
            <a:avLst>
              <a:gd name="adj1" fmla="val -45068"/>
              <a:gd name="adj2" fmla="val 4487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이제 저도 이름이 생겼어요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</a:t>
            </a: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주인 아주머니께서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‘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몽쉘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’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이라고 지었다가 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“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몽이야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 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몽이야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!”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하고 부르시면서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‘</a:t>
            </a:r>
            <a:r>
              <a:rPr lang="ko-KR" altLang="en-US" sz="1600" dirty="0" err="1">
                <a:solidFill>
                  <a:schemeClr val="accent6">
                    <a:lumMod val="50000"/>
                  </a:schemeClr>
                </a:solidFill>
                <a:latin typeface="+mj-lt"/>
              </a:rPr>
              <a:t>몽이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’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가 되었어요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  <a:endParaRPr lang="en-US" altLang="ko-KR" sz="1600" dirty="0"/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새 이름이 정말 마음에 들어요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87" t="12036" r="13125" b="8750"/>
          <a:stretch/>
        </p:blipFill>
        <p:spPr>
          <a:xfrm rot="5400000">
            <a:off x="4287576" y="2511814"/>
            <a:ext cx="3579974" cy="28249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78337" y="2575276"/>
            <a:ext cx="3527702" cy="26457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74001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sp>
        <p:nvSpPr>
          <p:cNvPr id="3" name="타원형 설명선 2"/>
          <p:cNvSpPr/>
          <p:nvPr/>
        </p:nvSpPr>
        <p:spPr>
          <a:xfrm>
            <a:off x="571499" y="1552574"/>
            <a:ext cx="3227945" cy="1598713"/>
          </a:xfrm>
          <a:prstGeom prst="wedgeEllipseCallout">
            <a:avLst>
              <a:gd name="adj1" fmla="val 27435"/>
              <a:gd name="adj2" fmla="val 5865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집이 정말 편안해요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</a:p>
          <a:p>
            <a:pPr algn="ctr"/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침대에 누우면 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잠이 솔솔 온다니까요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7" t="38113" r="23484" b="20403"/>
          <a:stretch/>
        </p:blipFill>
        <p:spPr>
          <a:xfrm>
            <a:off x="2190014" y="2908069"/>
            <a:ext cx="4242761" cy="255928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123340" y="2652356"/>
            <a:ext cx="3593074" cy="26948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타원형 설명선 12"/>
          <p:cNvSpPr/>
          <p:nvPr/>
        </p:nvSpPr>
        <p:spPr>
          <a:xfrm>
            <a:off x="8258175" y="666750"/>
            <a:ext cx="3829051" cy="1943100"/>
          </a:xfrm>
          <a:prstGeom prst="wedgeEllipseCallout">
            <a:avLst>
              <a:gd name="adj1" fmla="val -28292"/>
              <a:gd name="adj2" fmla="val 55675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바깥 나들이도 가고 산책도 매일매일 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주인 아주머니와 계속 이렇게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lt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행복하게 살고 싶어요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!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7163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4" y="836713"/>
            <a:ext cx="4772171" cy="1209013"/>
            <a:chOff x="2699791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1" y="815456"/>
              <a:ext cx="3579128" cy="53091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‘</a:t>
              </a:r>
              <a:r>
                <a:rPr lang="ko-KR" altLang="en-US" sz="4000" spc="-200" dirty="0" err="1">
                  <a:solidFill>
                    <a:schemeClr val="bg1"/>
                  </a:solidFill>
                  <a:latin typeface="+mj-ea"/>
                  <a:ea typeface="+mj-ea"/>
                </a:rPr>
                <a:t>몽이</a:t>
              </a:r>
              <a:r>
                <a:rPr lang="en-US" altLang="ko-KR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’ </a:t>
              </a:r>
              <a:r>
                <a:rPr lang="ko-KR" altLang="en-US" sz="4000" spc="-200" dirty="0">
                  <a:solidFill>
                    <a:schemeClr val="bg1"/>
                  </a:solidFill>
                  <a:latin typeface="+mj-ea"/>
                  <a:ea typeface="+mj-ea"/>
                </a:rPr>
                <a:t>이야기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6912" y="2145982"/>
            <a:ext cx="2541033" cy="33880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타원형 설명선 11"/>
          <p:cNvSpPr/>
          <p:nvPr/>
        </p:nvSpPr>
        <p:spPr>
          <a:xfrm>
            <a:off x="5967968" y="2045726"/>
            <a:ext cx="4147582" cy="2186111"/>
          </a:xfrm>
          <a:prstGeom prst="wedgeEllipseCallout">
            <a:avLst>
              <a:gd name="adj1" fmla="val -53522"/>
              <a:gd name="adj2" fmla="val 32561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지금 제 기분이 어떤지 맞춰볼래요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?</a:t>
            </a: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제 얼굴이 항상 똑같아 보인다고요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?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그렇지 않아요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 </a:t>
            </a:r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저도 다양한 감정을 느낀답니다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.</a:t>
            </a: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제 얼굴을 보고 어떤 기분인지 퀴즈로 풀어볼까요</a:t>
            </a:r>
            <a:r>
              <a:rPr lang="en-US" altLang="ko-KR" sz="1600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94999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7" t="13056" r="65902" b="46111"/>
          <a:stretch/>
        </p:blipFill>
        <p:spPr>
          <a:xfrm>
            <a:off x="3373386" y="2371725"/>
            <a:ext cx="2310088" cy="28003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28" t="54167" r="2082" b="4445"/>
          <a:stretch/>
        </p:blipFill>
        <p:spPr>
          <a:xfrm>
            <a:off x="6287981" y="2371725"/>
            <a:ext cx="237172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" t="12201" r="66071" b="46111"/>
          <a:stretch/>
        </p:blipFill>
        <p:spPr>
          <a:xfrm>
            <a:off x="4890318" y="2427388"/>
            <a:ext cx="2286663" cy="285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79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30" t="13056" r="33922" b="46111"/>
          <a:stretch/>
        </p:blipFill>
        <p:spPr>
          <a:xfrm>
            <a:off x="3389891" y="2257424"/>
            <a:ext cx="2578077" cy="307657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28" t="54167" r="2082" b="4445"/>
          <a:stretch/>
        </p:blipFill>
        <p:spPr>
          <a:xfrm>
            <a:off x="6176127" y="2257424"/>
            <a:ext cx="2570695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7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29" t="12201" r="34044" b="46111"/>
          <a:stretch/>
        </p:blipFill>
        <p:spPr>
          <a:xfrm>
            <a:off x="4818842" y="2322613"/>
            <a:ext cx="2657989" cy="32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8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90" t="13056" r="1973" b="46111"/>
          <a:stretch/>
        </p:blipFill>
        <p:spPr>
          <a:xfrm>
            <a:off x="3236999" y="2238372"/>
            <a:ext cx="2730969" cy="3209925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628" t="54167" r="2082" b="4445"/>
          <a:stretch/>
        </p:blipFill>
        <p:spPr>
          <a:xfrm>
            <a:off x="6110361" y="2238371"/>
            <a:ext cx="2682119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74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533" t="12201" r="2018" b="46111"/>
          <a:stretch/>
        </p:blipFill>
        <p:spPr>
          <a:xfrm>
            <a:off x="4656025" y="2227361"/>
            <a:ext cx="2879950" cy="345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689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98661" y="2478128"/>
            <a:ext cx="8794678" cy="222504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동물의 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[         ]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추측하고 슬픔을 느끼는 상황을 상상하여 그림으로 표현할 수 있으며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[             ] 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발생 예방을 위해 할 수 있는 일을 서술할 수 있다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8920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698661" y="2440860"/>
            <a:ext cx="8794678" cy="222504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동물의 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[ 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감정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]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추측하고 슬픔을 느끼는 상황을 상상하여 그림으로 표현할 수 있으며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[ 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유기견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 ] 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발생 예방을 위해 할 수 있는 일을 서술할 수 있다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5719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16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&lt;1025: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사람과 사람 없이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감상하기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7178321" y="2649456"/>
            <a:ext cx="4762688" cy="2246769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1939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년 한국에서 태어난 윤석남 작가는 제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6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회 안양공공예술프로젝트에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&lt;1025: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사람과 사람 없이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라는 작품을 출품했어요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 </a:t>
            </a:r>
          </a:p>
          <a:p>
            <a:r>
              <a:rPr lang="ko-KR" altLang="en-US" sz="20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지금 이 작품을 영상으로 자세히 살펴보고</a:t>
            </a:r>
            <a:r>
              <a:rPr lang="en-US" altLang="ko-KR" sz="20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, </a:t>
            </a:r>
          </a:p>
          <a:p>
            <a:r>
              <a:rPr lang="ko-KR" altLang="en-US" sz="20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작가가 어떤 주제로 이 작품을 만들었는지 함께 알아봅시다</a:t>
            </a:r>
            <a:r>
              <a:rPr lang="en-US" altLang="ko-KR" sz="2000" b="1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20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6" y="1873110"/>
            <a:ext cx="6274610" cy="41804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직사각형 7"/>
          <p:cNvSpPr/>
          <p:nvPr/>
        </p:nvSpPr>
        <p:spPr>
          <a:xfrm>
            <a:off x="519761" y="6052369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사진 출처</a:t>
            </a:r>
            <a:r>
              <a:rPr lang="en-US" altLang="ko-KR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endParaRPr lang="en-US" altLang="ko-KR" sz="1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17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1. &lt;1025: 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사람과 사람 없이</a:t>
            </a:r>
            <a:r>
              <a:rPr lang="en-US" altLang="ko-KR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&gt;</a:t>
            </a:r>
            <a:r>
              <a:rPr lang="ko-KR" altLang="en-US" sz="32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에 대해 생각하기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영상 시청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10099" y="2127635"/>
            <a:ext cx="11315890" cy="2677656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영상을 보면서 들었던 내용이나 머릿속에 떠오른 생각을 나눠봅시다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.</a:t>
            </a:r>
          </a:p>
          <a:p>
            <a:endParaRPr lang="en-US" altLang="ko-KR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>
              <a:buAutoNum type="arabicParenBoth"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작가는 왜 </a:t>
            </a:r>
            <a:r>
              <a:rPr lang="ko-KR" altLang="en-US" sz="28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유기견을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나무에 그리고 마당에 설치했을까요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  <a:p>
            <a:pPr marL="457200" indent="-457200">
              <a:buAutoNum type="arabicParenBoth"/>
            </a:pPr>
            <a:endParaRPr lang="en-US" altLang="ko-KR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  <a:p>
            <a:pPr marL="457200" indent="-457200">
              <a:buAutoNum type="arabicParenBoth"/>
            </a:pPr>
            <a:r>
              <a:rPr lang="ko-KR" altLang="en-US" sz="2800" spc="-147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유기견에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 대해 들어본 적이 있거나 직접 만난 경험이 있다면 얘기해볼까요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</a:rPr>
              <a:t>?</a:t>
            </a:r>
          </a:p>
          <a:p>
            <a:pPr marL="457200" indent="-457200">
              <a:buAutoNum type="arabicParenBoth"/>
            </a:pP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1060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CA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18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슬픈 동물의 표정을 상상하고 그리기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동물의 감정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537300" y="1944265"/>
            <a:ext cx="9117399" cy="329184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동물은 어떤 상황에서 슬픔을 느끼고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endParaRPr lang="ko-KR" altLang="en-US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그럴 때 어떤 표정을 지을까요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?</a:t>
            </a:r>
          </a:p>
          <a:p>
            <a:pPr lvl="0" algn="ctr">
              <a:defRPr/>
            </a:pPr>
            <a:endParaRPr lang="en-US" altLang="ko-KR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활동지에 동물이 처한 상황을 쓰고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</a:p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 상황에서 동물이 지을 수 있을 표정을 상상해서 그려보세요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19011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19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활동 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2.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슬픈 동물의 표정을 상상하고 그리기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동물의 감정</a:t>
            </a: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31189" y="1208366"/>
            <a:ext cx="9242021" cy="51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377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슬픈 동물의 표정을 상상하고 그리기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동물의 감정</a:t>
            </a: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84951" y="1216163"/>
            <a:ext cx="9175556" cy="516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862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21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평가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3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유기견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발생 예방 방법 쓰기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생각 쓰기</a:t>
            </a:r>
            <a:endParaRPr lang="en-US" altLang="ko-KR" sz="2400" spc="-147" dirty="0">
              <a:solidFill>
                <a:schemeClr val="bg1">
                  <a:alpha val="99000"/>
                </a:schemeClr>
              </a:solidFill>
              <a:latin typeface="Noto Sans KR Black"/>
              <a:ea typeface="Noto Sans KR Black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943019" y="2304457"/>
            <a:ext cx="10305962" cy="275844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유기견을 포함하여 다양한 반려동물이 버려지는 상황을 예방하기 위해서</a:t>
            </a:r>
          </a:p>
          <a:p>
            <a:pPr lvl="0" algn="ctr">
              <a:defRPr/>
            </a:pP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‘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나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’, ‘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지역사회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’, ‘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국가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’</a:t>
            </a: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에서 할 수 있는 일을 써 보세요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ctr">
              <a:defRPr/>
            </a:pPr>
            <a:endParaRPr lang="en-US" altLang="ko-KR" sz="3500" spc="-147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실제로 실천할 수 있는 방법을 구체적으로 적어주세요</a:t>
            </a:r>
            <a:r>
              <a:rPr lang="en-US" altLang="ko-KR" sz="3500" spc="-147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2076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22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 fontScale="90000"/>
          </a:bodyPr>
          <a:lstStyle/>
          <a:p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평가</a:t>
            </a:r>
            <a:r>
              <a:rPr lang="en-US" altLang="ko-KR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3800" b="1" dirty="0" err="1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유기견</a:t>
            </a:r>
            <a:r>
              <a:rPr lang="ko-KR" altLang="en-US" sz="38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 발생 예방 방법 쓰기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/>
                <a:ea typeface="Noto Sans KR Black"/>
              </a:rPr>
              <a:t>평가지</a:t>
            </a:r>
            <a:endParaRPr lang="en-US" altLang="ko-KR" sz="2400" spc="-147" dirty="0">
              <a:solidFill>
                <a:schemeClr val="bg1">
                  <a:alpha val="99000"/>
                </a:schemeClr>
              </a:solidFill>
              <a:latin typeface="Noto Sans KR Black"/>
              <a:ea typeface="Noto Sans KR Black"/>
            </a:endParaRP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49684" y="1213554"/>
            <a:ext cx="9231350" cy="5192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31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형성평가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1427795" y="3154605"/>
            <a:ext cx="9336405" cy="954107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반려 동물이 버려지는 상황을 예방하기 위한 노력이나 활동에</a:t>
            </a:r>
          </a:p>
          <a:p>
            <a:pPr lvl="0" algn="ctr">
              <a:defRPr/>
            </a:pP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대한 설명 중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옳으면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‘○’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옳지 않으면 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‘×’</a:t>
            </a:r>
            <a:r>
              <a:rPr lang="ko-KR" altLang="en-US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를 표시하세요</a:t>
            </a:r>
            <a:r>
              <a:rPr lang="en-US" altLang="ko-KR" sz="28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8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42148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1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1427796" y="3111185"/>
            <a:ext cx="9336405" cy="107721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귀여운 강아지나 고양이를 보면 집에서 기를 수 있는 상황인지 따져보지 않고 부모님께 사달라고 한다</a:t>
            </a:r>
            <a:r>
              <a:rPr lang="en-US" altLang="ko-KR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588919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5397539" y="2872859"/>
            <a:ext cx="139692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600" spc="-147" dirty="0">
                <a:solidFill>
                  <a:srgbClr val="FF0000"/>
                </a:solidFill>
                <a:latin typeface="+mn-ea"/>
              </a:rPr>
              <a:t>×</a:t>
            </a:r>
            <a:endParaRPr lang="ko-KR" altLang="en-US" sz="9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5754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2</a:t>
              </a:r>
              <a:endParaRPr lang="ko-KR" altLang="en-US" sz="5867" spc="-2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1427796" y="3111185"/>
            <a:ext cx="9336405" cy="107721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지역사회에서는 반려동물 등록제를 실시하고</a:t>
            </a:r>
            <a:r>
              <a:rPr lang="en-US" altLang="ko-KR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</a:p>
          <a:p>
            <a:pPr lvl="0" algn="ctr">
              <a:defRPr/>
            </a:pPr>
            <a:r>
              <a:rPr lang="ko-KR" altLang="en-US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유기 동물 보호소를 운영한다</a:t>
            </a:r>
            <a:r>
              <a:rPr lang="en-US" altLang="ko-KR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5778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5402303" y="2951584"/>
            <a:ext cx="1396922" cy="156966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en-US" altLang="ko-KR" sz="9600" b="1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○</a:t>
            </a:r>
            <a:endParaRPr lang="ko-KR" altLang="en-US" sz="9600" b="1" spc="-147" dirty="0">
              <a:solidFill>
                <a:srgbClr val="FF0000">
                  <a:alpha val="99000"/>
                </a:srgb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30242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문제 </a:t>
              </a:r>
              <a:r>
                <a:rPr lang="en-US" altLang="ko-KR" sz="5867" spc="-200">
                  <a:solidFill>
                    <a:schemeClr val="bg1"/>
                  </a:solidFill>
                  <a:latin typeface="+mj-ea"/>
                  <a:ea typeface="+mj-ea"/>
                </a:rPr>
                <a:t>3</a:t>
              </a:r>
              <a:endParaRPr lang="ko-KR" altLang="en-US" sz="5867" spc="-20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1427796" y="3103091"/>
            <a:ext cx="9336405" cy="1077218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ctr">
              <a:defRPr/>
            </a:pPr>
            <a:r>
              <a:rPr lang="ko-KR" altLang="en-US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반려동물을 소중히 여기자는 공공캠페인과 교육을 통해</a:t>
            </a:r>
            <a:endParaRPr lang="en-US" altLang="ko-KR" sz="3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ctr">
              <a:defRPr/>
            </a:pPr>
            <a:r>
              <a:rPr lang="ko-KR" altLang="en-US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반려동물과 사람이 함께 살아가는 문화를 만든다</a:t>
            </a:r>
            <a:r>
              <a:rPr lang="en-US" altLang="ko-KR" sz="3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32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221104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ko-KR" altLang="en-US" sz="5867" spc="-200">
                  <a:solidFill>
                    <a:schemeClr val="bg1"/>
                  </a:solidFill>
                  <a:latin typeface="+mj-ea"/>
                  <a:ea typeface="+mj-ea"/>
                </a:rPr>
                <a:t>정답</a:t>
              </a:r>
            </a:p>
          </p:txBody>
        </p:sp>
      </p:grpSp>
      <p:sp>
        <p:nvSpPr>
          <p:cNvPr id="9" name="직사각형 8"/>
          <p:cNvSpPr/>
          <p:nvPr/>
        </p:nvSpPr>
        <p:spPr>
          <a:xfrm>
            <a:off x="5402303" y="2951584"/>
            <a:ext cx="1396922" cy="156966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pPr lvl="0" algn="ctr">
              <a:defRPr/>
            </a:pPr>
            <a:r>
              <a:rPr lang="en-US" altLang="ko-KR" sz="9600" b="1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○</a:t>
            </a:r>
            <a:endParaRPr lang="ko-KR" altLang="en-US" sz="9600" b="1" spc="-147" dirty="0">
              <a:solidFill>
                <a:srgbClr val="FF0000">
                  <a:alpha val="99000"/>
                </a:srgb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84817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30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27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다음 수업 안내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 err="1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예고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19757" y="1503313"/>
            <a:ext cx="9117399" cy="2308324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시간에는 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&lt;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지역 미술 여행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공공미술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&gt;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단원의 네 번째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시간으로 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‘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안녕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우리 동네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! </a:t>
            </a:r>
            <a:r>
              <a:rPr lang="ko-KR" altLang="en-US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내가 사는 곳을 어떻게 아끼고 사랑할 수 있을까요</a:t>
            </a:r>
            <a:r>
              <a:rPr lang="en-US" altLang="ko-KR" sz="2400" spc="-147" dirty="0">
                <a:solidFill>
                  <a:srgbClr val="FF0000">
                    <a:alpha val="99000"/>
                  </a:srgbClr>
                </a:solidFill>
                <a:latin typeface="+mn-ea"/>
              </a:rPr>
              <a:t>?’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라는</a:t>
            </a: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주제로 수업을 진행합니다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endParaRPr lang="en-US" altLang="ko-KR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편안한 마음으로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, </a:t>
            </a: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열린 자세로 수업에 참여해 주세요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</a:p>
          <a:p>
            <a:pPr lvl="0" algn="just">
              <a:defRPr/>
            </a:pPr>
            <a:r>
              <a:rPr lang="ko-KR" altLang="en-US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다음 시간에 만나요</a:t>
            </a:r>
            <a:r>
              <a:rPr lang="en-US" altLang="ko-KR" sz="24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!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684" y="3162299"/>
            <a:ext cx="3674850" cy="25972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775" y="5435164"/>
            <a:ext cx="976874" cy="97687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7762834" y="5923601"/>
            <a:ext cx="2844550" cy="27699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그림 출처</a:t>
            </a:r>
            <a:r>
              <a:rPr lang="en-US" altLang="ko-KR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: </a:t>
            </a: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en-US" altLang="ko-KR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APAP </a:t>
            </a: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홈페이지</a:t>
            </a:r>
            <a:r>
              <a:rPr lang="en-US" altLang="ko-KR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</a:t>
            </a:r>
            <a:r>
              <a:rPr lang="ko-KR" altLang="en-US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안양문화예술재단 제공</a:t>
            </a:r>
            <a:r>
              <a:rPr lang="en-US" altLang="ko-KR" sz="12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98994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FontTx/>
          <a:buNone/>
          <a:defRPr kumimoji="1" lang="ko-KR" altLang="en-US" sz="1200" b="0" i="0" u="none" strike="noStrike" cap="none" normalizeH="0" baseline="0" smtClean="0">
            <a:solidFill>
              <a:schemeClr val="tx1"/>
            </a:solidFill>
            <a:effectLst/>
            <a:latin typeface="Calibri"/>
            <a:cs typeface="Calibri"/>
          </a:defRPr>
        </a:defPPr>
      </a:lst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634</Words>
  <Application>Microsoft Office PowerPoint</Application>
  <PresentationFormat>와이드스크린</PresentationFormat>
  <Paragraphs>117</Paragraphs>
  <Slides>31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에스코어 드림 8 Heavy</vt:lpstr>
      <vt:lpstr>나눔스퀘어 ExtraBold</vt:lpstr>
      <vt:lpstr>땅스부대찌개 Bold</vt:lpstr>
      <vt:lpstr>Noto Sans KR Black</vt:lpstr>
      <vt:lpstr>Arial</vt:lpstr>
      <vt:lpstr>굴림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활동 1. &lt;1025: 사람과 사람 없이&gt; 감상하기</vt:lpstr>
      <vt:lpstr>활동 1. &lt;1025: 사람과 사람 없이&gt;에 대해 생각하기</vt:lpstr>
      <vt:lpstr>활동 2. 슬픈 동물의 표정을 상상하고 그리기</vt:lpstr>
      <vt:lpstr>활동 2. 슬픈 동물의 표정을 상상하고 그리기</vt:lpstr>
      <vt:lpstr> 슬픈 동물의 표정을 상상하고 그리기</vt:lpstr>
      <vt:lpstr>평가: 유기견 발생 예방 방법 쓰기</vt:lpstr>
      <vt:lpstr>평가: 유기견 발생 예방 방법 쓰기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다음 수업 안내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78</cp:revision>
  <dcterms:created xsi:type="dcterms:W3CDTF">2026-07-09T22:35:37Z</dcterms:created>
  <dcterms:modified xsi:type="dcterms:W3CDTF">2026-10-27T16:02:41Z</dcterms:modified>
  <cp:version/>
</cp:coreProperties>
</file>