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0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</p:sldIdLst>
  <p:sldSz cx="12192000" cy="6858000"/>
  <p:notesSz cx="6858000" cy="12192000"/>
  <p:embeddedFontLst>
    <p:embeddedFont>
      <p:font typeface="Noto Sans KR Black" panose="020B0200000000000000" pitchFamily="50" charset="-127"/>
      <p:bold r:id="rId31"/>
    </p:embeddedFont>
    <p:embeddedFont>
      <p:font typeface="Noto Sans KR Medium" panose="020B0200000000000000" pitchFamily="50" charset="-127"/>
      <p:regular r:id="rId32"/>
    </p:embeddedFont>
    <p:embeddedFont>
      <p:font typeface="나눔스퀘어 ExtraBold" panose="020B0600000101010101" pitchFamily="50" charset="-127"/>
      <p:bold r:id="rId33"/>
    </p:embeddedFont>
    <p:embeddedFont>
      <p:font typeface="땅스부대찌개 Bold" panose="02020603020101020101" pitchFamily="18" charset="-127"/>
      <p:bold r:id="rId34"/>
    </p:embeddedFont>
    <p:embeddedFont>
      <p:font typeface="에스코어 드림 8 Heavy" panose="020B0903030302020204" pitchFamily="34" charset="-127"/>
      <p:bold r:id="rId3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25" y="41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512135" y="2972782"/>
            <a:ext cx="7718219" cy="1077218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ko-KR" altLang="en-US" sz="3200" b="1" spc="-200" dirty="0" err="1">
                <a:solidFill>
                  <a:srgbClr val="F6877E"/>
                </a:solidFill>
                <a:latin typeface="+mj-ea"/>
                <a:ea typeface="+mj-ea"/>
              </a:rPr>
              <a:t>개미의 눈,</a:t>
            </a:r>
            <a:endParaRPr lang="ko-KR" altLang="en-US" sz="5867" b="1" spc="-200" dirty="0">
              <a:solidFill>
                <a:srgbClr val="F6877E"/>
              </a:solidFill>
              <a:latin typeface="+mj-ea"/>
              <a:ea typeface="+mj-ea"/>
            </a:endParaRPr>
          </a:p>
          <a:p>
            <a:r>
              <a:rPr lang="ko-KR" altLang="en-US" sz="3200" b="1" spc="-200" dirty="0" err="1">
                <a:solidFill>
                  <a:srgbClr val="F6877E"/>
                </a:solidFill>
                <a:latin typeface="+mj-ea"/>
                <a:ea typeface="+mj-ea"/>
              </a:rPr>
              <a:t>새의 눈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b="1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표지 차시 말풍선 그림"/>
          <p:cNvPicPr preferRelativeResize="0"/>
          <p:nvPr/>
        </p:nvPicPr>
        <p:blipFill rotWithShape="1">
          <a:blip r:embed="rId2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31;p1"/>
          <p:cNvSpPr txBox="1">
            <a:spLocks/>
          </p:cNvSpPr>
          <p:nvPr/>
        </p:nvSpPr>
        <p:spPr>
          <a:xfrm>
            <a:off x="5185669" y="2018557"/>
            <a:ext cx="2542512" cy="64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chemeClr val="lt1"/>
              </a:buClr>
              <a:buSzPts val="2800"/>
              <a:buNone/>
            </a:pPr>
            <a:r>
              <a:rPr lang="en-US" altLang="ko-KR" sz="3733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4차시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35722" y="4400000"/>
            <a:ext cx="5925788" cy="5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/>
            <a:r>
              <a:rPr sz="2800" b="1" u="none">
                <a:solidFill>
                  <a:srgbClr val="4472C4"/>
                </a:solidFill>
                <a:latin typeface="+mj-ea"/>
                <a:ea typeface="+mj-ea"/>
              </a:rPr>
              <a:t>단원: 같은 세상, 다른 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조형놀이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2400000" y="2550000"/>
            <a:ext cx="7400000" cy="2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같은 실내화를 찍은 사진 두 장이 나옵니다.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어느 쪽이 개미의 눈으로 본 사진이고,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어느 쪽이 새의 눈으로 본 사진일까요?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모두 2문제가 준비되어 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1</a:t>
              </a:r>
            </a:p>
          </p:txBody>
        </p:sp>
      </p:grpSp>
      <p:sp>
        <p:nvSpPr>
          <p:cNvPr id="60" name="Rounded Rectangle 59"/>
          <p:cNvSpPr/>
          <p:nvPr/>
        </p:nvSpPr>
        <p:spPr>
          <a:xfrm>
            <a:off x="2900000" y="5330000"/>
            <a:ext cx="6400000" cy="52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u="none">
                <a:solidFill>
                  <a:srgbClr val="FFFFFF"/>
                </a:solidFill>
                <a:latin typeface="+mn-ea"/>
                <a:ea typeface="+mn-ea"/>
              </a:rPr>
              <a:t>개미의 눈일까, 새의 눈일까? 손을 들어요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255CA9-7EDC-7826-293A-F70CCA0EB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968" y="2141737"/>
            <a:ext cx="3974471" cy="29808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600000" y="2500000"/>
            <a:ext cx="36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u="none">
                <a:solidFill>
                  <a:srgbClr val="D9534A"/>
                </a:solidFill>
                <a:latin typeface="+mn-ea"/>
                <a:ea typeface="+mn-ea"/>
              </a:rPr>
              <a:t>개미의 눈!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00000" y="3450000"/>
            <a:ext cx="3600000" cy="11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바닥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가까이에서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endParaRPr lang="en-US" sz="19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/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위로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올려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찍었어요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C06EBAB-E732-CED5-AFD2-7BF4A824A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4239" y="2141737"/>
            <a:ext cx="3974471" cy="29808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2</a:t>
              </a:r>
            </a:p>
          </p:txBody>
        </p:sp>
      </p:grpSp>
      <p:sp>
        <p:nvSpPr>
          <p:cNvPr id="60" name="Rounded Rectangle 59"/>
          <p:cNvSpPr/>
          <p:nvPr/>
        </p:nvSpPr>
        <p:spPr>
          <a:xfrm>
            <a:off x="2900000" y="5330000"/>
            <a:ext cx="6400000" cy="52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u="none">
                <a:solidFill>
                  <a:srgbClr val="FFFFFF"/>
                </a:solidFill>
                <a:latin typeface="+mn-ea"/>
                <a:ea typeface="+mn-ea"/>
              </a:rPr>
              <a:t>개미의 눈일까, 새의 눈일까? 손을 들어요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15DD731-1437-AC22-738D-7C756197CB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16" t="14698" r="18750" b="14698"/>
          <a:stretch>
            <a:fillRect/>
          </a:stretch>
        </p:blipFill>
        <p:spPr>
          <a:xfrm>
            <a:off x="4362965" y="2141737"/>
            <a:ext cx="3466069" cy="30170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600000" y="2500000"/>
            <a:ext cx="36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u="none">
                <a:solidFill>
                  <a:srgbClr val="D9534A"/>
                </a:solidFill>
                <a:latin typeface="+mn-ea"/>
                <a:ea typeface="+mn-ea"/>
              </a:rPr>
              <a:t>새의 눈!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00000" y="3450000"/>
            <a:ext cx="3600000" cy="11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위에서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아래로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내려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찍었어요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. </a:t>
            </a:r>
            <a:endParaRPr lang="en-US" sz="19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/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같은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신발인데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endParaRPr lang="en-US" sz="19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/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느낌은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어떻게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900" b="0" u="none" dirty="0" err="1">
                <a:solidFill>
                  <a:srgbClr val="404040"/>
                </a:solidFill>
                <a:latin typeface="+mn-ea"/>
                <a:ea typeface="+mn-ea"/>
              </a:rPr>
              <a:t>다른가요</a:t>
            </a:r>
            <a:r>
              <a:rPr sz="1900" b="0" u="none" dirty="0">
                <a:solidFill>
                  <a:srgbClr val="404040"/>
                </a:solidFill>
                <a:latin typeface="+mn-ea"/>
                <a:ea typeface="+mn-ea"/>
              </a:rPr>
              <a:t>?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F1C6E8A-3E23-C61C-2649-F14D7D0AB0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16" t="14698" r="18750" b="14698"/>
          <a:stretch>
            <a:fillRect/>
          </a:stretch>
        </p:blipFill>
        <p:spPr>
          <a:xfrm>
            <a:off x="5443946" y="2243337"/>
            <a:ext cx="3466069" cy="30170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일곱 번의 눈, 그중 오늘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매일 보던 우리 학교를 일곱 번 다르게 보는 사진가(나)가 되어 봐요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325000" y="3075000"/>
            <a:ext cx="9600000" cy="0"/>
          </a:xfrm>
          <a:prstGeom prst="line">
            <a:avLst/>
          </a:prstGeom>
          <a:ln w="38100">
            <a:solidFill>
              <a:srgbClr val="F68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700000" y="2450000"/>
            <a:ext cx="1250000" cy="1250000"/>
          </a:xfrm>
          <a:prstGeom prst="ellipse">
            <a:avLst/>
          </a:prstGeom>
          <a:solidFill>
            <a:srgbClr val="FDECE9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관찰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1차시</a:t>
            </a:r>
          </a:p>
        </p:txBody>
      </p:sp>
      <p:sp>
        <p:nvSpPr>
          <p:cNvPr id="102" name="Oval 101"/>
          <p:cNvSpPr/>
          <p:nvPr/>
        </p:nvSpPr>
        <p:spPr>
          <a:xfrm>
            <a:off x="2300000" y="2450000"/>
            <a:ext cx="1250000" cy="1250000"/>
          </a:xfrm>
          <a:prstGeom prst="ellipse">
            <a:avLst/>
          </a:prstGeom>
          <a:solidFill>
            <a:srgbClr val="FDECE9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관점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1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2차시</a:t>
            </a:r>
          </a:p>
        </p:txBody>
      </p:sp>
      <p:sp>
        <p:nvSpPr>
          <p:cNvPr id="104" name="Oval 103"/>
          <p:cNvSpPr/>
          <p:nvPr/>
        </p:nvSpPr>
        <p:spPr>
          <a:xfrm>
            <a:off x="3900000" y="2450000"/>
            <a:ext cx="1250000" cy="1250000"/>
          </a:xfrm>
          <a:prstGeom prst="ellipse">
            <a:avLst/>
          </a:prstGeom>
          <a:solidFill>
            <a:srgbClr val="FDECE9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준비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7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3차시</a:t>
            </a:r>
          </a:p>
        </p:txBody>
      </p:sp>
      <p:sp>
        <p:nvSpPr>
          <p:cNvPr id="106" name="Oval 105"/>
          <p:cNvSpPr/>
          <p:nvPr/>
        </p:nvSpPr>
        <p:spPr>
          <a:xfrm>
            <a:off x="5500000" y="2450000"/>
            <a:ext cx="1250000" cy="1250000"/>
          </a:xfrm>
          <a:prstGeom prst="ellipse">
            <a:avLst/>
          </a:prstGeom>
          <a:solidFill>
            <a:srgbClr val="D9534A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FFFFFF"/>
                </a:solidFill>
                <a:latin typeface="+mj-ea"/>
                <a:ea typeface="+mj-ea"/>
              </a:rPr>
              <a:t>시선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3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D9534A"/>
                </a:solidFill>
                <a:latin typeface="+mn-ea"/>
                <a:ea typeface="+mn-ea"/>
              </a:rPr>
              <a:t>4차시 (오늘)</a:t>
            </a:r>
          </a:p>
        </p:txBody>
      </p:sp>
      <p:sp>
        <p:nvSpPr>
          <p:cNvPr id="108" name="Oval 107"/>
          <p:cNvSpPr/>
          <p:nvPr/>
        </p:nvSpPr>
        <p:spPr>
          <a:xfrm>
            <a:off x="7100000" y="2450000"/>
            <a:ext cx="1250000" cy="1250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구도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9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5차시</a:t>
            </a:r>
          </a:p>
        </p:txBody>
      </p:sp>
      <p:sp>
        <p:nvSpPr>
          <p:cNvPr id="110" name="Oval 109"/>
          <p:cNvSpPr/>
          <p:nvPr/>
        </p:nvSpPr>
        <p:spPr>
          <a:xfrm>
            <a:off x="8700000" y="2450000"/>
            <a:ext cx="1250000" cy="1250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의도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5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6차시</a:t>
            </a:r>
          </a:p>
        </p:txBody>
      </p:sp>
      <p:sp>
        <p:nvSpPr>
          <p:cNvPr id="112" name="Oval 111"/>
          <p:cNvSpPr/>
          <p:nvPr/>
        </p:nvSpPr>
        <p:spPr>
          <a:xfrm>
            <a:off x="10300000" y="2450000"/>
            <a:ext cx="1250000" cy="1250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소통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1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7차시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300000" y="4950000"/>
            <a:ext cx="9600000" cy="750000"/>
          </a:xfrm>
          <a:prstGeom prst="roundRect">
            <a:avLst/>
          </a:prstGeom>
          <a:solidFill>
            <a:srgbClr val="FFF8F3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지난 시간에는 사진가의 도구를 '준비'했어요. 오늘은 눈높이를 바꿔 '시선'을 찾아봐요.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869897" y="2900000"/>
            <a:ext cx="8794678" cy="1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카메라의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높이와</a:t>
            </a:r>
            <a:r>
              <a:rPr sz="2700" b="1" u="sng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거리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를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바꾸어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찍고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, </a:t>
            </a:r>
            <a:endParaRPr lang="en-US" sz="27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/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달라진</a:t>
            </a:r>
            <a:r>
              <a:rPr sz="2700" b="1" u="sng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느낌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을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말</a:t>
            </a:r>
            <a:r>
              <a:rPr lang="ko-KR" altLang="en-US" sz="2700" b="0" u="none" dirty="0">
                <a:solidFill>
                  <a:srgbClr val="404040"/>
                </a:solidFill>
                <a:latin typeface="+mn-ea"/>
                <a:ea typeface="+mn-ea"/>
              </a:rPr>
              <a:t>해 봅시다</a:t>
            </a:r>
            <a:r>
              <a:rPr lang="en-US" altLang="ko-KR" sz="27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  <a:endParaRPr sz="2700" b="0" u="none" dirty="0">
              <a:solidFill>
                <a:srgbClr val="40404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조형 단어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조형놀이에서 우리가 말한 느낌을 떠올려 보세요.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596000" y="2000000"/>
            <a:ext cx="3000000" cy="115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5400" b="1" u="none">
                <a:solidFill>
                  <a:srgbClr val="FFFFFF"/>
                </a:solidFill>
                <a:latin typeface="+mj-ea"/>
                <a:ea typeface="+mj-ea"/>
              </a:rPr>
              <a:t>앵글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0000" y="3250000"/>
            <a:ext cx="10400000" cy="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u="none">
                <a:solidFill>
                  <a:srgbClr val="404040"/>
                </a:solidFill>
                <a:latin typeface="+mn-ea"/>
                <a:ea typeface="+mn-ea"/>
              </a:rPr>
              <a:t>카메라가 대상을 바라보는 눈높이를 앵글이라고 해요.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196000" y="3950000"/>
            <a:ext cx="3100000" cy="9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 u="none">
                <a:solidFill>
                  <a:srgbClr val="D9534A"/>
                </a:solidFill>
                <a:latin typeface="+mn-ea"/>
                <a:ea typeface="+mn-ea"/>
              </a:rPr>
              <a:t>개미의 눈</a:t>
            </a:r>
          </a:p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로우 앵글 · 크고 당당하게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546000" y="3950000"/>
            <a:ext cx="3100000" cy="9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 u="none">
                <a:solidFill>
                  <a:srgbClr val="D9534A"/>
                </a:solidFill>
                <a:latin typeface="+mn-ea"/>
                <a:ea typeface="+mn-ea"/>
              </a:rPr>
              <a:t>내 눈</a:t>
            </a:r>
          </a:p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수평 앵글 · 편안하고 자연스럽게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896000" y="3950000"/>
            <a:ext cx="3100000" cy="9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 u="none">
                <a:solidFill>
                  <a:srgbClr val="D9534A"/>
                </a:solidFill>
                <a:latin typeface="+mn-ea"/>
                <a:ea typeface="+mn-ea"/>
              </a:rPr>
              <a:t>새의 눈</a:t>
            </a:r>
          </a:p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하이 앵글 · 작고 아기자기하게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300000" y="5050000"/>
            <a:ext cx="9600000" cy="650000"/>
          </a:xfrm>
          <a:prstGeom prst="roundRect">
            <a:avLst/>
          </a:prstGeom>
          <a:solidFill>
            <a:srgbClr val="FFF8F3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거리도 바꿔 봐요: 다가가면 자세히, 물러나면 넓게.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핵심 문장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빈칸에 들어갈 말을 추측해 볼까요?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00000" y="2600000"/>
            <a:ext cx="10400000" cy="175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100000" y="2850000"/>
            <a:ext cx="10000000" cy="12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사진가는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>
                <a:solidFill>
                  <a:srgbClr val="808080"/>
                </a:solidFill>
                <a:latin typeface="+mj-ea"/>
                <a:ea typeface="+mj-ea"/>
              </a:rPr>
              <a:t>  ?  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의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높이와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거리를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바꾸어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대상을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다르게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표현할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수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있다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핵심 문장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오늘의 핵심 문장을 함께 읽어 봅시다.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0000" y="1880000"/>
            <a:ext cx="104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1차시 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사진가는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온몸의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감각으로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세상을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관찰할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수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있다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.</a:t>
            </a:r>
          </a:p>
          <a:p>
            <a:pPr algn="l"/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2차시 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사진가는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같은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세상을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나만의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관점으로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볼 수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있다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.</a:t>
            </a:r>
          </a:p>
          <a:p>
            <a:pPr algn="l"/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3차시 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사진가는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도구를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바르게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다루어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표현을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준비할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수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있다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00000" y="2930000"/>
            <a:ext cx="10400000" cy="175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1100000" y="3180000"/>
            <a:ext cx="10000000" cy="12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사진가는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sng" dirty="0" err="1">
                <a:solidFill>
                  <a:srgbClr val="D9534A"/>
                </a:solidFill>
                <a:latin typeface="+mj-ea"/>
                <a:ea typeface="+mj-ea"/>
              </a:rPr>
              <a:t>시선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의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높이와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거리를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바꾸어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대상을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다르게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표현할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수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있다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300000" y="4880000"/>
            <a:ext cx="9600000" cy="5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일곱 차시 동안 일곱 문장을 모아, 7차시에 함께 읽어요.</a:t>
            </a:r>
          </a:p>
        </p:txBody>
      </p:sp>
      <p:sp>
        <p:nvSpPr>
          <p:cNvPr id="103" name="Oval 102"/>
          <p:cNvSpPr/>
          <p:nvPr/>
        </p:nvSpPr>
        <p:spPr>
          <a:xfrm>
            <a:off x="4226000" y="54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04" name="Oval 103"/>
          <p:cNvSpPr/>
          <p:nvPr/>
        </p:nvSpPr>
        <p:spPr>
          <a:xfrm>
            <a:off x="4786000" y="54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5346000" y="54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06" name="Oval 105"/>
          <p:cNvSpPr/>
          <p:nvPr/>
        </p:nvSpPr>
        <p:spPr>
          <a:xfrm>
            <a:off x="5906000" y="54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4</a:t>
            </a:r>
          </a:p>
        </p:txBody>
      </p:sp>
      <p:sp>
        <p:nvSpPr>
          <p:cNvPr id="107" name="Oval 106"/>
          <p:cNvSpPr/>
          <p:nvPr/>
        </p:nvSpPr>
        <p:spPr>
          <a:xfrm>
            <a:off x="6466000" y="5480000"/>
            <a:ext cx="380000" cy="38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D9534A"/>
                </a:solidFill>
                <a:latin typeface="+mn-ea"/>
                <a:ea typeface="+mn-ea"/>
              </a:rPr>
              <a:t>5</a:t>
            </a:r>
          </a:p>
        </p:txBody>
      </p:sp>
      <p:sp>
        <p:nvSpPr>
          <p:cNvPr id="108" name="Oval 107"/>
          <p:cNvSpPr/>
          <p:nvPr/>
        </p:nvSpPr>
        <p:spPr>
          <a:xfrm>
            <a:off x="7026000" y="5480000"/>
            <a:ext cx="380000" cy="38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D9534A"/>
                </a:solidFill>
                <a:latin typeface="+mn-ea"/>
                <a:ea typeface="+mn-ea"/>
              </a:rPr>
              <a:t>6</a:t>
            </a:r>
          </a:p>
        </p:txBody>
      </p:sp>
      <p:sp>
        <p:nvSpPr>
          <p:cNvPr id="109" name="Oval 108"/>
          <p:cNvSpPr/>
          <p:nvPr/>
        </p:nvSpPr>
        <p:spPr>
          <a:xfrm>
            <a:off x="7586000" y="5480000"/>
            <a:ext cx="380000" cy="380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D9534A"/>
                </a:solidFill>
                <a:latin typeface="+mn-ea"/>
                <a:ea typeface="+mn-ea"/>
              </a:rP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AI는? 나는?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같은 대상을 만날 때, AI와 나는 어떻게 다를까요?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00000" y="2050000"/>
            <a:ext cx="4900000" cy="620000"/>
          </a:xfrm>
          <a:prstGeom prst="roundRect">
            <a:avLst/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FFFFFF"/>
                </a:solidFill>
                <a:latin typeface="+mj-ea"/>
                <a:ea typeface="+mj-ea"/>
              </a:rPr>
              <a:t>AI는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00000" y="2750000"/>
            <a:ext cx="4900000" cy="2100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5B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찍은 사진을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나중에 잘라서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모양을 바꿔요.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300000" y="2050000"/>
            <a:ext cx="4900000" cy="62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FFFFFF"/>
                </a:solidFill>
                <a:latin typeface="+mj-ea"/>
                <a:ea typeface="+mj-ea"/>
              </a:rPr>
              <a:t>나는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300000" y="2750000"/>
            <a:ext cx="4900000" cy="2100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무릎을 굽히고 몸을 낮춰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직접 시선을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바꿔서 찍어요.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00000" y="5250000"/>
            <a:ext cx="10400000" cy="56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FFFFFF"/>
                </a:solidFill>
                <a:latin typeface="+mn-ea"/>
                <a:ea typeface="+mn-ea"/>
              </a:rPr>
              <a:t>몸을 낮추고 다가가며 찍는 것은 나만 할 수 있어요.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한 물건, 세 개의 눈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영상 시청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선생님이 물통 하나를 세 개의 눈으로 찍어 봤어요.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496000" y="2000000"/>
            <a:ext cx="7200000" cy="405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F6877E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/>
            <a:endParaRPr/>
          </a:p>
          <a:p>
            <a:pPr algn="ctr"/>
            <a:r>
              <a:rPr sz="1800" b="0" u="none">
                <a:solidFill>
                  <a:srgbClr val="808080"/>
                </a:solidFill>
                <a:latin typeface="+mn-ea"/>
                <a:ea typeface="+mn-ea"/>
              </a:rPr>
              <a:t>차시 영상 「같은 물건, 세 개의 눈」 (1분 10초 내외)</a:t>
            </a:r>
          </a:p>
          <a:p>
            <a:pPr algn="ctr"/>
            <a:r>
              <a:rPr sz="1800" b="0" u="none">
                <a:solidFill>
                  <a:srgbClr val="808080"/>
                </a:solidFill>
                <a:latin typeface="+mn-ea"/>
                <a:ea typeface="+mn-ea"/>
              </a:rPr>
              <a:t>통합학습창 [함께 보기]로 재생</a:t>
            </a:r>
          </a:p>
        </p:txBody>
      </p:sp>
      <p:sp>
        <p:nvSpPr>
          <p:cNvPr id="100" name="Isosceles Triangle 99"/>
          <p:cNvSpPr/>
          <p:nvPr/>
        </p:nvSpPr>
        <p:spPr>
          <a:xfrm rot="5400000">
            <a:off x="5766000" y="2900000"/>
            <a:ext cx="660000" cy="620000"/>
          </a:xfrm>
          <a:prstGeom prst="triangl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4차시_영상">
            <a:hlinkClick r:id="" action="ppaction://media"/>
            <a:extLst>
              <a:ext uri="{FF2B5EF4-FFF2-40B4-BE49-F238E27FC236}">
                <a16:creationId xmlns:a16="http://schemas.microsoft.com/office/drawing/2014/main" id="{F4164255-5ABB-45EB-57D9-20B8914E6E5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26625" y="1850000"/>
            <a:ext cx="7953375" cy="44737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24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14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방법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한 물건, 세 개의 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16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0000" y="16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모둠에서 찍을 물건 1개를 정해요.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23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" y="2260000"/>
            <a:ext cx="90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모둠원이 돌아가며 세 개의 눈으로 1장씩 찍어요.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50000" y="2820000"/>
            <a:ext cx="315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개미의 눈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쪼그려 앉아 아래에서 위로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80000" y="2820000"/>
            <a:ext cx="315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내 눈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물건과 같은 높이에서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000" y="2820000"/>
            <a:ext cx="315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새의 눈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팔을 들어 위에서 아래로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000" y="41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50000" y="406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마지막으로 물건에 가장 가까이 다가가 1장 더 찍어요.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000" y="5750000"/>
            <a:ext cx="10400000" cy="56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404040"/>
                </a:solidFill>
                <a:latin typeface="+mn-ea"/>
                <a:ea typeface="+mn-ea"/>
              </a:rPr>
              <a:t>타이머 7분. 바닥에 엎드리거나 의자 위에 올라가지 않아요.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15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활동지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한 물건, 세 개의 눈_활동지, 활동 예시</a:t>
            </a:r>
          </a:p>
        </p:txBody>
      </p:sp>
      <p:pic>
        <p:nvPicPr>
          <p:cNvPr id="13" name="Picture 12" descr="4차시 활동지: 개미의 눈, 새의 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1780000"/>
            <a:ext cx="8533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예시 작품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한 물건, 세 개의 눈_활동지, 활동 예시</a:t>
            </a:r>
          </a:p>
        </p:txBody>
      </p:sp>
      <p:pic>
        <p:nvPicPr>
          <p:cNvPr id="13" name="Picture 12" descr="4차시 활동 예시 작품: 개미의 눈, 새의 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1780000"/>
            <a:ext cx="8533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17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방법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2. 느낌 바꾸기 실험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16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0000" y="16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찍은 사진을 나란히 놓아요.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23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" y="226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사진마다 어울리는 느낌 단어를 붙여 활동지에 적어요.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" y="29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50000" y="29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느낌 차이가 가장 큰 두 장을 골라, 2~3개 모둠이 발표해요.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50000" y="3700000"/>
            <a:ext cx="9500000" cy="700000"/>
          </a:xfrm>
          <a:prstGeom prst="roundRect">
            <a:avLst/>
          </a:prstGeom>
          <a:solidFill>
            <a:srgbClr val="FDECE9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404040"/>
                </a:solidFill>
                <a:latin typeface="+mn-ea"/>
                <a:ea typeface="+mn-ea"/>
              </a:rPr>
              <a:t>느낌 단어 예: 당당하다 · 편안하다 · 귀엽다 · 자세하다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000" y="5750000"/>
            <a:ext cx="10400000" cy="56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404040"/>
                </a:solidFill>
                <a:latin typeface="+mn-ea"/>
                <a:ea typeface="+mn-ea"/>
              </a:rPr>
              <a:t>정답은 없어요. 왜 그렇게 느꼈는지 앵글과 거리로 말해요.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18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방법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3. 베스트 시선 게시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16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0000" y="16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모둠 베스트 사진 1장에 느낌 단어로 제목을 붙여요.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23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" y="226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앵글 이름은 쓰지 않고 클래스보드에 올려요.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" y="29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50000" y="29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다른 모둠 사진의 앵글을 댓글로 맞히고, 그렇게 생각한 까닭도 써요.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50000" y="3700000"/>
            <a:ext cx="9500000" cy="700000"/>
          </a:xfrm>
          <a:prstGeom prst="roundRect">
            <a:avLst/>
          </a:prstGeom>
          <a:solidFill>
            <a:srgbClr val="FDECE9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404040"/>
                </a:solidFill>
                <a:latin typeface="+mn-ea"/>
                <a:ea typeface="+mn-ea"/>
              </a:rPr>
              <a:t>예) 「거인 실내화」 → 댓글: 개미의 눈! 신발 앞코가 크게 보여서요.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000" y="5750000"/>
            <a:ext cx="10400000" cy="56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404040"/>
                </a:solidFill>
                <a:latin typeface="+mn-ea"/>
                <a:ea typeface="+mn-ea"/>
              </a:rPr>
              <a:t>사진을 보고 찍은 사람의 시선을 읽는 연습이에요.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19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0000" y="2050000"/>
            <a:ext cx="2300000" cy="9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오늘의 조형 단어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0" y="2050000"/>
            <a:ext cx="77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 u="none">
                <a:solidFill>
                  <a:srgbClr val="D9534A"/>
                </a:solidFill>
                <a:latin typeface="+mn-ea"/>
                <a:ea typeface="+mn-ea"/>
              </a:rPr>
              <a:t>앵글</a:t>
            </a:r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  카메라가 대상을 바라보는 눈높이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0000" y="3450000"/>
            <a:ext cx="2300000" cy="9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오늘 한 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0000" y="3450000"/>
            <a:ext cx="77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한 물건을 개미의 눈·내 눈·새의 눈으로 찍고, 느낌이 어떻게 다른지 비교했어요.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0000" y="4850000"/>
            <a:ext cx="2300000" cy="9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핵심 문장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0" y="4850000"/>
            <a:ext cx="77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사진가(나)는 시선의 높이와 거리를 바꾸어 대상을 다르게 표현할 수 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형성평가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2400000" y="2600000"/>
            <a:ext cx="7400000" cy="2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오늘 배운 내용을 확인해 볼까요?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모두 3문제가 준비되어 있습니다.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하이러닝 형성평가에서 답을 골라 보세요.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1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250000"/>
            <a:ext cx="88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404040"/>
                </a:solidFill>
                <a:latin typeface="+mn-ea"/>
                <a:ea typeface="+mn-ea"/>
              </a:rPr>
              <a:t>대상을 크고 당당하게 보이게 하는 앵글은 무엇인가요?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① 하이 앵글(새의 눈)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② 수평 앵글(내 눈)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③ 로우 앵글(개미의 눈)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350000"/>
            <a:ext cx="88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808080"/>
                </a:solidFill>
                <a:latin typeface="+mn-ea"/>
                <a:ea typeface="+mn-ea"/>
              </a:rPr>
              <a:t>대상을 크고 당당하게 보이게 하는 앵글은 무엇인가요?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00000" y="31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u="none">
                <a:solidFill>
                  <a:srgbClr val="D9534A"/>
                </a:solidFill>
                <a:latin typeface="+mj-ea"/>
                <a:ea typeface="+mj-ea"/>
              </a:rPr>
              <a:t>③ 로우 앵글(개미의 눈)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2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250000"/>
            <a:ext cx="88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404040"/>
                </a:solidFill>
                <a:latin typeface="+mn-ea"/>
                <a:ea typeface="+mn-ea"/>
              </a:rPr>
              <a:t>하이 앵글(새의 눈)은 어디에서 찍는 것인가요?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① 위에서 아래로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② 아래에서 위로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③ 대상과 같은 높이에서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350000"/>
            <a:ext cx="88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808080"/>
                </a:solidFill>
                <a:latin typeface="+mn-ea"/>
                <a:ea typeface="+mn-ea"/>
              </a:rPr>
              <a:t>하이 앵글(새의 눈)은 어디에서 찍는 것인가요?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00000" y="31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u="none">
                <a:solidFill>
                  <a:srgbClr val="D9534A"/>
                </a:solidFill>
                <a:latin typeface="+mj-ea"/>
                <a:ea typeface="+mj-ea"/>
              </a:rPr>
              <a:t>① 위에서 아래로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3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250000"/>
            <a:ext cx="88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404040"/>
                </a:solidFill>
                <a:latin typeface="+mn-ea"/>
                <a:ea typeface="+mn-ea"/>
              </a:rPr>
              <a:t>꽃잎의 무늬를 자세히 보여 주고 싶을 때 알맞은 방법은 무엇인가요?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① 멀리 물러나서 넓게 찍는다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② 꽃에 가까이 다가가서 찍는다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③ 위에서 멀리 내려 찍는다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350000"/>
            <a:ext cx="88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808080"/>
                </a:solidFill>
                <a:latin typeface="+mn-ea"/>
                <a:ea typeface="+mn-ea"/>
              </a:rPr>
              <a:t>꽃잎의 무늬를 자세히 보여 주고 싶을 때 알맞은 방법은 무엇인가요?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00000" y="31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u="none">
                <a:solidFill>
                  <a:srgbClr val="D9534A"/>
                </a:solidFill>
                <a:latin typeface="+mj-ea"/>
                <a:ea typeface="+mj-ea"/>
              </a:rPr>
              <a:t>② 꽃에 가까이 다가가서 찍는다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00000" y="4250000"/>
            <a:ext cx="8200000" cy="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가까이 다가가면 자세히, 멀리 물러나면 넓게 보여요.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27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다음 수업 안내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 예고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520000" y="1600000"/>
            <a:ext cx="7400000" cy="1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다음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시간에는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&lt;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같은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세상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,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다른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눈&gt;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단원의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endParaRPr lang="en-US" sz="24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l"/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다섯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번째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시간으로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endParaRPr lang="en-US" sz="24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l"/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'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화면을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짜는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힘'을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주제로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수업을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400" b="0" u="none" dirty="0" err="1">
                <a:solidFill>
                  <a:srgbClr val="404040"/>
                </a:solidFill>
                <a:latin typeface="+mn-ea"/>
                <a:ea typeface="+mn-ea"/>
              </a:rPr>
              <a:t>진행합니다</a:t>
            </a:r>
            <a:r>
              <a:rPr sz="24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20000" y="35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편안한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마음으로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,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열린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자세로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수업에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참여해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주세요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. </a:t>
            </a:r>
            <a:endParaRPr lang="en-US" sz="22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l"/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다음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시간에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200" b="0" u="none" dirty="0" err="1">
                <a:solidFill>
                  <a:srgbClr val="404040"/>
                </a:solidFill>
                <a:latin typeface="+mn-ea"/>
                <a:ea typeface="+mn-ea"/>
              </a:rPr>
              <a:t>만나요</a:t>
            </a:r>
            <a:r>
              <a:rPr sz="2200" b="0" u="none" dirty="0">
                <a:solidFill>
                  <a:srgbClr val="404040"/>
                </a:solidFill>
                <a:latin typeface="+mn-ea"/>
                <a:ea typeface="+mn-ea"/>
              </a:rPr>
              <a:t>!</a:t>
            </a:r>
          </a:p>
        </p:txBody>
      </p:sp>
      <p:pic>
        <p:nvPicPr>
          <p:cNvPr id="99" name="Picture 98" descr="5차시 미리보기: 격자 화면에 붙인 스티커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000" y="2350000"/>
            <a:ext cx="2800000" cy="2100000"/>
          </a:xfrm>
          <a:prstGeom prst="rect">
            <a:avLst/>
          </a:prstGeom>
        </p:spPr>
      </p:pic>
      <p:sp>
        <p:nvSpPr>
          <p:cNvPr id="100" name="Oval Callout 99"/>
          <p:cNvSpPr/>
          <p:nvPr/>
        </p:nvSpPr>
        <p:spPr>
          <a:xfrm>
            <a:off x="7600000" y="5100000"/>
            <a:ext cx="2100000" cy="900000"/>
          </a:xfrm>
          <a:prstGeom prst="wedgeEllipseCallou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어디에 붙이면 눈에 잘 띌까?</a:t>
            </a:r>
          </a:p>
        </p:txBody>
      </p:sp>
      <p:pic>
        <p:nvPicPr>
          <p:cNvPr id="101" name="Picture 100" descr="경기도공공미술교육연구회 로고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9111" y="5335203"/>
            <a:ext cx="1093755" cy="10937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894</Words>
  <Application>Microsoft Office PowerPoint</Application>
  <PresentationFormat>와이드스크린</PresentationFormat>
  <Paragraphs>196</Paragraphs>
  <Slides>28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5" baseType="lpstr">
      <vt:lpstr>에스코어 드림 8 Heavy</vt:lpstr>
      <vt:lpstr>땅스부대찌개 Bold</vt:lpstr>
      <vt:lpstr>나눔스퀘어 ExtraBold</vt:lpstr>
      <vt:lpstr>Noto Sans KR Black</vt:lpstr>
      <vt:lpstr>Arial</vt:lpstr>
      <vt:lpstr>Noto Sans KR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일곱 번의 눈, 그중 오늘</vt:lpstr>
      <vt:lpstr>PowerPoint 프레젠테이션</vt:lpstr>
      <vt:lpstr>오늘의 조형 단어</vt:lpstr>
      <vt:lpstr>오늘의 핵심 문장</vt:lpstr>
      <vt:lpstr>오늘의 핵심 문장</vt:lpstr>
      <vt:lpstr>AI는? 나는?</vt:lpstr>
      <vt:lpstr>활동 1. 한 물건, 세 개의 눈</vt:lpstr>
      <vt:lpstr>활동 1. 한 물건, 세 개의 눈</vt:lpstr>
      <vt:lpstr>활동 1. 한 물건, 세 개의 눈_활동지, 활동 예시</vt:lpstr>
      <vt:lpstr>활동 1. 한 물건, 세 개의 눈_활동지, 활동 예시</vt:lpstr>
      <vt:lpstr>활동 2. 느낌 바꾸기 실험</vt:lpstr>
      <vt:lpstr>활동 3. 베스트 시선 게시</vt:lpstr>
      <vt:lpstr>정리하기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다음 수업 안내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15</cp:revision>
  <dcterms:created xsi:type="dcterms:W3CDTF">2026-07-09T22:35:37Z</dcterms:created>
  <dcterms:modified xsi:type="dcterms:W3CDTF">2026-10-27T16:06:54Z</dcterms:modified>
</cp:coreProperties>
</file>