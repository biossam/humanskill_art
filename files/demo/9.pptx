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77" r:id="rId10"/>
    <p:sldId id="283" r:id="rId11"/>
    <p:sldId id="278" r:id="rId12"/>
    <p:sldId id="286" r:id="rId13"/>
    <p:sldId id="285" r:id="rId14"/>
    <p:sldId id="284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&amp;pageNum=59&amp;rows=12&amp;reltRows=10&amp;sort=&amp;highQualityYn=&amp;isImgExistOp=&amp;mckoglsvOp=&amp;isIntrstMuseumOp=&amp;filedOp=&amp;detailFlag=&amp;dq=&amp;mcSeqNo=&amp;author=&amp;culturalHerNo=&amp;publicType=&amp;detailedDes=&amp;thema=&amp;storySeq=1001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storySearch&amp;selectMakerGroup=&amp;radioSearchCheck=&amp;headerPs01Lv1=&amp;headerPs01Lv2=&amp;headerPs01Lv3=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&amp;pageNum=59&amp;rows=12&amp;reltRows=10&amp;sort=&amp;highQualityYn=&amp;isImgExistOp=&amp;mckoglsvOp=&amp;isIntrstMuseumOp=&amp;filedOp=&amp;detailFlag=&amp;dq=&amp;mcSeqNo=&amp;author=&amp;culturalHerNo=&amp;publicType=&amp;detailedDes=&amp;thema=&amp;storySeq=1001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storySearch&amp;selectMakerGroup=&amp;radioSearchCheck=&amp;headerPs01Lv1=&amp;headerPs01Lv2=&amp;headerPs01Lv3=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hyperlink" Target="https://www.emuseum.go.kr/main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hyperlink" Target="https://www.emuseum.go.kr/detail?cateClass=&amp;cateListFlag=&amp;keyword=&amp;pageNum=60&amp;rows=12&amp;reltRows=10&amp;sort=&amp;highQualityYn=&amp;isImgExistOp=&amp;mckoglsvOp=&amp;isIntrstMuseumOp=&amp;filedOp=&amp;detailFlag=&amp;dq=&amp;mcSeqNo=&amp;author=&amp;culturalHerNo=&amp;publicType=&amp;detailedDes=&amp;thema=&amp;storySeq=1001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storySearch&amp;selectMakerGroup=&amp;radioSearchCheck=&amp;headerPs01Lv1=&amp;headerPs01Lv2=&amp;headerPs01Lv3=" TargetMode="External"/><Relationship Id="rId7" Type="http://schemas.openxmlformats.org/officeDocument/2006/relationships/hyperlink" Target="https://www.emuseum.go.kr/detail?cateClass=&amp;cateListFlag=&amp;keyword=%EA%B3%A0%EA%B8%B0+%EA%B5%BD%EA%B8%B0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A%B3%A0%EA%B8%B0+%EA%B5%BD%EA%B8%B0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jpg"/><Relationship Id="rId5" Type="http://schemas.openxmlformats.org/officeDocument/2006/relationships/hyperlink" Target="https://www.emuseum.go.kr/detail?cateClass=&amp;cateListFlag=&amp;keyword=&amp;pageNum=70&amp;rows=12&amp;reltRows=10&amp;sort=&amp;highQualityYn=&amp;isImgExistOp=&amp;mckoglsvOp=&amp;isIntrstMuseumOp=&amp;filedOp=&amp;detailFlag=&amp;dq=&amp;mcSeqNo=&amp;author=&amp;culturalHerNo=&amp;publicType=&amp;detailedDes=&amp;thema=&amp;storySeq=1001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storySearch&amp;selectMakerGroup=&amp;radioSearchCheck=&amp;headerPs01Lv1=&amp;headerPs01Lv2=&amp;headerPs01Lv3=" TargetMode="Externa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29768" y="2609387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풍속화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시작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중간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끝 이야기 만들기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9차시</a:t>
            </a:r>
            <a:endParaRPr lang="en-US" altLang="ko-KR" sz="3733" dirty="0">
              <a:solidFill>
                <a:schemeClr val="bg1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3915310" y="2997337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3915310" y="4094617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3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643904" y="2997337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43904" y="4094617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137904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137904" y="412256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6" name="Oval 98">
            <a:extLst>
              <a:ext uri="{FF2B5EF4-FFF2-40B4-BE49-F238E27FC236}">
                <a16:creationId xmlns:a16="http://schemas.microsoft.com/office/drawing/2014/main" id="{0A4ED983-2E68-3877-C49F-EFB2AE2ADEEC}"/>
              </a:ext>
            </a:extLst>
          </p:cNvPr>
          <p:cNvSpPr/>
          <p:nvPr/>
        </p:nvSpPr>
        <p:spPr>
          <a:xfrm>
            <a:off x="10800511" y="3002098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DC0B1F-03BB-D88E-7828-B3657EA91265}"/>
              </a:ext>
            </a:extLst>
          </p:cNvPr>
          <p:cNvSpPr txBox="1"/>
          <p:nvPr/>
        </p:nvSpPr>
        <p:spPr>
          <a:xfrm>
            <a:off x="10839387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풍속화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풍속화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19915C-EAB9-0315-A1C3-98713752D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111" y="1439198"/>
            <a:ext cx="8504403" cy="478372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FCAA15-B145-32FB-1D26-4C5B30B1181C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2999" y="2541686"/>
            <a:ext cx="999526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서당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함께 감상해 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241724"/>
              </p:ext>
            </p:extLst>
          </p:nvPr>
        </p:nvGraphicFramePr>
        <p:xfrm>
          <a:off x="566011" y="1696749"/>
          <a:ext cx="9666560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12771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5953789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서당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0C2FCC3E-2EE1-001A-AC62-8793BEA629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58" y="2311146"/>
            <a:ext cx="3162751" cy="36934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B732CE-37E5-AC9B-DF77-0A4923B6CFB0}"/>
              </a:ext>
            </a:extLst>
          </p:cNvPr>
          <p:cNvSpPr txBox="1"/>
          <p:nvPr/>
        </p:nvSpPr>
        <p:spPr>
          <a:xfrm>
            <a:off x="4302034" y="2595005"/>
            <a:ext cx="561702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조선 후기 대표 화가 </a:t>
            </a:r>
            <a:r>
              <a:rPr lang="ko-KR" altLang="en-US" b="1" dirty="0"/>
              <a:t>단원 김홍도</a:t>
            </a:r>
            <a:r>
              <a:rPr lang="ko-KR" altLang="en-US" dirty="0"/>
              <a:t>의 풍속화 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b="1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조선 시대 서당에서 일어나는 정겨운 일상의 한 장면을 생동감 있게 </a:t>
            </a:r>
            <a:r>
              <a:rPr lang="ko-KR" altLang="en-US" dirty="0" err="1"/>
              <a:t>담아냄</a:t>
            </a:r>
            <a:r>
              <a:rPr lang="en-US" altLang="ko-KR" dirty="0"/>
              <a:t>.</a:t>
            </a:r>
            <a:endParaRPr lang="en-US" altLang="ko-KR" b="1" dirty="0"/>
          </a:p>
          <a:p>
            <a:pPr marL="285750" indent="-285750">
              <a:buFontTx/>
              <a:buChar char="-"/>
            </a:pPr>
            <a:endParaRPr lang="en-US" altLang="ko-KR" b="1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화면 중앙에 혼나서 눈물을 닦는 아이</a:t>
            </a:r>
            <a:r>
              <a:rPr lang="en-US" altLang="ko-KR" dirty="0"/>
              <a:t>, </a:t>
            </a:r>
            <a:r>
              <a:rPr lang="ko-KR" altLang="en-US" dirty="0"/>
              <a:t>그 모습을 보며 킥킥거리며 웃고 있는 주변 아이들의 </a:t>
            </a:r>
            <a:r>
              <a:rPr lang="ko-KR" altLang="en-US" b="1" dirty="0"/>
              <a:t>모습이 잘 드러남</a:t>
            </a:r>
            <a:r>
              <a:rPr lang="en-US" altLang="ko-KR" b="1" dirty="0"/>
              <a:t>.</a:t>
            </a:r>
            <a:r>
              <a:rPr lang="ko-KR" altLang="en-US" b="1" dirty="0"/>
              <a:t> </a:t>
            </a:r>
            <a:endParaRPr lang="en-US" altLang="ko-KR" b="1" dirty="0"/>
          </a:p>
          <a:p>
            <a:pPr marL="285750" indent="-285750">
              <a:buFontTx/>
              <a:buChar char="-"/>
            </a:pPr>
            <a:endParaRPr lang="en-US" altLang="ko-KR" b="1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갓을 쓴 학생과 머리를 땋은 어린 학생이 함께 공부하는 모습을 통해 당시 서당의 다양한 연령대를 알 수 있음</a:t>
            </a:r>
            <a:r>
              <a:rPr lang="en-US" altLang="ko-KR" dirty="0"/>
              <a:t>.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81B9BA-4DEA-6B57-64FE-F57D6FD28B40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서당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《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단원 풍속도첩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》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6" name="Picture 2" descr="1유형">
            <a:extLst>
              <a:ext uri="{FF2B5EF4-FFF2-40B4-BE49-F238E27FC236}">
                <a16:creationId xmlns:a16="http://schemas.microsoft.com/office/drawing/2014/main" id="{A44578F6-A761-BD72-4934-C2B9CE3388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034" y="6539242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557015"/>
            <a:ext cx="10424160" cy="1981636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3175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시작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(Beginning) –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중간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(Middle) –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끝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(End)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시작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이 작품이 어떤 이야기의 시작이라면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다음에 무슨 일이 일어날까요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중간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만약 이 작품이 어떤 이야기의 한 장면이라면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그 전에는 무슨 일이 일어났을까요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                           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61577" y="5097838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5070407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끝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이 작품이 어떤 이야기의 끝이라면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그 이야기는 무엇일까요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CE48F8-CF6C-4846-1504-437661AD0082}"/>
              </a:ext>
            </a:extLst>
          </p:cNvPr>
          <p:cNvSpPr txBox="1"/>
          <p:nvPr/>
        </p:nvSpPr>
        <p:spPr>
          <a:xfrm>
            <a:off x="1938528" y="4602163"/>
            <a:ext cx="445356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앞으로는 무슨 일이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일어날까요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082709"/>
              </p:ext>
            </p:extLst>
          </p:nvPr>
        </p:nvGraphicFramePr>
        <p:xfrm>
          <a:off x="301895" y="2192991"/>
          <a:ext cx="11553372" cy="39411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 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서당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시작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중간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끝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17902EB-8DEE-3AB5-70E3-169139D63EFC}"/>
              </a:ext>
            </a:extLst>
          </p:cNvPr>
          <p:cNvSpPr txBox="1"/>
          <p:nvPr/>
        </p:nvSpPr>
        <p:spPr>
          <a:xfrm>
            <a:off x="301895" y="1361675"/>
            <a:ext cx="96385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한 칸에는 그림 자체에서 일어나는 일을 설명하고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나머지 두 칸에는 이야기를 더욱 확장하는데 도움이 되는 글을 쓰거나 그림을 그려보세요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pic>
        <p:nvPicPr>
          <p:cNvPr id="4" name="그림 3">
            <a:hlinkClick r:id="rId3"/>
            <a:extLst>
              <a:ext uri="{FF2B5EF4-FFF2-40B4-BE49-F238E27FC236}">
                <a16:creationId xmlns:a16="http://schemas.microsoft.com/office/drawing/2014/main" id="{3B7C14F2-F022-ACE4-8080-81E3E20894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62" y="3178628"/>
            <a:ext cx="2263302" cy="26430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4D410B-D327-F380-696C-173435F36DF0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서당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, 《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단원 풍속도첩</a:t>
            </a:r>
            <a:r>
              <a:rPr lang="en-US" altLang="ko-KR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》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7" name="Picture 2" descr="1유형">
            <a:extLst>
              <a:ext uri="{FF2B5EF4-FFF2-40B4-BE49-F238E27FC236}">
                <a16:creationId xmlns:a16="http://schemas.microsoft.com/office/drawing/2014/main" id="{B49F2937-A447-82BA-1CE9-B190E91A32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034" y="6539242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562130"/>
              </p:ext>
            </p:extLst>
          </p:nvPr>
        </p:nvGraphicFramePr>
        <p:xfrm>
          <a:off x="406595" y="2129083"/>
          <a:ext cx="11219394" cy="399937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기와이기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고누놀이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고기 굽기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5" name="그림 4">
            <a:hlinkClick r:id="rId3"/>
            <a:extLst>
              <a:ext uri="{FF2B5EF4-FFF2-40B4-BE49-F238E27FC236}">
                <a16:creationId xmlns:a16="http://schemas.microsoft.com/office/drawing/2014/main" id="{3F023E8A-BBD0-1F8B-8BEB-8054814806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075" y="2754208"/>
            <a:ext cx="2742360" cy="3224225"/>
          </a:xfrm>
          <a:prstGeom prst="rect">
            <a:avLst/>
          </a:prstGeom>
        </p:spPr>
      </p:pic>
      <p:pic>
        <p:nvPicPr>
          <p:cNvPr id="7" name="그림 6">
            <a:hlinkClick r:id="rId5"/>
            <a:extLst>
              <a:ext uri="{FF2B5EF4-FFF2-40B4-BE49-F238E27FC236}">
                <a16:creationId xmlns:a16="http://schemas.microsoft.com/office/drawing/2014/main" id="{49A3636D-B246-3843-D992-8C20C76200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479" y="2768230"/>
            <a:ext cx="2742360" cy="3210203"/>
          </a:xfrm>
          <a:prstGeom prst="rect">
            <a:avLst/>
          </a:prstGeom>
        </p:spPr>
      </p:pic>
      <p:pic>
        <p:nvPicPr>
          <p:cNvPr id="22" name="그림 21">
            <a:hlinkClick r:id="rId7"/>
            <a:extLst>
              <a:ext uri="{FF2B5EF4-FFF2-40B4-BE49-F238E27FC236}">
                <a16:creationId xmlns:a16="http://schemas.microsoft.com/office/drawing/2014/main" id="{0A5FDEAD-6F31-4ADA-72D2-2821DC1FAF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4905" y="3075056"/>
            <a:ext cx="2720669" cy="25825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2D150A-FDC5-688F-437D-C8C4BB14746C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62C175D-04A6-7119-423E-EC97B09781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0212851"/>
              </p:ext>
            </p:extLst>
          </p:nvPr>
        </p:nvGraphicFramePr>
        <p:xfrm>
          <a:off x="301895" y="1754701"/>
          <a:ext cx="11553372" cy="40760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505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algn="l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제목</a:t>
                      </a:r>
                      <a:r>
                        <a:rPr lang="en-US" altLang="ko-KR" sz="18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:            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시작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중간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끝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15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풍속화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인물화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를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661</Words>
  <Application>Microsoft Office PowerPoint</Application>
  <PresentationFormat>와이드스크린</PresentationFormat>
  <Paragraphs>136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5" baseType="lpstr">
      <vt:lpstr>Noto Sans KR</vt:lpstr>
      <vt:lpstr>Noto Sans KR Black</vt:lpstr>
      <vt:lpstr>Noto Sans KR Medium</vt:lpstr>
      <vt:lpstr>고양덕양 B</vt:lpstr>
      <vt:lpstr>나눔바른고딕 Light</vt:lpstr>
      <vt:lpstr>나눔스퀘어 ExtraBold</vt:lpstr>
      <vt:lpstr>땅스부대찌개 Bold</vt:lpstr>
      <vt:lpstr>Arial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&lt;풍속화&gt;를 알아봅시다(영상제목: 풍속화)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58</cp:revision>
  <dcterms:created xsi:type="dcterms:W3CDTF">2026-07-09T22:35:37Z</dcterms:created>
  <dcterms:modified xsi:type="dcterms:W3CDTF">2026-10-21T06:28:48Z</dcterms:modified>
  <cp:version/>
</cp:coreProperties>
</file>