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10"/>
  </p:notesMasterIdLst>
  <p:sldIdLst>
    <p:sldId id="256" r:id="rId3"/>
    <p:sldId id="265" r:id="rId4"/>
    <p:sldId id="277" r:id="rId5"/>
    <p:sldId id="268" r:id="rId6"/>
    <p:sldId id="266" r:id="rId7"/>
    <p:sldId id="269" r:id="rId8"/>
    <p:sldId id="270" r:id="rId9"/>
  </p:sldIdLst>
  <p:sldSz cx="12192000" cy="6858000"/>
  <p:notesSz cx="6858000" cy="12192000"/>
  <p:embeddedFontLst>
    <p:embeddedFont>
      <p:font typeface="Noto Sans KR Black" panose="020B0200000000000000" pitchFamily="50" charset="-127"/>
      <p:bold r:id="rId11"/>
    </p:embeddedFont>
    <p:embeddedFont>
      <p:font typeface="Noto Sans KR Medium" panose="020B0200000000000000" pitchFamily="50" charset="-127"/>
      <p:regular r:id="rId12"/>
    </p:embeddedFont>
    <p:embeddedFont>
      <p:font typeface="나눔스퀘어 ExtraBold" panose="020B0600000101010101" pitchFamily="50" charset="-127"/>
      <p:bold r:id="rId13"/>
    </p:embeddedFont>
    <p:embeddedFont>
      <p:font typeface="땅스부대찌개 Bold" panose="02020603020101020101" pitchFamily="18" charset="-127"/>
      <p:bold r:id="rId14"/>
    </p:embeddedFont>
    <p:embeddedFont>
      <p:font typeface="에스코어 드림 8 Heavy" panose="020B0903030302020204" pitchFamily="34" charset="-127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EFEFE"/>
    <a:srgbClr val="FFD966"/>
    <a:srgbClr val="ED7D31"/>
    <a:srgbClr val="F6877E"/>
    <a:srgbClr val="073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8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3333490"/>
            <a:ext cx="9086287" cy="769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 반 마음 정원 감상하기</a:t>
            </a:r>
            <a:endParaRPr lang="en-US" altLang="ko-KR" sz="4403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40</a:t>
            </a:r>
            <a:r>
              <a:rPr lang="ko-KR" altLang="en-US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569703" y="3295734"/>
            <a:ext cx="6197146" cy="50783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우리 반 마음 정원을    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         )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할 수 있다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참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여하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우리 반 마음 정원 완성하기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7685117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지난 시간에 표현한 마음 꽃을 하나씩 붙여 우리 반 정원을 완성해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58C9AFEB-CB58-0F15-1FB6-0D6259A0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4921677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F96371E-4C57-F206-B3CE-D200F9ADEE79}"/>
              </a:ext>
            </a:extLst>
          </p:cNvPr>
          <p:cNvGrpSpPr/>
          <p:nvPr/>
        </p:nvGrpSpPr>
        <p:grpSpPr>
          <a:xfrm>
            <a:off x="643901" y="2297367"/>
            <a:ext cx="341311" cy="338554"/>
            <a:chOff x="853872" y="1465627"/>
            <a:chExt cx="318649" cy="316074"/>
          </a:xfrm>
        </p:grpSpPr>
        <p:sp>
          <p:nvSpPr>
            <p:cNvPr id="78" name="모서리가 둥근 직사각형 41">
              <a:extLst>
                <a:ext uri="{FF2B5EF4-FFF2-40B4-BE49-F238E27FC236}">
                  <a16:creationId xmlns:a16="http://schemas.microsoft.com/office/drawing/2014/main" id="{A0A6DD38-E1F8-3141-E872-5CBD2AAA1D08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6DC361F-0F79-EBA5-D4E4-A20B86284484}"/>
                </a:ext>
              </a:extLst>
            </p:cNvPr>
            <p:cNvSpPr txBox="1"/>
            <p:nvPr/>
          </p:nvSpPr>
          <p:spPr>
            <a:xfrm>
              <a:off x="877397" y="1465627"/>
              <a:ext cx="295124" cy="3160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2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B4E7EE1F-DB7A-870F-57D0-71C6200CC582}"/>
              </a:ext>
            </a:extLst>
          </p:cNvPr>
          <p:cNvSpPr txBox="1"/>
          <p:nvPr/>
        </p:nvSpPr>
        <p:spPr>
          <a:xfrm>
            <a:off x="986705" y="2273682"/>
            <a:ext cx="7866256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모둠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발표 수업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기능을 활용하여 자신의 작품에 대한 설명을 적어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4D73F2B-63CA-71F8-11D3-BAE60F7BF632}"/>
              </a:ext>
            </a:extLst>
          </p:cNvPr>
          <p:cNvGrpSpPr/>
          <p:nvPr/>
        </p:nvGrpSpPr>
        <p:grpSpPr>
          <a:xfrm>
            <a:off x="6366083" y="3020798"/>
            <a:ext cx="5197130" cy="2751835"/>
            <a:chOff x="9721225" y="4490136"/>
            <a:chExt cx="7256791" cy="3920666"/>
          </a:xfrm>
        </p:grpSpPr>
        <p:sp>
          <p:nvSpPr>
            <p:cNvPr id="82" name="Freeform 3">
              <a:extLst>
                <a:ext uri="{FF2B5EF4-FFF2-40B4-BE49-F238E27FC236}">
                  <a16:creationId xmlns:a16="http://schemas.microsoft.com/office/drawing/2014/main" id="{38F3CCC5-4B7A-D59F-20DA-31AE8609F0D1}"/>
                </a:ext>
              </a:extLst>
            </p:cNvPr>
            <p:cNvSpPr/>
            <p:nvPr/>
          </p:nvSpPr>
          <p:spPr>
            <a:xfrm>
              <a:off x="9721225" y="4490136"/>
              <a:ext cx="7256791" cy="3918667"/>
            </a:xfrm>
            <a:custGeom>
              <a:avLst/>
              <a:gdLst/>
              <a:ahLst/>
              <a:cxnLst/>
              <a:rect l="l" t="t" r="r" b="b"/>
              <a:pathLst>
                <a:path w="7256791" h="3918667">
                  <a:moveTo>
                    <a:pt x="0" y="0"/>
                  </a:moveTo>
                  <a:lnTo>
                    <a:pt x="7256791" y="0"/>
                  </a:lnTo>
                  <a:lnTo>
                    <a:pt x="7256791" y="3918667"/>
                  </a:lnTo>
                  <a:lnTo>
                    <a:pt x="0" y="3918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38E43FC3-C908-B202-843A-1752C1C8AE6D}"/>
                </a:ext>
              </a:extLst>
            </p:cNvPr>
            <p:cNvSpPr/>
            <p:nvPr/>
          </p:nvSpPr>
          <p:spPr>
            <a:xfrm>
              <a:off x="12932130" y="6304793"/>
              <a:ext cx="1041425" cy="1046659"/>
            </a:xfrm>
            <a:custGeom>
              <a:avLst/>
              <a:gdLst/>
              <a:ahLst/>
              <a:cxnLst/>
              <a:rect l="l" t="t" r="r" b="b"/>
              <a:pathLst>
                <a:path w="1041425" h="1046659">
                  <a:moveTo>
                    <a:pt x="0" y="0"/>
                  </a:moveTo>
                  <a:lnTo>
                    <a:pt x="1041425" y="0"/>
                  </a:lnTo>
                  <a:lnTo>
                    <a:pt x="1041425" y="1046659"/>
                  </a:lnTo>
                  <a:lnTo>
                    <a:pt x="0" y="10466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B950489-6635-F775-F9DC-B34AA75569F4}"/>
                </a:ext>
              </a:extLst>
            </p:cNvPr>
            <p:cNvSpPr/>
            <p:nvPr/>
          </p:nvSpPr>
          <p:spPr>
            <a:xfrm>
              <a:off x="15418448" y="5942317"/>
              <a:ext cx="1019404" cy="1014307"/>
            </a:xfrm>
            <a:custGeom>
              <a:avLst/>
              <a:gdLst/>
              <a:ahLst/>
              <a:cxnLst/>
              <a:rect l="l" t="t" r="r" b="b"/>
              <a:pathLst>
                <a:path w="1019404" h="1014307">
                  <a:moveTo>
                    <a:pt x="0" y="0"/>
                  </a:moveTo>
                  <a:lnTo>
                    <a:pt x="1019404" y="0"/>
                  </a:lnTo>
                  <a:lnTo>
                    <a:pt x="1019404" y="1014308"/>
                  </a:lnTo>
                  <a:lnTo>
                    <a:pt x="0" y="1014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9BB35DAA-4C9B-FF86-E3DB-D2D936BD575E}"/>
                </a:ext>
              </a:extLst>
            </p:cNvPr>
            <p:cNvSpPr/>
            <p:nvPr/>
          </p:nvSpPr>
          <p:spPr>
            <a:xfrm>
              <a:off x="13695961" y="5811381"/>
              <a:ext cx="1027941" cy="986824"/>
            </a:xfrm>
            <a:custGeom>
              <a:avLst/>
              <a:gdLst/>
              <a:ahLst/>
              <a:cxnLst/>
              <a:rect l="l" t="t" r="r" b="b"/>
              <a:pathLst>
                <a:path w="1027941" h="986824">
                  <a:moveTo>
                    <a:pt x="0" y="0"/>
                  </a:moveTo>
                  <a:lnTo>
                    <a:pt x="1027942" y="0"/>
                  </a:lnTo>
                  <a:lnTo>
                    <a:pt x="1027942" y="986824"/>
                  </a:lnTo>
                  <a:lnTo>
                    <a:pt x="0" y="986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2272C27-F59E-8539-CBDC-EA92925AE8F7}"/>
                </a:ext>
              </a:extLst>
            </p:cNvPr>
            <p:cNvSpPr/>
            <p:nvPr/>
          </p:nvSpPr>
          <p:spPr>
            <a:xfrm>
              <a:off x="11363436" y="5841299"/>
              <a:ext cx="1081866" cy="1115326"/>
            </a:xfrm>
            <a:custGeom>
              <a:avLst/>
              <a:gdLst/>
              <a:ahLst/>
              <a:cxnLst/>
              <a:rect l="l" t="t" r="r" b="b"/>
              <a:pathLst>
                <a:path w="1081866" h="1115326">
                  <a:moveTo>
                    <a:pt x="0" y="0"/>
                  </a:moveTo>
                  <a:lnTo>
                    <a:pt x="1081866" y="0"/>
                  </a:lnTo>
                  <a:lnTo>
                    <a:pt x="1081866" y="1115326"/>
                  </a:lnTo>
                  <a:lnTo>
                    <a:pt x="0" y="1115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49AF426D-5FF0-29BD-8DB7-9B73A6252386}"/>
                </a:ext>
              </a:extLst>
            </p:cNvPr>
            <p:cNvSpPr/>
            <p:nvPr/>
          </p:nvSpPr>
          <p:spPr>
            <a:xfrm>
              <a:off x="10260159" y="4925482"/>
              <a:ext cx="1103278" cy="772294"/>
            </a:xfrm>
            <a:custGeom>
              <a:avLst/>
              <a:gdLst/>
              <a:ahLst/>
              <a:cxnLst/>
              <a:rect l="l" t="t" r="r" b="b"/>
              <a:pathLst>
                <a:path w="1103278" h="772294">
                  <a:moveTo>
                    <a:pt x="0" y="0"/>
                  </a:moveTo>
                  <a:lnTo>
                    <a:pt x="1103277" y="0"/>
                  </a:lnTo>
                  <a:lnTo>
                    <a:pt x="1103277" y="772295"/>
                  </a:lnTo>
                  <a:lnTo>
                    <a:pt x="0" y="772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35636B79-C265-12CC-552F-3EAFCBA9B821}"/>
                </a:ext>
              </a:extLst>
            </p:cNvPr>
            <p:cNvSpPr/>
            <p:nvPr/>
          </p:nvSpPr>
          <p:spPr>
            <a:xfrm>
              <a:off x="9804257" y="6944284"/>
              <a:ext cx="2015081" cy="1410556"/>
            </a:xfrm>
            <a:custGeom>
              <a:avLst/>
              <a:gdLst/>
              <a:ahLst/>
              <a:cxnLst/>
              <a:rect l="l" t="t" r="r" b="b"/>
              <a:pathLst>
                <a:path w="2015081" h="1410556">
                  <a:moveTo>
                    <a:pt x="0" y="0"/>
                  </a:moveTo>
                  <a:lnTo>
                    <a:pt x="2015081" y="0"/>
                  </a:lnTo>
                  <a:lnTo>
                    <a:pt x="2015081" y="1410557"/>
                  </a:lnTo>
                  <a:lnTo>
                    <a:pt x="0" y="1410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B72E516E-5693-A71B-6A9C-55538785410E}"/>
                </a:ext>
              </a:extLst>
            </p:cNvPr>
            <p:cNvSpPr/>
            <p:nvPr/>
          </p:nvSpPr>
          <p:spPr>
            <a:xfrm>
              <a:off x="10250481" y="6358451"/>
              <a:ext cx="950261" cy="979651"/>
            </a:xfrm>
            <a:custGeom>
              <a:avLst/>
              <a:gdLst/>
              <a:ahLst/>
              <a:cxnLst/>
              <a:rect l="l" t="t" r="r" b="b"/>
              <a:pathLst>
                <a:path w="950261" h="979651">
                  <a:moveTo>
                    <a:pt x="0" y="0"/>
                  </a:moveTo>
                  <a:lnTo>
                    <a:pt x="950261" y="0"/>
                  </a:lnTo>
                  <a:lnTo>
                    <a:pt x="950261" y="979651"/>
                  </a:lnTo>
                  <a:lnTo>
                    <a:pt x="0" y="97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DA4576DA-B42F-996D-C90E-7D4D4DB348B8}"/>
                </a:ext>
              </a:extLst>
            </p:cNvPr>
            <p:cNvSpPr/>
            <p:nvPr/>
          </p:nvSpPr>
          <p:spPr>
            <a:xfrm>
              <a:off x="11437762" y="6977660"/>
              <a:ext cx="2015081" cy="1410556"/>
            </a:xfrm>
            <a:custGeom>
              <a:avLst/>
              <a:gdLst/>
              <a:ahLst/>
              <a:cxnLst/>
              <a:rect l="l" t="t" r="r" b="b"/>
              <a:pathLst>
                <a:path w="2015081" h="1410556">
                  <a:moveTo>
                    <a:pt x="0" y="0"/>
                  </a:moveTo>
                  <a:lnTo>
                    <a:pt x="2015080" y="0"/>
                  </a:lnTo>
                  <a:lnTo>
                    <a:pt x="2015080" y="1410556"/>
                  </a:lnTo>
                  <a:lnTo>
                    <a:pt x="0" y="1410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D43D78F3-EDBE-5591-F5E6-C873382836D0}"/>
                </a:ext>
              </a:extLst>
            </p:cNvPr>
            <p:cNvSpPr/>
            <p:nvPr/>
          </p:nvSpPr>
          <p:spPr>
            <a:xfrm>
              <a:off x="11796355" y="6544988"/>
              <a:ext cx="1001627" cy="1037955"/>
            </a:xfrm>
            <a:custGeom>
              <a:avLst/>
              <a:gdLst/>
              <a:ahLst/>
              <a:cxnLst/>
              <a:rect l="l" t="t" r="r" b="b"/>
              <a:pathLst>
                <a:path w="1001627" h="1037955">
                  <a:moveTo>
                    <a:pt x="0" y="0"/>
                  </a:moveTo>
                  <a:lnTo>
                    <a:pt x="1001627" y="0"/>
                  </a:lnTo>
                  <a:lnTo>
                    <a:pt x="1001627" y="1037956"/>
                  </a:lnTo>
                  <a:lnTo>
                    <a:pt x="0" y="1037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92B96DCE-7C7A-A94E-B413-121EC6176AA7}"/>
                </a:ext>
              </a:extLst>
            </p:cNvPr>
            <p:cNvSpPr/>
            <p:nvPr/>
          </p:nvSpPr>
          <p:spPr>
            <a:xfrm>
              <a:off x="13381253" y="6931136"/>
              <a:ext cx="2015081" cy="1410556"/>
            </a:xfrm>
            <a:custGeom>
              <a:avLst/>
              <a:gdLst/>
              <a:ahLst/>
              <a:cxnLst/>
              <a:rect l="l" t="t" r="r" b="b"/>
              <a:pathLst>
                <a:path w="2015081" h="1410556">
                  <a:moveTo>
                    <a:pt x="0" y="0"/>
                  </a:moveTo>
                  <a:lnTo>
                    <a:pt x="2015081" y="0"/>
                  </a:lnTo>
                  <a:lnTo>
                    <a:pt x="2015081" y="1410556"/>
                  </a:lnTo>
                  <a:lnTo>
                    <a:pt x="0" y="1410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EE389A75-D72A-D0C5-58A4-C1483FF96624}"/>
                </a:ext>
              </a:extLst>
            </p:cNvPr>
            <p:cNvSpPr/>
            <p:nvPr/>
          </p:nvSpPr>
          <p:spPr>
            <a:xfrm>
              <a:off x="14613065" y="7000246"/>
              <a:ext cx="2015081" cy="1410556"/>
            </a:xfrm>
            <a:custGeom>
              <a:avLst/>
              <a:gdLst/>
              <a:ahLst/>
              <a:cxnLst/>
              <a:rect l="l" t="t" r="r" b="b"/>
              <a:pathLst>
                <a:path w="2015081" h="1410556">
                  <a:moveTo>
                    <a:pt x="0" y="0"/>
                  </a:moveTo>
                  <a:lnTo>
                    <a:pt x="2015081" y="0"/>
                  </a:lnTo>
                  <a:lnTo>
                    <a:pt x="2015081" y="1410556"/>
                  </a:lnTo>
                  <a:lnTo>
                    <a:pt x="0" y="1410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72A8A148-7FE5-6FEB-B009-873B0F1D5AE1}"/>
                </a:ext>
              </a:extLst>
            </p:cNvPr>
            <p:cNvSpPr/>
            <p:nvPr/>
          </p:nvSpPr>
          <p:spPr>
            <a:xfrm>
              <a:off x="14372807" y="6544988"/>
              <a:ext cx="1132896" cy="1104574"/>
            </a:xfrm>
            <a:custGeom>
              <a:avLst/>
              <a:gdLst/>
              <a:ahLst/>
              <a:cxnLst/>
              <a:rect l="l" t="t" r="r" b="b"/>
              <a:pathLst>
                <a:path w="1132896" h="1104574">
                  <a:moveTo>
                    <a:pt x="0" y="0"/>
                  </a:moveTo>
                  <a:lnTo>
                    <a:pt x="1132897" y="0"/>
                  </a:lnTo>
                  <a:lnTo>
                    <a:pt x="1132897" y="1104575"/>
                  </a:lnTo>
                  <a:lnTo>
                    <a:pt x="0" y="1104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66BBE4D2-7248-2A11-4E58-8DD92A35729A}"/>
                </a:ext>
              </a:extLst>
            </p:cNvPr>
            <p:cNvSpPr/>
            <p:nvPr/>
          </p:nvSpPr>
          <p:spPr>
            <a:xfrm>
              <a:off x="12797982" y="5311630"/>
              <a:ext cx="1103278" cy="772294"/>
            </a:xfrm>
            <a:custGeom>
              <a:avLst/>
              <a:gdLst/>
              <a:ahLst/>
              <a:cxnLst/>
              <a:rect l="l" t="t" r="r" b="b"/>
              <a:pathLst>
                <a:path w="1103278" h="772294">
                  <a:moveTo>
                    <a:pt x="0" y="0"/>
                  </a:moveTo>
                  <a:lnTo>
                    <a:pt x="1103277" y="0"/>
                  </a:lnTo>
                  <a:lnTo>
                    <a:pt x="1103277" y="772294"/>
                  </a:lnTo>
                  <a:lnTo>
                    <a:pt x="0" y="772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8464F824-0721-DC09-57DD-C1392698628E}"/>
                </a:ext>
              </a:extLst>
            </p:cNvPr>
            <p:cNvSpPr/>
            <p:nvPr/>
          </p:nvSpPr>
          <p:spPr>
            <a:xfrm>
              <a:off x="15136959" y="4925482"/>
              <a:ext cx="1103278" cy="772294"/>
            </a:xfrm>
            <a:custGeom>
              <a:avLst/>
              <a:gdLst/>
              <a:ahLst/>
              <a:cxnLst/>
              <a:rect l="l" t="t" r="r" b="b"/>
              <a:pathLst>
                <a:path w="1103278" h="772294">
                  <a:moveTo>
                    <a:pt x="0" y="0"/>
                  </a:moveTo>
                  <a:lnTo>
                    <a:pt x="1103277" y="0"/>
                  </a:lnTo>
                  <a:lnTo>
                    <a:pt x="1103277" y="772295"/>
                  </a:lnTo>
                  <a:lnTo>
                    <a:pt x="0" y="772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7" name="Freeform 2">
            <a:extLst>
              <a:ext uri="{FF2B5EF4-FFF2-40B4-BE49-F238E27FC236}">
                <a16:creationId xmlns:a16="http://schemas.microsoft.com/office/drawing/2014/main" id="{3AE06F89-C5E5-57FB-371C-E6290C19368A}"/>
              </a:ext>
            </a:extLst>
          </p:cNvPr>
          <p:cNvSpPr/>
          <p:nvPr/>
        </p:nvSpPr>
        <p:spPr>
          <a:xfrm>
            <a:off x="1930879" y="3485241"/>
            <a:ext cx="2165978" cy="1995640"/>
          </a:xfrm>
          <a:custGeom>
            <a:avLst/>
            <a:gdLst/>
            <a:ahLst/>
            <a:cxnLst/>
            <a:rect l="l" t="t" r="r" b="b"/>
            <a:pathLst>
              <a:path w="5020819" h="5176103">
                <a:moveTo>
                  <a:pt x="0" y="0"/>
                </a:moveTo>
                <a:lnTo>
                  <a:pt x="5020820" y="0"/>
                </a:lnTo>
                <a:lnTo>
                  <a:pt x="5020820" y="5176103"/>
                </a:lnTo>
                <a:lnTo>
                  <a:pt x="0" y="51761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8" name="Freeform 4">
            <a:extLst>
              <a:ext uri="{FF2B5EF4-FFF2-40B4-BE49-F238E27FC236}">
                <a16:creationId xmlns:a16="http://schemas.microsoft.com/office/drawing/2014/main" id="{6B35A948-B3F2-1F03-E6CB-1B5A75BE6891}"/>
              </a:ext>
            </a:extLst>
          </p:cNvPr>
          <p:cNvSpPr/>
          <p:nvPr/>
        </p:nvSpPr>
        <p:spPr>
          <a:xfrm>
            <a:off x="4625161" y="3839354"/>
            <a:ext cx="1322736" cy="859386"/>
          </a:xfrm>
          <a:custGeom>
            <a:avLst/>
            <a:gdLst/>
            <a:ahLst/>
            <a:cxnLst/>
            <a:rect l="l" t="t" r="r" b="b"/>
            <a:pathLst>
              <a:path w="3401197" h="1819640">
                <a:moveTo>
                  <a:pt x="0" y="0"/>
                </a:moveTo>
                <a:lnTo>
                  <a:pt x="3401197" y="0"/>
                </a:lnTo>
                <a:lnTo>
                  <a:pt x="3401197" y="1819640"/>
                </a:lnTo>
                <a:lnTo>
                  <a:pt x="0" y="1819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B24C96CF-CA14-89FA-75D7-24BAF29E7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511" y="6274001"/>
            <a:ext cx="4888731" cy="21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0" marR="0" lvl="0" indent="0" algn="ctr" defTabSz="3937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0" i="0" dirty="0">
                <a:effectLst/>
              </a:rPr>
              <a:t>디자인 요소 및 이미지</a:t>
            </a:r>
            <a:r>
              <a:rPr lang="en-US" altLang="ko-KR" sz="1000" b="0" i="0" dirty="0">
                <a:effectLst/>
              </a:rPr>
              <a:t>: Canva Education </a:t>
            </a:r>
            <a:r>
              <a:rPr lang="ko-KR" altLang="en-US" sz="1000" b="0" i="0" dirty="0">
                <a:effectLst/>
              </a:rPr>
              <a:t>제공 콘텐츠를 활용하였습니다</a:t>
            </a:r>
            <a:r>
              <a:rPr lang="en-US" altLang="ko-KR" sz="1000" b="0" i="0" dirty="0">
                <a:effectLst/>
              </a:rPr>
              <a:t>.</a:t>
            </a:r>
            <a:endParaRPr kumimoji="1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964152" cy="641085"/>
          </a:xfrm>
        </p:spPr>
        <p:txBody>
          <a:bodyPr>
            <a:no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질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문하기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우리 반 마음 정원 감상하기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EF72766-5A73-62D8-065A-C65ADB4FA48F}"/>
              </a:ext>
            </a:extLst>
          </p:cNvPr>
          <p:cNvGrpSpPr/>
          <p:nvPr/>
        </p:nvGrpSpPr>
        <p:grpSpPr>
          <a:xfrm>
            <a:off x="643901" y="1422855"/>
            <a:ext cx="6141186" cy="379656"/>
            <a:chOff x="643901" y="1422855"/>
            <a:chExt cx="6141186" cy="37965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B5E2357-40D2-8C3A-E2F0-20B71089E6C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5"/>
              <a:chOff x="853872" y="1465627"/>
              <a:chExt cx="318649" cy="316075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B5CD1855-E762-360A-66D2-BD6E074052A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13DECA-CF8C-D3B1-16CD-A534C99466D8}"/>
                  </a:ext>
                </a:extLst>
              </p:cNvPr>
              <p:cNvSpPr txBox="1"/>
              <p:nvPr/>
            </p:nvSpPr>
            <p:spPr>
              <a:xfrm>
                <a:off x="893859" y="1465627"/>
                <a:ext cx="278662" cy="316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986705" y="1422855"/>
              <a:ext cx="5798382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반 마음 정원을 감상하며 활동지에 정리해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1C8395-E8A4-3ADD-1F20-DDC763B88F65}"/>
              </a:ext>
            </a:extLst>
          </p:cNvPr>
          <p:cNvGrpSpPr/>
          <p:nvPr/>
        </p:nvGrpSpPr>
        <p:grpSpPr>
          <a:xfrm>
            <a:off x="643901" y="2020648"/>
            <a:ext cx="5113662" cy="379656"/>
            <a:chOff x="643901" y="1422855"/>
            <a:chExt cx="5113662" cy="37965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210DC8C-6981-7EA5-EAC4-8421A3A43383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C8735C08-0D3B-2A20-5DE1-5492A499CDD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C87544-36B8-90FB-A7B5-E7CF91C0D1E4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F3CC98-BC82-9FB8-D1D5-865F6E994233}"/>
                </a:ext>
              </a:extLst>
            </p:cNvPr>
            <p:cNvSpPr txBox="1"/>
            <p:nvPr/>
          </p:nvSpPr>
          <p:spPr>
            <a:xfrm>
              <a:off x="986705" y="1422855"/>
              <a:ext cx="4770858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텍스트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로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‘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작가에게 한마디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’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를 적어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A2E6563-E41B-0C31-0E48-EA98E91BEE1F}"/>
              </a:ext>
            </a:extLst>
          </p:cNvPr>
          <p:cNvGrpSpPr/>
          <p:nvPr/>
        </p:nvGrpSpPr>
        <p:grpSpPr>
          <a:xfrm>
            <a:off x="643901" y="2688406"/>
            <a:ext cx="10113427" cy="379656"/>
            <a:chOff x="643901" y="1422855"/>
            <a:chExt cx="10113427" cy="379656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8C2CECC-5D3C-92A5-5792-76D1A97C5CB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43" name="모서리가 둥근 직사각형 41">
                <a:extLst>
                  <a:ext uri="{FF2B5EF4-FFF2-40B4-BE49-F238E27FC236}">
                    <a16:creationId xmlns:a16="http://schemas.microsoft.com/office/drawing/2014/main" id="{B4D91AE4-625F-900C-08F0-63E34794A4A1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54DC949-C6D3-FF44-C37D-D675F288B5B6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D234D09-FDBF-BA7B-459E-1949B34A2A0A}"/>
                </a:ext>
              </a:extLst>
            </p:cNvPr>
            <p:cNvSpPr txBox="1"/>
            <p:nvPr/>
          </p:nvSpPr>
          <p:spPr>
            <a:xfrm>
              <a:off x="986705" y="1422855"/>
              <a:ext cx="9770623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모둠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/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발표 수업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기능을 활용하여 한 명씩 돌아가면서 자신이 만든 작품의 제목을 공개합니다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43496D17-0B57-1D91-9627-76AB7548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질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문하기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우리 반 마음 정원 감상하기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3410688-EF3F-58BC-6B07-74FDD1262A19}"/>
              </a:ext>
            </a:extLst>
          </p:cNvPr>
          <p:cNvGrpSpPr/>
          <p:nvPr/>
        </p:nvGrpSpPr>
        <p:grpSpPr>
          <a:xfrm>
            <a:off x="643900" y="1463955"/>
            <a:ext cx="309690" cy="338555"/>
            <a:chOff x="853872" y="1481886"/>
            <a:chExt cx="289128" cy="316075"/>
          </a:xfrm>
        </p:grpSpPr>
        <p:sp>
          <p:nvSpPr>
            <p:cNvPr id="7" name="모서리가 둥근 직사각형 41">
              <a:extLst>
                <a:ext uri="{FF2B5EF4-FFF2-40B4-BE49-F238E27FC236}">
                  <a16:creationId xmlns:a16="http://schemas.microsoft.com/office/drawing/2014/main" id="{8E63C504-A330-C844-5A57-F3E236EF55F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9999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6B5921-61D9-1258-37AD-947CDAEBFFC8}"/>
                </a:ext>
              </a:extLst>
            </p:cNvPr>
            <p:cNvSpPr txBox="1"/>
            <p:nvPr/>
          </p:nvSpPr>
          <p:spPr>
            <a:xfrm>
              <a:off x="864338" y="1481886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7A1CE92-A080-58B2-E80E-2DC80C2ACC18}"/>
              </a:ext>
            </a:extLst>
          </p:cNvPr>
          <p:cNvSpPr txBox="1"/>
          <p:nvPr/>
        </p:nvSpPr>
        <p:spPr>
          <a:xfrm>
            <a:off x="986705" y="1422855"/>
            <a:ext cx="223651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질문에 답해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" name="사각형: 잘린 대각선 방향 모서리 23">
            <a:extLst>
              <a:ext uri="{FF2B5EF4-FFF2-40B4-BE49-F238E27FC236}">
                <a16:creationId xmlns:a16="http://schemas.microsoft.com/office/drawing/2014/main" id="{76C11931-C58D-B632-22FE-0803A5C32E39}"/>
              </a:ext>
            </a:extLst>
          </p:cNvPr>
          <p:cNvSpPr/>
          <p:nvPr/>
        </p:nvSpPr>
        <p:spPr>
          <a:xfrm>
            <a:off x="1089881" y="2596348"/>
            <a:ext cx="10169267" cy="1665304"/>
          </a:xfrm>
          <a:prstGeom prst="snip2Diag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 Medium"/>
              <a:ea typeface="Noto Sans KR Medium"/>
              <a:cs typeface="+mn-cs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8144FACC-371A-CECC-E26B-1D61CBDC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394" y="2945388"/>
            <a:ext cx="100122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0" marR="0" lvl="0" indent="0" algn="ctr" defTabSz="3937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Calibri" panose="020F0502020204030204" pitchFamily="34" charset="0"/>
              </a:rPr>
              <a:t>두 작품 모두 같은 색을 사용했는데 </a:t>
            </a:r>
            <a:endParaRPr kumimoji="1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Medium" panose="020B0200000000000000" pitchFamily="50" charset="-127"/>
              <a:ea typeface="Noto Sans KR Medium" panose="020B0200000000000000" pitchFamily="50" charset="-127"/>
              <a:cs typeface="Calibri" panose="020F0502020204030204" pitchFamily="34" charset="0"/>
            </a:endParaRPr>
          </a:p>
          <a:p>
            <a:pPr marL="0" marR="0" lvl="0" indent="0" algn="ctr" defTabSz="3937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Calibri" panose="020F0502020204030204" pitchFamily="34" charset="0"/>
              </a:rPr>
              <a:t>느낌이 다른 이유는 무엇일까요</a:t>
            </a:r>
            <a:r>
              <a:rPr kumimoji="1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Medium" panose="020B0200000000000000" pitchFamily="50" charset="-127"/>
                <a:ea typeface="Noto Sans KR Medium" panose="020B0200000000000000" pitchFamily="50" charset="-127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83C79BC-9644-B814-24DC-B572CAAB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7" y="1997075"/>
            <a:ext cx="10030893" cy="375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같은 색을 사용하더라도 색이 주는 느낌은 다 다르다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우리 반 마음 정원을 감상할 때는 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‘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색이 어떻게 활용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＇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되었는지 집중하여 감상한다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단원 마무리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</a:p>
          <a:p>
            <a:pPr eaLnBrk="1" latinLnBrk="0" hangingPunct="1">
              <a:spcBef>
                <a:spcPts val="1400"/>
              </a:spcBef>
            </a:pP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“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색은 자신의 생각과 감정을 나타내는 표현 수단이 될 수 있다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.”</a:t>
            </a:r>
            <a:endParaRPr lang="ko-KR" altLang="en-US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190</Words>
  <Application>Microsoft Office PowerPoint</Application>
  <PresentationFormat>와이드스크린</PresentationFormat>
  <Paragraphs>39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18" baseType="lpstr">
      <vt:lpstr>에스코어 드림 8 Heavy</vt:lpstr>
      <vt:lpstr>나눔스퀘어 ExtraBold</vt:lpstr>
      <vt:lpstr>땅스부대찌개 Bold</vt:lpstr>
      <vt:lpstr>Noto Sans KR Black</vt:lpstr>
      <vt:lpstr>Wingdings</vt:lpstr>
      <vt:lpstr>굴림</vt:lpstr>
      <vt:lpstr>Arial</vt:lpstr>
      <vt:lpstr>Noto Sans KR Medium</vt:lpstr>
      <vt:lpstr>Calibri</vt:lpstr>
      <vt:lpstr>Office Theme</vt:lpstr>
      <vt:lpstr>내용 4개</vt:lpstr>
      <vt:lpstr>PowerPoint 프레젠테이션</vt:lpstr>
      <vt:lpstr>PowerPoint 프레젠테이션</vt:lpstr>
      <vt:lpstr>참여하기 — 우리 반 마음 정원 완성하기</vt:lpstr>
      <vt:lpstr>질문하기 —우리 반 마음 정원 감상하기</vt:lpstr>
      <vt:lpstr>질문하기 —우리 반 마음 정원 감상하기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25</cp:revision>
  <dcterms:created xsi:type="dcterms:W3CDTF">2026-07-09T22:35:37Z</dcterms:created>
  <dcterms:modified xsi:type="dcterms:W3CDTF">2026-10-27T16:16:23Z</dcterms:modified>
</cp:coreProperties>
</file>