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88" r:id="rId10"/>
    <p:sldId id="277" r:id="rId11"/>
    <p:sldId id="283" r:id="rId12"/>
    <p:sldId id="278" r:id="rId13"/>
    <p:sldId id="286" r:id="rId14"/>
    <p:sldId id="285" r:id="rId15"/>
    <p:sldId id="284" r:id="rId16"/>
    <p:sldId id="269" r:id="rId17"/>
    <p:sldId id="270" r:id="rId18"/>
  </p:sldIdLst>
  <p:sldSz cx="12192000" cy="6858000"/>
  <p:notesSz cx="6858000" cy="12192000"/>
  <p:embeddedFontLst>
    <p:embeddedFont>
      <p:font typeface="Noto Sans KR" panose="020B0200000000000000" pitchFamily="50" charset="-127"/>
      <p:regular r:id="rId20"/>
      <p:bold r:id="rId21"/>
    </p:embeddedFont>
    <p:embeddedFont>
      <p:font typeface="Noto Sans KR Black" panose="020B0200000000000000" pitchFamily="50" charset="-127"/>
      <p:bold r:id="rId22"/>
    </p:embeddedFont>
    <p:embeddedFont>
      <p:font typeface="Noto Sans KR Medium" panose="020B0200000000000000" pitchFamily="50" charset="-127"/>
      <p:regular r:id="rId23"/>
    </p:embeddedFont>
    <p:embeddedFont>
      <p:font typeface="고양덕양 B" pitchFamily="2" charset="-127"/>
      <p:regular r:id="rId24"/>
    </p:embeddedFont>
    <p:embeddedFont>
      <p:font typeface="나눔바른고딕 Light" panose="020B0603020101020101" pitchFamily="50" charset="-127"/>
      <p:regular r:id="rId25"/>
    </p:embeddedFont>
    <p:embeddedFont>
      <p:font typeface="나눔스퀘어 ExtraBold" panose="020B0600000101010101" pitchFamily="50" charset="-127"/>
      <p:bold r:id="rId26"/>
    </p:embeddedFont>
    <p:embeddedFont>
      <p:font typeface="땅스부대찌개 Bold" panose="02020603020101020101" pitchFamily="18" charset="-127"/>
      <p:bold r:id="rId27"/>
    </p:embeddedFont>
    <p:embeddedFont>
      <p:font typeface="에스코어 드림 8 Heavy" panose="020B0903030302020204" pitchFamily="34" charset="-1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28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eg"/><Relationship Id="rId5" Type="http://schemas.openxmlformats.org/officeDocument/2006/relationships/image" Target="../media/image10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png"/><Relationship Id="rId7" Type="http://schemas.openxmlformats.org/officeDocument/2006/relationships/image" Target="../media/image16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hyperlink" Target="https://www.emuseum.go.kr/main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hyperlink" Target="https://www.emuseum.go.kr/detail?cateClass=&amp;cateListFlag=&amp;keyword=%EC%84%B8%ED%95%9C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D%B8%EC%99%95%EC%A0%9C%EC%83%89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D%B8%EC%99%95%EC%A0%9C%EC%83%89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jpg"/><Relationship Id="rId5" Type="http://schemas.openxmlformats.org/officeDocument/2006/relationships/hyperlink" Target="https://www.emuseum.go.kr/detail?cateClass=&amp;cateListFlag=&amp;keyword=%EA%B2%A8%EC%9A%B8%EC%82%B0%EC%86%8D%EC%9D%98+%EB%A7%A4%ED%99%94%EC%97%90+%EB%91%98%EB%9F%AC%EC%8B%B8%EC%9D%B8+%EC%84%9C%EC%98%A5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2%A8%EC%9A%B8%EC%82%B0%EC%86%8D%EC%9D%98+%EB%A7%A4%ED%99%94%EC%97%90+%EB%91%98%EB%9F%AC%EC%8B%B8%EC%9D%B8+%EC%84%9C%EC%98%A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산수화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색상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모양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 찾기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717727" y="2984901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17727" y="412832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1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D9FA3-CE05-791D-A092-6BAFA4C2E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292950"/>
            <a:ext cx="8725989" cy="4908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777AFA-D4AD-BB42-033B-73DD34E0D17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단발령에서 바라본 금강산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934306"/>
              </p:ext>
            </p:extLst>
          </p:nvPr>
        </p:nvGraphicFramePr>
        <p:xfrm>
          <a:off x="566010" y="1791398"/>
          <a:ext cx="10380664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87047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93617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단발령에서 처음 금강산을 접하는 장면이다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단발령이란 지명은 이곳에 오르는 사람마다 금강산의 모습을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바라보면 머리를 깎고 중이 되어 속세를 떠나고 싶어 한다는    것에서 유래되었다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고개 중턱에는 가마에서 내려 금강산의 멋진 장관을 바라보는 정선과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백석공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일행이 그려져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구름너머로 금강산 일만이천봉이 일행을 맞이하듯 환하게 빛나고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74" y="2546791"/>
            <a:ext cx="3685844" cy="3261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EF0626-7BA3-23E7-AD95-BC0DC865F44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026" name="Picture 2" descr="1유형">
            <a:extLst>
              <a:ext uri="{FF2B5EF4-FFF2-40B4-BE49-F238E27FC236}">
                <a16:creationId xmlns:a16="http://schemas.microsoft.com/office/drawing/2014/main" id="{912B095C-AEF1-DAA6-39FC-50E25EE37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88" y="1349262"/>
            <a:ext cx="5724285" cy="49305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BD460-E03E-50D1-2575-F5D20B2DA4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8324" y="2253212"/>
            <a:ext cx="4697665" cy="4026567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0C081A48-B2A5-A703-EC4A-0A9A01AF8E9A}"/>
              </a:ext>
            </a:extLst>
          </p:cNvPr>
          <p:cNvSpPr/>
          <p:nvPr/>
        </p:nvSpPr>
        <p:spPr>
          <a:xfrm>
            <a:off x="4014651" y="3666309"/>
            <a:ext cx="896983" cy="85344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7D78AA-744F-41FC-DAEC-B6B13C54EFF4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4" name="Picture 2" descr="1유형">
            <a:extLst>
              <a:ext uri="{FF2B5EF4-FFF2-40B4-BE49-F238E27FC236}">
                <a16:creationId xmlns:a16="http://schemas.microsoft.com/office/drawing/2014/main" id="{BCABD734-81AE-1DFF-28F1-52E050FAC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8797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색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(Colors),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(Shapes),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(Lines)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색상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어떤 색깔이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모양이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선이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685188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8DF4CD71-59BC-6C43-D9B4-D6C45D252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801" y="3048000"/>
            <a:ext cx="2545337" cy="2192383"/>
          </a:xfrm>
          <a:prstGeom prst="rect">
            <a:avLst/>
          </a:prstGeom>
        </p:spPr>
      </p:pic>
      <p:sp>
        <p:nvSpPr>
          <p:cNvPr id="4" name="슬라이드 번호 개체 틀 8">
            <a:extLst>
              <a:ext uri="{FF2B5EF4-FFF2-40B4-BE49-F238E27FC236}">
                <a16:creationId xmlns:a16="http://schemas.microsoft.com/office/drawing/2014/main" id="{7137B526-B457-C5C6-A516-D90231765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4BEAC-AA6C-066C-DEF7-4D272E1C5921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7" name="Picture 2" descr="1유형">
            <a:extLst>
              <a:ext uri="{FF2B5EF4-FFF2-40B4-BE49-F238E27FC236}">
                <a16:creationId xmlns:a16="http://schemas.microsoft.com/office/drawing/2014/main" id="{97D6514F-AC69-9BF3-1718-8E8497717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8">
            <a:extLst>
              <a:ext uri="{FF2B5EF4-FFF2-40B4-BE49-F238E27FC236}">
                <a16:creationId xmlns:a16="http://schemas.microsoft.com/office/drawing/2014/main" id="{70EC6FE4-48D1-CAAF-DF83-097A3D32B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229833"/>
              </p:ext>
            </p:extLst>
          </p:nvPr>
        </p:nvGraphicFramePr>
        <p:xfrm>
          <a:off x="406595" y="2129083"/>
          <a:ext cx="11219394" cy="419950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세한도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겨울산속의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매화에 둘러싸인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서옥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(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매화초옥도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인왕제색도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7" name="그림 6">
            <a:hlinkClick r:id="rId3"/>
            <a:extLst>
              <a:ext uri="{FF2B5EF4-FFF2-40B4-BE49-F238E27FC236}">
                <a16:creationId xmlns:a16="http://schemas.microsoft.com/office/drawing/2014/main" id="{A99670A2-CDE0-88C8-6BE5-0C006301D3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011" y="3735977"/>
            <a:ext cx="3392844" cy="1244754"/>
          </a:xfrm>
          <a:prstGeom prst="rect">
            <a:avLst/>
          </a:prstGeom>
        </p:spPr>
      </p:pic>
      <p:pic>
        <p:nvPicPr>
          <p:cNvPr id="14" name="그림 13">
            <a:hlinkClick r:id="rId5"/>
            <a:extLst>
              <a:ext uri="{FF2B5EF4-FFF2-40B4-BE49-F238E27FC236}">
                <a16:creationId xmlns:a16="http://schemas.microsoft.com/office/drawing/2014/main" id="{E7298FB1-9043-725C-3FA7-1EBABF629C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898" y="3333703"/>
            <a:ext cx="2856788" cy="2535875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96121798-F218-ED7F-DE7B-7F9611DBBF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5505" y="3625317"/>
            <a:ext cx="3131764" cy="1790325"/>
          </a:xfrm>
          <a:prstGeom prst="rect">
            <a:avLst/>
          </a:prstGeom>
        </p:spPr>
      </p:pic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EE999868-FEB0-6E41-34B5-C92BFDA66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24D6D4-451E-D668-BB66-D6BA6A9DE224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666406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039715EC-F93F-CA11-B898-45C5D2282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16</a:t>
            </a:fld>
            <a:endParaRPr lang="en-US" altLang="ko-KR" b="0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산수화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664</Words>
  <Application>Microsoft Office PowerPoint</Application>
  <PresentationFormat>와이드스크린</PresentationFormat>
  <Paragraphs>150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7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&lt;산수화&gt;를 알아봅시다(영상제목: 산수화)</vt:lpstr>
      <vt:lpstr>옛 그림과 만나기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56</cp:revision>
  <dcterms:created xsi:type="dcterms:W3CDTF">2026-07-09T22:35:37Z</dcterms:created>
  <dcterms:modified xsi:type="dcterms:W3CDTF">2026-10-27T15:59:32Z</dcterms:modified>
  <cp:version/>
</cp:coreProperties>
</file>