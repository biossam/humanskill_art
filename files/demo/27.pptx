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2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</p:sldIdLst>
  <p:sldSz cx="12192000" cy="6858000"/>
  <p:notesSz cx="6858000" cy="12192000"/>
  <p:embeddedFontLst>
    <p:embeddedFont>
      <p:font typeface="Noto Sans KR Black" panose="020B0200000000000000" pitchFamily="50" charset="-127"/>
      <p:bold r:id="rId33"/>
    </p:embeddedFont>
    <p:embeddedFont>
      <p:font typeface="Noto Sans KR Medium" panose="020B0200000000000000" pitchFamily="50" charset="-127"/>
      <p:regular r:id="rId34"/>
    </p:embeddedFont>
    <p:embeddedFont>
      <p:font typeface="나눔스퀘어 ExtraBold" panose="020B0600000101010101" pitchFamily="50" charset="-127"/>
      <p:bold r:id="rId35"/>
    </p:embeddedFont>
    <p:embeddedFont>
      <p:font typeface="땅스부대찌개 Bold" panose="02020603020101020101" pitchFamily="18" charset="-127"/>
      <p:bold r:id="rId36"/>
    </p:embeddedFont>
    <p:embeddedFont>
      <p:font typeface="에스코어 드림 8 Heavy" panose="020B0903030302020204" pitchFamily="34" charset="-127"/>
      <p:bold r:id="rId3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25" y="41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 userDrawn="1"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80"/>
          <a:stretch/>
        </p:blipFill>
        <p:spPr>
          <a:xfrm>
            <a:off x="4938523" y="5907625"/>
            <a:ext cx="2314953" cy="76409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09943" y="2042583"/>
            <a:ext cx="6753997" cy="2387600"/>
          </a:xfrm>
        </p:spPr>
        <p:txBody>
          <a:bodyPr anchor="b">
            <a:normAutofit/>
          </a:bodyPr>
          <a:lstStyle>
            <a:lvl1pPr algn="l">
              <a:defRPr sz="6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3" name="Google Shape;23;p37"/>
          <p:cNvSpPr/>
          <p:nvPr/>
        </p:nvSpPr>
        <p:spPr>
          <a:xfrm>
            <a:off x="335361" y="488138"/>
            <a:ext cx="3834759" cy="7217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493" y="0"/>
                </a:moveTo>
                <a:lnTo>
                  <a:pt x="3107" y="0"/>
                </a:lnTo>
                <a:cubicBezTo>
                  <a:pt x="2222" y="0"/>
                  <a:pt x="1691" y="0"/>
                  <a:pt x="1337" y="651"/>
                </a:cubicBezTo>
                <a:cubicBezTo>
                  <a:pt x="773" y="1743"/>
                  <a:pt x="328" y="4106"/>
                  <a:pt x="123" y="7106"/>
                </a:cubicBezTo>
                <a:cubicBezTo>
                  <a:pt x="41" y="8290"/>
                  <a:pt x="0" y="9540"/>
                  <a:pt x="0" y="10800"/>
                </a:cubicBezTo>
                <a:cubicBezTo>
                  <a:pt x="0" y="12060"/>
                  <a:pt x="41" y="13310"/>
                  <a:pt x="123" y="14494"/>
                </a:cubicBezTo>
                <a:cubicBezTo>
                  <a:pt x="328" y="17494"/>
                  <a:pt x="773" y="19857"/>
                  <a:pt x="1337" y="20949"/>
                </a:cubicBezTo>
                <a:cubicBezTo>
                  <a:pt x="1691" y="21600"/>
                  <a:pt x="2222" y="21600"/>
                  <a:pt x="3107" y="21600"/>
                </a:cubicBezTo>
                <a:lnTo>
                  <a:pt x="18493" y="21600"/>
                </a:lnTo>
                <a:cubicBezTo>
                  <a:pt x="19378" y="21600"/>
                  <a:pt x="19909" y="21600"/>
                  <a:pt x="20263" y="20949"/>
                </a:cubicBezTo>
                <a:cubicBezTo>
                  <a:pt x="20827" y="19857"/>
                  <a:pt x="21272" y="17494"/>
                  <a:pt x="21477" y="14494"/>
                </a:cubicBezTo>
                <a:cubicBezTo>
                  <a:pt x="21559" y="13310"/>
                  <a:pt x="21600" y="12060"/>
                  <a:pt x="21600" y="10800"/>
                </a:cubicBezTo>
                <a:cubicBezTo>
                  <a:pt x="21600" y="9540"/>
                  <a:pt x="21559" y="8290"/>
                  <a:pt x="21477" y="7106"/>
                </a:cubicBezTo>
                <a:cubicBezTo>
                  <a:pt x="21272" y="4106"/>
                  <a:pt x="20827" y="1743"/>
                  <a:pt x="20263" y="651"/>
                </a:cubicBezTo>
                <a:cubicBezTo>
                  <a:pt x="19909" y="0"/>
                  <a:pt x="19378" y="0"/>
                  <a:pt x="18493" y="0"/>
                </a:cubicBezTo>
                <a:close/>
              </a:path>
            </a:pathLst>
          </a:custGeom>
          <a:solidFill>
            <a:srgbClr val="F6877E"/>
          </a:solidFill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176" y="1690809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6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512135" y="2972782"/>
            <a:ext cx="7718219" cy="1077218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ko-KR" altLang="en-US" sz="3200" b="1" spc="-200" dirty="0" err="1">
                <a:solidFill>
                  <a:srgbClr val="F6877E"/>
                </a:solidFill>
                <a:latin typeface="+mj-ea"/>
                <a:ea typeface="+mj-ea"/>
              </a:rPr>
              <a:t>이게 뭘까?</a:t>
            </a:r>
            <a:endParaRPr lang="ko-KR" altLang="en-US" sz="5867" b="1" spc="-200" dirty="0">
              <a:solidFill>
                <a:srgbClr val="F6877E"/>
              </a:solidFill>
              <a:latin typeface="+mj-ea"/>
              <a:ea typeface="+mj-ea"/>
            </a:endParaRPr>
          </a:p>
          <a:p>
            <a:r>
              <a:rPr lang="ko-KR" altLang="en-US" sz="3200" b="1" spc="-200" dirty="0" err="1">
                <a:solidFill>
                  <a:srgbClr val="F6877E"/>
                </a:solidFill>
                <a:latin typeface="+mj-ea"/>
                <a:ea typeface="+mj-ea"/>
              </a:rPr>
              <a:t>가까이 보면 다른 세상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431319" y="577123"/>
            <a:ext cx="3552447" cy="54762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667" b="1" dirty="0">
                <a:solidFill>
                  <a:schemeClr val="bg1"/>
                </a:solidFill>
              </a:rPr>
              <a:t>초등 미술</a:t>
            </a:r>
          </a:p>
        </p:txBody>
      </p:sp>
      <p:pic>
        <p:nvPicPr>
          <p:cNvPr id="16" name="Google Shape;26;p37" descr="표지 차시 말풍선 그림"/>
          <p:cNvPicPr preferRelativeResize="0"/>
          <p:nvPr/>
        </p:nvPicPr>
        <p:blipFill rotWithShape="1">
          <a:blip r:embed="rId2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423925" y="1640745"/>
            <a:ext cx="2067867" cy="138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31;p1"/>
          <p:cNvSpPr txBox="1">
            <a:spLocks/>
          </p:cNvSpPr>
          <p:nvPr/>
        </p:nvSpPr>
        <p:spPr>
          <a:xfrm>
            <a:off x="5185669" y="2018557"/>
            <a:ext cx="2542512" cy="642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chemeClr val="lt1"/>
              </a:buClr>
              <a:buSzPts val="2800"/>
              <a:buNone/>
            </a:pPr>
            <a:r>
              <a:rPr lang="en-US" altLang="ko-KR" sz="3733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1차시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35722" y="4400000"/>
            <a:ext cx="5925788" cy="5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/>
            <a:r>
              <a:rPr sz="2800" b="1" u="none">
                <a:solidFill>
                  <a:srgbClr val="4472C4"/>
                </a:solidFill>
                <a:latin typeface="+mj-ea"/>
                <a:ea typeface="+mj-ea"/>
              </a:rPr>
              <a:t>단원: 같은 세상, 다른 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b="1" dirty="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b="1" spc="-200" dirty="0">
                  <a:solidFill>
                    <a:schemeClr val="bg1"/>
                  </a:solidFill>
                  <a:latin typeface="+mj-ea"/>
                  <a:ea typeface="+mj-ea"/>
                </a:rPr>
                <a:t>조형놀이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2400000" y="2550000"/>
            <a:ext cx="7400000" cy="23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아주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가까이서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찍은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사진이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나옵니다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  <a:p>
            <a:pPr algn="ctr"/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사진을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보고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무엇인지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맞혀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보세요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  <a:p>
            <a:pPr algn="ctr"/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모두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3문제가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준비되어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있습니다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  <a:p>
            <a:pPr algn="ctr"/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정답을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말하기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전에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, </a:t>
            </a:r>
            <a:endParaRPr lang="en-US" sz="28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ctr"/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만지면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어떤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느낌일지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먼저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상상해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보세요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b="1" spc="-200" dirty="0">
                  <a:solidFill>
                    <a:schemeClr val="bg1"/>
                  </a:solidFill>
                  <a:latin typeface="+mj-ea"/>
                  <a:ea typeface="+mj-ea"/>
                </a:rPr>
                <a:t>문제 1</a:t>
              </a:r>
            </a:p>
          </p:txBody>
        </p:sp>
      </p:grpSp>
      <p:sp>
        <p:nvSpPr>
          <p:cNvPr id="60" name="Rounded Rectangle 59"/>
          <p:cNvSpPr/>
          <p:nvPr/>
        </p:nvSpPr>
        <p:spPr>
          <a:xfrm>
            <a:off x="2900000" y="5330000"/>
            <a:ext cx="6400000" cy="52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 dirty="0" err="1">
                <a:solidFill>
                  <a:srgbClr val="FFFFFF"/>
                </a:solidFill>
                <a:latin typeface="+mn-ea"/>
                <a:ea typeface="+mn-ea"/>
              </a:rPr>
              <a:t>만지면</a:t>
            </a:r>
            <a:r>
              <a:rPr sz="2000" b="1" u="none" dirty="0">
                <a:solidFill>
                  <a:srgbClr val="FFFFFF"/>
                </a:solidFill>
                <a:latin typeface="+mn-ea"/>
                <a:ea typeface="+mn-ea"/>
              </a:rPr>
              <a:t> </a:t>
            </a:r>
            <a:r>
              <a:rPr sz="2000" b="1" u="none" dirty="0" err="1">
                <a:solidFill>
                  <a:srgbClr val="FFFFFF"/>
                </a:solidFill>
                <a:latin typeface="+mn-ea"/>
                <a:ea typeface="+mn-ea"/>
              </a:rPr>
              <a:t>어떤</a:t>
            </a:r>
            <a:r>
              <a:rPr sz="2000" b="1" u="none" dirty="0">
                <a:solidFill>
                  <a:srgbClr val="FFFFFF"/>
                </a:solidFill>
                <a:latin typeface="+mn-ea"/>
                <a:ea typeface="+mn-ea"/>
              </a:rPr>
              <a:t> </a:t>
            </a:r>
            <a:r>
              <a:rPr sz="2000" b="1" u="none" dirty="0" err="1">
                <a:solidFill>
                  <a:srgbClr val="FFFFFF"/>
                </a:solidFill>
                <a:latin typeface="+mn-ea"/>
                <a:ea typeface="+mn-ea"/>
              </a:rPr>
              <a:t>느낌일까요</a:t>
            </a:r>
            <a:r>
              <a:rPr sz="2000" b="1" u="none" dirty="0">
                <a:solidFill>
                  <a:srgbClr val="FFFFFF"/>
                </a:solidFill>
                <a:latin typeface="+mn-ea"/>
                <a:ea typeface="+mn-ea"/>
              </a:rPr>
              <a:t>?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14F5008-9D7A-9162-F453-106463582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1982" y="2104966"/>
            <a:ext cx="4064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b="1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2300000" y="3250000"/>
            <a:ext cx="26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u="none">
                <a:solidFill>
                  <a:srgbClr val="404040"/>
                </a:solidFill>
                <a:latin typeface="+mn-ea"/>
                <a:ea typeface="+mn-ea"/>
              </a:rPr>
              <a:t>수세미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C5A1A5-266D-DEA5-693F-7C6EDC3754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90896" y="2160436"/>
            <a:ext cx="4772170" cy="35791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b="1" spc="-200" dirty="0">
                  <a:solidFill>
                    <a:schemeClr val="bg1"/>
                  </a:solidFill>
                  <a:latin typeface="+mj-ea"/>
                  <a:ea typeface="+mj-ea"/>
                </a:rPr>
                <a:t>문제 2</a:t>
              </a:r>
            </a:p>
          </p:txBody>
        </p:sp>
      </p:grpSp>
      <p:sp>
        <p:nvSpPr>
          <p:cNvPr id="60" name="Rounded Rectangle 59"/>
          <p:cNvSpPr/>
          <p:nvPr/>
        </p:nvSpPr>
        <p:spPr>
          <a:xfrm>
            <a:off x="2900000" y="5330000"/>
            <a:ext cx="6400000" cy="52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FFFFFF"/>
                </a:solidFill>
                <a:latin typeface="+mn-ea"/>
                <a:ea typeface="+mn-ea"/>
              </a:rPr>
              <a:t>만지면 어떤 느낌일까요?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9EB31C9-2205-7BB9-A6FB-5408DA916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968" y="2204979"/>
            <a:ext cx="3797300" cy="2847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b="1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2300000" y="3250000"/>
            <a:ext cx="26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u="none">
                <a:solidFill>
                  <a:srgbClr val="404040"/>
                </a:solidFill>
                <a:latin typeface="+mn-ea"/>
                <a:ea typeface="+mn-ea"/>
              </a:rPr>
              <a:t>나뭇잎 뒷면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BF3A1D2-BA6A-3234-A978-63610DBED2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66341" y="1282700"/>
            <a:ext cx="6790267" cy="5092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b="1" spc="-200" dirty="0">
                  <a:solidFill>
                    <a:schemeClr val="bg1"/>
                  </a:solidFill>
                  <a:latin typeface="+mj-ea"/>
                  <a:ea typeface="+mj-ea"/>
                </a:rPr>
                <a:t>문제 3</a:t>
              </a:r>
            </a:p>
          </p:txBody>
        </p:sp>
      </p:grpSp>
      <p:sp>
        <p:nvSpPr>
          <p:cNvPr id="60" name="Rounded Rectangle 59"/>
          <p:cNvSpPr/>
          <p:nvPr/>
        </p:nvSpPr>
        <p:spPr>
          <a:xfrm>
            <a:off x="2900000" y="5330000"/>
            <a:ext cx="6400000" cy="52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FFFFFF"/>
                </a:solidFill>
                <a:latin typeface="+mn-ea"/>
                <a:ea typeface="+mn-ea"/>
              </a:rPr>
              <a:t>만지면 어떤 느낌일까요?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3D978C8-AA27-3506-0D64-E575C1C8C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499" y="2267434"/>
            <a:ext cx="3926364" cy="29447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b="1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2300000" y="3250000"/>
            <a:ext cx="26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u="none">
                <a:solidFill>
                  <a:srgbClr val="404040"/>
                </a:solidFill>
                <a:latin typeface="+mn-ea"/>
                <a:ea typeface="+mn-ea"/>
              </a:rPr>
              <a:t>운동화 밑창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686E3B2-33F0-B22D-4500-9621EF0B9F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350490" y="1781551"/>
            <a:ext cx="5652981" cy="42397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9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일곱 차시 미리 보기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영상 시청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영상을 보며 앞으로 일곱 번 동안 무엇을 할지 알아봐요.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496000" y="2000000"/>
            <a:ext cx="7200000" cy="405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F6877E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  <a:p>
            <a:pPr algn="ctr"/>
            <a:endParaRPr dirty="0"/>
          </a:p>
          <a:p>
            <a:pPr algn="ctr"/>
            <a:r>
              <a:rPr sz="1800" b="0" u="none" dirty="0" err="1">
                <a:solidFill>
                  <a:srgbClr val="808080"/>
                </a:solidFill>
                <a:latin typeface="+mn-ea"/>
                <a:ea typeface="+mn-ea"/>
              </a:rPr>
              <a:t>차시</a:t>
            </a:r>
            <a:r>
              <a:rPr sz="18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800" b="0" u="none" dirty="0" err="1">
                <a:solidFill>
                  <a:srgbClr val="808080"/>
                </a:solidFill>
                <a:latin typeface="+mn-ea"/>
                <a:ea typeface="+mn-ea"/>
              </a:rPr>
              <a:t>영상</a:t>
            </a:r>
            <a:r>
              <a:rPr sz="1800" b="0" u="none" dirty="0">
                <a:solidFill>
                  <a:srgbClr val="808080"/>
                </a:solidFill>
                <a:latin typeface="+mn-ea"/>
                <a:ea typeface="+mn-ea"/>
              </a:rPr>
              <a:t> 「</a:t>
            </a:r>
            <a:r>
              <a:rPr sz="1800" b="0" u="none" dirty="0" err="1">
                <a:solidFill>
                  <a:srgbClr val="808080"/>
                </a:solidFill>
                <a:latin typeface="+mn-ea"/>
                <a:ea typeface="+mn-ea"/>
              </a:rPr>
              <a:t>같은</a:t>
            </a:r>
            <a:r>
              <a:rPr sz="18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800" b="0" u="none" dirty="0" err="1">
                <a:solidFill>
                  <a:srgbClr val="808080"/>
                </a:solidFill>
                <a:latin typeface="+mn-ea"/>
                <a:ea typeface="+mn-ea"/>
              </a:rPr>
              <a:t>세상</a:t>
            </a:r>
            <a:r>
              <a:rPr sz="1800" b="0" u="none" dirty="0">
                <a:solidFill>
                  <a:srgbClr val="808080"/>
                </a:solidFill>
                <a:latin typeface="+mn-ea"/>
                <a:ea typeface="+mn-ea"/>
              </a:rPr>
              <a:t>, </a:t>
            </a:r>
            <a:r>
              <a:rPr sz="1800" b="0" u="none" dirty="0" err="1">
                <a:solidFill>
                  <a:srgbClr val="808080"/>
                </a:solidFill>
                <a:latin typeface="+mn-ea"/>
                <a:ea typeface="+mn-ea"/>
              </a:rPr>
              <a:t>다른</a:t>
            </a:r>
            <a:r>
              <a:rPr sz="1800" b="0" u="none" dirty="0">
                <a:solidFill>
                  <a:srgbClr val="808080"/>
                </a:solidFill>
                <a:latin typeface="+mn-ea"/>
                <a:ea typeface="+mn-ea"/>
              </a:rPr>
              <a:t> 눈」 </a:t>
            </a:r>
            <a:endParaRPr lang="en-US" sz="1800" b="0" u="none" dirty="0">
              <a:solidFill>
                <a:srgbClr val="808080"/>
              </a:solidFill>
              <a:latin typeface="+mn-ea"/>
              <a:ea typeface="+mn-ea"/>
            </a:endParaRPr>
          </a:p>
          <a:p>
            <a:pPr algn="ctr"/>
            <a:r>
              <a:rPr sz="1800" b="0" u="none" dirty="0" err="1">
                <a:solidFill>
                  <a:srgbClr val="808080"/>
                </a:solidFill>
                <a:latin typeface="+mn-ea"/>
                <a:ea typeface="+mn-ea"/>
              </a:rPr>
              <a:t>통합학습창</a:t>
            </a:r>
            <a:r>
              <a:rPr sz="1800" b="0" u="none" dirty="0">
                <a:solidFill>
                  <a:srgbClr val="808080"/>
                </a:solidFill>
                <a:latin typeface="+mn-ea"/>
                <a:ea typeface="+mn-ea"/>
              </a:rPr>
              <a:t> [</a:t>
            </a:r>
            <a:r>
              <a:rPr sz="1800" b="0" u="none" dirty="0" err="1">
                <a:solidFill>
                  <a:srgbClr val="808080"/>
                </a:solidFill>
                <a:latin typeface="+mn-ea"/>
                <a:ea typeface="+mn-ea"/>
              </a:rPr>
              <a:t>함께</a:t>
            </a:r>
            <a:r>
              <a:rPr sz="18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800" b="0" u="none" dirty="0" err="1">
                <a:solidFill>
                  <a:srgbClr val="808080"/>
                </a:solidFill>
                <a:latin typeface="+mn-ea"/>
                <a:ea typeface="+mn-ea"/>
              </a:rPr>
              <a:t>보기</a:t>
            </a:r>
            <a:r>
              <a:rPr sz="1800" b="0" u="none" dirty="0">
                <a:solidFill>
                  <a:srgbClr val="808080"/>
                </a:solidFill>
                <a:latin typeface="+mn-ea"/>
                <a:ea typeface="+mn-ea"/>
              </a:rPr>
              <a:t>]로 </a:t>
            </a:r>
            <a:r>
              <a:rPr sz="1800" b="0" u="none" dirty="0" err="1">
                <a:solidFill>
                  <a:srgbClr val="808080"/>
                </a:solidFill>
                <a:latin typeface="+mn-ea"/>
                <a:ea typeface="+mn-ea"/>
              </a:rPr>
              <a:t>재생</a:t>
            </a:r>
            <a:endParaRPr sz="1800" b="0" u="none" dirty="0">
              <a:solidFill>
                <a:srgbClr val="808080"/>
              </a:solidFill>
              <a:latin typeface="+mn-ea"/>
              <a:ea typeface="+mn-ea"/>
            </a:endParaRPr>
          </a:p>
        </p:txBody>
      </p:sp>
      <p:sp>
        <p:nvSpPr>
          <p:cNvPr id="100" name="Isosceles Triangle 99"/>
          <p:cNvSpPr/>
          <p:nvPr/>
        </p:nvSpPr>
        <p:spPr>
          <a:xfrm rot="5400000">
            <a:off x="5766000" y="2900000"/>
            <a:ext cx="660000" cy="620000"/>
          </a:xfrm>
          <a:prstGeom prst="triangl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1차시_영상">
            <a:hlinkClick r:id="" action="ppaction://media"/>
            <a:extLst>
              <a:ext uri="{FF2B5EF4-FFF2-40B4-BE49-F238E27FC236}">
                <a16:creationId xmlns:a16="http://schemas.microsoft.com/office/drawing/2014/main" id="{25310BC5-3ADA-F439-7DCE-B2F1FB714A5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168049" y="1851021"/>
            <a:ext cx="7944588" cy="44688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99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10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일곱 번의 눈, 그중 오늘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매일 보던 우리 학교를 일곱 번 다르게 보는 사진가(나)가 되어 봐요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1325000" y="3075000"/>
            <a:ext cx="9600000" cy="0"/>
          </a:xfrm>
          <a:prstGeom prst="line">
            <a:avLst/>
          </a:prstGeom>
          <a:ln w="38100">
            <a:solidFill>
              <a:srgbClr val="F68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700000" y="2450000"/>
            <a:ext cx="1250000" cy="1250000"/>
          </a:xfrm>
          <a:prstGeom prst="ellipse">
            <a:avLst/>
          </a:prstGeom>
          <a:solidFill>
            <a:srgbClr val="D9534A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u="none">
                <a:solidFill>
                  <a:srgbClr val="FFFFFF"/>
                </a:solidFill>
                <a:latin typeface="+mj-ea"/>
                <a:ea typeface="+mj-ea"/>
              </a:rPr>
              <a:t>관찰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D9534A"/>
                </a:solidFill>
                <a:latin typeface="+mn-ea"/>
                <a:ea typeface="+mn-ea"/>
              </a:rPr>
              <a:t>1차시 (오늘)</a:t>
            </a:r>
          </a:p>
        </p:txBody>
      </p:sp>
      <p:sp>
        <p:nvSpPr>
          <p:cNvPr id="102" name="Oval 101"/>
          <p:cNvSpPr/>
          <p:nvPr/>
        </p:nvSpPr>
        <p:spPr>
          <a:xfrm>
            <a:off x="2300000" y="2450000"/>
            <a:ext cx="1250000" cy="1250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관점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1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2차시</a:t>
            </a:r>
          </a:p>
        </p:txBody>
      </p:sp>
      <p:sp>
        <p:nvSpPr>
          <p:cNvPr id="104" name="Oval 103"/>
          <p:cNvSpPr/>
          <p:nvPr/>
        </p:nvSpPr>
        <p:spPr>
          <a:xfrm>
            <a:off x="3900000" y="2450000"/>
            <a:ext cx="1250000" cy="1250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준비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7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3차시</a:t>
            </a:r>
          </a:p>
        </p:txBody>
      </p:sp>
      <p:sp>
        <p:nvSpPr>
          <p:cNvPr id="106" name="Oval 105"/>
          <p:cNvSpPr/>
          <p:nvPr/>
        </p:nvSpPr>
        <p:spPr>
          <a:xfrm>
            <a:off x="5500000" y="2450000"/>
            <a:ext cx="1250000" cy="1250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시선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3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4차시</a:t>
            </a:r>
          </a:p>
        </p:txBody>
      </p:sp>
      <p:sp>
        <p:nvSpPr>
          <p:cNvPr id="108" name="Oval 107"/>
          <p:cNvSpPr/>
          <p:nvPr/>
        </p:nvSpPr>
        <p:spPr>
          <a:xfrm>
            <a:off x="7100000" y="2450000"/>
            <a:ext cx="1250000" cy="1250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구도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9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5차시</a:t>
            </a:r>
          </a:p>
        </p:txBody>
      </p:sp>
      <p:sp>
        <p:nvSpPr>
          <p:cNvPr id="110" name="Oval 109"/>
          <p:cNvSpPr/>
          <p:nvPr/>
        </p:nvSpPr>
        <p:spPr>
          <a:xfrm>
            <a:off x="8700000" y="2450000"/>
            <a:ext cx="1250000" cy="1250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의도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5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6차시</a:t>
            </a:r>
          </a:p>
        </p:txBody>
      </p:sp>
      <p:sp>
        <p:nvSpPr>
          <p:cNvPr id="112" name="Oval 111"/>
          <p:cNvSpPr/>
          <p:nvPr/>
        </p:nvSpPr>
        <p:spPr>
          <a:xfrm>
            <a:off x="10300000" y="2450000"/>
            <a:ext cx="1250000" cy="1250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소통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1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7차시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300000" y="4950000"/>
            <a:ext cx="9600000" cy="750000"/>
          </a:xfrm>
          <a:prstGeom prst="roundRect">
            <a:avLst/>
          </a:prstGeom>
          <a:solidFill>
            <a:srgbClr val="FFF8F3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마지막 7차시에는 우리가 찍은 사진으로 「우리 반 렌즈 미술관」을 엽니다.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869897" y="2900000"/>
            <a:ext cx="8794678" cy="13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700" b="1" u="sng" dirty="0" err="1">
                <a:solidFill>
                  <a:srgbClr val="404040"/>
                </a:solidFill>
                <a:latin typeface="+mn-ea"/>
                <a:ea typeface="+mn-ea"/>
              </a:rPr>
              <a:t>여러</a:t>
            </a:r>
            <a:r>
              <a:rPr sz="2700" b="1" u="sng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1" u="sng" dirty="0" err="1">
                <a:solidFill>
                  <a:srgbClr val="404040"/>
                </a:solidFill>
                <a:latin typeface="+mn-ea"/>
                <a:ea typeface="+mn-ea"/>
              </a:rPr>
              <a:t>감각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으로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물건을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살펴보고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, </a:t>
            </a:r>
            <a:endParaRPr lang="en-US" sz="2700" dirty="0">
              <a:solidFill>
                <a:srgbClr val="404040"/>
              </a:solidFill>
              <a:latin typeface="+mn-ea"/>
            </a:endParaRPr>
          </a:p>
          <a:p>
            <a:pPr algn="ctr"/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느낀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1" u="sng" dirty="0" err="1">
                <a:solidFill>
                  <a:srgbClr val="404040"/>
                </a:solidFill>
                <a:latin typeface="+mn-ea"/>
                <a:ea typeface="+mn-ea"/>
              </a:rPr>
              <a:t>질감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을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말로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표현</a:t>
            </a:r>
            <a:r>
              <a:rPr lang="ko-KR" altLang="en-US" sz="2700" b="0" u="none" dirty="0">
                <a:solidFill>
                  <a:srgbClr val="404040"/>
                </a:solidFill>
                <a:latin typeface="+mn-ea"/>
                <a:ea typeface="+mn-ea"/>
              </a:rPr>
              <a:t>해 봅시다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12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오늘의 조형 단어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조형놀이에서 모은 말을 떠올려 보세요.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596000" y="2000000"/>
            <a:ext cx="3000000" cy="115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5400" b="1" u="none">
                <a:solidFill>
                  <a:srgbClr val="FFFFFF"/>
                </a:solidFill>
                <a:latin typeface="+mj-ea"/>
                <a:ea typeface="+mj-ea"/>
              </a:rPr>
              <a:t>질감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0000" y="3250000"/>
            <a:ext cx="10400000" cy="7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u="none">
                <a:solidFill>
                  <a:srgbClr val="404040"/>
                </a:solidFill>
                <a:latin typeface="+mn-ea"/>
                <a:ea typeface="+mn-ea"/>
              </a:rPr>
              <a:t>눈으로 보고도 만진 느낌이 떠오르는 것, 이것을 질감이라고 해요.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721000" y="4100000"/>
            <a:ext cx="2000000" cy="5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D9534A"/>
                </a:solidFill>
                <a:latin typeface="+mn-ea"/>
                <a:ea typeface="+mn-ea"/>
              </a:rPr>
              <a:t>까끌까끌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971000" y="4100000"/>
            <a:ext cx="2000000" cy="5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D9534A"/>
                </a:solidFill>
                <a:latin typeface="+mn-ea"/>
                <a:ea typeface="+mn-ea"/>
              </a:rPr>
              <a:t>매끈매끈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221000" y="4100000"/>
            <a:ext cx="2000000" cy="5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D9534A"/>
                </a:solidFill>
                <a:latin typeface="+mn-ea"/>
                <a:ea typeface="+mn-ea"/>
              </a:rPr>
              <a:t>말랑말랑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471000" y="4100000"/>
            <a:ext cx="2000000" cy="5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D9534A"/>
                </a:solidFill>
                <a:latin typeface="+mn-ea"/>
                <a:ea typeface="+mn-ea"/>
              </a:rPr>
              <a:t>울퉁불퉁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300000" y="5050000"/>
            <a:ext cx="9600000" cy="650000"/>
          </a:xfrm>
          <a:prstGeom prst="roundRect">
            <a:avLst/>
          </a:prstGeom>
          <a:solidFill>
            <a:srgbClr val="FFF8F3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생각해 보기: 지금 내 책상에서 질감이 가장 재미있는 것은 무엇인가요?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13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오늘의 핵심 문장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빈칸에 들어갈 말을 추측해 볼까요?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00000" y="2600000"/>
            <a:ext cx="10400000" cy="1750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1100000" y="2850000"/>
            <a:ext cx="10000000" cy="12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사진</a:t>
            </a:r>
            <a:r>
              <a:rPr lang="ko-KR" altLang="en-US" sz="2800" b="1" u="none" dirty="0">
                <a:solidFill>
                  <a:srgbClr val="404040"/>
                </a:solidFill>
                <a:latin typeface="+mj-ea"/>
                <a:ea typeface="+mj-ea"/>
              </a:rPr>
              <a:t>가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는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온몸의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감각으로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세상을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>
                <a:solidFill>
                  <a:srgbClr val="808080"/>
                </a:solidFill>
                <a:latin typeface="+mj-ea"/>
                <a:ea typeface="+mj-ea"/>
              </a:rPr>
              <a:t>  ?  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할 수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있다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14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오늘의 핵심 문장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오늘의 핵심 문장을 함께 읽어 봅시다.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00000" y="2600000"/>
            <a:ext cx="10400000" cy="1750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1100000" y="2850000"/>
            <a:ext cx="10000000" cy="12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사진가는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온몸의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감각으로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세상을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sng" dirty="0" err="1">
                <a:solidFill>
                  <a:srgbClr val="D9534A"/>
                </a:solidFill>
                <a:latin typeface="+mj-ea"/>
                <a:ea typeface="+mj-ea"/>
              </a:rPr>
              <a:t>관찰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할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수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있다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300000" y="4550000"/>
            <a:ext cx="9600000" cy="5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일곱 차시 동안 일곱 문장을 모아, 7차시에 함께 읽어요.</a:t>
            </a:r>
          </a:p>
        </p:txBody>
      </p:sp>
      <p:sp>
        <p:nvSpPr>
          <p:cNvPr id="102" name="Oval 101"/>
          <p:cNvSpPr/>
          <p:nvPr/>
        </p:nvSpPr>
        <p:spPr>
          <a:xfrm>
            <a:off x="4226000" y="5150000"/>
            <a:ext cx="380000" cy="380000"/>
          </a:xfrm>
          <a:prstGeom prst="ellipse">
            <a:avLst/>
          </a:prstGeom>
          <a:solidFill>
            <a:srgbClr val="D9534A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03" name="Oval 102"/>
          <p:cNvSpPr/>
          <p:nvPr/>
        </p:nvSpPr>
        <p:spPr>
          <a:xfrm>
            <a:off x="4786000" y="5150000"/>
            <a:ext cx="380000" cy="38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D9534A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04" name="Oval 103"/>
          <p:cNvSpPr/>
          <p:nvPr/>
        </p:nvSpPr>
        <p:spPr>
          <a:xfrm>
            <a:off x="5346000" y="5150000"/>
            <a:ext cx="380000" cy="38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D9534A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105" name="Oval 104"/>
          <p:cNvSpPr/>
          <p:nvPr/>
        </p:nvSpPr>
        <p:spPr>
          <a:xfrm>
            <a:off x="5906000" y="5150000"/>
            <a:ext cx="380000" cy="38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D9534A"/>
                </a:solidFill>
                <a:latin typeface="+mn-ea"/>
                <a:ea typeface="+mn-ea"/>
              </a:rPr>
              <a:t>4</a:t>
            </a:r>
          </a:p>
        </p:txBody>
      </p:sp>
      <p:sp>
        <p:nvSpPr>
          <p:cNvPr id="106" name="Oval 105"/>
          <p:cNvSpPr/>
          <p:nvPr/>
        </p:nvSpPr>
        <p:spPr>
          <a:xfrm>
            <a:off x="6466000" y="5150000"/>
            <a:ext cx="380000" cy="38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D9534A"/>
                </a:solidFill>
                <a:latin typeface="+mn-ea"/>
                <a:ea typeface="+mn-ea"/>
              </a:rPr>
              <a:t>5</a:t>
            </a:r>
          </a:p>
        </p:txBody>
      </p:sp>
      <p:sp>
        <p:nvSpPr>
          <p:cNvPr id="107" name="Oval 106"/>
          <p:cNvSpPr/>
          <p:nvPr/>
        </p:nvSpPr>
        <p:spPr>
          <a:xfrm>
            <a:off x="7026000" y="5150000"/>
            <a:ext cx="380000" cy="38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D9534A"/>
                </a:solidFill>
                <a:latin typeface="+mn-ea"/>
                <a:ea typeface="+mn-ea"/>
              </a:rPr>
              <a:t>6</a:t>
            </a:r>
          </a:p>
        </p:txBody>
      </p:sp>
      <p:sp>
        <p:nvSpPr>
          <p:cNvPr id="108" name="Oval 107"/>
          <p:cNvSpPr/>
          <p:nvPr/>
        </p:nvSpPr>
        <p:spPr>
          <a:xfrm>
            <a:off x="7586000" y="5150000"/>
            <a:ext cx="380000" cy="38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D9534A"/>
                </a:solidFill>
                <a:latin typeface="+mn-ea"/>
                <a:ea typeface="+mn-ea"/>
              </a:rPr>
              <a:t>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15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AI는? 나는?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같은 대상을 만날 때, AI와 나는 어떻게 다를까요?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00000" y="2050000"/>
            <a:ext cx="4900000" cy="620000"/>
          </a:xfrm>
          <a:prstGeom prst="roundRect">
            <a:avLst/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FFFFFF"/>
                </a:solidFill>
                <a:latin typeface="+mj-ea"/>
                <a:ea typeface="+mj-ea"/>
              </a:rPr>
              <a:t>AI는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000000" y="2750000"/>
            <a:ext cx="4900000" cy="2100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5B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“수세미가 뭐야?”라고 물으면</a:t>
            </a:r>
          </a:p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인터넷에서 설명을 찾아</a:t>
            </a:r>
          </a:p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요약해서 알려줘요.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300000" y="2050000"/>
            <a:ext cx="4900000" cy="62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FFFFFF"/>
                </a:solidFill>
                <a:latin typeface="+mj-ea"/>
                <a:ea typeface="+mj-ea"/>
              </a:rPr>
              <a:t>나는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300000" y="2750000"/>
            <a:ext cx="4900000" cy="2100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직접 만져 보고, 냄새 맡아 보고,</a:t>
            </a:r>
          </a:p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나만 발견한 특징을</a:t>
            </a:r>
          </a:p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내 말로 이야기해요.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00000" y="5250000"/>
            <a:ext cx="10400000" cy="56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u="none">
                <a:solidFill>
                  <a:srgbClr val="FFFFFF"/>
                </a:solidFill>
                <a:latin typeface="+mn-ea"/>
                <a:ea typeface="+mn-ea"/>
              </a:rPr>
              <a:t>직접 만지고 냄새 맡아야 알 수 있는 것이 있어요.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16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 방법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1. 감각 보물찾기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000" y="16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50000" y="16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관찰 바구니에서 자연물 1개, 인공물 1개를 골라요.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" y="232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50000" y="2260000"/>
            <a:ext cx="90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네 가지 감각으로 차례차례 살펴봐요.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50000" y="2820000"/>
            <a:ext cx="2340000" cy="1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눈으로 보아요</a:t>
            </a:r>
          </a:p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색깔·모양·무늬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70000" y="2820000"/>
            <a:ext cx="2340000" cy="1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손으로 만져 보아요</a:t>
            </a:r>
          </a:p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매끈·까끌·말랑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90000" y="2820000"/>
            <a:ext cx="2340000" cy="1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코로 냄새 맡아요</a:t>
            </a:r>
          </a:p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어떤 냄새가 날까?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0000" y="2820000"/>
            <a:ext cx="2340000" cy="1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귀로 들어보아요</a:t>
            </a:r>
          </a:p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두드리거나 흔들면?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000" y="412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50000" y="406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감각마다 발견한 특징을 활동지에 감각 단어로 적어요.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000" y="5750000"/>
            <a:ext cx="10400000" cy="560000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u="none">
                <a:solidFill>
                  <a:srgbClr val="404040"/>
                </a:solidFill>
                <a:latin typeface="+mn-ea"/>
                <a:ea typeface="+mn-ea"/>
              </a:rPr>
              <a:t>하이러닝 타이머 5분. 감각마다 한 단어씩은 꼭 찾아 적어요.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17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활동지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1. 감각 보물찾기_활동지, 활동 예시</a:t>
            </a:r>
          </a:p>
        </p:txBody>
      </p:sp>
      <p:pic>
        <p:nvPicPr>
          <p:cNvPr id="13" name="Picture 12" descr="1차시 활동지: 이게 뭘까? 가까이 보면 다른 세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0" y="1780000"/>
            <a:ext cx="8533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18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예시 작품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1. 감각 보물찾기_활동지, 활동 예시</a:t>
            </a:r>
          </a:p>
        </p:txBody>
      </p:sp>
      <p:pic>
        <p:nvPicPr>
          <p:cNvPr id="13" name="Picture 12" descr="1차시 활동 예시 작품: 이게 뭘까? 가까이 보면 다른 세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0" y="1780000"/>
            <a:ext cx="8533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19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 방법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2. 말로 찍는 사진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000" y="16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50000" y="16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짝에게 내 보물을 보여 주지 않아요.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" y="232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50000" y="226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감각 단어만으로 설명하면, 짝이 무엇인지 맞혀요.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000" y="29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50000" y="29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잘 통한 설명은 무엇이 달랐는지 이야기해요.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50000" y="3700000"/>
            <a:ext cx="9500000" cy="700000"/>
          </a:xfrm>
          <a:prstGeom prst="roundRect">
            <a:avLst/>
          </a:prstGeom>
          <a:solidFill>
            <a:srgbClr val="FDECE9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u="none">
                <a:solidFill>
                  <a:srgbClr val="404040"/>
                </a:solidFill>
                <a:latin typeface="+mn-ea"/>
                <a:ea typeface="+mn-ea"/>
              </a:rPr>
              <a:t>자세히 관찰한 사람의 설명이 선명하다.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000" y="5750000"/>
            <a:ext cx="10400000" cy="560000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u="none">
                <a:solidFill>
                  <a:srgbClr val="404040"/>
                </a:solidFill>
                <a:latin typeface="+mn-ea"/>
                <a:ea typeface="+mn-ea"/>
              </a:rPr>
              <a:t>짝 활동(2인 1조): 정답보다 자세한 설명이 더 중요해요.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20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 방법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3. 관찰 한 줄 게시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000" y="16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50000" y="16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내 보물의 가장 재미있는 질감을 한 문장으로 써요.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" y="232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50000" y="226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클래스보드에 올리고, 친구 글에 공감을 눌러요.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50000" y="3050000"/>
            <a:ext cx="9500000" cy="700000"/>
          </a:xfrm>
          <a:prstGeom prst="roundRect">
            <a:avLst/>
          </a:prstGeom>
          <a:solidFill>
            <a:srgbClr val="FDECE9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u="none">
                <a:solidFill>
                  <a:srgbClr val="404040"/>
                </a:solidFill>
                <a:latin typeface="+mn-ea"/>
                <a:ea typeface="+mn-ea"/>
              </a:rPr>
              <a:t>예) 솔방울은 비늘 끝이 까끌까끌해서 손끝이 간지러웠다.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000" y="5750000"/>
            <a:ext cx="10400000" cy="560000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404040"/>
                </a:solidFill>
                <a:latin typeface="+mn-ea"/>
                <a:ea typeface="+mn-ea"/>
              </a:rPr>
              <a:t>오늘 올린 글이 우리 반 사진첩의 첫 페이지가 돼요. 7차시에 렌즈 미술관으로 열어요.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21</a:t>
            </a:fld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0000" y="2050000"/>
            <a:ext cx="2300000" cy="90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FFFFFF"/>
                </a:solidFill>
                <a:latin typeface="+mn-ea"/>
                <a:ea typeface="+mn-ea"/>
              </a:rPr>
              <a:t>오늘의 조형 단어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0000" y="2050000"/>
            <a:ext cx="77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 u="none">
                <a:solidFill>
                  <a:srgbClr val="D9534A"/>
                </a:solidFill>
                <a:latin typeface="+mn-ea"/>
                <a:ea typeface="+mn-ea"/>
              </a:rPr>
              <a:t>질감</a:t>
            </a:r>
            <a:r>
              <a:rPr sz="2200" b="0" u="none">
                <a:solidFill>
                  <a:srgbClr val="404040"/>
                </a:solidFill>
                <a:latin typeface="+mn-ea"/>
                <a:ea typeface="+mn-ea"/>
              </a:rPr>
              <a:t>  눈으로 보고도 만진 느낌이 떠오르는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0000" y="3450000"/>
            <a:ext cx="2300000" cy="90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FFFFFF"/>
                </a:solidFill>
                <a:latin typeface="+mn-ea"/>
                <a:ea typeface="+mn-ea"/>
              </a:rPr>
              <a:t>오늘 한 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0000" y="3450000"/>
            <a:ext cx="77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0" u="none">
                <a:solidFill>
                  <a:srgbClr val="404040"/>
                </a:solidFill>
                <a:latin typeface="+mn-ea"/>
                <a:ea typeface="+mn-ea"/>
              </a:rPr>
              <a:t>관찰 바구니 속 물건을 네 가지 감각으로 살펴보고, 감각 단어로 설명했어요.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0000" y="4850000"/>
            <a:ext cx="2300000" cy="90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FFFFFF"/>
                </a:solidFill>
                <a:latin typeface="+mn-ea"/>
                <a:ea typeface="+mn-ea"/>
              </a:rPr>
              <a:t>핵심 문장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0000" y="4850000"/>
            <a:ext cx="77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0" u="none">
                <a:solidFill>
                  <a:srgbClr val="404040"/>
                </a:solidFill>
                <a:latin typeface="+mn-ea"/>
                <a:ea typeface="+mn-ea"/>
              </a:rPr>
              <a:t>사진가(나)는 온몸의 감각으로 세상을 관찰할 수 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형성평가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2400000" y="2600000"/>
            <a:ext cx="7400000" cy="2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오늘 배운 내용을 확인해 볼까요?</a:t>
            </a:r>
          </a:p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모두 3문제가 준비되어 있습니다.</a:t>
            </a:r>
          </a:p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하이러닝 형성평가에서 답을 골라 보세요.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1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250000"/>
            <a:ext cx="88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404040"/>
                </a:solidFill>
                <a:latin typeface="+mn-ea"/>
                <a:ea typeface="+mn-ea"/>
              </a:rPr>
              <a:t>눈으로 보고도 만진 느낌이 떠오르는 조형 요소는 무엇인가요?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5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① 색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② 질감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③ 모양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350000"/>
            <a:ext cx="88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808080"/>
                </a:solidFill>
                <a:latin typeface="+mn-ea"/>
                <a:ea typeface="+mn-ea"/>
              </a:rPr>
              <a:t>눈으로 보고도 만진 느낌이 떠오르는 조형 요소는 무엇인가요?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00000" y="3100000"/>
            <a:ext cx="7200000" cy="1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u="none">
                <a:solidFill>
                  <a:srgbClr val="D9534A"/>
                </a:solidFill>
                <a:latin typeface="+mj-ea"/>
                <a:ea typeface="+mj-ea"/>
              </a:rPr>
              <a:t>② 질감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2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250000"/>
            <a:ext cx="88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404040"/>
                </a:solidFill>
                <a:latin typeface="+mn-ea"/>
                <a:ea typeface="+mn-ea"/>
              </a:rPr>
              <a:t>솔방울을 '손으로 만져 보기'로 알 수 있는 것은 무엇인가요?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5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① 비늘 끝이 까끌까끌하다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② 갈색이다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③ 나무 냄새가 난다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350000"/>
            <a:ext cx="88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808080"/>
                </a:solidFill>
                <a:latin typeface="+mn-ea"/>
                <a:ea typeface="+mn-ea"/>
              </a:rPr>
              <a:t>솔방울을 '손으로 만져 보기'로 알 수 있는 것은 무엇인가요?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00000" y="3100000"/>
            <a:ext cx="7200000" cy="1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u="none">
                <a:solidFill>
                  <a:srgbClr val="D9534A"/>
                </a:solidFill>
                <a:latin typeface="+mj-ea"/>
                <a:ea typeface="+mj-ea"/>
              </a:rPr>
              <a:t>① 비늘 끝이 까끌까끌하다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3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250000"/>
            <a:ext cx="88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404040"/>
                </a:solidFill>
                <a:latin typeface="+mn-ea"/>
                <a:ea typeface="+mn-ea"/>
              </a:rPr>
              <a:t>다음 중 질감을 나타내는 말이 아닌 것은 무엇인가요?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5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① 울퉁불퉁하다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② 매끈매끈하다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③ 동글동글하다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350000"/>
            <a:ext cx="88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808080"/>
                </a:solidFill>
                <a:latin typeface="+mn-ea"/>
                <a:ea typeface="+mn-ea"/>
              </a:rPr>
              <a:t>다음 중 질감을 나타내는 말이 아닌 것은 무엇인가요?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00000" y="3100000"/>
            <a:ext cx="7200000" cy="1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u="none">
                <a:solidFill>
                  <a:srgbClr val="D9534A"/>
                </a:solidFill>
                <a:latin typeface="+mj-ea"/>
                <a:ea typeface="+mj-ea"/>
              </a:rPr>
              <a:t>③ 동글동글하다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00000" y="4250000"/>
            <a:ext cx="8200000" cy="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'</a:t>
            </a:r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동글동글'은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모양을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나타내는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말이에요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. </a:t>
            </a:r>
            <a:endParaRPr lang="en-US" sz="19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ctr"/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질감은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만졌을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때의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느낌이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떠오르는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말이에요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29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다음 수업 안내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 예고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520000" y="1600000"/>
            <a:ext cx="7730000" cy="1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다음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시간에는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&lt;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같은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세상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,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다른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눈&gt;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단원의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두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번째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시간</a:t>
            </a:r>
            <a:r>
              <a:rPr lang="en-US" sz="2400" b="0" u="none" dirty="0">
                <a:solidFill>
                  <a:srgbClr val="404040"/>
                </a:solidFill>
                <a:latin typeface="+mn-ea"/>
                <a:ea typeface="+mn-ea"/>
              </a:rPr>
              <a:t>!</a:t>
            </a:r>
          </a:p>
          <a:p>
            <a:pPr algn="l"/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'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사진은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무엇을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담을까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?'를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주제로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수업을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진행합니다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20000" y="3500000"/>
            <a:ext cx="7200000" cy="1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편안한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마음으로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,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열린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자세로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수업에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참여해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주세요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. </a:t>
            </a:r>
            <a:endParaRPr lang="en-US" sz="22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l"/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다음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시간에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만나요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!</a:t>
            </a:r>
          </a:p>
        </p:txBody>
      </p:sp>
      <p:pic>
        <p:nvPicPr>
          <p:cNvPr id="99" name="Picture 98" descr="2차시 미리보기: 오리-토끼 반전 그림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0000" y="2514965"/>
            <a:ext cx="2800000" cy="1770069"/>
          </a:xfrm>
          <a:prstGeom prst="rect">
            <a:avLst/>
          </a:prstGeom>
        </p:spPr>
      </p:pic>
      <p:sp>
        <p:nvSpPr>
          <p:cNvPr id="100" name="Oval Callout 99"/>
          <p:cNvSpPr/>
          <p:nvPr/>
        </p:nvSpPr>
        <p:spPr>
          <a:xfrm>
            <a:off x="7600000" y="5100000"/>
            <a:ext cx="2100000" cy="900000"/>
          </a:xfrm>
          <a:prstGeom prst="wedgeEllipseCallou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오리일까, 토끼일까?</a:t>
            </a:r>
          </a:p>
        </p:txBody>
      </p:sp>
      <p:pic>
        <p:nvPicPr>
          <p:cNvPr id="101" name="Picture 100" descr="경기도공공미술교육연구회 로고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9111" y="5335203"/>
            <a:ext cx="1093755" cy="109375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779</Words>
  <Application>Microsoft Office PowerPoint</Application>
  <PresentationFormat>와이드스크린</PresentationFormat>
  <Paragraphs>191</Paragraphs>
  <Slides>30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7" baseType="lpstr">
      <vt:lpstr>에스코어 드림 8 Heavy</vt:lpstr>
      <vt:lpstr>땅스부대찌개 Bold</vt:lpstr>
      <vt:lpstr>나눔스퀘어 ExtraBold</vt:lpstr>
      <vt:lpstr>Noto Sans KR Black</vt:lpstr>
      <vt:lpstr>Arial</vt:lpstr>
      <vt:lpstr>Noto Sans KR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일곱 차시 미리 보기</vt:lpstr>
      <vt:lpstr>일곱 번의 눈, 그중 오늘</vt:lpstr>
      <vt:lpstr>PowerPoint 프레젠테이션</vt:lpstr>
      <vt:lpstr>오늘의 조형 단어</vt:lpstr>
      <vt:lpstr>오늘의 핵심 문장</vt:lpstr>
      <vt:lpstr>오늘의 핵심 문장</vt:lpstr>
      <vt:lpstr>AI는? 나는?</vt:lpstr>
      <vt:lpstr>활동 1. 감각 보물찾기</vt:lpstr>
      <vt:lpstr>활동 1. 감각 보물찾기_활동지, 활동 예시</vt:lpstr>
      <vt:lpstr>활동 1. 감각 보물찾기_활동지, 활동 예시</vt:lpstr>
      <vt:lpstr>활동 2. 말로 찍는 사진</vt:lpstr>
      <vt:lpstr>활동 3. 관찰 한 줄 게시</vt:lpstr>
      <vt:lpstr>정리하기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다음 수업 안내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장 혜림</cp:lastModifiedBy>
  <cp:revision>15</cp:revision>
  <dcterms:created xsi:type="dcterms:W3CDTF">2026-07-09T22:35:37Z</dcterms:created>
  <dcterms:modified xsi:type="dcterms:W3CDTF">2026-10-27T16:06:10Z</dcterms:modified>
</cp:coreProperties>
</file>