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914" y="76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이게 뭘까?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가까이 보면 다른 세상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b="1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>
                <a:solidFill>
                  <a:srgbClr val="4472C4"/>
                </a:solidFill>
                <a:latin typeface="+mj-ea"/>
                <a:ea typeface="+mj-ea"/>
              </a:rPr>
              <a:t>단원: 같은 세상, 다른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아주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가까이서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찍은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나옵니다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보고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무엇인지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맞혀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보세요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모두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3문제가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준비되어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있습니다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정답을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말하기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전에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만지면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어떤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느낌일지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먼저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상상해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보세요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 dirty="0" err="1">
                <a:solidFill>
                  <a:srgbClr val="FFFFFF"/>
                </a:solidFill>
                <a:latin typeface="+mn-ea"/>
                <a:ea typeface="+mn-ea"/>
              </a:rPr>
              <a:t>만지면</a:t>
            </a:r>
            <a:r>
              <a:rPr sz="2000" b="1" u="none" dirty="0">
                <a:solidFill>
                  <a:srgbClr val="FFFFFF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FFFFFF"/>
                </a:solidFill>
                <a:latin typeface="+mn-ea"/>
                <a:ea typeface="+mn-ea"/>
              </a:rPr>
              <a:t>어떤</a:t>
            </a:r>
            <a:r>
              <a:rPr sz="2000" b="1" u="none" dirty="0">
                <a:solidFill>
                  <a:srgbClr val="FFFFFF"/>
                </a:solidFill>
                <a:latin typeface="+mn-ea"/>
                <a:ea typeface="+mn-ea"/>
              </a:rPr>
              <a:t> </a:t>
            </a:r>
            <a:r>
              <a:rPr sz="2000" b="1" u="none" dirty="0" err="1">
                <a:solidFill>
                  <a:srgbClr val="FFFFFF"/>
                </a:solidFill>
                <a:latin typeface="+mn-ea"/>
                <a:ea typeface="+mn-ea"/>
              </a:rPr>
              <a:t>느낌일까요</a:t>
            </a:r>
            <a:r>
              <a:rPr sz="2000" b="1" u="none" dirty="0">
                <a:solidFill>
                  <a:srgbClr val="FFFFFF"/>
                </a:solidFill>
                <a:latin typeface="+mn-ea"/>
                <a:ea typeface="+mn-ea"/>
              </a:rPr>
              <a:t>?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14F5008-9D7A-9162-F453-106463582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982" y="2104966"/>
            <a:ext cx="40640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300000" y="3250000"/>
            <a:ext cx="26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404040"/>
                </a:solidFill>
                <a:latin typeface="+mn-ea"/>
                <a:ea typeface="+mn-ea"/>
              </a:rPr>
              <a:t>수세미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8C5A1A5-266D-DEA5-693F-7C6EDC3754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90896" y="2160436"/>
            <a:ext cx="4772170" cy="3579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만지면 어떤 느낌일까요?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9EB31C9-2205-7BB9-A6FB-5408DA916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968" y="2204979"/>
            <a:ext cx="3797300" cy="28479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300000" y="3250000"/>
            <a:ext cx="26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404040"/>
                </a:solidFill>
                <a:latin typeface="+mn-ea"/>
                <a:ea typeface="+mn-ea"/>
              </a:rPr>
              <a:t>나뭇잎 뒷면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3A1D2-BA6A-3234-A978-63610DBED2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066341" y="1282700"/>
            <a:ext cx="6790267" cy="5092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만지면 어떤 느낌일까요?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D978C8-AA27-3506-0D64-E575C1C8C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499" y="2267434"/>
            <a:ext cx="3926364" cy="29447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b="1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300000" y="3250000"/>
            <a:ext cx="26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404040"/>
                </a:solidFill>
                <a:latin typeface="+mn-ea"/>
                <a:ea typeface="+mn-ea"/>
              </a:rPr>
              <a:t>운동화 밑창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686E3B2-33F0-B22D-4500-9621EF0B9F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350490" y="1781551"/>
            <a:ext cx="5652981" cy="4239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차시 미리 보기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영상을 보며 앞으로 일곱 번 동안 무엇을 할지 알아봐요.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  <a:p>
            <a:pPr algn="ctr"/>
            <a:endParaRPr dirty="0"/>
          </a:p>
          <a:p>
            <a:pPr algn="ctr"/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차시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영상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「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같은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세상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,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다른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눈」 </a:t>
            </a:r>
            <a:endParaRPr lang="en-US" sz="1800" b="0" u="none" dirty="0">
              <a:solidFill>
                <a:srgbClr val="808080"/>
              </a:solidFill>
              <a:latin typeface="+mn-ea"/>
              <a:ea typeface="+mn-ea"/>
            </a:endParaRPr>
          </a:p>
          <a:p>
            <a:pPr algn="ctr"/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통합학습창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[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함께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보기</a:t>
            </a:r>
            <a:r>
              <a:rPr sz="1800" b="0" u="none" dirty="0">
                <a:solidFill>
                  <a:srgbClr val="808080"/>
                </a:solidFill>
                <a:latin typeface="+mn-ea"/>
                <a:ea typeface="+mn-ea"/>
              </a:rPr>
              <a:t>]로 </a:t>
            </a:r>
            <a:r>
              <a:rPr sz="1800" b="0" u="none" dirty="0" err="1">
                <a:solidFill>
                  <a:srgbClr val="808080"/>
                </a:solidFill>
                <a:latin typeface="+mn-ea"/>
                <a:ea typeface="+mn-ea"/>
              </a:rPr>
              <a:t>재생</a:t>
            </a:r>
            <a:endParaRPr sz="1800" b="0" u="none" dirty="0">
              <a:solidFill>
                <a:srgbClr val="808080"/>
              </a:solidFill>
              <a:latin typeface="+mn-ea"/>
              <a:ea typeface="+mn-ea"/>
            </a:endParaRP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1차시_영상">
            <a:hlinkClick r:id="" action="ppaction://media"/>
            <a:extLst>
              <a:ext uri="{FF2B5EF4-FFF2-40B4-BE49-F238E27FC236}">
                <a16:creationId xmlns:a16="http://schemas.microsoft.com/office/drawing/2014/main" id="{25310BC5-3ADA-F439-7DCE-B2F1FB714A5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68049" y="1851021"/>
            <a:ext cx="7944588" cy="446883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29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1차시 (오늘)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마지막 7차시에는 우리가 찍은 사진으로 「우리 반 렌즈 미술관」을 엽니다.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여러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감각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으로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물건을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살펴보고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dirty="0">
              <a:solidFill>
                <a:srgbClr val="404040"/>
              </a:solidFill>
              <a:latin typeface="+mn-ea"/>
            </a:endParaRPr>
          </a:p>
          <a:p>
            <a:pPr algn="ctr"/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느낀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질감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말로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표현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해 봅시다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조형놀이에서 모은 말을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질감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404040"/>
                </a:solidFill>
                <a:latin typeface="+mn-ea"/>
                <a:ea typeface="+mn-ea"/>
              </a:rPr>
              <a:t>눈으로 보고도 만진 느낌이 떠오르는 것, 이것을 질감이라고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7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까끌까끌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9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매끈매끈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2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말랑말랑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울퉁불퉁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지금 내 책상에서 질감이 가장 재미있는 것은 무엇인가요?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</a:t>
            </a:r>
            <a:r>
              <a:rPr lang="ko-KR" altLang="en-US" sz="2800" b="1" u="none" dirty="0">
                <a:solidFill>
                  <a:srgbClr val="404040"/>
                </a:solidFill>
                <a:latin typeface="+mj-ea"/>
                <a:ea typeface="+mj-ea"/>
              </a:rPr>
              <a:t>가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는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온몸의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감각으로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세상을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할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온몸의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감각으로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세상을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관찰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할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300000" y="455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2" name="Oval 101"/>
          <p:cNvSpPr/>
          <p:nvPr/>
        </p:nvSpPr>
        <p:spPr>
          <a:xfrm>
            <a:off x="4226000" y="515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478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4" name="Oval 103"/>
          <p:cNvSpPr/>
          <p:nvPr/>
        </p:nvSpPr>
        <p:spPr>
          <a:xfrm>
            <a:off x="534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5" name="Oval 104"/>
          <p:cNvSpPr/>
          <p:nvPr/>
        </p:nvSpPr>
        <p:spPr>
          <a:xfrm>
            <a:off x="590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646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7" name="Oval 106"/>
          <p:cNvSpPr/>
          <p:nvPr/>
        </p:nvSpPr>
        <p:spPr>
          <a:xfrm>
            <a:off x="702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8" name="Oval 107"/>
          <p:cNvSpPr/>
          <p:nvPr/>
        </p:nvSpPr>
        <p:spPr>
          <a:xfrm>
            <a:off x="7586000" y="515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“수세미가 뭐야?”라고 물으면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인터넷에서 설명을 찾아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요약해서 알려줘요.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직접 만져 보고, 냄새 맡아 보고,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나만 발견한 특징을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말로 이야기해요.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직접 만지고 냄새 맡아야 알 수 있는 것이 있어요.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감각 보물찾기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관찰 바구니에서 자연물 1개, 인공물 1개를 골라요.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네 가지 감각으로 차례차례 살펴봐요.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눈으로 보아요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색깔·모양·무늬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손으로 만져 보아요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매끈·까끌·말랑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코로 냄새 맡아요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어떤 냄새가 날까?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0000" y="2820000"/>
            <a:ext cx="234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귀로 들어보아요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두드리거나 흔들면?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감각마다 발견한 특징을 활동지에 감각 단어로 적어요.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하이러닝 타이머 5분. 감각마다 한 단어씩은 꼭 찾아 적어요.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감각 보물찾기_활동지, 활동 예시</a:t>
            </a:r>
          </a:p>
        </p:txBody>
      </p:sp>
      <p:pic>
        <p:nvPicPr>
          <p:cNvPr id="13" name="Picture 12" descr="1차시 활동지: 이게 뭘까? 가까이 보면 다른 세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감각 보물찾기_활동지, 활동 예시</a:t>
            </a:r>
          </a:p>
        </p:txBody>
      </p:sp>
      <p:pic>
        <p:nvPicPr>
          <p:cNvPr id="13" name="Picture 12" descr="1차시 활동 예시 작품: 이게 뭘까? 가까이 보면 다른 세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말로 찍는 사진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짝에게 내 보물을 보여 주지 않아요.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감각 단어만으로 설명하면, 짝이 무엇인지 맞혀요.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잘 통한 설명은 무엇이 달랐는지 이야기해요.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자세히 관찰한 사람의 설명이 선명하다.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짝 활동(2인 1조): 정답보다 자세한 설명이 더 중요해요.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관찰 한 줄 게시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보물의 가장 재미있는 질감을 한 문장으로 써요.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클래스보드에 올리고, 친구 글에 공감을 눌러요.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305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예) 솔방울은 비늘 끝이 까끌까끌해서 손끝이 간지러웠다.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404040"/>
                </a:solidFill>
                <a:latin typeface="+mn-ea"/>
                <a:ea typeface="+mn-ea"/>
              </a:rPr>
              <a:t>오늘 올린 글이 우리 반 사진첩의 첫 페이지가 돼요. 7차시에 렌즈 미술관으로 열어요.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질감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눈으로 보고도 만진 느낌이 떠오르는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관찰 바구니 속 물건을 네 가지 감각으로 살펴보고, 감각 단어로 설명했어요.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온몸의 감각으로 세상을 관찰할 수 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눈으로 보고도 만진 느낌이 떠오르는 조형 요소는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색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질감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모양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눈으로 보고도 만진 느낌이 떠오르는 조형 요소는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② 질감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솔방울을 '손으로 만져 보기'로 알 수 있는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① 비늘 끝이 까끌까끌하다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갈색이다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나무 냄새가 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솔방울을 '손으로 만져 보기'로 알 수 있는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① 비늘 끝이 까끌까끌하다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다음 중 질감을 나타내는 말이 아닌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울퉁불퉁하다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매끈매끈하다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동글동글하다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다음 중 질감을 나타내는 말이 아닌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동글동글하다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'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동글동글'은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모양을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나타내는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말이에요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질감은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만졌을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때의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느낌이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떠오르는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말이에요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73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두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번째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</a:t>
            </a:r>
            <a:r>
              <a:rPr lang="en-US" sz="24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  <a:p>
            <a:pPr algn="l"/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무엇을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담을까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?'를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 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pic>
        <p:nvPicPr>
          <p:cNvPr id="99" name="Picture 98" descr="2차시 미리보기: 오리-토끼 반전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000" y="2514965"/>
            <a:ext cx="2800000" cy="1770069"/>
          </a:xfrm>
          <a:prstGeom prst="rect">
            <a:avLst/>
          </a:prstGeom>
        </p:spPr>
      </p:pic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오리일까, 토끼일까?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779</Words>
  <Application>Microsoft Office PowerPoint</Application>
  <PresentationFormat>와이드스크린</PresentationFormat>
  <Paragraphs>191</Paragraphs>
  <Slides>30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일곱 차시 미리 보기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감각 보물찾기</vt:lpstr>
      <vt:lpstr>활동 1. 감각 보물찾기_활동지, 활동 예시</vt:lpstr>
      <vt:lpstr>활동 1. 감각 보물찾기_활동지, 활동 예시</vt:lpstr>
      <vt:lpstr>활동 2. 말로 찍는 사진</vt:lpstr>
      <vt:lpstr>활동 3. 관찰 한 줄 게시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기현 노</cp:lastModifiedBy>
  <cp:revision>14</cp:revision>
  <dcterms:created xsi:type="dcterms:W3CDTF">2026-07-09T22:35:37Z</dcterms:created>
  <dcterms:modified xsi:type="dcterms:W3CDTF">2026-09-28T01:25:01Z</dcterms:modified>
</cp:coreProperties>
</file>