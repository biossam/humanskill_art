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64" r:id="rId2"/>
    <p:sldId id="265" r:id="rId3"/>
    <p:sldId id="289" r:id="rId4"/>
    <p:sldId id="290" r:id="rId5"/>
    <p:sldId id="297" r:id="rId6"/>
    <p:sldId id="291" r:id="rId7"/>
    <p:sldId id="292" r:id="rId8"/>
    <p:sldId id="293" r:id="rId9"/>
    <p:sldId id="294" r:id="rId10"/>
    <p:sldId id="295" r:id="rId11"/>
    <p:sldId id="296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76053"/>
  </p:normalViewPr>
  <p:slideViewPr>
    <p:cSldViewPr snapToGrid="0" snapToObjects="1">
      <p:cViewPr varScale="1">
        <p:scale>
          <a:sx n="52" d="100"/>
          <a:sy n="52" d="100"/>
        </p:scale>
        <p:origin x="1063" y="27"/>
      </p:cViewPr>
      <p:guideLst>
        <p:guide orient="horz" pos="2156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6차시 · 자연을 채운 병뚜껑 — 예술가의 성찰</a:t>
            </a:r>
          </a:p>
          <a:p>
            <a:r>
              <a:t>6가지 사고 중 '성찰적 사고'를 다루는 단원의 마지막 차시입니다.</a:t>
            </a:r>
          </a:p>
        </p:txBody>
      </p:sp>
    </p:spTree>
    <p:extLst>
      <p:ext uri="{BB962C8B-B14F-4D97-AF65-F5344CB8AC3E}">
        <p14:creationId xmlns:p14="http://schemas.microsoft.com/office/powerpoint/2010/main" val="2936651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[6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미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03-02] 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미술 작품의 내용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소재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주제 등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과 형식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재료와 용구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표현 방법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조형 요소와 원리 등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r>
              <a:rPr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을 분석하여 작품의 특징을 설명할 수 있다</a:t>
            </a:r>
            <a:r>
              <a:rPr 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.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362518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안내 영상: https://youtu.be/RSVp2u4sOQk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54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문장 [빈칸] 추론하기</a:t>
            </a:r>
          </a:p>
          <a:p>
            <a:r>
              <a:rPr lang="ko-KR" altLang="en-US"/>
              <a:t>단원 핵심 문장: AI는 결과를 빠르게 만들지만, 작품의 의미는 예술가(나)가 직접 고르고 나누고 돌아보는 과정에서 생겨난다.</a:t>
            </a:r>
          </a:p>
          <a:p>
            <a:r>
              <a:rPr lang="ko-KR" altLang="en-US"/>
              <a:t>6차시 문장: 지나온 과정을 [성찰]하면 내가 어떻게 자랐는지가 분명해진다.</a:t>
            </a:r>
          </a:p>
          <a:p>
            <a:endParaRPr/>
          </a:p>
          <a:p>
            <a:r>
              <a:t>•교사: “빈칸에 어떤 말이 들어갈까요? 지난 다섯 번의 수업을 돌아보면 무엇을 하게 될까요?”</a:t>
            </a:r>
          </a:p>
          <a:p>
            <a:r>
              <a:t>•교사: “오늘의 목표는 지난 다섯 차시의 여정을 돌아보며 내가 얼마나 자랐는지 살펴보는 거예요.”</a:t>
            </a:r>
          </a:p>
          <a:p>
            <a:r>
              <a:rPr lang="ko-KR" altLang="en-US"/>
              <a:t>(빈칸 장면 → 다음 슬라이드에서 정답 '성찰'을(를) 공개한다.)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155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AI는? 나는? https://youtu.be/SU_5lnPHdQY</a:t>
            </a:r>
          </a:p>
          <a:p>
            <a:endParaRPr/>
          </a:p>
          <a:p>
            <a:r>
              <a:t>AI는 방대한 자료를 요약해 결론을 즉시 제시한다.</a:t>
            </a:r>
          </a:p>
          <a:p>
            <a:r>
              <a:t>나는 3차시의 내 작품을 다시 꺼내 해양생물로 완성하며, 지난 다섯 차시의 여정을 천천히 되돌아본다.</a:t>
            </a:r>
          </a:p>
          <a:p>
            <a:r>
              <a:t>→ 지나온 과정을 되짚어보고 의미를 찾는 것, 이것이 예술가의 힘이다.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174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(40분)</a:t>
            </a:r>
          </a:p>
          <a:p>
            <a:r>
              <a:rPr dirty="0" err="1"/>
              <a:t>질문하기</a:t>
            </a:r>
            <a:r>
              <a:rPr dirty="0"/>
              <a:t> 5분 — </a:t>
            </a:r>
            <a:r>
              <a:rPr dirty="0" err="1"/>
              <a:t>영상</a:t>
            </a:r>
            <a:r>
              <a:rPr dirty="0"/>
              <a:t>, </a:t>
            </a:r>
            <a:r>
              <a:rPr dirty="0" err="1"/>
              <a:t>작가</a:t>
            </a:r>
            <a:r>
              <a:rPr dirty="0"/>
              <a:t> </a:t>
            </a:r>
            <a:r>
              <a:rPr dirty="0" err="1"/>
              <a:t>소개</a:t>
            </a:r>
            <a:r>
              <a:rPr dirty="0"/>
              <a:t>,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문장</a:t>
            </a:r>
            <a:r>
              <a:rPr dirty="0"/>
              <a:t> </a:t>
            </a:r>
            <a:r>
              <a:rPr dirty="0" err="1"/>
              <a:t>추론</a:t>
            </a:r>
            <a:endParaRPr dirty="0"/>
          </a:p>
          <a:p>
            <a:r>
              <a:rPr dirty="0" err="1"/>
              <a:t>판단하기</a:t>
            </a:r>
            <a:r>
              <a:rPr dirty="0"/>
              <a:t> 10분 — 활동1 </a:t>
            </a:r>
            <a:r>
              <a:rPr dirty="0" err="1"/>
              <a:t>습자지</a:t>
            </a:r>
            <a:r>
              <a:rPr dirty="0"/>
              <a:t> </a:t>
            </a:r>
            <a:r>
              <a:rPr dirty="0" err="1"/>
              <a:t>추상화로</a:t>
            </a:r>
            <a:r>
              <a:rPr dirty="0"/>
              <a:t> </a:t>
            </a:r>
            <a:r>
              <a:rPr dirty="0" err="1"/>
              <a:t>해양생물</a:t>
            </a:r>
            <a:r>
              <a:rPr dirty="0"/>
              <a:t> </a:t>
            </a:r>
            <a:r>
              <a:rPr dirty="0" err="1"/>
              <a:t>오리기</a:t>
            </a:r>
            <a:endParaRPr dirty="0"/>
          </a:p>
          <a:p>
            <a:r>
              <a:rPr dirty="0" err="1"/>
              <a:t>공감하기</a:t>
            </a:r>
            <a:r>
              <a:rPr dirty="0"/>
              <a:t> 10분 — 활동2 </a:t>
            </a:r>
            <a:r>
              <a:rPr dirty="0" err="1"/>
              <a:t>병뚜껑으로</a:t>
            </a:r>
            <a:r>
              <a:rPr dirty="0"/>
              <a:t> 속 </a:t>
            </a:r>
            <a:r>
              <a:rPr dirty="0" err="1"/>
              <a:t>채우기</a:t>
            </a:r>
            <a:endParaRPr dirty="0"/>
          </a:p>
          <a:p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만들기</a:t>
            </a:r>
            <a:r>
              <a:rPr dirty="0"/>
              <a:t> 15분 — 활동3 </a:t>
            </a:r>
            <a:r>
              <a:rPr dirty="0" err="1"/>
              <a:t>작품</a:t>
            </a:r>
            <a:r>
              <a:rPr dirty="0"/>
              <a:t> </a:t>
            </a:r>
            <a:r>
              <a:rPr dirty="0" err="1"/>
              <a:t>전시</a:t>
            </a:r>
            <a:r>
              <a:rPr dirty="0"/>
              <a:t>, </a:t>
            </a:r>
            <a:r>
              <a:rPr dirty="0" err="1"/>
              <a:t>여정</a:t>
            </a:r>
            <a:r>
              <a:rPr dirty="0"/>
              <a:t> </a:t>
            </a:r>
            <a:r>
              <a:rPr dirty="0" err="1"/>
              <a:t>돌아보기</a:t>
            </a:r>
            <a:r>
              <a:rPr dirty="0"/>
              <a:t>, 6개 </a:t>
            </a:r>
            <a:r>
              <a:rPr dirty="0" err="1"/>
              <a:t>배지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(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6차시(</a:t>
            </a:r>
            <a:r>
              <a:rPr dirty="0" err="1"/>
              <a:t>성찰</a:t>
            </a:r>
            <a:r>
              <a:rPr dirty="0"/>
              <a:t>)는 ‘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만들기</a:t>
            </a:r>
            <a:r>
              <a:rPr dirty="0"/>
              <a:t>’ </a:t>
            </a:r>
            <a:r>
              <a:rPr dirty="0" err="1"/>
              <a:t>비중이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크다</a:t>
            </a:r>
            <a:r>
              <a:rPr dirty="0"/>
              <a:t>. 3차시 </a:t>
            </a:r>
            <a:r>
              <a:rPr dirty="0" err="1"/>
              <a:t>재료를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꺼내</a:t>
            </a:r>
            <a:r>
              <a:rPr dirty="0"/>
              <a:t> </a:t>
            </a:r>
            <a:r>
              <a:rPr dirty="0" err="1"/>
              <a:t>완성하고</a:t>
            </a:r>
            <a:r>
              <a:rPr dirty="0"/>
              <a:t>, </a:t>
            </a:r>
            <a:r>
              <a:rPr dirty="0" err="1"/>
              <a:t>단원</a:t>
            </a:r>
            <a:r>
              <a:rPr dirty="0"/>
              <a:t> </a:t>
            </a:r>
            <a:r>
              <a:rPr dirty="0" err="1"/>
              <a:t>전체를</a:t>
            </a:r>
            <a:r>
              <a:rPr dirty="0"/>
              <a:t> </a:t>
            </a:r>
            <a:r>
              <a:rPr dirty="0" err="1"/>
              <a:t>돌아보며</a:t>
            </a:r>
            <a:r>
              <a:rPr dirty="0"/>
              <a:t> </a:t>
            </a:r>
            <a:r>
              <a:rPr dirty="0" err="1"/>
              <a:t>성찰하는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이 </a:t>
            </a:r>
            <a:r>
              <a:rPr dirty="0" err="1"/>
              <a:t>차시의</a:t>
            </a:r>
            <a:r>
              <a:rPr dirty="0"/>
              <a:t> </a:t>
            </a:r>
            <a:r>
              <a:rPr dirty="0" err="1"/>
              <a:t>핵심이기</a:t>
            </a:r>
            <a:r>
              <a:rPr dirty="0"/>
              <a:t> </a:t>
            </a:r>
            <a:r>
              <a:rPr dirty="0" err="1"/>
              <a:t>때문이다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작가 소개: 크리스 조던(Chris Jordan)</a:t>
            </a:r>
          </a:p>
          <a:p>
            <a:r>
              <a:t>미드웨이 섬에서 플라스틱을 먹이로 착각해 삼킨 새의 사체 속에 병뚜껑 등 플라스틱이 가득 찬 모습을 사진으로 고발한 사진작가.</a:t>
            </a:r>
          </a:p>
          <a:p>
            <a:r>
              <a:rPr lang="ko-KR" altLang="en-US"/>
              <a:t>통합학습창 URL(영화 「알바트로스」): https://www.albatrossthefilm.com/</a:t>
            </a:r>
          </a:p>
          <a:p>
            <a:r>
              <a:t>※ 실제 새 사체 사진은 학생에 따라 충격을 줄 수 있으니 미리 안내하고 보여 줍니다.</a:t>
            </a:r>
          </a:p>
          <a:p>
            <a:endParaRPr/>
          </a:p>
          <a:p>
            <a:r>
              <a:t>•교사: “크리스 조던이라는 사진작가는 죽은 새 뱃속에서 병뚜껑 같은 플라스틱이 가득 나온 모습을 사진으로 찍어 세상에 알렸어요. 오늘 우리는 그 이미지를 우리 손으로 다시 만들어 볼 거예요.”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해양생물 만들기</a:t>
            </a:r>
          </a:p>
          <a:p>
            <a:r>
              <a:t>•3차시에 만든 습자지 추상화를 오려 해양생물 모양을 만든다.</a:t>
            </a:r>
          </a:p>
          <a:p>
            <a:r>
              <a:t>•교사: “3차시에 만든 습자지 작품을 꺼내볼까요? 이걸 오려서 물고기나 바다거북 같은 해양생물 모양을 만들어 봅시다.”</a:t>
            </a:r>
          </a:p>
          <a:p>
            <a:r>
              <a:t>준비물: 습자지 작품, 가위</a:t>
            </a:r>
          </a:p>
          <a:p>
            <a:endParaRPr/>
          </a:p>
          <a:p>
            <a:r>
              <a:t>조형 언어 교사 시범(활동1 초반)</a:t>
            </a:r>
          </a:p>
          <a:p>
            <a:r>
              <a:t>•형: “습자지 추상화가 물고기 모양으로 바뀌었네? 이렇게 추상적인 면이 구체적인 형태로 바뀌는 것도 '형'의 변화야.”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31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병뚜껑으로 속 채우기</a:t>
            </a:r>
          </a:p>
          <a:p>
            <a:r>
              <a:t>•완성한 해양생물 모양 안을 병뚜껑 몇 개로 채워 완성한다. 크리스 조던의 새 사진과 연결 지어 무엇을 알리기 위한 활동인지 생각해보게 한다.</a:t>
            </a:r>
          </a:p>
          <a:p>
            <a:r>
              <a:t>•교사: “이제 해양생물 안쪽을 병뚜껑으로 채워봅시다. 크리스 조던의 새 사진처럼요. 부드러운 색감의 습자지 작품과 딱딱하고 인공적인 병뚜껑이 한 작품 안에서 만났을 때, 어떤 대비감이 드나요? 이 가짜 먹이를 삼킨 해양생물의 아픔에 귀 기울여봅시다.”</a:t>
            </a:r>
          </a:p>
          <a:p>
            <a:r>
              <a:t>준비물: 병뚜껑, 목공풀</a:t>
            </a:r>
          </a:p>
          <a:p>
            <a:endParaRPr/>
          </a:p>
          <a:p>
            <a:r>
              <a:t>조형 언어 교사 시범</a:t>
            </a:r>
          </a:p>
          <a:p>
            <a:r>
              <a:t>•양감: “병뚜껑을 안에 가득 채우니까 묵직해 보이지? 이렇게 속이 꽉 찬 부피감을 '양감'이라고 해.”</a:t>
            </a:r>
          </a:p>
          <a:p>
            <a:r>
              <a:t>•질감: “습자지는 부드럽고 병뚜껑은 딱딱하지? 이렇게 서로 다른 촉감이 만나는 걸 '질감'의 차이라고 해.”</a:t>
            </a:r>
          </a:p>
          <a:p>
            <a:r>
              <a:t>•대비: “부드러운 것과 딱딱한 게 한 작품 안에서 만나니까 확 다르게 느껴지지? 그렇게 강하게 다른 두 느낌이 부딪히는 걸 '대비'라고 해.”</a:t>
            </a:r>
          </a:p>
          <a:p>
            <a:r>
              <a:t>•균형: “병뚜껑을 한쪽에만 몰지 않고 몸 전체에 골고루 놓으니까 안정돼 보이지? 이렇게 전체가 고르게 자리 잡은 걸 '균형'이라고 해.”</a:t>
            </a:r>
          </a:p>
          <a:p>
            <a:endParaRPr/>
          </a:p>
          <a:p>
            <a:r>
              <a:t>(활동 직후) 부드러운 습자지와 딱딱한 병뚜껑이 만날 때 드는 불편함이나 아이러니를 짚고, 6차시 동안 병뚜껑이 지녀온 의미의 변화를 함께 되새긴다.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662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여정 돌아보기</a:t>
            </a:r>
          </a:p>
          <a:p>
            <a:r>
              <a:t>•완성된 작품을 전시하고, 활동지 마지막 쪽의 휴먼스킬 6영역, 12사고, 휴먼스킬아트 6개 조각을 모두 모으고 6개 배지를 확인한다.</a:t>
            </a:r>
          </a:p>
          <a:p>
            <a:r>
              <a:t>•교사: “이제 우리의 배움을 돌아봅시다. 1~6차시까지 우리가 지나오면서 모아온 배지는 무엇인가요?”</a:t>
            </a:r>
          </a:p>
          <a:p>
            <a:r>
              <a:t>•교사: “우리가 1차시에 놀이로 만났던 병뚜껑을 떠올려 보세요. 그때는 나의 주체성을 바로 세우는 단단한 나만의 무기였어요. 2차시에는 자연 속에서 감정을 발견하는 나의 또 다른 얼굴이 되었어요. 3차시에는 색으로 마음을 해석했고, 4차시에는 버려질 재료를 새롭게 재구성했지요. 5차시에는 내 마음을 담아 타인과 소통하는 매개체가 되었고, 오늘은 지구와 바다의 메시지를 품고 세상을 흔드는 고발의 상징이 되었습니다.”</a:t>
            </a:r>
          </a:p>
          <a:p>
            <a:r>
              <a:t>[관찰평가] 작품의 내용과 형식을 분석해 특징과 변화를 설명하는 능력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715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형성평가 (주 평가: 성찰 활동지와 활동 관찰 / 아래 객관식 문항은 보조 자료)</a:t>
            </a:r>
          </a:p>
          <a:p>
            <a:r>
              <a:rPr lang="ko-KR" altLang="en-US"/>
              <a:t>•지나온 과정을 [성찰]하면 내가 어떻게 자랐는지가 분명해진다.</a:t>
            </a:r>
          </a:p>
          <a:p>
            <a:r>
              <a:t>•부드러운 습자지와 딱딱한 병뚜껑이 한 작품에서 만났을 때 느껴지는 조형 원리는 [대비]다.</a:t>
            </a:r>
          </a:p>
          <a:p>
            <a:r>
              <a:t>•AI는 방대한 자료를 요약해 결론을 즉시 제시하고, 나는 3차시의 내 작품을 다시 꺼내 해양생물로 완성하며 지난 다섯 차시의 여정을 천천히 되돌아본다.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</a:t>
            </a:r>
          </a:p>
          <a:p>
            <a:r>
              <a:t>•교사: “여섯 개의 배지를 모두 모았어요. 여러분은 이제 휴먼스킬아트를 완성하고 예술가의 힘을 키워냈습니다.”</a:t>
            </a:r>
          </a:p>
          <a:p>
            <a:r>
              <a:t>자료: 1~6차시 활동지 또는 클래스보드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RSVp2u4sOQ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youtube.com/watch?v=SU_5lnPHdQY&amp;feature=youtu.b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albatrossthefilm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31319" y="3025980"/>
            <a:ext cx="7718219" cy="99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867" spc="-200" dirty="0">
                <a:solidFill>
                  <a:srgbClr val="F6877E"/>
                </a:solidFill>
                <a:latin typeface="+mj-ea"/>
                <a:ea typeface="+mj-ea"/>
              </a:rPr>
              <a:t>예술가의 성찰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5" name="제목 1"/>
          <p:cNvSpPr txBox="1"/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ko-KR" altLang="en-US" sz="2667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/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>
                <a:schemeClr val="lt1"/>
              </a:buClr>
              <a:buSzPct val="25000"/>
              <a:buNone/>
              <a:defRPr/>
            </a:pPr>
            <a:r>
              <a:rPr lang="en-US" altLang="ko-KR" sz="3733">
                <a:solidFill>
                  <a:schemeClr val="bg1"/>
                </a:solidFill>
                <a:latin typeface="Noto Sans KR Black"/>
                <a:ea typeface="Noto Sans KR Black"/>
              </a:rPr>
              <a:t>6</a:t>
            </a:r>
            <a:r>
              <a:rPr lang="ko-KR" altLang="en-US" sz="3733">
                <a:solidFill>
                  <a:schemeClr val="bg1"/>
                </a:solidFill>
                <a:latin typeface="Noto Sans KR Black"/>
                <a:ea typeface="Noto Sans KR Black"/>
              </a:rPr>
              <a:t>차시</a:t>
            </a:r>
          </a:p>
        </p:txBody>
      </p:sp>
      <p:sp>
        <p:nvSpPr>
          <p:cNvPr id="4" name="가로 글상자 32">
            <a:extLst>
              <a:ext uri="{FF2B5EF4-FFF2-40B4-BE49-F238E27FC236}">
                <a16:creationId xmlns:a16="http://schemas.microsoft.com/office/drawing/2014/main" id="{FB52097A-82FA-517A-5938-283E670CAD0D}"/>
              </a:ext>
            </a:extLst>
          </p:cNvPr>
          <p:cNvSpPr txBox="1"/>
          <p:nvPr/>
        </p:nvSpPr>
        <p:spPr>
          <a:xfrm>
            <a:off x="6082212" y="4439446"/>
            <a:ext cx="565520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r" defTabSz="102883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</a:rPr>
              <a:t>자연을 채운 병뚜껑</a:t>
            </a: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639618" y="2468879"/>
            <a:ext cx="7871876" cy="2158364"/>
            <a:chOff x="3017925" y="1745075"/>
            <a:chExt cx="5105913" cy="791124"/>
          </a:xfrm>
        </p:grpSpPr>
        <p:grpSp>
          <p:nvGrpSpPr>
            <p:cNvPr id="15" name="그룹 14"/>
            <p:cNvGrpSpPr/>
            <p:nvPr/>
          </p:nvGrpSpPr>
          <p:grpSpPr>
            <a:xfrm>
              <a:off x="3017925" y="1745075"/>
              <a:ext cx="5105913" cy="302344"/>
              <a:chOff x="1397760" y="2046863"/>
              <a:chExt cx="6034363" cy="357320"/>
            </a:xfrm>
          </p:grpSpPr>
          <p:sp>
            <p:nvSpPr>
              <p:cNvPr id="4" name="타원 3"/>
              <p:cNvSpPr/>
              <p:nvPr/>
            </p:nvSpPr>
            <p:spPr>
              <a:xfrm>
                <a:off x="1397760" y="2088461"/>
                <a:ext cx="441595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1912953" y="2046863"/>
                <a:ext cx="5519170" cy="357319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해양 생물을 병뚜껑으로 채워 완성하고 자신의 표현 과정을 돌아보며 이야기할 수 있다</a:t>
                </a:r>
                <a:r>
                  <a:rPr lang="en-US" altLang="ko-KR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.</a:t>
                </a: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3017925" y="2233855"/>
              <a:ext cx="5105912" cy="302345"/>
              <a:chOff x="1397760" y="2670790"/>
              <a:chExt cx="6034357" cy="357321"/>
            </a:xfrm>
          </p:grpSpPr>
          <p:sp>
            <p:nvSpPr>
              <p:cNvPr id="61" name="타원 60"/>
              <p:cNvSpPr/>
              <p:nvPr/>
            </p:nvSpPr>
            <p:spPr>
              <a:xfrm>
                <a:off x="1397760" y="2714548"/>
                <a:ext cx="441594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2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912952" y="2670790"/>
                <a:ext cx="5519165" cy="357321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습자지와 병뚜껑을 결합한 작품의 특징을 분석하여 설명할 수 있다</a:t>
                </a:r>
                <a:r>
                  <a:rPr lang="en-US" altLang="ko-KR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그림 10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51707"/>
            <a:ext cx="12192000" cy="5348113"/>
          </a:xfrm>
          <a:prstGeom prst="rect">
            <a:avLst/>
          </a:prstGeom>
        </p:spPr>
      </p:pic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3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자연을 채운 병뚜껑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강의</a:t>
            </a:r>
          </a:p>
        </p:txBody>
      </p:sp>
      <p:sp>
        <p:nvSpPr>
          <p:cNvPr id="5" name="실행 단추: 앞으로 또는 다음 18">
            <a:hlinkClick r:id="rId4"/>
            <a:extLst>
              <a:ext uri="{FF2B5EF4-FFF2-40B4-BE49-F238E27FC236}">
                <a16:creationId xmlns:a16="http://schemas.microsoft.com/office/drawing/2014/main" id="{542DEAB1-8A0B-9022-89F5-DD4618AA9E55}"/>
              </a:ext>
            </a:extLst>
          </p:cNvPr>
          <p:cNvSpPr/>
          <p:nvPr/>
        </p:nvSpPr>
        <p:spPr>
          <a:xfrm>
            <a:off x="4194133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9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51707"/>
            <a:ext cx="12192000" cy="5348114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4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1371120" y="2559424"/>
            <a:ext cx="9323616" cy="3199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6차시 문장 · 빈칸에 들어갈 말은?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지나온 과정을 [</a:t>
            </a:r>
            <a:r>
              <a:rPr lang="ko-KR" altLang="en-US" sz="2800" b="1" dirty="0">
                <a:solidFill>
                  <a:srgbClr val="3A3A3A"/>
                </a:solidFill>
                <a:highlight>
                  <a:srgbClr val="E8F1DD"/>
                </a:highlight>
                <a:latin typeface="Noto Sans KR"/>
                <a:ea typeface="Noto Sans KR"/>
              </a:rPr>
              <a:t>　　　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]하면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내가 어떻게 자랐는지가 분명해진다.</a:t>
            </a:r>
          </a:p>
        </p:txBody>
      </p:sp>
    </p:spTree>
    <p:extLst>
      <p:ext uri="{BB962C8B-B14F-4D97-AF65-F5344CB8AC3E}">
        <p14:creationId xmlns:p14="http://schemas.microsoft.com/office/powerpoint/2010/main" val="179520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51707"/>
            <a:ext cx="12192000" cy="5348114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1371120" y="2559424"/>
            <a:ext cx="9323616" cy="3199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6차시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지나온 과정을 </a:t>
            </a:r>
            <a:r>
              <a:rPr lang="ko-KR" altLang="en-US" sz="2800" b="1" dirty="0">
                <a:solidFill>
                  <a:srgbClr val="D6336C"/>
                </a:solidFill>
                <a:highlight>
                  <a:srgbClr val="FFF2A8"/>
                </a:highlight>
                <a:latin typeface="Noto Sans KR"/>
                <a:ea typeface="Noto Sans KR"/>
              </a:rPr>
              <a:t>성찰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하면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내가 어떻게 자랐는지가 분명해진다.</a:t>
            </a:r>
          </a:p>
        </p:txBody>
      </p:sp>
    </p:spTree>
    <p:extLst>
      <p:ext uri="{BB962C8B-B14F-4D97-AF65-F5344CB8AC3E}">
        <p14:creationId xmlns:p14="http://schemas.microsoft.com/office/powerpoint/2010/main" val="179520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7"/>
            <a:ext cx="12192000" cy="5367163"/>
          </a:xfrm>
          <a:prstGeom prst="rect">
            <a:avLst/>
          </a:prstGeom>
        </p:spPr>
      </p:pic>
      <p:sp>
        <p:nvSpPr>
          <p:cNvPr id="19" name="실행 단추: 앞으로 또는 다음 18">
            <a:hlinkClick r:id="rId4" highlightClick="1"/>
          </p:cNvPr>
          <p:cNvSpPr/>
          <p:nvPr/>
        </p:nvSpPr>
        <p:spPr>
          <a:xfrm>
            <a:off x="2943402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6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7263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7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안내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23133"/>
            <a:ext cx="12192000" cy="53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9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23133"/>
            <a:ext cx="12192000" cy="5376688"/>
          </a:xfrm>
          <a:prstGeom prst="rect">
            <a:avLst/>
          </a:prstGeom>
        </p:spPr>
      </p:pic>
      <p:sp>
        <p:nvSpPr>
          <p:cNvPr id="16" name="실행 단추: 앞으로 또는 다음 15">
            <a:hlinkClick r:id="rId4" highlightClick="1"/>
          </p:cNvPr>
          <p:cNvSpPr/>
          <p:nvPr/>
        </p:nvSpPr>
        <p:spPr>
          <a:xfrm>
            <a:off x="5789405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8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질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문하기 — </a:t>
            </a:r>
            <a:r>
              <a:rPr kumimoji="0" lang="ko-KR" altLang="en-US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죽음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을 고발하다</a:t>
            </a:r>
          </a:p>
        </p:txBody>
      </p:sp>
    </p:spTree>
    <p:extLst>
      <p:ext uri="{BB962C8B-B14F-4D97-AF65-F5344CB8AC3E}">
        <p14:creationId xmlns:p14="http://schemas.microsoft.com/office/powerpoint/2010/main" val="299625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0" y="773212"/>
            <a:ext cx="12298867" cy="5726608"/>
            <a:chOff x="0" y="773212"/>
            <a:chExt cx="12298867" cy="5726608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131855"/>
              <a:ext cx="12192000" cy="5367966"/>
            </a:xfrm>
            <a:prstGeom prst="rect">
              <a:avLst/>
            </a:prstGeom>
          </p:spPr>
        </p:pic>
        <p:sp>
          <p:nvSpPr>
            <p:cNvPr id="30" name="타원 29"/>
            <p:cNvSpPr/>
            <p:nvPr/>
          </p:nvSpPr>
          <p:spPr>
            <a:xfrm>
              <a:off x="6096000" y="773212"/>
              <a:ext cx="6202867" cy="3439858"/>
            </a:xfrm>
            <a:prstGeom prst="ellipse">
              <a:avLst/>
            </a:prstGeom>
            <a:noFill/>
            <a:ln w="76200">
              <a:solidFill>
                <a:schemeClr val="accent2"/>
              </a:solidFill>
              <a:headEnd w="med" len="med"/>
              <a:tailEnd w="med" len="med"/>
            </a:ln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9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289B6E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판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단하기 — 해양생물 오리기</a:t>
            </a:r>
          </a:p>
        </p:txBody>
      </p:sp>
      <p:sp>
        <p:nvSpPr>
          <p:cNvPr id="29" name="가로 글상자 28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</p:spTree>
    <p:extLst>
      <p:ext uri="{BB962C8B-B14F-4D97-AF65-F5344CB8AC3E}">
        <p14:creationId xmlns:p14="http://schemas.microsoft.com/office/powerpoint/2010/main" val="194961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0" y="1131855"/>
            <a:ext cx="12192000" cy="5623404"/>
            <a:chOff x="0" y="1131855"/>
            <a:chExt cx="12192000" cy="5623404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1131855"/>
              <a:ext cx="12192000" cy="5367966"/>
            </a:xfrm>
            <a:prstGeom prst="rect">
              <a:avLst/>
            </a:prstGeom>
          </p:spPr>
        </p:pic>
        <p:sp>
          <p:nvSpPr>
            <p:cNvPr id="30" name="타원 29"/>
            <p:cNvSpPr/>
            <p:nvPr/>
          </p:nvSpPr>
          <p:spPr>
            <a:xfrm>
              <a:off x="0" y="3315400"/>
              <a:ext cx="6202867" cy="3439858"/>
            </a:xfrm>
            <a:prstGeom prst="ellipse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10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9D5CBB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공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감하기 — 병뚜껑으로 채우기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</p:spTree>
    <p:extLst>
      <p:ext uri="{BB962C8B-B14F-4D97-AF65-F5344CB8AC3E}">
        <p14:creationId xmlns:p14="http://schemas.microsoft.com/office/powerpoint/2010/main" val="3625479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11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의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미 만들기 — 성찰하기</a:t>
            </a:r>
          </a:p>
        </p:txBody>
      </p:sp>
      <p:sp>
        <p:nvSpPr>
          <p:cNvPr id="15" name="가로 글상자 14"/>
          <p:cNvSpPr txBox="1"/>
          <p:nvPr/>
        </p:nvSpPr>
        <p:spPr>
          <a:xfrm>
            <a:off x="5194321" y="2321795"/>
            <a:ext cx="6729807" cy="40233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rmAutofit fontScale="32500" lnSpcReduction="20000"/>
          </a:bodyPr>
          <a:lstStyle/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이 작품에는 </a:t>
            </a:r>
            <a:endParaRPr lang="en-US" altLang="ko-KR" sz="11200"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</a:endParaRP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어떤 메시지가 담겨 있나요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?</a:t>
            </a: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우리는 작품을 통해 세상에 어떤 메시지를 전하고 </a:t>
            </a:r>
            <a:r>
              <a:rPr lang="ko-KR" altLang="en-US" sz="11200"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</a:rPr>
              <a:t>싶은가요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?</a:t>
            </a: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200"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194321" y="1684947"/>
            <a:ext cx="6835588" cy="4720383"/>
          </a:xfrm>
          <a:prstGeom prst="ellipse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14" y="1132658"/>
            <a:ext cx="4978529" cy="536716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6DA816A-E3A5-DCE4-E013-1250624BA3D0}"/>
              </a:ext>
            </a:extLst>
          </p:cNvPr>
          <p:cNvSpPr/>
          <p:nvPr/>
        </p:nvSpPr>
        <p:spPr>
          <a:xfrm>
            <a:off x="0" y="6197951"/>
            <a:ext cx="201084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ko-KR" altLang="en-US"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출처</a:t>
            </a:r>
            <a:r>
              <a:rPr lang="en-US" altLang="ko-KR"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:</a:t>
            </a:r>
            <a:r>
              <a:rPr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 </a:t>
            </a:r>
            <a:r>
              <a:rPr lang="ko-KR" altLang="en-US"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직접 </a:t>
            </a:r>
            <a:r>
              <a:rPr sz="1000" b="1" i="0" strike="noStrike" dirty="0" err="1">
                <a:solidFill>
                  <a:schemeClr val="bg1"/>
                </a:solidFill>
                <a:latin typeface="Arial"/>
                <a:ea typeface="굴림"/>
              </a:rPr>
              <a:t>촬영</a:t>
            </a:r>
            <a:r>
              <a:rPr lang="en-US"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(</a:t>
            </a:r>
            <a:r>
              <a:rPr lang="ko-KR" altLang="en-US"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학생 작품</a:t>
            </a:r>
            <a:r>
              <a:rPr lang="en-US" altLang="ko-KR" sz="1000" b="1" i="0" strike="noStrike" dirty="0">
                <a:solidFill>
                  <a:schemeClr val="bg1"/>
                </a:solidFill>
                <a:latin typeface="Arial"/>
                <a:ea typeface="굴림"/>
              </a:rPr>
              <a:t>)</a:t>
            </a:r>
            <a:endParaRPr sz="1000" b="1" i="0" strike="noStrike" dirty="0">
              <a:solidFill>
                <a:schemeClr val="bg1"/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43373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12</a:t>
            </a:fld>
            <a:endParaRPr lang="en-US" altLang="ko-KR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841787" y="1957501"/>
            <a:ext cx="7071163" cy="35654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습자지 해양생물 속을 병뚜껑으로 채우며 지난 여정을 성찰함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크리스 조던처럼 작품으로 세상에 메시지를 전하는 예술가로 성장함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  <a:sym typeface="Wingdings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휴먼스킬 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6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영역 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-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12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사고 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-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휴먼스킬아트 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6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차시 수업을 통해 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6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개의 배지를 획득함</a:t>
            </a:r>
          </a:p>
        </p:txBody>
      </p:sp>
      <p:pic>
        <p:nvPicPr>
          <p:cNvPr id="13" name="그림 12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912950" y="1879261"/>
            <a:ext cx="3165544" cy="414007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A5AE761-4FA4-7761-AF73-EEC36CE1DA5B}"/>
              </a:ext>
            </a:extLst>
          </p:cNvPr>
          <p:cNvSpPr/>
          <p:nvPr/>
        </p:nvSpPr>
        <p:spPr>
          <a:xfrm>
            <a:off x="9008062" y="6046439"/>
            <a:ext cx="264093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 AI(Google Gemini)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생성한 이미지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1150</Words>
  <Application>Microsoft Office PowerPoint</Application>
  <PresentationFormat>와이드스크린</PresentationFormat>
  <Paragraphs>130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Noto Sans KR</vt:lpstr>
      <vt:lpstr>Noto Sans KR Black</vt:lpstr>
      <vt:lpstr>Noto Sans KR Medium</vt:lpstr>
      <vt:lpstr>나눔바른고딕</vt:lpstr>
      <vt:lpstr>나눔스퀘어 ExtraBold</vt:lpstr>
      <vt:lpstr>땅스부대찌개 Bold</vt:lpstr>
      <vt:lpstr>에스코어 드림 8 Heavy</vt:lpstr>
      <vt:lpstr>함초롬돋움</vt:lpstr>
      <vt:lpstr>Arial</vt:lpstr>
      <vt:lpstr>Office Theme</vt:lpstr>
      <vt:lpstr>PowerPoint 프레젠테이션</vt:lpstr>
      <vt:lpstr>PowerPoint 프레젠테이션</vt:lpstr>
      <vt:lpstr>자연을 채운 병뚜껑</vt:lpstr>
      <vt:lpstr>예술가의 비밀 무기</vt:lpstr>
      <vt:lpstr>예술가의 비밀 무기</vt:lpstr>
      <vt:lpstr>AI는? 나는?</vt:lpstr>
      <vt:lpstr>활동 안내</vt:lpstr>
      <vt:lpstr>질문하기 — 죽음을 고발하다</vt:lpstr>
      <vt:lpstr>판단하기 — 해양생물 오리기</vt:lpstr>
      <vt:lpstr>공감하기 — 병뚜껑으로 채우기</vt:lpstr>
      <vt:lpstr>의미 만들기 — 성찰하기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76</cp:revision>
  <dcterms:created xsi:type="dcterms:W3CDTF">2026-07-09T22:35:37Z</dcterms:created>
  <dcterms:modified xsi:type="dcterms:W3CDTF">2026-10-23T02:06:17Z</dcterms:modified>
  <cp:version/>
</cp:coreProperties>
</file>