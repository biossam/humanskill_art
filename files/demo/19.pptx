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6" r:id="rId2"/>
  </p:sldMasterIdLst>
  <p:notesMasterIdLst>
    <p:notesMasterId r:id="rId31"/>
  </p:notesMasterIdLst>
  <p:sldIdLst>
    <p:sldId id="256" r:id="rId3"/>
    <p:sldId id="265" r:id="rId4"/>
    <p:sldId id="278" r:id="rId5"/>
    <p:sldId id="351" r:id="rId6"/>
    <p:sldId id="352" r:id="rId7"/>
    <p:sldId id="354" r:id="rId8"/>
    <p:sldId id="355" r:id="rId9"/>
    <p:sldId id="356" r:id="rId10"/>
    <p:sldId id="358" r:id="rId11"/>
    <p:sldId id="359" r:id="rId12"/>
    <p:sldId id="360" r:id="rId13"/>
    <p:sldId id="266" r:id="rId14"/>
    <p:sldId id="322" r:id="rId15"/>
    <p:sldId id="361" r:id="rId16"/>
    <p:sldId id="362" r:id="rId17"/>
    <p:sldId id="363" r:id="rId18"/>
    <p:sldId id="365" r:id="rId19"/>
    <p:sldId id="364" r:id="rId20"/>
    <p:sldId id="300" r:id="rId21"/>
    <p:sldId id="366" r:id="rId22"/>
    <p:sldId id="270" r:id="rId23"/>
    <p:sldId id="293" r:id="rId24"/>
    <p:sldId id="343" r:id="rId25"/>
    <p:sldId id="344" r:id="rId26"/>
    <p:sldId id="348" r:id="rId27"/>
    <p:sldId id="349" r:id="rId28"/>
    <p:sldId id="350" r:id="rId29"/>
    <p:sldId id="29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-616" y="-76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51CDAB1-A1E7-CFB5-4C4F-BF381DEE0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405" y="1123143"/>
            <a:ext cx="9145191" cy="2386082"/>
          </a:xfrm>
        </p:spPr>
        <p:txBody>
          <a:bodyPr anchor="b"/>
          <a:lstStyle>
            <a:lvl1pPr algn="ctr"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1D3C9FB5-648E-6CF3-980F-C9A15A12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405" y="3601363"/>
            <a:ext cx="9145191" cy="1656913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520" indent="0" algn="ctr">
              <a:buNone/>
              <a:defRPr sz="2001"/>
            </a:lvl2pPr>
            <a:lvl3pPr marL="915040" indent="0" algn="ctr">
              <a:buNone/>
              <a:defRPr sz="1801"/>
            </a:lvl3pPr>
            <a:lvl4pPr marL="1372560" indent="0" algn="ctr">
              <a:buNone/>
              <a:defRPr sz="1601"/>
            </a:lvl4pPr>
            <a:lvl5pPr marL="1830080" indent="0" algn="ctr">
              <a:buNone/>
              <a:defRPr sz="1601"/>
            </a:lvl5pPr>
            <a:lvl6pPr marL="2287600" indent="0" algn="ctr">
              <a:buNone/>
              <a:defRPr sz="1601"/>
            </a:lvl6pPr>
            <a:lvl7pPr marL="2745120" indent="0" algn="ctr">
              <a:buNone/>
              <a:defRPr sz="1601"/>
            </a:lvl7pPr>
            <a:lvl8pPr marL="3202640" indent="0" algn="ctr">
              <a:buNone/>
              <a:defRPr sz="1601"/>
            </a:lvl8pPr>
            <a:lvl9pPr marL="3660160" indent="0" algn="ctr">
              <a:buNone/>
              <a:defRPr sz="1601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B91B6F74-0D6F-ABA8-D595-2CD7CC7D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C1D5DA0-514B-F0F0-C432-A801FB7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BB9A905-7FA9-41B4-5F76-78E42BB7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56695-5394-4275-AF82-FA73A9257D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85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BFECD42-BBEC-BA18-F276-0C29741A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E264433-1D5A-9D26-6525-F6F65273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E1AA174-3A58-A6C7-3483-1D27A21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4B7142F9-B37A-147F-0542-12429285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525B876-F97A-60F2-3F5C-558F22E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58258-C0FB-4AF9-9D0A-918F61B6CCA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842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715B40E-BA87-9913-53EB-EEB027A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92" y="1709337"/>
            <a:ext cx="10514508" cy="2853131"/>
          </a:xfrm>
        </p:spPr>
        <p:txBody>
          <a:bodyPr anchor="b"/>
          <a:lstStyle>
            <a:lvl1pPr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F8CDE29B-3827-5235-AF37-A40AE7E8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92" y="4589475"/>
            <a:ext cx="10514508" cy="1499641"/>
          </a:xfrm>
        </p:spPr>
        <p:txBody>
          <a:bodyPr/>
          <a:lstStyle>
            <a:lvl1pPr marL="0" indent="0">
              <a:buNone/>
              <a:defRPr sz="2402"/>
            </a:lvl1pPr>
            <a:lvl2pPr marL="457520" indent="0">
              <a:buNone/>
              <a:defRPr sz="2001"/>
            </a:lvl2pPr>
            <a:lvl3pPr marL="915040" indent="0">
              <a:buNone/>
              <a:defRPr sz="1801"/>
            </a:lvl3pPr>
            <a:lvl4pPr marL="1372560" indent="0">
              <a:buNone/>
              <a:defRPr sz="1601"/>
            </a:lvl4pPr>
            <a:lvl5pPr marL="1830080" indent="0">
              <a:buNone/>
              <a:defRPr sz="1601"/>
            </a:lvl5pPr>
            <a:lvl6pPr marL="2287600" indent="0">
              <a:buNone/>
              <a:defRPr sz="1601"/>
            </a:lvl6pPr>
            <a:lvl7pPr marL="2745120" indent="0">
              <a:buNone/>
              <a:defRPr sz="1601"/>
            </a:lvl7pPr>
            <a:lvl8pPr marL="3202640" indent="0">
              <a:buNone/>
              <a:defRPr sz="1601"/>
            </a:lvl8pPr>
            <a:lvl9pPr marL="3660160" indent="0">
              <a:buNone/>
              <a:defRPr sz="16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9798EE9-CD2C-BD64-87E5-6C1E702D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DEA3FBA-BE90-B7EA-0105-0D8B83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E71DD27-E0B9-7FE1-95D6-B332B7E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5E722-5858-45F9-A34C-5F87E08EBA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41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C16D3E1-F662-D11D-0505-3DA26CC4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90722868-4B73-3B60-65D7-CF2BF52D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9" y="1599724"/>
            <a:ext cx="2616315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C356467C-B32D-43B9-07BA-240716F0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224" y="1599724"/>
            <a:ext cx="2616316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45C927F1-1827-6F0E-7240-107E54A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EE12205-14A7-B898-1F38-7BD2FCE1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BFFF28D1-9CF2-C697-7120-4B8A734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C6E1-510F-40DF-A1EA-766B689527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84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6D98272-7063-4BA0-AC57-96D4E9DA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365379"/>
            <a:ext cx="10514507" cy="13248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3CC4135-A4EB-0628-35DA-8164B9B0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35" y="1680743"/>
            <a:ext cx="5157970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9D09DDED-7EFB-31B3-2A2B-C2413239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35" y="2505228"/>
            <a:ext cx="5157970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EF58742-B27A-258B-DCE5-DCC59C13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456" y="1680743"/>
            <a:ext cx="5183386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1920D058-40BB-A002-D824-9FF3CAA6F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56" y="2505228"/>
            <a:ext cx="5183386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864B24A5-03AC-3BDE-E94E-2B5431C0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C969DFF8-FE80-5EB1-6D45-E4B2EA90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DE9598D5-1D63-CEF9-BA95-0ED5CBD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F8083-CC21-4651-B783-250056FB9B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229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56D719E-E86B-447A-B095-8CD1AE2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6890DFBA-38A4-A561-EDC6-E2BC2265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33647364-AE8F-47A1-48B2-40823D13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F1D35064-9D56-52BC-3117-C5220E5A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04C5-F145-4DCF-8EA1-D7A522ACD6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6483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58F17AE2-D83D-83A0-8625-1C34768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447AD5-D2D2-FABD-3736-5CD210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016B1909-34F9-6D84-5A6B-4272D99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1738-9939-40EF-AC85-9DF4769D5E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736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E497DF7-573E-B3C5-268A-FCD1D3DA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276EDD3-5CFA-9762-521B-F923DEB3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>
              <a:defRPr sz="3202"/>
            </a:lvl1pPr>
            <a:lvl2pPr>
              <a:defRPr sz="2802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050851AA-136C-BA18-02A8-8F2D6868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E85B4B8-ABDE-E4F0-CAA4-F44D4E6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3A696BA-A4EE-E190-1A29-040E12EA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10B71B5-75D1-6E16-68E0-8894E1F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E856-5433-40C8-9C6D-BC48ED4C97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2485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BF684A9-E232-B337-2528-346F015A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A962ADAD-6943-ADCC-3953-D34B72A67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 marL="0" indent="0">
              <a:buNone/>
              <a:defRPr sz="3202"/>
            </a:lvl1pPr>
            <a:lvl2pPr marL="457520" indent="0">
              <a:buNone/>
              <a:defRPr sz="2802"/>
            </a:lvl2pPr>
            <a:lvl3pPr marL="915040" indent="0">
              <a:buNone/>
              <a:defRPr sz="2402"/>
            </a:lvl3pPr>
            <a:lvl4pPr marL="1372560" indent="0">
              <a:buNone/>
              <a:defRPr sz="2001"/>
            </a:lvl4pPr>
            <a:lvl5pPr marL="1830080" indent="0">
              <a:buNone/>
              <a:defRPr sz="2001"/>
            </a:lvl5pPr>
            <a:lvl6pPr marL="2287600" indent="0">
              <a:buNone/>
              <a:defRPr sz="2001"/>
            </a:lvl6pPr>
            <a:lvl7pPr marL="2745120" indent="0">
              <a:buNone/>
              <a:defRPr sz="2001"/>
            </a:lvl7pPr>
            <a:lvl8pPr marL="3202640" indent="0">
              <a:buNone/>
              <a:defRPr sz="2001"/>
            </a:lvl8pPr>
            <a:lvl9pPr marL="3660160" indent="0">
              <a:buNone/>
              <a:defRPr sz="2001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EE1501E-95EF-AFA3-9C02-167A68D8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0A17F6C4-0FC7-A46B-D0FB-1CAF0D8D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F5BD54F7-8351-1CDE-2D37-AE460D1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4BB495D-5428-AB12-2AE7-E43C7E6E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DA364-5BD8-4C76-A283-8A7FC9654C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1838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06F7A77-3B4E-2174-200F-BC2D851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0CC89926-D218-79F0-9FEE-71DA4CCD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4609930-B442-232D-09B6-131172C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3F5D24B-8A66-D353-9B5E-D60E566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B2B18C8-2516-7B04-B1B7-9C8287B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7A391-17EC-49D3-95B9-11521C4E91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78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D725621E-9C4E-3696-479D-F3B491B60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8604" y="273240"/>
            <a:ext cx="2743399" cy="35235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2C77EF1E-7894-D54F-901D-249F822FB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8409" y="273240"/>
            <a:ext cx="8077696" cy="35235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D991E3-09E1-87FA-3E7A-D7A9AC2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8FFAB18-B2BE-C620-D5AF-59366FEF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D704E59-04E4-56AC-E32E-51EE6768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935ED-A419-4E3E-A01D-307B835363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74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447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5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="" xmlns:a16="http://schemas.microsoft.com/office/drawing/2014/main" id="{EB9F5CC1-E0ED-A544-3125-1CAF1AA0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3" name="AutoShape 5">
            <a:extLst>
              <a:ext uri="{FF2B5EF4-FFF2-40B4-BE49-F238E27FC236}">
                <a16:creationId xmlns="" xmlns:a16="http://schemas.microsoft.com/office/drawing/2014/main" id="{294D9355-B288-864E-754C-2E4780AC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4" y="4114482"/>
            <a:ext cx="11332603" cy="101671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="" xmlns:a16="http://schemas.microsoft.com/office/drawing/2014/main" id="{DB030153-312A-A6B7-EF4D-5FC29B80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 bwMode="auto">
          <a:xfrm>
            <a:off x="4938754" y="5906427"/>
            <a:ext cx="2314494" cy="76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5" name="Freeform 7">
            <a:extLst>
              <a:ext uri="{FF2B5EF4-FFF2-40B4-BE49-F238E27FC236}">
                <a16:creationId xmlns="" xmlns:a16="http://schemas.microsoft.com/office/drawing/2014/main" id="{0761C8CC-20DE-0035-8449-92E3125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93" y="486113"/>
            <a:ext cx="3836310" cy="722815"/>
          </a:xfrm>
          <a:custGeom>
            <a:avLst/>
            <a:gdLst>
              <a:gd name="T0" fmla="*/ 2066 w 2414"/>
              <a:gd name="T1" fmla="*/ 0 h 454"/>
              <a:gd name="T2" fmla="*/ 346 w 2414"/>
              <a:gd name="T3" fmla="*/ 0 h 454"/>
              <a:gd name="T4" fmla="*/ 148 w 2414"/>
              <a:gd name="T5" fmla="*/ 13 h 454"/>
              <a:gd name="T6" fmla="*/ 13 w 2414"/>
              <a:gd name="T7" fmla="*/ 149 h 454"/>
              <a:gd name="T8" fmla="*/ 0 w 2414"/>
              <a:gd name="T9" fmla="*/ 227 h 454"/>
              <a:gd name="T10" fmla="*/ 13 w 2414"/>
              <a:gd name="T11" fmla="*/ 305 h 454"/>
              <a:gd name="T12" fmla="*/ 148 w 2414"/>
              <a:gd name="T13" fmla="*/ 440 h 454"/>
              <a:gd name="T14" fmla="*/ 346 w 2414"/>
              <a:gd name="T15" fmla="*/ 454 h 454"/>
              <a:gd name="T16" fmla="*/ 2066 w 2414"/>
              <a:gd name="T17" fmla="*/ 454 h 454"/>
              <a:gd name="T18" fmla="*/ 2264 w 2414"/>
              <a:gd name="T19" fmla="*/ 440 h 454"/>
              <a:gd name="T20" fmla="*/ 2400 w 2414"/>
              <a:gd name="T21" fmla="*/ 305 h 454"/>
              <a:gd name="T22" fmla="*/ 2414 w 2414"/>
              <a:gd name="T23" fmla="*/ 227 h 454"/>
              <a:gd name="T24" fmla="*/ 2400 w 2414"/>
              <a:gd name="T25" fmla="*/ 149 h 454"/>
              <a:gd name="T26" fmla="*/ 2264 w 2414"/>
              <a:gd name="T27" fmla="*/ 13 h 454"/>
              <a:gd name="T28" fmla="*/ 2066 w 2414"/>
              <a:gd name="T29" fmla="*/ 0 h 454"/>
              <a:gd name="T30" fmla="*/ 2066 w 2414"/>
              <a:gd name="T3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4" h="454">
                <a:moveTo>
                  <a:pt x="2066" y="0"/>
                </a:moveTo>
                <a:lnTo>
                  <a:pt x="346" y="0"/>
                </a:lnTo>
                <a:cubicBezTo>
                  <a:pt x="247" y="0"/>
                  <a:pt x="188" y="0"/>
                  <a:pt x="148" y="13"/>
                </a:cubicBezTo>
                <a:cubicBezTo>
                  <a:pt x="85" y="36"/>
                  <a:pt x="35" y="86"/>
                  <a:pt x="13" y="149"/>
                </a:cubicBezTo>
                <a:cubicBezTo>
                  <a:pt x="4" y="174"/>
                  <a:pt x="0" y="200"/>
                  <a:pt x="0" y="227"/>
                </a:cubicBezTo>
                <a:cubicBezTo>
                  <a:pt x="0" y="253"/>
                  <a:pt x="4" y="280"/>
                  <a:pt x="13" y="305"/>
                </a:cubicBezTo>
                <a:cubicBezTo>
                  <a:pt x="35" y="368"/>
                  <a:pt x="85" y="417"/>
                  <a:pt x="148" y="440"/>
                </a:cubicBezTo>
                <a:cubicBezTo>
                  <a:pt x="188" y="454"/>
                  <a:pt x="247" y="454"/>
                  <a:pt x="346" y="454"/>
                </a:cubicBezTo>
                <a:lnTo>
                  <a:pt x="2066" y="454"/>
                </a:lnTo>
                <a:cubicBezTo>
                  <a:pt x="2165" y="454"/>
                  <a:pt x="2225" y="454"/>
                  <a:pt x="2264" y="440"/>
                </a:cubicBezTo>
                <a:cubicBezTo>
                  <a:pt x="2327" y="417"/>
                  <a:pt x="2377" y="368"/>
                  <a:pt x="2400" y="305"/>
                </a:cubicBezTo>
                <a:cubicBezTo>
                  <a:pt x="2409" y="280"/>
                  <a:pt x="2414" y="253"/>
                  <a:pt x="2414" y="227"/>
                </a:cubicBezTo>
                <a:cubicBezTo>
                  <a:pt x="2414" y="200"/>
                  <a:pt x="2409" y="174"/>
                  <a:pt x="2400" y="149"/>
                </a:cubicBezTo>
                <a:cubicBezTo>
                  <a:pt x="2377" y="86"/>
                  <a:pt x="2327" y="36"/>
                  <a:pt x="2264" y="13"/>
                </a:cubicBezTo>
                <a:cubicBezTo>
                  <a:pt x="2225" y="0"/>
                  <a:pt x="2165" y="0"/>
                  <a:pt x="2066" y="0"/>
                </a:cubicBezTo>
                <a:lnTo>
                  <a:pt x="2066" y="0"/>
                </a:lnTo>
                <a:close/>
              </a:path>
            </a:pathLst>
          </a:cu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="" xmlns:a16="http://schemas.microsoft.com/office/drawing/2014/main" id="{C49B39F2-B4F0-8C62-04EA-2F57BF60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72" y="1688685"/>
            <a:ext cx="4500317" cy="253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7" name="Rectangle 9">
            <a:extLst>
              <a:ext uri="{FF2B5EF4-FFF2-40B4-BE49-F238E27FC236}">
                <a16:creationId xmlns="" xmlns:a16="http://schemas.microsoft.com/office/drawing/2014/main" id="{177CB117-7ACD-B139-5737-349E42773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8409" y="273240"/>
            <a:ext cx="10973594" cy="11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" panose="020F0502020204030204" pitchFamily="34" charset="0"/>
              </a:rPr>
              <a:t>마스터 제목 스타일 편집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="" xmlns:a16="http://schemas.microsoft.com/office/drawing/2014/main" id="{94ECE46E-4976-294C-DCC9-56FDD9833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8409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="" xmlns:a16="http://schemas.microsoft.com/office/drawing/2014/main" id="{5C5D9B19-6509-C2CA-89C4-AD117DAD12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6873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="" xmlns:a16="http://schemas.microsoft.com/office/drawing/2014/main" id="{54D9330A-64FB-2915-ED72-0BCFF0DD70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6820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="" xmlns:a16="http://schemas.microsoft.com/office/drawing/2014/main" id="{61F98E27-46FE-6344-3655-160E078A86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5283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="" xmlns:a16="http://schemas.microsoft.com/office/drawing/2014/main" id="{00B43360-9002-164A-F3C6-781E213D665F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608409" y="6356002"/>
            <a:ext cx="2845064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3" name="Rectangle 15">
            <a:extLst>
              <a:ext uri="{FF2B5EF4-FFF2-40B4-BE49-F238E27FC236}">
                <a16:creationId xmlns="" xmlns:a16="http://schemas.microsoft.com/office/drawing/2014/main" id="{CBCEF685-BCA5-236B-5C95-7362F4A18E0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165137" y="6356002"/>
            <a:ext cx="3861727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4" name="Rectangle 16">
            <a:extLst>
              <a:ext uri="{FF2B5EF4-FFF2-40B4-BE49-F238E27FC236}">
                <a16:creationId xmlns="" xmlns:a16="http://schemas.microsoft.com/office/drawing/2014/main" id="{0B33B43C-2695-E705-B601-2C22DA2E2E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36938" y="6356002"/>
            <a:ext cx="2845065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fld id="{E3279B45-B293-4B0A-AE23-BF94EF1E25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51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 kern="1200">
          <a:solidFill>
            <a:schemeClr val="tx2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2pPr>
      <a:lvl3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3pPr>
      <a:lvl4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4pPr>
      <a:lvl5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5pPr>
      <a:lvl6pPr marL="45752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6pPr>
      <a:lvl7pPr marL="91504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7pPr>
      <a:lvl8pPr marL="137256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8pPr>
      <a:lvl9pPr marL="183008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9pPr>
    </p:titleStyle>
    <p:bodyStyle>
      <a:lvl1pPr marL="343140" indent="-34314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3470" indent="-28595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80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132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884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»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636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388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3140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892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5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50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5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3008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760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51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26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601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="" xmlns:a16="http://schemas.microsoft.com/office/drawing/2014/main" id="{DB1A1CBF-78F6-04CE-032B-84F018621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3043652"/>
            <a:ext cx="890214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3200" b="1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공공미술과 만나요</a:t>
            </a:r>
            <a:r>
              <a:rPr lang="en-US" altLang="ko-KR" sz="3200" b="1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!</a:t>
            </a:r>
          </a:p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400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우리 동네에서 공공미술 작품을 찾아볼까요</a:t>
            </a:r>
            <a:r>
              <a:rPr lang="en-US" altLang="ko-KR" sz="2400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?</a:t>
            </a:r>
            <a:endParaRPr lang="en-US" altLang="ko-KR" sz="2400" dirty="0">
              <a:solidFill>
                <a:srgbClr val="F6877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8197" name="AutoShape 5">
            <a:extLst>
              <a:ext uri="{FF2B5EF4-FFF2-40B4-BE49-F238E27FC236}">
                <a16:creationId xmlns="" xmlns:a16="http://schemas.microsoft.com/office/drawing/2014/main" id="{D30265AA-F044-ED79-BF49-9BCB13CB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4114452"/>
            <a:ext cx="11332603" cy="101666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915040" fontAlgn="base" latinLnBrk="1">
              <a:spcBef>
                <a:spcPct val="30000"/>
              </a:spcBef>
              <a:spcAft>
                <a:spcPct val="0"/>
              </a:spcAft>
            </a:pPr>
            <a:endParaRPr kumimoji="1" lang="ko-KR" altLang="en-US" sz="1201">
              <a:solidFill>
                <a:srgbClr val="000000"/>
              </a:solidFill>
              <a:latin typeface="Calibri" panose="020F0502020204030204" pitchFamily="34" charset="0"/>
              <a:ea typeface="굴림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="" xmlns:a16="http://schemas.microsoft.com/office/drawing/2014/main" id="{FF65134C-B580-CD8E-1141-8D952638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575198"/>
            <a:ext cx="3555140" cy="5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99" tIns="61000" rIns="121999" bIns="61000" anchor="b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2" dirty="0">
                <a:solidFill>
                  <a:srgbClr val="FFFFFF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초등 미술</a:t>
            </a:r>
          </a:p>
        </p:txBody>
      </p:sp>
      <p:pic>
        <p:nvPicPr>
          <p:cNvPr id="8199" name="Picture 7" descr="이미지">
            <a:extLst>
              <a:ext uri="{FF2B5EF4-FFF2-40B4-BE49-F238E27FC236}">
                <a16:creationId xmlns="" xmlns:a16="http://schemas.microsoft.com/office/drawing/2014/main" id="{255EE14A-AD27-01D3-95C7-BE84703B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56" y="1639516"/>
            <a:ext cx="2068272" cy="138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="" xmlns:a16="http://schemas.microsoft.com/office/drawing/2014/main" id="{4AA4FEAA-717A-5DDD-146C-2C87F832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76" y="2017587"/>
            <a:ext cx="2543244" cy="64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79" tIns="60973" rIns="121979" bIns="60973"/>
          <a:lstStyle>
            <a:lvl1pPr marL="225425" indent="-225425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225583" indent="-225583"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703" dirty="0" smtClean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19</a:t>
            </a:r>
            <a:r>
              <a:rPr lang="ko-KR" altLang="en-US" sz="3703" dirty="0" err="1" smtClean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ko-KR" altLang="en-US" sz="3703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4" y="836713"/>
            <a:ext cx="4772171" cy="1209013"/>
            <a:chOff x="2699791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1" y="838540"/>
              <a:ext cx="3579128" cy="4847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600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작품 제목 퀴즈</a:t>
              </a:r>
              <a:endParaRPr lang="ko-KR" altLang="en-US" sz="3600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4199204" y="3172185"/>
            <a:ext cx="3793603" cy="954107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공공미술 작품 사진을 보고</a:t>
            </a:r>
            <a:endParaRPr lang="en-US" altLang="ko-KR" sz="28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제목을 맞혀보세요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6856968" y="3036087"/>
            <a:ext cx="3449081" cy="150810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작품 제목</a:t>
            </a:r>
            <a:r>
              <a:rPr lang="en-US" altLang="ko-KR" sz="2400" spc="-147" dirty="0" smtClean="0">
                <a:solidFill>
                  <a:srgbClr val="C00000"/>
                </a:solidFill>
                <a:latin typeface="+mn-ea"/>
              </a:rPr>
              <a:t>:</a:t>
            </a:r>
          </a:p>
          <a:p>
            <a:pPr algn="ctr"/>
            <a:r>
              <a:rPr lang="ko-KR" altLang="en-US" sz="2400" spc="-147" dirty="0" err="1" smtClean="0">
                <a:solidFill>
                  <a:srgbClr val="C00000"/>
                </a:solidFill>
                <a:latin typeface="+mn-ea"/>
              </a:rPr>
              <a:t>헬로</a:t>
            </a:r>
            <a:r>
              <a:rPr lang="en-US" altLang="ko-KR" sz="2400" spc="-147" dirty="0" smtClean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안양 </a:t>
            </a:r>
            <a:r>
              <a:rPr lang="ko-KR" altLang="en-US" sz="2400" spc="-147" dirty="0" err="1" smtClean="0">
                <a:solidFill>
                  <a:srgbClr val="C00000"/>
                </a:solidFill>
                <a:latin typeface="+mn-ea"/>
              </a:rPr>
              <a:t>위드</a:t>
            </a:r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  </a:t>
            </a:r>
            <a:r>
              <a:rPr lang="ko-KR" altLang="en-US" sz="2400" spc="-147" dirty="0" smtClean="0">
                <a:solidFill>
                  <a:schemeClr val="bg1"/>
                </a:solidFill>
                <a:latin typeface="+mn-ea"/>
              </a:rPr>
              <a:t>러브</a:t>
            </a:r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 </a:t>
            </a:r>
            <a:endParaRPr lang="en-US" altLang="ko-KR" sz="2400" spc="-147" dirty="0" smtClean="0">
              <a:solidFill>
                <a:srgbClr val="C00000"/>
              </a:solidFill>
              <a:latin typeface="+mn-ea"/>
            </a:endParaRPr>
          </a:p>
          <a:p>
            <a:pPr algn="ctr"/>
            <a:endParaRPr lang="en-US" altLang="ko-KR" sz="2400" spc="-147" dirty="0">
              <a:solidFill>
                <a:srgbClr val="FF0000">
                  <a:alpha val="99000"/>
                </a:srgbClr>
              </a:solidFill>
              <a:latin typeface="+mn-ea"/>
            </a:endParaRPr>
          </a:p>
          <a:p>
            <a:pPr algn="ctr"/>
            <a:r>
              <a:rPr lang="ko-KR" altLang="en-US" sz="2000" spc="-147" dirty="0" smtClean="0">
                <a:solidFill>
                  <a:srgbClr val="0070C0">
                    <a:alpha val="99000"/>
                  </a:srgbClr>
                </a:solidFill>
                <a:latin typeface="+mn-ea"/>
              </a:rPr>
              <a:t>힌트</a:t>
            </a:r>
            <a:r>
              <a:rPr lang="en-US" altLang="ko-KR" sz="2000" spc="-147" dirty="0" smtClean="0">
                <a:solidFill>
                  <a:srgbClr val="0070C0">
                    <a:alpha val="99000"/>
                  </a:srgbClr>
                </a:solidFill>
                <a:latin typeface="+mn-ea"/>
              </a:rPr>
              <a:t>: </a:t>
            </a:r>
            <a:r>
              <a:rPr lang="en-US" altLang="ko-KR" sz="2000" spc="-147" dirty="0" smtClean="0">
                <a:solidFill>
                  <a:srgbClr val="0070C0">
                    <a:alpha val="99000"/>
                  </a:srgbClr>
                </a:solidFill>
                <a:latin typeface="바탕"/>
                <a:ea typeface="바탕"/>
              </a:rPr>
              <a:t>♥</a:t>
            </a:r>
            <a:r>
              <a:rPr lang="ko-KR" altLang="en-US" sz="2000" spc="-147" dirty="0" smtClean="0">
                <a:solidFill>
                  <a:srgbClr val="0070C0">
                    <a:alpha val="99000"/>
                  </a:srgbClr>
                </a:solidFill>
                <a:latin typeface="+mn-ea"/>
              </a:rPr>
              <a:t>    </a:t>
            </a:r>
            <a:r>
              <a:rPr lang="ko-KR" altLang="en-US" sz="2000" spc="-147" dirty="0" smtClean="0">
                <a:solidFill>
                  <a:srgbClr val="0070C0">
                    <a:alpha val="99000"/>
                  </a:srgbClr>
                </a:solidFill>
                <a:latin typeface="+mn-ea"/>
              </a:rPr>
              <a:t>      </a:t>
            </a:r>
            <a:endParaRPr lang="ko-KR" altLang="en-US" sz="2000" spc="-147" dirty="0">
              <a:solidFill>
                <a:srgbClr val="0070C0">
                  <a:alpha val="99000"/>
                </a:srgbClr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1" t="12696" r="16219" b="4884"/>
          <a:stretch/>
        </p:blipFill>
        <p:spPr>
          <a:xfrm>
            <a:off x="2482454" y="2169551"/>
            <a:ext cx="4624040" cy="379644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직사각형 3"/>
          <p:cNvSpPr/>
          <p:nvPr/>
        </p:nvSpPr>
        <p:spPr>
          <a:xfrm>
            <a:off x="9258300" y="3486150"/>
            <a:ext cx="819150" cy="372074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1200" b="0" i="0" u="none" strike="noStrike" cap="none" normalizeH="0" baseline="0" smtClean="0">
              <a:solidFill>
                <a:schemeClr val="tx1"/>
              </a:solidFill>
              <a:effectLst/>
              <a:latin typeface="Calibri"/>
              <a:cs typeface="Calibri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078968" y="5804414"/>
            <a:ext cx="4391541" cy="32316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사진 출처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: APAP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홈페이지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92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6856968" y="3220753"/>
            <a:ext cx="3449081" cy="1138773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작품 제목</a:t>
            </a:r>
            <a:r>
              <a:rPr lang="en-US" altLang="ko-KR" sz="2400" spc="-147" dirty="0" smtClean="0">
                <a:solidFill>
                  <a:srgbClr val="C00000"/>
                </a:solidFill>
                <a:latin typeface="+mn-ea"/>
              </a:rPr>
              <a:t>:</a:t>
            </a:r>
          </a:p>
          <a:p>
            <a:pPr algn="ctr"/>
            <a:r>
              <a:rPr lang="ko-KR" altLang="en-US" sz="2400" spc="-147" dirty="0" err="1" smtClean="0">
                <a:solidFill>
                  <a:srgbClr val="C00000"/>
                </a:solidFill>
                <a:latin typeface="+mn-ea"/>
              </a:rPr>
              <a:t>헬로</a:t>
            </a:r>
            <a:r>
              <a:rPr lang="en-US" altLang="ko-KR" sz="2400" spc="-147" dirty="0" smtClean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안양 </a:t>
            </a:r>
            <a:r>
              <a:rPr lang="ko-KR" altLang="en-US" sz="2400" spc="-147" dirty="0" err="1" smtClean="0">
                <a:solidFill>
                  <a:srgbClr val="C00000"/>
                </a:solidFill>
                <a:latin typeface="+mn-ea"/>
              </a:rPr>
              <a:t>위드</a:t>
            </a:r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  러브 </a:t>
            </a:r>
            <a:endParaRPr lang="en-US" altLang="ko-KR" sz="2400" spc="-147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ko-KR" altLang="en-US" sz="2000" spc="-147" dirty="0" smtClean="0">
                <a:solidFill>
                  <a:srgbClr val="0070C0">
                    <a:alpha val="99000"/>
                  </a:srgbClr>
                </a:solidFill>
                <a:latin typeface="+mn-ea"/>
              </a:rPr>
              <a:t>          </a:t>
            </a:r>
            <a:endParaRPr lang="ko-KR" altLang="en-US" sz="2000" spc="-147" dirty="0">
              <a:solidFill>
                <a:srgbClr val="0070C0">
                  <a:alpha val="99000"/>
                </a:srgbClr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1" t="12696" r="16219" b="4884"/>
          <a:stretch/>
        </p:blipFill>
        <p:spPr>
          <a:xfrm>
            <a:off x="2482454" y="2169551"/>
            <a:ext cx="4624040" cy="379644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직사각형 11"/>
          <p:cNvSpPr/>
          <p:nvPr/>
        </p:nvSpPr>
        <p:spPr>
          <a:xfrm>
            <a:off x="5078968" y="5804414"/>
            <a:ext cx="4391541" cy="32316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사진 출처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: APAP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홈페이지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4279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6856968" y="3066865"/>
            <a:ext cx="3449081" cy="144655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작품 제목</a:t>
            </a:r>
            <a:r>
              <a:rPr lang="en-US" altLang="ko-KR" sz="2400" spc="-147" dirty="0" smtClean="0">
                <a:solidFill>
                  <a:srgbClr val="C00000"/>
                </a:solidFill>
                <a:latin typeface="+mn-ea"/>
              </a:rPr>
              <a:t>:</a:t>
            </a:r>
          </a:p>
          <a:p>
            <a:pPr algn="ctr"/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티</a:t>
            </a:r>
            <a:r>
              <a:rPr lang="en-US" altLang="ko-KR" sz="2400" spc="-147" dirty="0" smtClean="0">
                <a:solidFill>
                  <a:srgbClr val="C00000"/>
                </a:solidFill>
                <a:latin typeface="+mn-ea"/>
              </a:rPr>
              <a:t>(tea)  </a:t>
            </a:r>
            <a:r>
              <a:rPr lang="ko-KR" altLang="en-US" sz="2400" spc="-147" dirty="0" smtClean="0">
                <a:solidFill>
                  <a:schemeClr val="bg1"/>
                </a:solidFill>
                <a:latin typeface="+mn-ea"/>
              </a:rPr>
              <a:t>하우스</a:t>
            </a:r>
            <a:endParaRPr lang="en-US" altLang="ko-KR" sz="2400" spc="-147" dirty="0" smtClean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2000" spc="-147" dirty="0" smtClean="0">
                <a:solidFill>
                  <a:srgbClr val="C00000"/>
                </a:solidFill>
                <a:latin typeface="+mn-ea"/>
              </a:rPr>
              <a:t> </a:t>
            </a:r>
            <a:endParaRPr lang="en-US" altLang="ko-KR" sz="2000" spc="-147" dirty="0">
              <a:solidFill>
                <a:srgbClr val="C00000"/>
              </a:solidFill>
              <a:latin typeface="바탕"/>
              <a:ea typeface="바탕"/>
            </a:endParaRPr>
          </a:p>
          <a:p>
            <a:pPr algn="ctr"/>
            <a:r>
              <a:rPr lang="ko-KR" altLang="en-US" sz="2000" spc="-147" dirty="0" smtClean="0">
                <a:solidFill>
                  <a:srgbClr val="0070C0">
                    <a:alpha val="99000"/>
                  </a:srgbClr>
                </a:solidFill>
                <a:latin typeface="+mn-ea"/>
              </a:rPr>
              <a:t>힌트</a:t>
            </a:r>
            <a:r>
              <a:rPr lang="en-US" altLang="ko-KR" sz="2000" spc="-147" dirty="0" smtClean="0">
                <a:solidFill>
                  <a:srgbClr val="0070C0">
                    <a:alpha val="99000"/>
                  </a:srgbClr>
                </a:solidFill>
                <a:latin typeface="+mn-ea"/>
              </a:rPr>
              <a:t>: </a:t>
            </a:r>
            <a:r>
              <a:rPr lang="ko-KR" altLang="en-US" sz="2000" spc="-147" dirty="0" smtClean="0">
                <a:solidFill>
                  <a:srgbClr val="0070C0">
                    <a:alpha val="99000"/>
                  </a:srgbClr>
                </a:solidFill>
                <a:latin typeface="+mn-ea"/>
              </a:rPr>
              <a:t>영어         </a:t>
            </a:r>
            <a:endParaRPr lang="ko-KR" altLang="en-US" sz="2000" spc="-147" dirty="0">
              <a:solidFill>
                <a:srgbClr val="0070C0">
                  <a:alpha val="99000"/>
                </a:srgbClr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581508" y="3491387"/>
            <a:ext cx="1029217" cy="372074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1200" b="0" i="0" u="none" strike="noStrike" cap="none" normalizeH="0" baseline="0" smtClean="0">
              <a:solidFill>
                <a:schemeClr val="tx1"/>
              </a:solidFill>
              <a:effectLst/>
              <a:latin typeface="Calibri"/>
              <a:cs typeface="Calibri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74" t="18889" r="9940" b="7936"/>
          <a:stretch/>
        </p:blipFill>
        <p:spPr>
          <a:xfrm>
            <a:off x="2882603" y="2213444"/>
            <a:ext cx="3823742" cy="31533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직사각형 11"/>
          <p:cNvSpPr/>
          <p:nvPr/>
        </p:nvSpPr>
        <p:spPr>
          <a:xfrm>
            <a:off x="3900229" y="5511617"/>
            <a:ext cx="4391541" cy="32316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사진 출처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: APAP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홈페이지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4279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6856968" y="3374641"/>
            <a:ext cx="3449081" cy="830997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작품 제목</a:t>
            </a:r>
            <a:r>
              <a:rPr lang="en-US" altLang="ko-KR" sz="2400" spc="-147" dirty="0" smtClean="0">
                <a:solidFill>
                  <a:srgbClr val="C00000"/>
                </a:solidFill>
                <a:latin typeface="+mn-ea"/>
              </a:rPr>
              <a:t>:</a:t>
            </a:r>
          </a:p>
          <a:p>
            <a:pPr algn="ctr"/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티</a:t>
            </a:r>
            <a:r>
              <a:rPr lang="en-US" altLang="ko-KR" sz="2400" spc="-147" dirty="0" smtClean="0">
                <a:solidFill>
                  <a:srgbClr val="C00000"/>
                </a:solidFill>
                <a:latin typeface="+mn-ea"/>
              </a:rPr>
              <a:t>(tea)  </a:t>
            </a:r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하우스</a:t>
            </a:r>
            <a:endParaRPr lang="en-US" altLang="ko-KR" sz="2400" spc="-147" dirty="0" smtClean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74" t="18889" r="9940" b="7936"/>
          <a:stretch/>
        </p:blipFill>
        <p:spPr>
          <a:xfrm>
            <a:off x="2882603" y="2213444"/>
            <a:ext cx="3823742" cy="31533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직사각형 11"/>
          <p:cNvSpPr/>
          <p:nvPr/>
        </p:nvSpPr>
        <p:spPr>
          <a:xfrm>
            <a:off x="3900229" y="5511617"/>
            <a:ext cx="4391541" cy="32316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사진 출처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: APAP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홈페이지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8095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6856968" y="3036087"/>
            <a:ext cx="3449081" cy="150810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작품 제목</a:t>
            </a:r>
            <a:r>
              <a:rPr lang="en-US" altLang="ko-KR" sz="2400" spc="-147" dirty="0" smtClean="0">
                <a:solidFill>
                  <a:srgbClr val="C00000"/>
                </a:solidFill>
                <a:latin typeface="+mn-ea"/>
              </a:rPr>
              <a:t>:</a:t>
            </a:r>
          </a:p>
          <a:p>
            <a:pPr algn="ctr"/>
            <a:r>
              <a:rPr lang="ko-KR" altLang="en-US" sz="2400" spc="-147" dirty="0" smtClean="0">
                <a:solidFill>
                  <a:schemeClr val="bg1"/>
                </a:solidFill>
                <a:latin typeface="+mn-ea"/>
              </a:rPr>
              <a:t>거울</a:t>
            </a:r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 미로</a:t>
            </a:r>
            <a:endParaRPr lang="en-US" altLang="ko-KR" sz="2400" spc="-147" dirty="0" smtClean="0">
              <a:solidFill>
                <a:srgbClr val="C00000"/>
              </a:solidFill>
              <a:latin typeface="+mn-ea"/>
            </a:endParaRPr>
          </a:p>
          <a:p>
            <a:pPr algn="ctr"/>
            <a:endParaRPr lang="en-US" altLang="ko-KR" sz="2400" spc="-147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ko-KR" altLang="en-US" sz="2000" spc="-147" dirty="0">
                <a:solidFill>
                  <a:srgbClr val="0070C0"/>
                </a:solidFill>
                <a:latin typeface="+mn-ea"/>
              </a:rPr>
              <a:t>힌</a:t>
            </a:r>
            <a:r>
              <a:rPr lang="ko-KR" altLang="en-US" sz="2000" spc="-147" dirty="0" smtClean="0">
                <a:solidFill>
                  <a:srgbClr val="0070C0"/>
                </a:solidFill>
                <a:latin typeface="+mn-ea"/>
              </a:rPr>
              <a:t>트</a:t>
            </a:r>
            <a:r>
              <a:rPr lang="en-US" altLang="ko-KR" sz="2000" spc="-147" dirty="0" smtClean="0">
                <a:solidFill>
                  <a:srgbClr val="0070C0"/>
                </a:solidFill>
                <a:latin typeface="+mn-ea"/>
              </a:rPr>
              <a:t>: </a:t>
            </a:r>
            <a:r>
              <a:rPr lang="ko-KR" altLang="en-US" sz="2000" spc="-147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2000" spc="-147" dirty="0" smtClean="0">
                <a:solidFill>
                  <a:srgbClr val="0070C0"/>
                </a:solidFill>
                <a:latin typeface="+mn-ea"/>
              </a:rPr>
              <a:t>반짝 이는 물건         </a:t>
            </a:r>
            <a:endParaRPr lang="ko-KR" altLang="en-US" sz="2000" spc="-147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833869" y="3444076"/>
            <a:ext cx="752475" cy="372074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1200" b="0" i="0" u="none" strike="noStrike" cap="none" normalizeH="0" baseline="0" smtClean="0">
              <a:solidFill>
                <a:schemeClr val="tx1"/>
              </a:solidFill>
              <a:effectLst/>
              <a:latin typeface="Calibri"/>
              <a:cs typeface="Calibri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293" y="2174475"/>
            <a:ext cx="4921181" cy="32833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직사각형 11"/>
          <p:cNvSpPr/>
          <p:nvPr/>
        </p:nvSpPr>
        <p:spPr>
          <a:xfrm>
            <a:off x="3900229" y="5511617"/>
            <a:ext cx="4391541" cy="32316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사진 출처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: APAP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홈페이지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6099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6856968" y="3374641"/>
            <a:ext cx="3449081" cy="830997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작품 제목</a:t>
            </a:r>
            <a:r>
              <a:rPr lang="en-US" altLang="ko-KR" sz="2400" spc="-147" dirty="0" smtClean="0">
                <a:solidFill>
                  <a:srgbClr val="C00000"/>
                </a:solidFill>
                <a:latin typeface="+mn-ea"/>
              </a:rPr>
              <a:t>:</a:t>
            </a:r>
          </a:p>
          <a:p>
            <a:pPr algn="ctr"/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거울 미로</a:t>
            </a:r>
            <a:endParaRPr lang="en-US" altLang="ko-KR" sz="2400" spc="-147" dirty="0" smtClean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293" y="2174475"/>
            <a:ext cx="4921181" cy="32833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직사각형 11"/>
          <p:cNvSpPr/>
          <p:nvPr/>
        </p:nvSpPr>
        <p:spPr>
          <a:xfrm>
            <a:off x="3900229" y="5511617"/>
            <a:ext cx="4391541" cy="32316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사진 출처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: APAP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홈페이지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88375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6856968" y="3036087"/>
            <a:ext cx="3449081" cy="150810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작품 제목</a:t>
            </a:r>
            <a:r>
              <a:rPr lang="en-US" altLang="ko-KR" sz="2400" spc="-147" dirty="0" smtClean="0">
                <a:solidFill>
                  <a:srgbClr val="C00000"/>
                </a:solidFill>
                <a:latin typeface="+mn-ea"/>
              </a:rPr>
              <a:t>:</a:t>
            </a:r>
          </a:p>
          <a:p>
            <a:pPr algn="ctr"/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용의  </a:t>
            </a:r>
            <a:r>
              <a:rPr lang="ko-KR" altLang="en-US" sz="2400" spc="-147" dirty="0" smtClean="0">
                <a:solidFill>
                  <a:schemeClr val="bg1"/>
                </a:solidFill>
                <a:latin typeface="+mn-ea"/>
              </a:rPr>
              <a:t>꼬리</a:t>
            </a:r>
            <a:endParaRPr lang="en-US" altLang="ko-KR" sz="2400" spc="-147" dirty="0" smtClean="0">
              <a:solidFill>
                <a:schemeClr val="bg1"/>
              </a:solidFill>
              <a:latin typeface="+mn-ea"/>
            </a:endParaRPr>
          </a:p>
          <a:p>
            <a:pPr algn="ctr"/>
            <a:endParaRPr lang="en-US" altLang="ko-KR" sz="2400" spc="-147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ko-KR" altLang="en-US" sz="2000" spc="-147" dirty="0">
                <a:solidFill>
                  <a:srgbClr val="0070C0"/>
                </a:solidFill>
                <a:latin typeface="+mn-ea"/>
              </a:rPr>
              <a:t>힌</a:t>
            </a:r>
            <a:r>
              <a:rPr lang="ko-KR" altLang="en-US" sz="2000" spc="-147" dirty="0" smtClean="0">
                <a:solidFill>
                  <a:srgbClr val="0070C0"/>
                </a:solidFill>
                <a:latin typeface="+mn-ea"/>
              </a:rPr>
              <a:t>트</a:t>
            </a:r>
            <a:r>
              <a:rPr lang="en-US" altLang="ko-KR" sz="2000" spc="-147" dirty="0" smtClean="0">
                <a:solidFill>
                  <a:srgbClr val="0070C0"/>
                </a:solidFill>
                <a:latin typeface="+mn-ea"/>
              </a:rPr>
              <a:t>: </a:t>
            </a:r>
            <a:r>
              <a:rPr lang="ko-KR" altLang="en-US" sz="2000" spc="-147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2000" spc="-147" dirty="0" smtClean="0">
                <a:solidFill>
                  <a:srgbClr val="0070C0"/>
                </a:solidFill>
                <a:latin typeface="+mn-ea"/>
              </a:rPr>
              <a:t>끝 부분</a:t>
            </a:r>
            <a:endParaRPr lang="ko-KR" altLang="en-US" sz="2000" spc="-147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586344" y="3450226"/>
            <a:ext cx="752475" cy="372074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1200" b="0" i="0" u="none" strike="noStrike" cap="none" normalizeH="0" baseline="0" smtClean="0">
              <a:solidFill>
                <a:schemeClr val="tx1"/>
              </a:solidFill>
              <a:effectLst/>
              <a:latin typeface="Calibri"/>
              <a:cs typeface="Calibri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6" r="11093"/>
          <a:stretch/>
        </p:blipFill>
        <p:spPr>
          <a:xfrm>
            <a:off x="1714500" y="2365580"/>
            <a:ext cx="5763938" cy="28541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직사각형 11"/>
          <p:cNvSpPr/>
          <p:nvPr/>
        </p:nvSpPr>
        <p:spPr>
          <a:xfrm>
            <a:off x="3900229" y="5511617"/>
            <a:ext cx="4391541" cy="32316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사진 출처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: APAP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홈페이지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71293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6856968" y="3374641"/>
            <a:ext cx="3449081" cy="830997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작품 제목</a:t>
            </a:r>
            <a:r>
              <a:rPr lang="en-US" altLang="ko-KR" sz="2400" spc="-147" dirty="0" smtClean="0">
                <a:solidFill>
                  <a:srgbClr val="C00000"/>
                </a:solidFill>
                <a:latin typeface="+mn-ea"/>
              </a:rPr>
              <a:t>:</a:t>
            </a:r>
          </a:p>
          <a:p>
            <a:pPr algn="ctr"/>
            <a:r>
              <a:rPr lang="ko-KR" altLang="en-US" sz="2400" spc="-147" dirty="0" smtClean="0">
                <a:solidFill>
                  <a:srgbClr val="C00000"/>
                </a:solidFill>
                <a:latin typeface="+mn-ea"/>
              </a:rPr>
              <a:t>용의  꼬리</a:t>
            </a:r>
            <a:endParaRPr lang="en-US" altLang="ko-KR" sz="2400" spc="-147" dirty="0" smtClean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6" r="11093"/>
          <a:stretch/>
        </p:blipFill>
        <p:spPr>
          <a:xfrm>
            <a:off x="1714500" y="2365580"/>
            <a:ext cx="5763938" cy="28541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직사각형 11"/>
          <p:cNvSpPr/>
          <p:nvPr/>
        </p:nvSpPr>
        <p:spPr>
          <a:xfrm>
            <a:off x="3900229" y="5511617"/>
            <a:ext cx="4391541" cy="32316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사진 출처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: APAP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홈페이지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13655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869897" y="3141271"/>
            <a:ext cx="8794678" cy="830997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공공미술 작품을 감상하고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</a:p>
          <a:p>
            <a:pPr algn="ctr"/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공공미술의 개념과 사회적 역할을 이해할 수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8587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0" y="452670"/>
            <a:ext cx="9805339" cy="641085"/>
          </a:xfrm>
        </p:spPr>
        <p:txBody>
          <a:bodyPr>
            <a:noAutofit/>
          </a:bodyPr>
          <a:lstStyle/>
          <a:p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1. </a:t>
            </a:r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지도를 활용하여 공공미술 작품을 찾고 감상하기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동영상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23900" y="2211368"/>
            <a:ext cx="11112500" cy="954107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just"/>
            <a:r>
              <a:rPr lang="ko-KR" altLang="en-US" sz="2800" spc="-147" dirty="0" smtClean="0">
                <a:latin typeface="+mn-ea"/>
              </a:rPr>
              <a:t>안양시 지도를 보면서 공공미술 작품이 설치된 곳을 찾아볼 거예요</a:t>
            </a:r>
            <a:r>
              <a:rPr lang="en-US" altLang="ko-KR" sz="2800" spc="-147" dirty="0" smtClean="0">
                <a:latin typeface="+mn-ea"/>
              </a:rPr>
              <a:t>. </a:t>
            </a:r>
          </a:p>
          <a:p>
            <a:pPr algn="just"/>
            <a:r>
              <a:rPr lang="ko-KR" altLang="en-US" sz="2800" spc="-147" dirty="0" smtClean="0">
                <a:latin typeface="+mn-ea"/>
              </a:rPr>
              <a:t>오늘은 세 개의 작품을 집중해서 감상하며</a:t>
            </a:r>
            <a:r>
              <a:rPr lang="en-US" altLang="ko-KR" sz="2800" spc="-147" dirty="0" smtClean="0">
                <a:latin typeface="+mn-ea"/>
              </a:rPr>
              <a:t>, </a:t>
            </a:r>
            <a:r>
              <a:rPr lang="ko-KR" altLang="en-US" sz="2800" spc="-147" dirty="0" smtClean="0">
                <a:latin typeface="+mn-ea"/>
              </a:rPr>
              <a:t>작품의 의미를 생각해보세요</a:t>
            </a:r>
            <a:r>
              <a:rPr lang="en-US" altLang="ko-KR" sz="2800" spc="-147" dirty="0" smtClean="0">
                <a:latin typeface="+mn-ea"/>
              </a:rPr>
              <a:t>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6" t="72071" r="50744" b="5999"/>
          <a:stretch/>
        </p:blipFill>
        <p:spPr>
          <a:xfrm>
            <a:off x="4979741" y="3362325"/>
            <a:ext cx="2048368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공공미술 작품의 특징과 의미 기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록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하기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비판적 감상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19760" y="1410471"/>
            <a:ext cx="10999139" cy="830997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영상에서 본 공공미술 작품을 하나씩 자세히 살펴보겠습니다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</a:t>
            </a:r>
          </a:p>
          <a:p>
            <a:r>
              <a:rPr lang="ko-KR" altLang="en-US" sz="2400" spc="-147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활동지에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 중요한 정보와 작품의 의미를 적어보세요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" t="37664" r="73801" b="35245"/>
          <a:stretch/>
        </p:blipFill>
        <p:spPr>
          <a:xfrm>
            <a:off x="1238250" y="3113718"/>
            <a:ext cx="3286940" cy="1538288"/>
          </a:xfrm>
          <a:prstGeom prst="rect">
            <a:avLst/>
          </a:prstGeom>
        </p:spPr>
      </p:pic>
      <p:sp>
        <p:nvSpPr>
          <p:cNvPr id="9" name="구름 모양 설명선 8"/>
          <p:cNvSpPr/>
          <p:nvPr/>
        </p:nvSpPr>
        <p:spPr>
          <a:xfrm>
            <a:off x="6138393" y="2522478"/>
            <a:ext cx="2896070" cy="1360384"/>
          </a:xfrm>
          <a:prstGeom prst="cloudCallout">
            <a:avLst>
              <a:gd name="adj1" fmla="val -82341"/>
              <a:gd name="adj2" fmla="val 3640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G마켓 산스 TTF Light" pitchFamily="2" charset="-127"/>
                <a:ea typeface="G마켓 산스 TTF Light" pitchFamily="2" charset="-127"/>
              </a:rPr>
              <a:t>이곳에 </a:t>
            </a:r>
            <a:r>
              <a:rPr lang="ko-KR" altLang="en-US" dirty="0" smtClean="0">
                <a:solidFill>
                  <a:schemeClr val="tx1"/>
                </a:solidFill>
                <a:latin typeface="G마켓 산스 TTF Light" pitchFamily="2" charset="-127"/>
                <a:ea typeface="G마켓 산스 TTF Light" pitchFamily="2" charset="-127"/>
              </a:rPr>
              <a:t>이 작품이 어울릴까</a:t>
            </a:r>
            <a:r>
              <a:rPr lang="en-US" altLang="ko-KR" dirty="0" smtClean="0">
                <a:solidFill>
                  <a:schemeClr val="tx1"/>
                </a:solidFill>
                <a:latin typeface="G마켓 산스 TTF Light" pitchFamily="2" charset="-127"/>
                <a:ea typeface="G마켓 산스 TTF Light" pitchFamily="2" charset="-127"/>
              </a:rPr>
              <a:t>?</a:t>
            </a:r>
            <a:endParaRPr lang="ko-KR" altLang="en-US" dirty="0">
              <a:solidFill>
                <a:schemeClr val="tx1"/>
              </a:solidFill>
              <a:latin typeface="G마켓 산스 TTF Light" pitchFamily="2" charset="-127"/>
              <a:ea typeface="G마켓 산스 TTF Light" pitchFamily="2" charset="-127"/>
            </a:endParaRPr>
          </a:p>
        </p:txBody>
      </p:sp>
      <p:sp>
        <p:nvSpPr>
          <p:cNvPr id="13" name="구름 모양 설명선 12"/>
          <p:cNvSpPr/>
          <p:nvPr/>
        </p:nvSpPr>
        <p:spPr>
          <a:xfrm>
            <a:off x="6019330" y="4008115"/>
            <a:ext cx="3134196" cy="1668785"/>
          </a:xfrm>
          <a:prstGeom prst="cloudCallout">
            <a:avLst>
              <a:gd name="adj1" fmla="val -76896"/>
              <a:gd name="adj2" fmla="val -2853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G마켓 산스 TTF Light" pitchFamily="2" charset="-127"/>
                <a:ea typeface="G마켓 산스 TTF Light" pitchFamily="2" charset="-127"/>
              </a:rPr>
              <a:t>시민들이 지나다닐 때 불편하지는 않을까</a:t>
            </a:r>
            <a:r>
              <a:rPr lang="en-US" altLang="ko-KR" dirty="0" smtClean="0">
                <a:solidFill>
                  <a:schemeClr val="tx1"/>
                </a:solidFill>
                <a:latin typeface="G마켓 산스 TTF Light" pitchFamily="2" charset="-127"/>
                <a:ea typeface="G마켓 산스 TTF Light" pitchFamily="2" charset="-127"/>
              </a:rPr>
              <a:t>?</a:t>
            </a:r>
          </a:p>
        </p:txBody>
      </p:sp>
      <p:sp>
        <p:nvSpPr>
          <p:cNvPr id="14" name="구름 모양 설명선 13"/>
          <p:cNvSpPr/>
          <p:nvPr/>
        </p:nvSpPr>
        <p:spPr>
          <a:xfrm>
            <a:off x="3072157" y="4914899"/>
            <a:ext cx="2658415" cy="1524001"/>
          </a:xfrm>
          <a:prstGeom prst="cloudCallout">
            <a:avLst>
              <a:gd name="adj1" fmla="val -9578"/>
              <a:gd name="adj2" fmla="val -6937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G마켓 산스 TTF Light" pitchFamily="2" charset="-127"/>
                <a:ea typeface="G마켓 산스 TTF Light" pitchFamily="2" charset="-127"/>
              </a:rPr>
              <a:t>이 작품이 있어서 좋은 점은 무엇일까</a:t>
            </a:r>
            <a:r>
              <a:rPr lang="en-US" altLang="ko-KR" dirty="0" smtClean="0">
                <a:solidFill>
                  <a:schemeClr val="tx1"/>
                </a:solidFill>
                <a:latin typeface="G마켓 산스 TTF Light" pitchFamily="2" charset="-127"/>
                <a:ea typeface="G마켓 산스 TTF Light" pitchFamily="2" charset="-127"/>
              </a:rPr>
              <a:t>?</a:t>
            </a:r>
            <a:endParaRPr lang="ko-KR" altLang="en-US" dirty="0">
              <a:solidFill>
                <a:schemeClr val="tx1"/>
              </a:solidFill>
              <a:latin typeface="G마켓 산스 TTF Light" pitchFamily="2" charset="-127"/>
              <a:ea typeface="G마켓 산스 TTF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0609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공공미술 작품의 특징과 의미 기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록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하기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작품 </a:t>
            </a:r>
            <a:r>
              <a:rPr lang="en-US" altLang="ko-KR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19761" y="1209262"/>
            <a:ext cx="11086551" cy="3046988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작가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: </a:t>
            </a:r>
            <a:r>
              <a:rPr lang="ko-KR" altLang="en-US" sz="2400" spc="-147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리크리트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 </a:t>
            </a:r>
            <a:r>
              <a:rPr lang="ko-KR" altLang="en-US" sz="2400" spc="-147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티라바니자</a:t>
            </a:r>
            <a:endParaRPr lang="en-US" altLang="ko-KR" sz="24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</a:endParaRPr>
          </a:p>
          <a:p>
            <a:pPr marL="457200" indent="-457200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작품 제목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: </a:t>
            </a:r>
            <a:r>
              <a:rPr lang="ko-KR" altLang="en-US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무제 </a:t>
            </a:r>
            <a:r>
              <a:rPr lang="en-US" altLang="ko-KR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2007(</a:t>
            </a:r>
            <a:r>
              <a:rPr lang="ko-KR" altLang="en-US" sz="2400" i="1" spc="-147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티하우스</a:t>
            </a:r>
            <a:r>
              <a:rPr lang="en-US" altLang="ko-KR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)</a:t>
            </a:r>
          </a:p>
          <a:p>
            <a:pPr marL="457200" indent="-457200" algn="just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제작 의도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: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작가는 예술이 사람들 사이의 소통과 만남을 가능하게 한다고 오랫동안 생각해 왔어요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작품 </a:t>
            </a:r>
            <a:r>
              <a:rPr lang="en-US" altLang="ko-KR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&lt;</a:t>
            </a:r>
            <a:r>
              <a:rPr lang="ko-KR" altLang="en-US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무제 </a:t>
            </a:r>
            <a:r>
              <a:rPr lang="en-US" altLang="ko-KR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2007(</a:t>
            </a:r>
            <a:r>
              <a:rPr lang="ko-KR" altLang="en-US" sz="2400" i="1" spc="-147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티하우스</a:t>
            </a:r>
            <a:r>
              <a:rPr lang="en-US" altLang="ko-KR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)&gt;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는 한국의 전통가옥을 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45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도 기울여 설치하여 다실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(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찻집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)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에서 차를 마시며 이야기를 나누는 모습을 떠올리게 해요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실제로 </a:t>
            </a:r>
            <a:r>
              <a:rPr lang="ko-KR" altLang="en-US" sz="2400" i="1" spc="-147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티하우스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 안에서 차를 마실 수는 없지만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,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이 작품은 사람들이 함께 모여 이야기를 나누고 즐거운 시간을 보내기를 바라는 작가의 마음을 담고 있어요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여러분도 가족이나 친구와 함께 이곳에 방문해서 서로의 이야기에 귀 기울여 보는 시간을 갖는 건 어때요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?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/>
        </p:blipFill>
        <p:spPr>
          <a:xfrm>
            <a:off x="869613" y="4373445"/>
            <a:ext cx="3511887" cy="2077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" t="8358" b="10620"/>
          <a:stretch/>
        </p:blipFill>
        <p:spPr>
          <a:xfrm>
            <a:off x="4381500" y="4388415"/>
            <a:ext cx="3509768" cy="20625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4" t="9212" r="2011" b="10915"/>
          <a:stretch/>
        </p:blipFill>
        <p:spPr>
          <a:xfrm>
            <a:off x="7891268" y="4388415"/>
            <a:ext cx="3483511" cy="20625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직사각형 9"/>
          <p:cNvSpPr/>
          <p:nvPr/>
        </p:nvSpPr>
        <p:spPr>
          <a:xfrm>
            <a:off x="7621329" y="6450947"/>
            <a:ext cx="4391541" cy="32316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사진 출처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: APAP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홈페이지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9495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공공미술 작품의 특징과 의미 기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록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하기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작품 </a:t>
            </a:r>
            <a:r>
              <a:rPr lang="en-US" altLang="ko-KR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19761" y="1235594"/>
            <a:ext cx="10999139" cy="3046988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작가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: </a:t>
            </a:r>
            <a:r>
              <a:rPr lang="ko-KR" altLang="en-US" sz="2400" spc="-147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안젤라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 블록</a:t>
            </a:r>
            <a:endParaRPr lang="en-US" altLang="ko-KR" sz="24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</a:endParaRPr>
          </a:p>
          <a:p>
            <a:pPr marL="457200" indent="-457200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작품 제목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: </a:t>
            </a:r>
            <a:r>
              <a:rPr lang="ko-KR" altLang="en-US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헌화</a:t>
            </a:r>
            <a:r>
              <a:rPr lang="en-US" altLang="ko-KR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(</a:t>
            </a:r>
            <a:r>
              <a:rPr lang="ko-KR" altLang="en-US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獻花</a:t>
            </a:r>
            <a:r>
              <a:rPr lang="en-US" altLang="ko-KR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)</a:t>
            </a:r>
          </a:p>
          <a:p>
            <a:pPr marL="457200" indent="-457200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제작 의도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: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작가는 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‘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상징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’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을 이용해 주제를 전하고자 했어요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 &lt;</a:t>
            </a:r>
            <a:r>
              <a:rPr lang="ko-KR" altLang="en-US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헌화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&gt;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라는 작품에는 북한을 대표하는 목련 꽃잎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,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남한의 상징인 무궁화의 꽃 수술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,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안양시를 나타내는 은행나무 잎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,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길가에 흔히 볼 수 있는 민들레에서 줄기를 가져왔답니다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이 작품은 사람들이 많이 다니는 교차로에 설치되어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,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관람하는 사람들이 작품을 보고 다양한 생각을 나누고 재미있는 토론이 생기길 바라는 마음을 담고 있어요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여러분이 작가라면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,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어떤 의미 있는 상징들을 모아 작품을 만들고 싶나요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?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08" t="18408" r="23465" b="21889"/>
          <a:stretch/>
        </p:blipFill>
        <p:spPr>
          <a:xfrm>
            <a:off x="5629276" y="4572691"/>
            <a:ext cx="2973200" cy="18662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6" t="48175" r="4667" b="6016"/>
          <a:stretch/>
        </p:blipFill>
        <p:spPr>
          <a:xfrm>
            <a:off x="3143250" y="4552951"/>
            <a:ext cx="2486025" cy="18859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61" y="4572691"/>
            <a:ext cx="2509190" cy="18662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5" t="47918" r="5588" b="7499"/>
          <a:stretch/>
        </p:blipFill>
        <p:spPr>
          <a:xfrm>
            <a:off x="8602476" y="4572691"/>
            <a:ext cx="2621995" cy="18662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직사각형 10"/>
          <p:cNvSpPr/>
          <p:nvPr/>
        </p:nvSpPr>
        <p:spPr>
          <a:xfrm>
            <a:off x="7621329" y="6450947"/>
            <a:ext cx="4391541" cy="32316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사진 출처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: APAP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홈페이지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6999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공공미술 작품의 특징과 의미 기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록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하기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작품 </a:t>
            </a:r>
            <a:r>
              <a:rPr lang="en-US" altLang="ko-KR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19761" y="1344392"/>
            <a:ext cx="10999139" cy="267765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457200" indent="-457200" algn="just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작가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: </a:t>
            </a:r>
            <a:r>
              <a:rPr lang="ko-KR" altLang="en-US" sz="2400" spc="-147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리암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 </a:t>
            </a:r>
            <a:r>
              <a:rPr lang="ko-KR" altLang="en-US" sz="2400" spc="-147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길릭</a:t>
            </a:r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</a:endParaRPr>
          </a:p>
          <a:p>
            <a:pPr marL="457200" indent="-457200" algn="just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작품 제목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: </a:t>
            </a:r>
            <a:r>
              <a:rPr lang="ko-KR" altLang="en-US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안양광장을 위한 사회적 구조물의 제안</a:t>
            </a:r>
            <a:endParaRPr lang="en-US" altLang="ko-KR" sz="2400" i="1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</a:endParaRPr>
          </a:p>
          <a:p>
            <a:pPr marL="457200" indent="-457200" algn="just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제작 의도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: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작가는 평소 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‘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공공 장소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’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에 많은 관심을 가지고 있었어요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그래서 공공 장소에 설치할 작품을 만들었지요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 &lt;</a:t>
            </a:r>
            <a:r>
              <a:rPr lang="ko-KR" altLang="en-US" sz="2400" i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안양광장을 위한 사회적 구조물의 제안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&gt;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작품은 아직 완성되지 않은 어떤 구조물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(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예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: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건물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)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의 가능성을 보여주는 동시에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,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 지나가는 사람들이 잠시 앉아 쉴 수 있는 의자의 기능도 갖고 있어요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바쁜 도시 생활 속에서 사람들은 이 완성되지 않은 구조물에 앉아서 어떤 이야기를 나누게 될까요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?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7" t="30656" r="15386" b="10544"/>
          <a:stretch/>
        </p:blipFill>
        <p:spPr>
          <a:xfrm>
            <a:off x="990601" y="4584504"/>
            <a:ext cx="3110369" cy="18076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670" y="4584503"/>
            <a:ext cx="2711543" cy="18076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965" y="4584503"/>
            <a:ext cx="2711543" cy="18076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직사각형 9"/>
          <p:cNvSpPr/>
          <p:nvPr/>
        </p:nvSpPr>
        <p:spPr>
          <a:xfrm>
            <a:off x="7621329" y="6450947"/>
            <a:ext cx="4391541" cy="32316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사진 출처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: APAP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홈페이지</a:t>
            </a:r>
            <a:r>
              <a:rPr lang="en-US" altLang="ko-KR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1500" spc="-147" dirty="0" smtClean="0">
                <a:solidFill>
                  <a:schemeClr val="tx1"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9163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공공미술 작품의 특징과 의미 기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록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하기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평가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1" y="1290878"/>
            <a:ext cx="8915400" cy="501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25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리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공공미술의 개념과 역할을 생각하고 발표하기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개념 정리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19761" y="1990722"/>
            <a:ext cx="10999139" cy="138499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「지역 미술 여행」단원을 통해 공공미술이 무엇인지 알게 되었나요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?</a:t>
            </a: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여러분이 생각하는 공공미술의 의미를 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1</a:t>
            </a:r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문장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~3</a:t>
            </a:r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문장으로 써서 </a:t>
            </a:r>
            <a:endParaRPr lang="en-US" altLang="ko-KR" sz="28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</a:endParaRP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친구들에게 공유하고 발표해봅시다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40078" y="4003216"/>
            <a:ext cx="10999139" cy="954107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ko-KR" altLang="en-US" sz="2800" i="1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예시</a:t>
            </a:r>
            <a:r>
              <a:rPr lang="en-US" altLang="ko-KR" sz="2800" i="1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) </a:t>
            </a:r>
            <a:r>
              <a:rPr lang="ko-KR" altLang="en-US" sz="2800" i="1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공공미술은                                                   이라고 생각합니다</a:t>
            </a:r>
            <a:r>
              <a:rPr lang="en-US" altLang="ko-KR" sz="2800" i="1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2800" i="1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        왜냐하면                                                    하기 때문입니다</a:t>
            </a:r>
            <a:r>
              <a:rPr lang="en-US" altLang="ko-KR" sz="2800" i="1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.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3657600" y="4480269"/>
            <a:ext cx="47720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276600" y="4842219"/>
            <a:ext cx="51530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57" t="37397" r="25127" b="33892"/>
          <a:stretch/>
        </p:blipFill>
        <p:spPr>
          <a:xfrm>
            <a:off x="4727387" y="5076826"/>
            <a:ext cx="2583885" cy="132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99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7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단원을 마치며</a:t>
            </a:r>
            <a:endParaRPr lang="ko-KR" altLang="en-US" sz="27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단원 정리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00078" y="1589229"/>
            <a:ext cx="11106233" cy="452431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just">
              <a:defRPr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오늘은 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&lt;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지역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미술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여행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공공미술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)&gt;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단원의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여섯 번째 시간으로 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</a:t>
            </a:r>
          </a:p>
          <a:p>
            <a:pPr lvl="0" algn="just">
              <a:defRPr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단원의 마지막 수업이었습니다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 </a:t>
            </a:r>
          </a:p>
          <a:p>
            <a:pPr lvl="0" algn="just">
              <a:defRPr/>
            </a:pPr>
            <a:endParaRPr lang="en-US" altLang="ko-KR" sz="2400" spc="-147" dirty="0" smtClean="0">
              <a:solidFill>
                <a:srgbClr val="C00000">
                  <a:alpha val="99000"/>
                </a:srgbClr>
              </a:solidFill>
              <a:latin typeface="+mj-ea"/>
              <a:ea typeface="+mj-ea"/>
            </a:endParaRPr>
          </a:p>
          <a:p>
            <a:pPr lvl="0" algn="just">
              <a:defRPr/>
            </a:pPr>
            <a:r>
              <a:rPr lang="ko-KR" altLang="en-US" sz="2400" spc="-147" dirty="0" smtClean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지역 미술 여행</a:t>
            </a:r>
            <a:r>
              <a:rPr lang="en-US" altLang="ko-KR" sz="2400" spc="-147" dirty="0" smtClean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400" spc="-147" dirty="0" smtClean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공공미술</a:t>
            </a:r>
            <a:r>
              <a:rPr lang="en-US" altLang="ko-KR" sz="2400" spc="-147" dirty="0" smtClean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)&gt; </a:t>
            </a:r>
            <a:r>
              <a:rPr lang="ko-KR" altLang="en-US" sz="2400" spc="-147" dirty="0" smtClean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단원에서 공부한 내용 중에서 가장 기억에 남거나 재미있었던 활동은 무엇인가요</a:t>
            </a:r>
            <a:r>
              <a:rPr lang="en-US" altLang="ko-KR" sz="2400" spc="-147" dirty="0" smtClean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  <a:p>
            <a:pPr lvl="0" algn="just">
              <a:defRPr/>
            </a:pPr>
            <a:endParaRPr lang="en-US" altLang="ko-KR" sz="2400" spc="-147" dirty="0">
              <a:solidFill>
                <a:srgbClr val="C00000">
                  <a:alpha val="99000"/>
                </a:srgbClr>
              </a:solidFill>
              <a:latin typeface="+mj-ea"/>
              <a:ea typeface="+mj-ea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1</a:t>
            </a:r>
            <a:r>
              <a:rPr lang="ko-KR" altLang="en-US" sz="2400" spc="-147" dirty="0" err="1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차시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: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나무가 예술이네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!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우리 동네에는 어떤 나무들이 자라고 있을까요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?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2</a:t>
            </a:r>
            <a:r>
              <a:rPr lang="ko-KR" altLang="en-US" sz="2400" spc="-147" dirty="0" err="1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차시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: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동네 식물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,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우리에게 어떤 이야기를 들려줄까요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?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3</a:t>
            </a:r>
            <a:r>
              <a:rPr lang="ko-KR" altLang="en-US" sz="2400" spc="-147" dirty="0" err="1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차시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: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동물도 감정이 있어요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!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슬픈 동물은 어떤 얼굴일까요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?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4</a:t>
            </a:r>
            <a:r>
              <a:rPr lang="ko-KR" altLang="en-US" sz="2400" spc="-147" dirty="0" err="1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차시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: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안녕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,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우리 동네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!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내가 사는 곳을 어떻게 아끼고 사랑할 수 있을까요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?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5</a:t>
            </a:r>
            <a:r>
              <a:rPr lang="ko-KR" altLang="en-US" sz="2400" spc="-147" dirty="0" err="1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차시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: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더하기 빼기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!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우리 동네에 무엇을 더하고 빼면 좋을지 함께 생각해볼까요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?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6</a:t>
            </a:r>
            <a:r>
              <a:rPr lang="ko-KR" altLang="en-US" sz="2400" spc="-147" dirty="0" err="1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차시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: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공공미술과 만나요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!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우리 동네에서 공공미술 작품을 찾아볼까요</a:t>
            </a:r>
            <a:r>
              <a:rPr lang="en-US" altLang="ko-KR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98994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7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단원을 마치며</a:t>
            </a:r>
            <a:endParaRPr lang="ko-KR" altLang="en-US" sz="27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단원 정리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00078" y="2252604"/>
            <a:ext cx="11106233" cy="3046988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just">
              <a:defRPr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이번 단원 학습을 통해 미술이 멀리 있는 것이 아니라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우리 일상과 밀접하게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연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결되어 있다는 것을 배웠어요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앞으로 여러분이 사는 지역에 더 많은 관심을 가지고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지역사회를 위해 어떤 노력을 해볼 수 있을지 생각해보기를 바랍니다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just">
              <a:defRPr/>
            </a:pPr>
            <a:endParaRPr lang="en-US" altLang="ko-KR" sz="24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ctr">
              <a:defRPr/>
            </a:pPr>
            <a:r>
              <a:rPr lang="ko-KR" altLang="en-US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동물</a:t>
            </a:r>
            <a:r>
              <a:rPr lang="en-US" altLang="ko-KR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-</a:t>
            </a:r>
            <a:r>
              <a:rPr lang="ko-KR" altLang="en-US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식물</a:t>
            </a:r>
            <a:r>
              <a:rPr lang="en-US" altLang="ko-KR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-</a:t>
            </a:r>
            <a:r>
              <a:rPr lang="ko-KR" altLang="en-US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환경을 사랑하는 미술</a:t>
            </a:r>
            <a:r>
              <a:rPr lang="en-US" altLang="ko-KR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, </a:t>
            </a:r>
          </a:p>
          <a:p>
            <a:pPr lvl="0" algn="ctr">
              <a:defRPr/>
            </a:pPr>
            <a:r>
              <a:rPr lang="ko-KR" altLang="en-US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나의 이야기에 귀 기울이는 미술</a:t>
            </a:r>
            <a:r>
              <a:rPr lang="en-US" altLang="ko-KR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, </a:t>
            </a:r>
          </a:p>
          <a:p>
            <a:pPr lvl="0" algn="ctr">
              <a:defRPr/>
            </a:pPr>
            <a:r>
              <a:rPr lang="ko-KR" altLang="en-US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우리들의 삶과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함께 하는 </a:t>
            </a:r>
            <a:r>
              <a:rPr lang="ko-KR" altLang="en-US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미술</a:t>
            </a:r>
            <a:r>
              <a:rPr lang="en-US" altLang="ko-KR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!</a:t>
            </a:r>
            <a:endParaRPr lang="en-US" altLang="ko-KR" sz="2400" spc="-147" dirty="0" smtClean="0">
              <a:solidFill>
                <a:srgbClr val="C00000">
                  <a:alpha val="99000"/>
                </a:srgbClr>
              </a:solidFill>
              <a:latin typeface="+mj-ea"/>
              <a:ea typeface="+mj-ea"/>
            </a:endParaRPr>
          </a:p>
          <a:p>
            <a:pPr lvl="0" algn="ctr">
              <a:defRPr/>
            </a:pPr>
            <a:r>
              <a:rPr lang="ko-KR" altLang="en-US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이런 미술</a:t>
            </a:r>
            <a:r>
              <a:rPr lang="en-US" altLang="ko-KR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, </a:t>
            </a:r>
            <a:r>
              <a:rPr lang="ko-KR" altLang="en-US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함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께</a:t>
            </a:r>
            <a:r>
              <a:rPr lang="ko-KR" altLang="en-US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 배워보지 않을래요</a:t>
            </a:r>
            <a:r>
              <a:rPr lang="en-US" altLang="ko-KR" sz="2400" spc="-147" dirty="0" smtClean="0">
                <a:solidFill>
                  <a:srgbClr val="C00000">
                    <a:alpha val="99000"/>
                  </a:srgbClr>
                </a:solidFill>
                <a:latin typeface="+mj-ea"/>
                <a:ea typeface="+mj-ea"/>
              </a:rPr>
              <a:t>? </a:t>
            </a:r>
            <a:endParaRPr lang="en-US" altLang="ko-KR" sz="2400" spc="-147" dirty="0">
              <a:solidFill>
                <a:srgbClr val="C00000">
                  <a:alpha val="99000"/>
                </a:srgbClr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563" y="5209350"/>
            <a:ext cx="1223796" cy="122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92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형성평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가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3330454" y="2955578"/>
            <a:ext cx="5569217" cy="138499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오늘 배운 내용을 퀴즈로 복습해볼까요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</a:p>
          <a:p>
            <a:pPr lvl="0" algn="ctr">
              <a:defRPr/>
            </a:pPr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모두 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3</a:t>
            </a:r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문제 </a:t>
            </a: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준비되어 있습니다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ctr">
              <a:defRPr/>
            </a:pP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재미있게 참여해주세요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  <a:endParaRPr lang="ko-KR" altLang="en-US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2148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853864" y="2381250"/>
            <a:ext cx="74372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i="1" dirty="0" smtClean="0"/>
              <a:t>&lt;</a:t>
            </a:r>
            <a:r>
              <a:rPr lang="ko-KR" altLang="en-US" sz="2400" i="1" dirty="0" smtClean="0"/>
              <a:t>무제 </a:t>
            </a:r>
            <a:r>
              <a:rPr lang="en-US" altLang="ko-KR" sz="2400" i="1" dirty="0" smtClean="0"/>
              <a:t>2007: </a:t>
            </a:r>
            <a:r>
              <a:rPr lang="ko-KR" altLang="en-US" sz="2400" i="1" dirty="0" err="1" smtClean="0"/>
              <a:t>티하우스</a:t>
            </a:r>
            <a:r>
              <a:rPr lang="en-US" altLang="ko-KR" sz="2400" i="1" dirty="0" smtClean="0"/>
              <a:t>&gt;</a:t>
            </a:r>
            <a:r>
              <a:rPr lang="ko-KR" altLang="en-US" sz="2400" dirty="0" smtClean="0"/>
              <a:t>를 만든 </a:t>
            </a:r>
            <a:r>
              <a:rPr lang="ko-KR" altLang="en-US" sz="2400" dirty="0" err="1" smtClean="0"/>
              <a:t>리크리트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티라바니자</a:t>
            </a:r>
            <a:r>
              <a:rPr lang="ko-KR" altLang="en-US" sz="2400" dirty="0" smtClean="0"/>
              <a:t> 작가는 </a:t>
            </a:r>
            <a:r>
              <a:rPr lang="en-US" altLang="ko-KR" sz="2400" dirty="0" smtClean="0"/>
              <a:t>1990</a:t>
            </a:r>
            <a:r>
              <a:rPr lang="ko-KR" altLang="en-US" sz="2400" dirty="0" smtClean="0"/>
              <a:t>년대부터 음식을 대접하는 프로젝트를 진행해 왔어요</a:t>
            </a:r>
            <a:r>
              <a:rPr lang="en-US" altLang="ko-KR" sz="2400" dirty="0" smtClean="0"/>
              <a:t>. </a:t>
            </a:r>
            <a:r>
              <a:rPr lang="ko-KR" altLang="en-US" sz="2400" dirty="0" smtClean="0"/>
              <a:t>작가가 관객들에게 제공한 태국 음식은 무엇인가요</a:t>
            </a:r>
            <a:r>
              <a:rPr lang="en-US" altLang="ko-KR" sz="2400" dirty="0" smtClean="0"/>
              <a:t>?</a:t>
            </a:r>
          </a:p>
          <a:p>
            <a:pPr algn="ctr"/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2400" dirty="0"/>
              <a:t> </a:t>
            </a:r>
            <a:r>
              <a:rPr lang="ko-KR" altLang="en-US" sz="2400" dirty="0" smtClean="0"/>
              <a:t>잔치국수 </a:t>
            </a:r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sz="2400" dirty="0"/>
              <a:t> </a:t>
            </a:r>
            <a:r>
              <a:rPr lang="ko-KR" altLang="en-US" sz="2400" dirty="0" smtClean="0"/>
              <a:t>라면</a:t>
            </a:r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sz="2400" dirty="0"/>
              <a:t> </a:t>
            </a:r>
            <a:r>
              <a:rPr lang="ko-KR" altLang="en-US" sz="2400" dirty="0" smtClean="0"/>
              <a:t>스파게티</a:t>
            </a:r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sz="2400" dirty="0"/>
              <a:t> </a:t>
            </a:r>
            <a:r>
              <a:rPr lang="ko-KR" altLang="en-US" sz="2400" dirty="0" err="1" smtClean="0"/>
              <a:t>팟타이</a:t>
            </a:r>
            <a:endParaRPr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800148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5258158" y="3459414"/>
            <a:ext cx="1666162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바탕"/>
                <a:ea typeface="바탕"/>
              </a:rPr>
              <a:t>④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바탕"/>
                <a:ea typeface="바탕"/>
              </a:rPr>
              <a:t> </a:t>
            </a:r>
            <a:r>
              <a:rPr lang="ko-KR" altLang="en-US" sz="3000" spc="-147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팟타</a:t>
            </a:r>
            <a:r>
              <a:rPr lang="ko-KR" altLang="en-US" sz="3000" spc="-147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이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6158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035300" y="2419350"/>
            <a:ext cx="6459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 smtClean="0"/>
              <a:t>안젤라</a:t>
            </a:r>
            <a:r>
              <a:rPr lang="ko-KR" altLang="en-US" sz="2400" dirty="0" smtClean="0"/>
              <a:t> 블록 작가의 </a:t>
            </a:r>
            <a:r>
              <a:rPr lang="en-US" altLang="ko-KR" sz="2400" i="1" dirty="0" smtClean="0"/>
              <a:t>&lt;</a:t>
            </a:r>
            <a:r>
              <a:rPr lang="ko-KR" altLang="en-US" sz="2400" i="1" dirty="0" smtClean="0"/>
              <a:t>헌화</a:t>
            </a:r>
            <a:r>
              <a:rPr lang="en-US" altLang="ko-KR" sz="2400" i="1" dirty="0" smtClean="0"/>
              <a:t>&gt;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작품에 포함된 </a:t>
            </a:r>
            <a:endParaRPr lang="en-US" altLang="ko-KR" sz="2400" dirty="0" smtClean="0"/>
          </a:p>
          <a:p>
            <a:pPr algn="ctr"/>
            <a:r>
              <a:rPr lang="ko-KR" altLang="en-US" sz="2400" dirty="0" smtClean="0"/>
              <a:t>식물은 무엇인가요</a:t>
            </a:r>
            <a:r>
              <a:rPr lang="en-US" altLang="ko-KR" sz="2400" dirty="0" smtClean="0"/>
              <a:t>?(3</a:t>
            </a:r>
            <a:r>
              <a:rPr lang="ko-KR" altLang="en-US" sz="2400" dirty="0" smtClean="0"/>
              <a:t>가지</a:t>
            </a:r>
            <a:r>
              <a:rPr lang="en-US" altLang="ko-KR" sz="2400" dirty="0" smtClean="0"/>
              <a:t>)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ko-KR" sz="2400" dirty="0"/>
              <a:t> </a:t>
            </a:r>
            <a:r>
              <a:rPr lang="ko-KR" altLang="en-US" sz="2400" dirty="0" smtClean="0"/>
              <a:t>은행나무</a:t>
            </a:r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sz="2400" dirty="0"/>
              <a:t> </a:t>
            </a:r>
            <a:r>
              <a:rPr lang="ko-KR" altLang="en-US" sz="2400" dirty="0" smtClean="0"/>
              <a:t>장미</a:t>
            </a:r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sz="2400" dirty="0"/>
              <a:t> </a:t>
            </a:r>
            <a:r>
              <a:rPr lang="ko-KR" altLang="en-US" sz="2400" dirty="0" smtClean="0"/>
              <a:t>무궁화</a:t>
            </a:r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sz="2400" dirty="0"/>
              <a:t> </a:t>
            </a:r>
            <a:r>
              <a:rPr lang="ko-KR" altLang="en-US" sz="2400" dirty="0" smtClean="0"/>
              <a:t>목련</a:t>
            </a:r>
            <a:endParaRPr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4131265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3286125" y="3474440"/>
            <a:ext cx="5619750" cy="553998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>
              <a:defRPr/>
            </a:pP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① 은행나무</a:t>
            </a:r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③ 무궁화</a:t>
            </a:r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④ 목련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29260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800349" y="2400300"/>
            <a:ext cx="65913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 smtClean="0"/>
              <a:t>리암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길릭</a:t>
            </a:r>
            <a:r>
              <a:rPr lang="ko-KR" altLang="en-US" sz="2400" dirty="0" smtClean="0"/>
              <a:t> 작가가 만든</a:t>
            </a:r>
            <a:endParaRPr lang="en-US" altLang="ko-KR" sz="2400" dirty="0" smtClean="0"/>
          </a:p>
          <a:p>
            <a:pPr algn="ctr"/>
            <a:r>
              <a:rPr lang="ko-KR" altLang="en-US" sz="2400" i="1" dirty="0" smtClean="0"/>
              <a:t> </a:t>
            </a:r>
            <a:r>
              <a:rPr lang="en-US" altLang="ko-KR" sz="2400" i="1" dirty="0" smtClean="0"/>
              <a:t>&lt;</a:t>
            </a:r>
            <a:r>
              <a:rPr lang="ko-KR" altLang="en-US" sz="2400" i="1" dirty="0" smtClean="0"/>
              <a:t>안양광장을 위한 사회적 구조물의 제안</a:t>
            </a:r>
            <a:r>
              <a:rPr lang="en-US" altLang="ko-KR" sz="2400" i="1" dirty="0" smtClean="0"/>
              <a:t>&gt;</a:t>
            </a:r>
          </a:p>
          <a:p>
            <a:pPr algn="ctr"/>
            <a:r>
              <a:rPr lang="ko-KR" altLang="en-US" sz="2400" dirty="0" smtClean="0"/>
              <a:t>작품에는 어떤 재료가 사용되었나요</a:t>
            </a:r>
            <a:r>
              <a:rPr lang="en-US" altLang="ko-KR" sz="2400" dirty="0" smtClean="0"/>
              <a:t>?</a:t>
            </a:r>
          </a:p>
          <a:p>
            <a:r>
              <a:rPr lang="ko-KR" altLang="en-US" sz="2400" dirty="0" smtClean="0">
                <a:latin typeface="바탕"/>
                <a:ea typeface="바탕"/>
              </a:rPr>
              <a:t>① </a:t>
            </a:r>
            <a:r>
              <a:rPr lang="ko-KR" altLang="en-US" sz="2400" dirty="0" smtClean="0"/>
              <a:t>고무</a:t>
            </a:r>
            <a:endParaRPr lang="en-US" altLang="ko-KR" sz="2400" dirty="0" smtClean="0"/>
          </a:p>
          <a:p>
            <a:r>
              <a:rPr lang="ko-KR" altLang="en-US" sz="2400" dirty="0" smtClean="0">
                <a:latin typeface="바탕"/>
                <a:ea typeface="바탕"/>
              </a:rPr>
              <a:t>② </a:t>
            </a:r>
            <a:r>
              <a:rPr lang="ko-KR" altLang="en-US" sz="2400" dirty="0" smtClean="0"/>
              <a:t>나</a:t>
            </a:r>
            <a:r>
              <a:rPr lang="ko-KR" altLang="en-US" sz="2400" dirty="0"/>
              <a:t>무</a:t>
            </a:r>
            <a:r>
              <a:rPr lang="ko-KR" altLang="en-US" sz="2400" dirty="0" smtClean="0"/>
              <a:t>      </a:t>
            </a:r>
            <a:endParaRPr lang="en-US" altLang="ko-KR" sz="2400" dirty="0" smtClean="0"/>
          </a:p>
          <a:p>
            <a:r>
              <a:rPr lang="ko-KR" altLang="en-US" sz="2400" dirty="0" smtClean="0">
                <a:latin typeface="바탕"/>
                <a:ea typeface="바탕"/>
              </a:rPr>
              <a:t>③ </a:t>
            </a:r>
            <a:r>
              <a:rPr lang="ko-KR" altLang="en-US" sz="2400" dirty="0" smtClean="0"/>
              <a:t>유</a:t>
            </a:r>
            <a:r>
              <a:rPr lang="ko-KR" altLang="en-US" sz="2400" dirty="0"/>
              <a:t>리</a:t>
            </a:r>
            <a:r>
              <a:rPr lang="ko-KR" altLang="en-US" sz="2400" dirty="0" smtClean="0"/>
              <a:t>       </a:t>
            </a:r>
            <a:endParaRPr lang="en-US" altLang="ko-KR" sz="2400" dirty="0" smtClean="0"/>
          </a:p>
          <a:p>
            <a:r>
              <a:rPr lang="ko-KR" altLang="en-US" sz="2400" dirty="0" smtClean="0">
                <a:latin typeface="바탕"/>
                <a:ea typeface="바탕"/>
              </a:rPr>
              <a:t>④ </a:t>
            </a:r>
            <a:r>
              <a:rPr lang="ko-KR" altLang="en-US" sz="2400" dirty="0"/>
              <a:t>철</a:t>
            </a:r>
            <a:endParaRPr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2038306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4980071" y="3459414"/>
            <a:ext cx="2222340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② 나무</a:t>
            </a:r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④ 철</a:t>
            </a:r>
          </a:p>
        </p:txBody>
      </p:sp>
    </p:spTree>
    <p:extLst>
      <p:ext uri="{BB962C8B-B14F-4D97-AF65-F5344CB8AC3E}">
        <p14:creationId xmlns:p14="http://schemas.microsoft.com/office/powerpoint/2010/main" val="755754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7712B"/>
      </a:accent6>
      <a:hlink>
        <a:srgbClr val="0563C1"/>
      </a:hlink>
      <a:folHlink>
        <a:srgbClr val="954F72"/>
      </a:folHlink>
    </a:clrScheme>
    <a:fontScheme name="내용 4개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Calibri"/>
            <a:cs typeface="Calibri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Calibri"/>
            <a:cs typeface="Calibri"/>
          </a:defRPr>
        </a:defPPr>
      </a:lst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</TotalTime>
  <Words>950</Words>
  <Application>Microsoft Office PowerPoint</Application>
  <PresentationFormat>사용자 지정</PresentationFormat>
  <Paragraphs>154</Paragraphs>
  <Slides>28</Slides>
  <Notes>9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28</vt:i4>
      </vt:variant>
    </vt:vector>
  </HeadingPairs>
  <TitlesOfParts>
    <vt:vector size="30" baseType="lpstr">
      <vt:lpstr>Office Theme</vt:lpstr>
      <vt:lpstr>내용 4개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활동 1. 지도를 활용하여 공공미술 작품을 찾고 감상하기</vt:lpstr>
      <vt:lpstr>활동 2. 공공미술 작품의 특징과 의미 기록하기</vt:lpstr>
      <vt:lpstr>활동 2. 공공미술 작품의 특징과 의미 기록하기</vt:lpstr>
      <vt:lpstr>활동 2. 공공미술 작품의 특징과 의미 기록하기</vt:lpstr>
      <vt:lpstr>활동 2. 공공미술 작품의 특징과 의미 기록하기</vt:lpstr>
      <vt:lpstr>활동 2. 공공미술 작품의 특징과 의미 기록하기</vt:lpstr>
      <vt:lpstr>정리. 공공미술의 개념과 역할을 생각하고 발표하기</vt:lpstr>
      <vt:lpstr>단원을 마치며</vt:lpstr>
      <vt:lpstr>단원을 마치며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134</cp:revision>
  <dcterms:created xsi:type="dcterms:W3CDTF">2026-07-09T22:35:37Z</dcterms:created>
  <dcterms:modified xsi:type="dcterms:W3CDTF">2026-10-18T13:09:49Z</dcterms:modified>
  <cp:version/>
</cp:coreProperties>
</file>