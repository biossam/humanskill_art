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31"/>
  </p:notesMasterIdLst>
  <p:sldIdLst>
    <p:sldId id="256" r:id="rId3"/>
    <p:sldId id="265" r:id="rId4"/>
    <p:sldId id="278" r:id="rId5"/>
    <p:sldId id="351" r:id="rId6"/>
    <p:sldId id="352" r:id="rId7"/>
    <p:sldId id="354" r:id="rId8"/>
    <p:sldId id="355" r:id="rId9"/>
    <p:sldId id="356" r:id="rId10"/>
    <p:sldId id="358" r:id="rId11"/>
    <p:sldId id="359" r:id="rId12"/>
    <p:sldId id="360" r:id="rId13"/>
    <p:sldId id="266" r:id="rId14"/>
    <p:sldId id="322" r:id="rId15"/>
    <p:sldId id="361" r:id="rId16"/>
    <p:sldId id="362" r:id="rId17"/>
    <p:sldId id="363" r:id="rId18"/>
    <p:sldId id="365" r:id="rId19"/>
    <p:sldId id="364" r:id="rId20"/>
    <p:sldId id="300" r:id="rId21"/>
    <p:sldId id="366" r:id="rId22"/>
    <p:sldId id="270" r:id="rId23"/>
    <p:sldId id="293" r:id="rId24"/>
    <p:sldId id="343" r:id="rId25"/>
    <p:sldId id="344" r:id="rId26"/>
    <p:sldId id="348" r:id="rId27"/>
    <p:sldId id="349" r:id="rId28"/>
    <p:sldId id="350" r:id="rId29"/>
    <p:sldId id="295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-616" y="-76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=""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=""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=""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=""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=""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=""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=""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=""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=""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=""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=""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=""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=""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=""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jpeg"/><Relationship Id="rId4" Type="http://schemas.openxmlformats.org/officeDocument/2006/relationships/image" Target="../media/image16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jpeg"/><Relationship Id="rId5" Type="http://schemas.openxmlformats.org/officeDocument/2006/relationships/image" Target="../media/image20.jpeg"/><Relationship Id="rId4" Type="http://schemas.openxmlformats.org/officeDocument/2006/relationships/image" Target="../media/image1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4.jpeg"/><Relationship Id="rId4" Type="http://schemas.openxmlformats.org/officeDocument/2006/relationships/image" Target="../media/image23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=""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3043652"/>
            <a:ext cx="8902146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공공미술과 만나요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4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동네에서 공공미술 작품을 찾아볼까요</a:t>
            </a:r>
            <a:r>
              <a:rPr lang="en-US" altLang="ko-KR" sz="24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4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=""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=""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=""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=""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19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38540"/>
              <a:ext cx="3579128" cy="48474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36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작품 제목 퀴즈</a:t>
              </a:r>
              <a:endParaRPr lang="ko-KR" altLang="en-US" sz="36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4199204" y="3172185"/>
            <a:ext cx="3793603" cy="954107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 작품 사진을 보고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제목을 맞혀보세요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036087"/>
            <a:ext cx="3449081" cy="150810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err="1" smtClean="0">
                <a:solidFill>
                  <a:srgbClr val="C00000"/>
                </a:solidFill>
                <a:latin typeface="+mn-ea"/>
              </a:rPr>
              <a:t>헬로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안양 </a:t>
            </a:r>
            <a:r>
              <a:rPr lang="ko-KR" altLang="en-US" sz="2400" spc="-147" dirty="0" err="1" smtClean="0">
                <a:solidFill>
                  <a:srgbClr val="C00000"/>
                </a:solidFill>
                <a:latin typeface="+mn-ea"/>
              </a:rPr>
              <a:t>위드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  </a:t>
            </a:r>
            <a:r>
              <a:rPr lang="ko-KR" altLang="en-US" sz="2400" spc="-147" dirty="0" smtClean="0">
                <a:solidFill>
                  <a:schemeClr val="bg1"/>
                </a:solidFill>
                <a:latin typeface="+mn-ea"/>
              </a:rPr>
              <a:t>러브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 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  <a:p>
            <a:pPr algn="ctr"/>
            <a:endParaRPr lang="en-US" altLang="ko-KR" sz="2400" spc="-147" dirty="0">
              <a:solidFill>
                <a:srgbClr val="FF0000">
                  <a:alpha val="99000"/>
                </a:srgbClr>
              </a:solidFill>
              <a:latin typeface="+mn-ea"/>
            </a:endParaRPr>
          </a:p>
          <a:p>
            <a:pPr algn="ctr"/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힌트</a:t>
            </a:r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: </a:t>
            </a:r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바탕"/>
                <a:ea typeface="바탕"/>
              </a:rPr>
              <a:t>♥</a:t>
            </a:r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    </a:t>
            </a:r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      </a:t>
            </a:r>
            <a:endParaRPr lang="ko-KR" altLang="en-US" sz="2000" spc="-147" dirty="0">
              <a:solidFill>
                <a:srgbClr val="0070C0">
                  <a:alpha val="99000"/>
                </a:srgbClr>
              </a:solidFill>
              <a:latin typeface="+mn-ea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1" t="12696" r="16219" b="4884"/>
          <a:stretch/>
        </p:blipFill>
        <p:spPr>
          <a:xfrm>
            <a:off x="2482454" y="2169551"/>
            <a:ext cx="4624040" cy="3796446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4" name="직사각형 3"/>
          <p:cNvSpPr/>
          <p:nvPr/>
        </p:nvSpPr>
        <p:spPr>
          <a:xfrm>
            <a:off x="9258300" y="3486150"/>
            <a:ext cx="819150" cy="37207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1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FontTx/>
              <a:buNone/>
            </a:pPr>
            <a:endParaRPr kumimoji="1" lang="ko-KR" altLang="en-US" sz="1200" b="0" i="0" u="none" strike="noStrike" cap="none" normalizeH="0" baseline="0" smtClean="0">
              <a:solidFill>
                <a:schemeClr val="tx1"/>
              </a:solidFill>
              <a:effectLst/>
              <a:latin typeface="Calibri"/>
              <a:cs typeface="Calibri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5078968" y="5804414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220753"/>
            <a:ext cx="3449081" cy="1138773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err="1" smtClean="0">
                <a:solidFill>
                  <a:srgbClr val="C00000"/>
                </a:solidFill>
                <a:latin typeface="+mn-ea"/>
              </a:rPr>
              <a:t>헬로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안양 </a:t>
            </a:r>
            <a:r>
              <a:rPr lang="ko-KR" altLang="en-US" sz="2400" spc="-147" dirty="0" err="1" smtClean="0">
                <a:solidFill>
                  <a:srgbClr val="C00000"/>
                </a:solidFill>
                <a:latin typeface="+mn-ea"/>
              </a:rPr>
              <a:t>위드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  러브 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  <a:p>
            <a:pPr algn="ctr"/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          </a:t>
            </a:r>
            <a:endParaRPr lang="ko-KR" altLang="en-US" sz="2000" spc="-147" dirty="0">
              <a:solidFill>
                <a:srgbClr val="0070C0">
                  <a:alpha val="99000"/>
                </a:srgbClr>
              </a:solidFill>
              <a:latin typeface="+mn-ea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1" t="12696" r="16219" b="4884"/>
          <a:stretch/>
        </p:blipFill>
        <p:spPr>
          <a:xfrm>
            <a:off x="2482454" y="2169551"/>
            <a:ext cx="4624040" cy="3796446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5078968" y="5804414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4279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066865"/>
            <a:ext cx="3449081" cy="144655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티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(tea)  </a:t>
            </a:r>
            <a:r>
              <a:rPr lang="ko-KR" altLang="en-US" sz="2400" spc="-147" dirty="0" smtClean="0">
                <a:solidFill>
                  <a:schemeClr val="bg1"/>
                </a:solidFill>
                <a:latin typeface="+mn-ea"/>
              </a:rPr>
              <a:t>하우스</a:t>
            </a:r>
            <a:endParaRPr lang="en-US" altLang="ko-KR" sz="2400" spc="-147" dirty="0" smtClean="0">
              <a:solidFill>
                <a:schemeClr val="bg1"/>
              </a:solidFill>
              <a:latin typeface="+mn-ea"/>
            </a:endParaRPr>
          </a:p>
          <a:p>
            <a:pPr algn="ctr"/>
            <a:r>
              <a:rPr lang="en-US" altLang="ko-KR" sz="2000" spc="-147" dirty="0" smtClean="0">
                <a:solidFill>
                  <a:srgbClr val="C00000"/>
                </a:solidFill>
                <a:latin typeface="+mn-ea"/>
              </a:rPr>
              <a:t> </a:t>
            </a:r>
            <a:endParaRPr lang="en-US" altLang="ko-KR" sz="2000" spc="-147" dirty="0">
              <a:solidFill>
                <a:srgbClr val="C00000"/>
              </a:solidFill>
              <a:latin typeface="바탕"/>
              <a:ea typeface="바탕"/>
            </a:endParaRPr>
          </a:p>
          <a:p>
            <a:pPr algn="ctr"/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힌트</a:t>
            </a:r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: </a:t>
            </a:r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영어         </a:t>
            </a:r>
            <a:endParaRPr lang="ko-KR" altLang="en-US" sz="2000" spc="-147" dirty="0">
              <a:solidFill>
                <a:srgbClr val="0070C0">
                  <a:alpha val="99000"/>
                </a:srgbClr>
              </a:solidFill>
              <a:latin typeface="+mn-ea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8581508" y="3491387"/>
            <a:ext cx="1029217" cy="37207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1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FontTx/>
              <a:buNone/>
            </a:pPr>
            <a:endParaRPr kumimoji="1" lang="ko-KR" altLang="en-US" sz="1200" b="0" i="0" u="none" strike="noStrike" cap="none" normalizeH="0" baseline="0" smtClean="0">
              <a:solidFill>
                <a:schemeClr val="tx1"/>
              </a:solidFill>
              <a:effectLst/>
              <a:latin typeface="Calibri"/>
              <a:cs typeface="Calibri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74" t="18889" r="9940" b="7936"/>
          <a:stretch/>
        </p:blipFill>
        <p:spPr>
          <a:xfrm>
            <a:off x="2882603" y="2213444"/>
            <a:ext cx="3823742" cy="315339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4279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374641"/>
            <a:ext cx="3449081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티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(tea)  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하우스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74" t="18889" r="9940" b="7936"/>
          <a:stretch/>
        </p:blipFill>
        <p:spPr>
          <a:xfrm>
            <a:off x="2882603" y="2213444"/>
            <a:ext cx="3823742" cy="315339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180957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036087"/>
            <a:ext cx="3449081" cy="150810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chemeClr val="bg1"/>
                </a:solidFill>
                <a:latin typeface="+mn-ea"/>
              </a:rPr>
              <a:t>거울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 미로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  <a:p>
            <a:pPr algn="ctr"/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  <a:p>
            <a:pPr algn="ctr"/>
            <a:r>
              <a:rPr lang="ko-KR" altLang="en-US" sz="2000" spc="-147" dirty="0">
                <a:solidFill>
                  <a:srgbClr val="0070C0"/>
                </a:solidFill>
                <a:latin typeface="+mn-ea"/>
              </a:rPr>
              <a:t>힌</a:t>
            </a:r>
            <a:r>
              <a:rPr lang="ko-KR" altLang="en-US" sz="2000" spc="-147" dirty="0" smtClean="0">
                <a:solidFill>
                  <a:srgbClr val="0070C0"/>
                </a:solidFill>
                <a:latin typeface="+mn-ea"/>
              </a:rPr>
              <a:t>트</a:t>
            </a:r>
            <a:r>
              <a:rPr lang="en-US" altLang="ko-KR" sz="2000" spc="-147" dirty="0" smtClean="0">
                <a:solidFill>
                  <a:srgbClr val="0070C0"/>
                </a:solidFill>
                <a:latin typeface="+mn-ea"/>
              </a:rPr>
              <a:t>: </a:t>
            </a:r>
            <a:r>
              <a:rPr lang="ko-KR" altLang="en-US" sz="2000" spc="-147" dirty="0">
                <a:solidFill>
                  <a:srgbClr val="0070C0"/>
                </a:solidFill>
                <a:latin typeface="+mn-ea"/>
              </a:rPr>
              <a:t> </a:t>
            </a:r>
            <a:r>
              <a:rPr lang="ko-KR" altLang="en-US" sz="2000" spc="-147" dirty="0" smtClean="0">
                <a:solidFill>
                  <a:srgbClr val="0070C0"/>
                </a:solidFill>
                <a:latin typeface="+mn-ea"/>
              </a:rPr>
              <a:t>반짝 이는 물건         </a:t>
            </a:r>
            <a:endParaRPr lang="ko-KR" altLang="en-US" sz="2000" spc="-147" dirty="0">
              <a:solidFill>
                <a:srgbClr val="0070C0"/>
              </a:solidFill>
              <a:latin typeface="+mn-ea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7833869" y="3444076"/>
            <a:ext cx="752475" cy="37207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1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FontTx/>
              <a:buNone/>
            </a:pPr>
            <a:endParaRPr kumimoji="1" lang="ko-KR" altLang="en-US" sz="1200" b="0" i="0" u="none" strike="noStrike" cap="none" normalizeH="0" baseline="0" smtClean="0">
              <a:solidFill>
                <a:schemeClr val="tx1"/>
              </a:solidFill>
              <a:effectLst/>
              <a:latin typeface="Calibri"/>
              <a:cs typeface="Calibri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293" y="2174475"/>
            <a:ext cx="4921181" cy="328335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26099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374641"/>
            <a:ext cx="3449081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거울 미로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293" y="2174475"/>
            <a:ext cx="4921181" cy="328335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88375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4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036087"/>
            <a:ext cx="3449081" cy="150810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용의  </a:t>
            </a:r>
            <a:r>
              <a:rPr lang="ko-KR" altLang="en-US" sz="2400" spc="-147" dirty="0" smtClean="0">
                <a:solidFill>
                  <a:schemeClr val="bg1"/>
                </a:solidFill>
                <a:latin typeface="+mn-ea"/>
              </a:rPr>
              <a:t>꼬리</a:t>
            </a:r>
            <a:endParaRPr lang="en-US" altLang="ko-KR" sz="2400" spc="-147" dirty="0" smtClean="0">
              <a:solidFill>
                <a:schemeClr val="bg1"/>
              </a:solidFill>
              <a:latin typeface="+mn-ea"/>
            </a:endParaRPr>
          </a:p>
          <a:p>
            <a:pPr algn="ctr"/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  <a:p>
            <a:pPr algn="ctr"/>
            <a:r>
              <a:rPr lang="ko-KR" altLang="en-US" sz="2000" spc="-147" dirty="0">
                <a:solidFill>
                  <a:srgbClr val="0070C0"/>
                </a:solidFill>
                <a:latin typeface="+mn-ea"/>
              </a:rPr>
              <a:t>힌</a:t>
            </a:r>
            <a:r>
              <a:rPr lang="ko-KR" altLang="en-US" sz="2000" spc="-147" dirty="0" smtClean="0">
                <a:solidFill>
                  <a:srgbClr val="0070C0"/>
                </a:solidFill>
                <a:latin typeface="+mn-ea"/>
              </a:rPr>
              <a:t>트</a:t>
            </a:r>
            <a:r>
              <a:rPr lang="en-US" altLang="ko-KR" sz="2000" spc="-147" dirty="0" smtClean="0">
                <a:solidFill>
                  <a:srgbClr val="0070C0"/>
                </a:solidFill>
                <a:latin typeface="+mn-ea"/>
              </a:rPr>
              <a:t>: </a:t>
            </a:r>
            <a:r>
              <a:rPr lang="ko-KR" altLang="en-US" sz="2000" spc="-147" dirty="0">
                <a:solidFill>
                  <a:srgbClr val="0070C0"/>
                </a:solidFill>
                <a:latin typeface="+mn-ea"/>
              </a:rPr>
              <a:t> </a:t>
            </a:r>
            <a:r>
              <a:rPr lang="ko-KR" altLang="en-US" sz="2000" spc="-147" dirty="0" smtClean="0">
                <a:solidFill>
                  <a:srgbClr val="0070C0"/>
                </a:solidFill>
                <a:latin typeface="+mn-ea"/>
              </a:rPr>
              <a:t>끝 부분</a:t>
            </a:r>
            <a:endParaRPr lang="ko-KR" altLang="en-US" sz="2000" spc="-147" dirty="0">
              <a:solidFill>
                <a:srgbClr val="0070C0"/>
              </a:solidFill>
              <a:latin typeface="+mn-ea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8586344" y="3450226"/>
            <a:ext cx="752475" cy="37207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1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FontTx/>
              <a:buNone/>
            </a:pPr>
            <a:endParaRPr kumimoji="1" lang="ko-KR" altLang="en-US" sz="1200" b="0" i="0" u="none" strike="noStrike" cap="none" normalizeH="0" baseline="0" smtClean="0">
              <a:solidFill>
                <a:schemeClr val="tx1"/>
              </a:solidFill>
              <a:effectLst/>
              <a:latin typeface="Calibri"/>
              <a:cs typeface="Calibri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6" r="11093"/>
          <a:stretch/>
        </p:blipFill>
        <p:spPr>
          <a:xfrm>
            <a:off x="1714500" y="2365580"/>
            <a:ext cx="5763938" cy="285412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71293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374641"/>
            <a:ext cx="3449081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용의  꼬리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6" r="11093"/>
          <a:stretch/>
        </p:blipFill>
        <p:spPr>
          <a:xfrm>
            <a:off x="1714500" y="2365580"/>
            <a:ext cx="5763938" cy="285412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136559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3141271"/>
            <a:ext cx="8794678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 작품을 감상하고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</a:p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공공미술의 개념과 사회적 역할을 이해할 수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78587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805339" cy="641085"/>
          </a:xfrm>
        </p:spPr>
        <p:txBody>
          <a:bodyPr>
            <a:noAutofit/>
          </a:bodyPr>
          <a:lstStyle/>
          <a:p>
            <a:r>
              <a:rPr lang="ko-KR" altLang="en-US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</a:t>
            </a:r>
            <a:r>
              <a:rPr lang="ko-KR" altLang="en-US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지도를 활용하여 공공미술 작품을 찾고 감상하기</a:t>
            </a:r>
            <a:endParaRPr lang="ko-KR" altLang="en-US" sz="2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동영상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23900" y="2211368"/>
            <a:ext cx="11112500" cy="95410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just"/>
            <a:r>
              <a:rPr lang="ko-KR" altLang="en-US" sz="2800" spc="-147" dirty="0" smtClean="0">
                <a:latin typeface="+mn-ea"/>
              </a:rPr>
              <a:t>안양시 지도를 보면서 공공미술 작품이 설치된 곳을 찾아볼 거예요</a:t>
            </a:r>
            <a:r>
              <a:rPr lang="en-US" altLang="ko-KR" sz="2800" spc="-147" dirty="0" smtClean="0">
                <a:latin typeface="+mn-ea"/>
              </a:rPr>
              <a:t>. </a:t>
            </a:r>
          </a:p>
          <a:p>
            <a:pPr algn="just"/>
            <a:r>
              <a:rPr lang="ko-KR" altLang="en-US" sz="2800" spc="-147" dirty="0" smtClean="0">
                <a:latin typeface="+mn-ea"/>
              </a:rPr>
              <a:t>오늘은 세 개의 작품을 집중해서 감상하며</a:t>
            </a:r>
            <a:r>
              <a:rPr lang="en-US" altLang="ko-KR" sz="2800" spc="-147" dirty="0" smtClean="0">
                <a:latin typeface="+mn-ea"/>
              </a:rPr>
              <a:t>, </a:t>
            </a:r>
            <a:r>
              <a:rPr lang="ko-KR" altLang="en-US" sz="2800" spc="-147" dirty="0" smtClean="0">
                <a:latin typeface="+mn-ea"/>
              </a:rPr>
              <a:t>작품의 의미를 생각해보세요</a:t>
            </a:r>
            <a:r>
              <a:rPr lang="en-US" altLang="ko-KR" sz="2800" spc="-147" dirty="0" smtClean="0">
                <a:latin typeface="+mn-ea"/>
              </a:rPr>
              <a:t>.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796" t="72071" r="50744" b="5999"/>
          <a:stretch/>
        </p:blipFill>
        <p:spPr>
          <a:xfrm>
            <a:off x="4979741" y="3362325"/>
            <a:ext cx="2048368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록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비판적 감상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19760" y="1410471"/>
            <a:ext cx="10999139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영상에서 본 공공미술 작품을 하나씩 자세히 살펴보겠습니다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활동지에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중요한 정보와 작품의 의미를 적어보세요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4" t="37664" r="73801" b="35245"/>
          <a:stretch/>
        </p:blipFill>
        <p:spPr>
          <a:xfrm>
            <a:off x="1238250" y="3113718"/>
            <a:ext cx="3286940" cy="1538288"/>
          </a:xfrm>
          <a:prstGeom prst="rect">
            <a:avLst/>
          </a:prstGeom>
        </p:spPr>
      </p:pic>
      <p:sp>
        <p:nvSpPr>
          <p:cNvPr id="9" name="구름 모양 설명선 8"/>
          <p:cNvSpPr/>
          <p:nvPr/>
        </p:nvSpPr>
        <p:spPr>
          <a:xfrm>
            <a:off x="6138393" y="2522478"/>
            <a:ext cx="2896070" cy="1360384"/>
          </a:xfrm>
          <a:prstGeom prst="cloudCallout">
            <a:avLst>
              <a:gd name="adj1" fmla="val -82341"/>
              <a:gd name="adj2" fmla="val 3640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이곳에 </a:t>
            </a:r>
            <a:r>
              <a:rPr lang="ko-KR" altLang="en-US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이 작품이 어울릴까</a:t>
            </a:r>
            <a:r>
              <a:rPr lang="en-US" altLang="ko-KR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?</a:t>
            </a:r>
            <a:endParaRPr lang="ko-KR" altLang="en-US" dirty="0">
              <a:solidFill>
                <a:schemeClr val="tx1"/>
              </a:solidFill>
              <a:latin typeface="G마켓 산스 TTF Light" pitchFamily="2" charset="-127"/>
              <a:ea typeface="G마켓 산스 TTF Light" pitchFamily="2" charset="-127"/>
            </a:endParaRPr>
          </a:p>
        </p:txBody>
      </p:sp>
      <p:sp>
        <p:nvSpPr>
          <p:cNvPr id="13" name="구름 모양 설명선 12"/>
          <p:cNvSpPr/>
          <p:nvPr/>
        </p:nvSpPr>
        <p:spPr>
          <a:xfrm>
            <a:off x="6019330" y="4008115"/>
            <a:ext cx="3134196" cy="1668785"/>
          </a:xfrm>
          <a:prstGeom prst="cloudCallout">
            <a:avLst>
              <a:gd name="adj1" fmla="val -76896"/>
              <a:gd name="adj2" fmla="val -2853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시민들이 지나다닐 때 불편하지는 않을까</a:t>
            </a:r>
            <a:r>
              <a:rPr lang="en-US" altLang="ko-KR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?</a:t>
            </a:r>
          </a:p>
        </p:txBody>
      </p:sp>
      <p:sp>
        <p:nvSpPr>
          <p:cNvPr id="14" name="구름 모양 설명선 13"/>
          <p:cNvSpPr/>
          <p:nvPr/>
        </p:nvSpPr>
        <p:spPr>
          <a:xfrm>
            <a:off x="3072157" y="4914899"/>
            <a:ext cx="2658415" cy="1524001"/>
          </a:xfrm>
          <a:prstGeom prst="cloudCallout">
            <a:avLst>
              <a:gd name="adj1" fmla="val -9578"/>
              <a:gd name="adj2" fmla="val -69375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이 작품이 있어서 좋은 점은 무엇일까</a:t>
            </a:r>
            <a:r>
              <a:rPr lang="en-US" altLang="ko-KR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?</a:t>
            </a:r>
            <a:endParaRPr lang="ko-KR" altLang="en-US" dirty="0">
              <a:solidFill>
                <a:schemeClr val="tx1"/>
              </a:solidFill>
              <a:latin typeface="G마켓 산스 TTF Light" pitchFamily="2" charset="-127"/>
              <a:ea typeface="G마켓 산스 TTF Ligh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록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작품 </a:t>
            </a:r>
            <a:r>
              <a:rPr lang="en-US" altLang="ko-KR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519761" y="1209262"/>
            <a:ext cx="11086551" cy="304698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리크리트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티라바니자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 제목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무제 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2007(</a:t>
            </a:r>
            <a:r>
              <a:rPr lang="ko-KR" altLang="en-US" sz="2400" i="1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티하우스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제작 의도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작가는 예술이 사람들 사이의 소통과 만남을 가능하게 한다고 오랫동안 생각해 왔어요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 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&lt;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무제 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2007(</a:t>
            </a:r>
            <a:r>
              <a:rPr lang="ko-KR" altLang="en-US" sz="2400" i="1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티하우스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)&gt;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는 한국의 전통가옥을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45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도 기울여 설치하여 다실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(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찻집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에서 차를 마시며 이야기를 나누는 모습을 떠올리게 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실제로 </a:t>
            </a:r>
            <a:r>
              <a:rPr lang="ko-KR" altLang="en-US" sz="2400" i="1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티하우스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안에서 차를 마실 수는 없지만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이 작품은 사람들이 함께 모여 이야기를 나누고 즐거운 시간을 보내기를 바라는 작가의 마음을 담고 있어요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여러분도 가족이나 친구와 함께 이곳에 방문해서 서로의 이야기에 귀 기울여 보는 시간을 갖는 건 어때요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00"/>
          <a:stretch/>
        </p:blipFill>
        <p:spPr>
          <a:xfrm>
            <a:off x="869613" y="4373445"/>
            <a:ext cx="3511887" cy="207750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5" t="8358" b="10620"/>
          <a:stretch/>
        </p:blipFill>
        <p:spPr>
          <a:xfrm>
            <a:off x="4381500" y="4388415"/>
            <a:ext cx="3509768" cy="206253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4" t="9212" r="2011" b="10915"/>
          <a:stretch/>
        </p:blipFill>
        <p:spPr>
          <a:xfrm>
            <a:off x="7891268" y="4388415"/>
            <a:ext cx="3483511" cy="206253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0" name="직사각형 9"/>
          <p:cNvSpPr/>
          <p:nvPr/>
        </p:nvSpPr>
        <p:spPr>
          <a:xfrm>
            <a:off x="7621329" y="645094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94958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록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작품 </a:t>
            </a:r>
            <a:r>
              <a:rPr lang="en-US" altLang="ko-KR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519761" y="1235594"/>
            <a:ext cx="10999139" cy="304698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안젤라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블록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 제목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헌화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(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獻花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</a:p>
          <a:p>
            <a:pPr marL="457200" indent="-457200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제작 의도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작가는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상징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을 이용해 주제를 전하고자 했어요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&lt;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헌화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&gt;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라는 작품에는 북한을 대표하는 목련 꽃잎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남한의 상징인 무궁화의 꽃 수술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안양시를 나타내는 은행나무 잎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길가에 흔히 볼 수 있는 민들레에서 줄기를 가져왔답니다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이 작품은 사람들이 많이 다니는 교차로에 설치되어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관람하는 사람들이 작품을 보고 다양한 생각을 나누고 재미있는 토론이 생기길 바라는 마음을 담고 있어요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여러분이 작가라면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어떤 의미 있는 상징들을 모아 작품을 만들고 싶나요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08" t="18408" r="23465" b="21889"/>
          <a:stretch/>
        </p:blipFill>
        <p:spPr>
          <a:xfrm>
            <a:off x="5629276" y="4572691"/>
            <a:ext cx="2973200" cy="18662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96" t="48175" r="4667" b="6016"/>
          <a:stretch/>
        </p:blipFill>
        <p:spPr>
          <a:xfrm>
            <a:off x="3143250" y="4552951"/>
            <a:ext cx="2486025" cy="18859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61" y="4572691"/>
            <a:ext cx="2509190" cy="18662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5" t="47918" r="5588" b="7499"/>
          <a:stretch/>
        </p:blipFill>
        <p:spPr>
          <a:xfrm>
            <a:off x="8602476" y="4572691"/>
            <a:ext cx="2621995" cy="18662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1" name="직사각형 10"/>
          <p:cNvSpPr/>
          <p:nvPr/>
        </p:nvSpPr>
        <p:spPr>
          <a:xfrm>
            <a:off x="7621329" y="645094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869998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록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작품 </a:t>
            </a:r>
            <a:r>
              <a:rPr lang="en-US" altLang="ko-KR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519761" y="1344392"/>
            <a:ext cx="10999139" cy="267765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리암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길릭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 제목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안양광장을 위한 사회적 구조물의 제안</a:t>
            </a:r>
            <a:endParaRPr lang="en-US" altLang="ko-KR" sz="2400" i="1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제작 의도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작가는 평소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공공 장소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에 많은 관심을 가지고 있었어요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그래서 공공 장소에 설치할 작품을 만들었지요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&lt;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안양광장을 위한 사회적 구조물의 제안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&gt;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작품은 아직 완성되지 않은 어떤 구조물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(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예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건물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의 가능성을 보여주는 동시에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지나가는 사람들이 잠시 앉아 쉴 수 있는 의자의 기능도 갖고 있어요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바쁜 도시 생활 속에서 사람들은 이 완성되지 않은 구조물에 앉아서 어떤 이야기를 나누게 될까요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07" t="30656" r="15386" b="10544"/>
          <a:stretch/>
        </p:blipFill>
        <p:spPr>
          <a:xfrm>
            <a:off x="990601" y="4584504"/>
            <a:ext cx="3110369" cy="1807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4670" y="4584503"/>
            <a:ext cx="2711543" cy="1807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0965" y="4584503"/>
            <a:ext cx="2711543" cy="1807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0" name="직사각형 9"/>
          <p:cNvSpPr/>
          <p:nvPr/>
        </p:nvSpPr>
        <p:spPr>
          <a:xfrm>
            <a:off x="7621329" y="645094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91633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록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평가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551" y="1290878"/>
            <a:ext cx="8915400" cy="501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225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리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공공미술의 개념과 역할을 생각하고 발표하기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개념 정리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61" y="1990722"/>
            <a:ext cx="10999139" cy="138499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「지역 미술 여행」단원을 통해 공공미술이 무엇인지 알게 되었나요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여러분이 생각하는 공공미술의 의미를 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1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문장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~3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문장으로 써서 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친구들에게 공유하고 발표해봅시다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940078" y="4003216"/>
            <a:ext cx="10999139" cy="95410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예시</a:t>
            </a:r>
            <a:r>
              <a:rPr lang="en-US" altLang="ko-KR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) </a:t>
            </a:r>
            <a:r>
              <a:rPr lang="ko-KR" altLang="en-US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공공미술은                                                   이라고 생각합니다</a:t>
            </a:r>
            <a:r>
              <a:rPr lang="en-US" altLang="ko-KR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.</a:t>
            </a:r>
          </a:p>
          <a:p>
            <a:r>
              <a:rPr lang="ko-KR" altLang="en-US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        왜냐하면                                                    하기 때문입니다</a:t>
            </a:r>
            <a:r>
              <a:rPr lang="en-US" altLang="ko-KR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.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3657600" y="4480269"/>
            <a:ext cx="477202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3276600" y="4842219"/>
            <a:ext cx="515302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957" t="37397" r="25127" b="33892"/>
          <a:stretch/>
        </p:blipFill>
        <p:spPr>
          <a:xfrm>
            <a:off x="4727387" y="5076826"/>
            <a:ext cx="2583885" cy="1323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299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단원을 마치며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단원 정리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00078" y="1589229"/>
            <a:ext cx="11106233" cy="452431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오늘은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미술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여섯 번째 시간으로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</a:p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마지막 수업이었습니다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</a:p>
          <a:p>
            <a:pPr lvl="0" algn="just">
              <a:defRPr/>
            </a:pPr>
            <a:endParaRPr lang="en-US" altLang="ko-KR" sz="2400" spc="-147" dirty="0" smtClean="0">
              <a:solidFill>
                <a:srgbClr val="C00000">
                  <a:alpha val="99000"/>
                </a:srgbClr>
              </a:solidFill>
              <a:latin typeface="+mj-ea"/>
              <a:ea typeface="+mj-ea"/>
            </a:endParaRPr>
          </a:p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지역 미술 여행</a:t>
            </a:r>
            <a:r>
              <a:rPr lang="en-US" altLang="ko-KR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공공미술</a:t>
            </a:r>
            <a:r>
              <a:rPr lang="en-US" altLang="ko-KR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)&gt; </a:t>
            </a:r>
            <a:r>
              <a:rPr lang="ko-KR" altLang="en-US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단원에서 공부한 내용 중에서 가장 기억에 남거나 재미있었던 활동은 무엇인가요</a:t>
            </a:r>
            <a:r>
              <a:rPr lang="en-US" altLang="ko-KR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  <a:p>
            <a:pPr lvl="0" algn="just">
              <a:defRPr/>
            </a:pPr>
            <a:endParaRPr lang="en-US" altLang="ko-KR" sz="2400" spc="-147" dirty="0">
              <a:solidFill>
                <a:srgbClr val="C00000">
                  <a:alpha val="99000"/>
                </a:srgbClr>
              </a:solidFill>
              <a:latin typeface="+mj-ea"/>
              <a:ea typeface="+mj-ea"/>
            </a:endParaRP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1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나무가 예술이네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 동네에는 어떤 나무들이 자라고 있을까요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2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동네 식물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우리에게 어떤 이야기를 들려줄까요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3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동물도 감정이 있어요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슬픈 동물은 어떤 얼굴일까요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4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안녕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 동네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내가 사는 곳을 어떻게 아끼고 사랑할 수 있을까요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5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더하기 빼기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 동네에 무엇을 더하고 빼면 좋을지 함께 생각해볼까요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6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공공미술과 만나요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 동네에서 공공미술 작품을 찾아볼까요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단원을 마치며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단원 정리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00078" y="2252604"/>
            <a:ext cx="11106233" cy="304698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이번 단원 학습을 통해 미술이 멀리 있는 것이 아니라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우리 일상과 밀접하게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연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결되어 있다는 것을 배웠어요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앞으로 여러분이 사는 지역에 더 많은 관심을 가지고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지역사회를 위해 어떤 노력을 해볼 수 있을지 생각해보기를 바랍니다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동물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-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식물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-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환경을 사랑하는 미술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나의 이야기에 귀 기울이는 미술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우리들의 삶과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함께 하는 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미술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</a:t>
            </a:r>
            <a:endParaRPr lang="en-US" altLang="ko-KR" sz="2400" spc="-147" dirty="0" smtClean="0">
              <a:solidFill>
                <a:srgbClr val="C00000">
                  <a:alpha val="99000"/>
                </a:srgbClr>
              </a:solidFill>
              <a:latin typeface="+mj-ea"/>
              <a:ea typeface="+mj-ea"/>
            </a:endParaRP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이런 미술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함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께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 배워보지 않을래요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 </a:t>
            </a:r>
            <a:endParaRPr lang="en-US" altLang="ko-KR" sz="2400" spc="-147" dirty="0">
              <a:solidFill>
                <a:srgbClr val="C00000">
                  <a:alpha val="99000"/>
                </a:srgbClr>
              </a:solidFill>
              <a:latin typeface="+mj-ea"/>
              <a:ea typeface="+mj-ea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563" y="5209350"/>
            <a:ext cx="1223796" cy="1223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9923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330454" y="2955578"/>
            <a:ext cx="5569217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 배운 내용을 퀴즈로 복습해볼까요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2853864" y="2381250"/>
            <a:ext cx="743722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i="1" dirty="0" smtClean="0"/>
              <a:t>&lt;</a:t>
            </a:r>
            <a:r>
              <a:rPr lang="ko-KR" altLang="en-US" sz="2400" i="1" dirty="0" smtClean="0"/>
              <a:t>무제 </a:t>
            </a:r>
            <a:r>
              <a:rPr lang="en-US" altLang="ko-KR" sz="2400" i="1" dirty="0" smtClean="0"/>
              <a:t>2007: </a:t>
            </a:r>
            <a:r>
              <a:rPr lang="ko-KR" altLang="en-US" sz="2400" i="1" dirty="0" err="1" smtClean="0"/>
              <a:t>티하우스</a:t>
            </a:r>
            <a:r>
              <a:rPr lang="en-US" altLang="ko-KR" sz="2400" i="1" dirty="0" smtClean="0"/>
              <a:t>&gt;</a:t>
            </a:r>
            <a:r>
              <a:rPr lang="ko-KR" altLang="en-US" sz="2400" dirty="0" smtClean="0"/>
              <a:t>를 만든 </a:t>
            </a:r>
            <a:r>
              <a:rPr lang="ko-KR" altLang="en-US" sz="2400" dirty="0" err="1" smtClean="0"/>
              <a:t>리크리트</a:t>
            </a:r>
            <a:r>
              <a:rPr lang="ko-KR" altLang="en-US" sz="2400" dirty="0" smtClean="0"/>
              <a:t> </a:t>
            </a:r>
            <a:r>
              <a:rPr lang="ko-KR" altLang="en-US" sz="2400" dirty="0" err="1" smtClean="0"/>
              <a:t>티라바니자</a:t>
            </a:r>
            <a:r>
              <a:rPr lang="ko-KR" altLang="en-US" sz="2400" dirty="0" smtClean="0"/>
              <a:t> 작가는 </a:t>
            </a:r>
            <a:r>
              <a:rPr lang="en-US" altLang="ko-KR" sz="2400" dirty="0" smtClean="0"/>
              <a:t>1990</a:t>
            </a:r>
            <a:r>
              <a:rPr lang="ko-KR" altLang="en-US" sz="2400" dirty="0" smtClean="0"/>
              <a:t>년대부터 음식을 대접하는 프로젝트를 진행해 왔어요</a:t>
            </a:r>
            <a:r>
              <a:rPr lang="en-US" altLang="ko-KR" sz="2400" dirty="0" smtClean="0"/>
              <a:t>. </a:t>
            </a:r>
            <a:r>
              <a:rPr lang="ko-KR" altLang="en-US" sz="2400" dirty="0" smtClean="0"/>
              <a:t>작가가 관객들에게 제공한 태국 음식은 무엇인가요</a:t>
            </a:r>
            <a:r>
              <a:rPr lang="en-US" altLang="ko-KR" sz="2400" dirty="0" smtClean="0"/>
              <a:t>?</a:t>
            </a:r>
          </a:p>
          <a:p>
            <a:pPr algn="ctr"/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 </a:t>
            </a:r>
            <a:r>
              <a:rPr lang="ko-KR" altLang="en-US" sz="2400" dirty="0" smtClean="0"/>
              <a:t>잔치국수 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en-US" altLang="ko-KR" sz="2400" dirty="0"/>
              <a:t> </a:t>
            </a:r>
            <a:r>
              <a:rPr lang="ko-KR" altLang="en-US" sz="2400" dirty="0" smtClean="0"/>
              <a:t>라면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en-US" altLang="ko-KR" sz="2400" dirty="0"/>
              <a:t> </a:t>
            </a:r>
            <a:r>
              <a:rPr lang="ko-KR" altLang="en-US" sz="2400" dirty="0" smtClean="0"/>
              <a:t>스파게티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en-US" altLang="ko-KR" sz="2400" dirty="0"/>
              <a:t> </a:t>
            </a:r>
            <a:r>
              <a:rPr lang="ko-KR" altLang="en-US" sz="2400" dirty="0" err="1" smtClean="0"/>
              <a:t>팟타이</a:t>
            </a:r>
            <a:endParaRPr lang="en-US" altLang="ko-KR" sz="2400" dirty="0" smtClean="0"/>
          </a:p>
        </p:txBody>
      </p:sp>
    </p:spTree>
    <p:extLst>
      <p:ext uri="{BB962C8B-B14F-4D97-AF65-F5344CB8AC3E}">
        <p14:creationId xmlns:p14="http://schemas.microsoft.com/office/powerpoint/2010/main" val="8001482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8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④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팟타</a:t>
            </a:r>
            <a:r>
              <a:rPr lang="ko-KR" altLang="en-US" sz="30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261588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3035300" y="2419350"/>
            <a:ext cx="64593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err="1" smtClean="0"/>
              <a:t>안젤라</a:t>
            </a:r>
            <a:r>
              <a:rPr lang="ko-KR" altLang="en-US" sz="2400" dirty="0" smtClean="0"/>
              <a:t> 블록 작가의 </a:t>
            </a:r>
            <a:r>
              <a:rPr lang="en-US" altLang="ko-KR" sz="2400" i="1" dirty="0" smtClean="0"/>
              <a:t>&lt;</a:t>
            </a:r>
            <a:r>
              <a:rPr lang="ko-KR" altLang="en-US" sz="2400" i="1" dirty="0" smtClean="0"/>
              <a:t>헌화</a:t>
            </a:r>
            <a:r>
              <a:rPr lang="en-US" altLang="ko-KR" sz="2400" i="1" dirty="0" smtClean="0"/>
              <a:t>&gt;</a:t>
            </a:r>
            <a:r>
              <a:rPr lang="en-US" altLang="ko-KR" sz="2400" dirty="0" smtClean="0"/>
              <a:t> </a:t>
            </a:r>
            <a:r>
              <a:rPr lang="ko-KR" altLang="en-US" sz="2400" dirty="0" smtClean="0"/>
              <a:t>작품에 포함된 </a:t>
            </a:r>
            <a:endParaRPr lang="en-US" altLang="ko-KR" sz="2400" dirty="0" smtClean="0"/>
          </a:p>
          <a:p>
            <a:pPr algn="ctr"/>
            <a:r>
              <a:rPr lang="ko-KR" altLang="en-US" sz="2400" dirty="0" smtClean="0"/>
              <a:t>식물은 무엇인가요</a:t>
            </a:r>
            <a:r>
              <a:rPr lang="en-US" altLang="ko-KR" sz="2400" dirty="0" smtClean="0"/>
              <a:t>?(3</a:t>
            </a:r>
            <a:r>
              <a:rPr lang="ko-KR" altLang="en-US" sz="2400" dirty="0" smtClean="0"/>
              <a:t>가지</a:t>
            </a:r>
            <a:r>
              <a:rPr lang="en-US" altLang="ko-KR" sz="2400" dirty="0" smtClean="0"/>
              <a:t>)</a:t>
            </a:r>
          </a:p>
          <a:p>
            <a:pPr marL="342900" indent="-342900">
              <a:buFont typeface="+mj-ea"/>
              <a:buAutoNum type="circleNumDbPlain"/>
            </a:pPr>
            <a:r>
              <a:rPr lang="en-US" altLang="ko-KR" sz="2400" dirty="0"/>
              <a:t> </a:t>
            </a:r>
            <a:r>
              <a:rPr lang="ko-KR" altLang="en-US" sz="2400" dirty="0" smtClean="0"/>
              <a:t>은행나무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en-US" altLang="ko-KR" sz="2400" dirty="0"/>
              <a:t> </a:t>
            </a:r>
            <a:r>
              <a:rPr lang="ko-KR" altLang="en-US" sz="2400" dirty="0" smtClean="0"/>
              <a:t>장미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en-US" altLang="ko-KR" sz="2400" dirty="0"/>
              <a:t> </a:t>
            </a:r>
            <a:r>
              <a:rPr lang="ko-KR" altLang="en-US" sz="2400" dirty="0" smtClean="0"/>
              <a:t>무궁화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en-US" altLang="ko-KR" sz="2400" dirty="0"/>
              <a:t> </a:t>
            </a:r>
            <a:r>
              <a:rPr lang="ko-KR" altLang="en-US" sz="2400" dirty="0" smtClean="0"/>
              <a:t>목련</a:t>
            </a:r>
            <a:endParaRPr lang="en-US" altLang="ko-KR" sz="2400" dirty="0" smtClean="0"/>
          </a:p>
        </p:txBody>
      </p:sp>
    </p:spTree>
    <p:extLst>
      <p:ext uri="{BB962C8B-B14F-4D97-AF65-F5344CB8AC3E}">
        <p14:creationId xmlns:p14="http://schemas.microsoft.com/office/powerpoint/2010/main" val="41312653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286125" y="3474440"/>
            <a:ext cx="5619750" cy="55399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① 은행나무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③ 무궁화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④ 목련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292601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2800349" y="2400300"/>
            <a:ext cx="659130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err="1" smtClean="0"/>
              <a:t>리암</a:t>
            </a:r>
            <a:r>
              <a:rPr lang="ko-KR" altLang="en-US" sz="2400" dirty="0" smtClean="0"/>
              <a:t> </a:t>
            </a:r>
            <a:r>
              <a:rPr lang="ko-KR" altLang="en-US" sz="2400" dirty="0" err="1" smtClean="0"/>
              <a:t>길릭</a:t>
            </a:r>
            <a:r>
              <a:rPr lang="ko-KR" altLang="en-US" sz="2400" dirty="0" smtClean="0"/>
              <a:t> 작가가 만든</a:t>
            </a:r>
            <a:endParaRPr lang="en-US" altLang="ko-KR" sz="2400" dirty="0" smtClean="0"/>
          </a:p>
          <a:p>
            <a:pPr algn="ctr"/>
            <a:r>
              <a:rPr lang="ko-KR" altLang="en-US" sz="2400" i="1" dirty="0" smtClean="0"/>
              <a:t> </a:t>
            </a:r>
            <a:r>
              <a:rPr lang="en-US" altLang="ko-KR" sz="2400" i="1" dirty="0" smtClean="0"/>
              <a:t>&lt;</a:t>
            </a:r>
            <a:r>
              <a:rPr lang="ko-KR" altLang="en-US" sz="2400" i="1" dirty="0" smtClean="0"/>
              <a:t>안양광장을 위한 사회적 구조물의 제안</a:t>
            </a:r>
            <a:r>
              <a:rPr lang="en-US" altLang="ko-KR" sz="2400" i="1" dirty="0" smtClean="0"/>
              <a:t>&gt;</a:t>
            </a:r>
          </a:p>
          <a:p>
            <a:pPr algn="ctr"/>
            <a:r>
              <a:rPr lang="ko-KR" altLang="en-US" sz="2400" dirty="0" smtClean="0"/>
              <a:t>작품에는 어떤 재료가 사용되었나요</a:t>
            </a:r>
            <a:r>
              <a:rPr lang="en-US" altLang="ko-KR" sz="2400" dirty="0" smtClean="0"/>
              <a:t>?</a:t>
            </a:r>
          </a:p>
          <a:p>
            <a:r>
              <a:rPr lang="ko-KR" altLang="en-US" sz="2400" dirty="0" smtClean="0">
                <a:latin typeface="바탕"/>
                <a:ea typeface="바탕"/>
              </a:rPr>
              <a:t>① </a:t>
            </a:r>
            <a:r>
              <a:rPr lang="ko-KR" altLang="en-US" sz="2400" dirty="0" smtClean="0"/>
              <a:t>고무</a:t>
            </a:r>
            <a:endParaRPr lang="en-US" altLang="ko-KR" sz="2400" dirty="0" smtClean="0"/>
          </a:p>
          <a:p>
            <a:r>
              <a:rPr lang="ko-KR" altLang="en-US" sz="2400" dirty="0" smtClean="0">
                <a:latin typeface="바탕"/>
                <a:ea typeface="바탕"/>
              </a:rPr>
              <a:t>② </a:t>
            </a:r>
            <a:r>
              <a:rPr lang="ko-KR" altLang="en-US" sz="2400" dirty="0" smtClean="0"/>
              <a:t>나</a:t>
            </a:r>
            <a:r>
              <a:rPr lang="ko-KR" altLang="en-US" sz="2400" dirty="0"/>
              <a:t>무</a:t>
            </a:r>
            <a:r>
              <a:rPr lang="ko-KR" altLang="en-US" sz="2400" dirty="0" smtClean="0"/>
              <a:t>      </a:t>
            </a:r>
            <a:endParaRPr lang="en-US" altLang="ko-KR" sz="2400" dirty="0" smtClean="0"/>
          </a:p>
          <a:p>
            <a:r>
              <a:rPr lang="ko-KR" altLang="en-US" sz="2400" dirty="0" smtClean="0">
                <a:latin typeface="바탕"/>
                <a:ea typeface="바탕"/>
              </a:rPr>
              <a:t>③ </a:t>
            </a:r>
            <a:r>
              <a:rPr lang="ko-KR" altLang="en-US" sz="2400" dirty="0" smtClean="0"/>
              <a:t>유</a:t>
            </a:r>
            <a:r>
              <a:rPr lang="ko-KR" altLang="en-US" sz="2400" dirty="0"/>
              <a:t>리</a:t>
            </a:r>
            <a:r>
              <a:rPr lang="ko-KR" altLang="en-US" sz="2400" dirty="0" smtClean="0"/>
              <a:t>       </a:t>
            </a:r>
            <a:endParaRPr lang="en-US" altLang="ko-KR" sz="2400" dirty="0" smtClean="0"/>
          </a:p>
          <a:p>
            <a:r>
              <a:rPr lang="ko-KR" altLang="en-US" sz="2400" dirty="0" smtClean="0">
                <a:latin typeface="바탕"/>
                <a:ea typeface="바탕"/>
              </a:rPr>
              <a:t>④ </a:t>
            </a:r>
            <a:r>
              <a:rPr lang="ko-KR" altLang="en-US" sz="2400" dirty="0"/>
              <a:t>철</a:t>
            </a:r>
            <a:endParaRPr lang="en-US" altLang="ko-KR" sz="2400" dirty="0" smtClean="0"/>
          </a:p>
        </p:txBody>
      </p:sp>
    </p:spTree>
    <p:extLst>
      <p:ext uri="{BB962C8B-B14F-4D97-AF65-F5344CB8AC3E}">
        <p14:creationId xmlns:p14="http://schemas.microsoft.com/office/powerpoint/2010/main" val="20383061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4980071" y="3459414"/>
            <a:ext cx="2222340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② 나무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④ 철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956</TotalTime>
  <Words>950</Words>
  <Application>Microsoft Office PowerPoint</Application>
  <PresentationFormat>사용자 지정</PresentationFormat>
  <Paragraphs>154</Paragraphs>
  <Slides>28</Slides>
  <Notes>9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28</vt:i4>
      </vt:variant>
    </vt:vector>
  </HeadingPairs>
  <TitlesOfParts>
    <vt:vector size="30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지도를 활용하여 공공미술 작품을 찾고 감상하기</vt:lpstr>
      <vt:lpstr>활동 2. 공공미술 작품의 특징과 의미 기록하기</vt:lpstr>
      <vt:lpstr>활동 2. 공공미술 작품의 특징과 의미 기록하기</vt:lpstr>
      <vt:lpstr>활동 2. 공공미술 작품의 특징과 의미 기록하기</vt:lpstr>
      <vt:lpstr>활동 2. 공공미술 작품의 특징과 의미 기록하기</vt:lpstr>
      <vt:lpstr>활동 2. 공공미술 작품의 특징과 의미 기록하기</vt:lpstr>
      <vt:lpstr>정리. 공공미술의 개념과 역할을 생각하고 발표하기</vt:lpstr>
      <vt:lpstr>단원을 마치며</vt:lpstr>
      <vt:lpstr>단원을 마치며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/>
  <cp:lastModifiedBy/>
  <cp:revision>134</cp:revision>
  <dcterms:created xsi:type="dcterms:W3CDTF">2026-07-09T22:35:37Z</dcterms:created>
  <dcterms:modified xsi:type="dcterms:W3CDTF">2026-10-18T13:09:49Z</dcterms:modified>
  <cp:version/>
</cp:coreProperties>
</file>