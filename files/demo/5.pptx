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64" r:id="rId2"/>
    <p:sldId id="265" r:id="rId3"/>
    <p:sldId id="267" r:id="rId4"/>
    <p:sldId id="268" r:id="rId5"/>
    <p:sldId id="280" r:id="rId6"/>
    <p:sldId id="279" r:id="rId7"/>
    <p:sldId id="272" r:id="rId8"/>
    <p:sldId id="275" r:id="rId9"/>
    <p:sldId id="276" r:id="rId10"/>
    <p:sldId id="277" r:id="rId11"/>
    <p:sldId id="278" r:id="rId12"/>
    <p:sldId id="269" r:id="rId13"/>
    <p:sldId id="270" r:id="rId14"/>
  </p:sldIdLst>
  <p:sldSz cx="12192000" cy="6858000"/>
  <p:notesSz cx="6858000" cy="12192000"/>
  <p:embeddedFontLst>
    <p:embeddedFont>
      <p:font typeface="Noto Sans KR" panose="020B0200000000000000" pitchFamily="50" charset="-127"/>
      <p:regular r:id="rId16"/>
      <p:bold r:id="rId17"/>
    </p:embeddedFont>
    <p:embeddedFont>
      <p:font typeface="Noto Sans KR Black" panose="020B0200000000000000" pitchFamily="50" charset="-127"/>
      <p:bold r:id="rId18"/>
    </p:embeddedFont>
    <p:embeddedFont>
      <p:font typeface="Noto Sans KR Medium" panose="020B0200000000000000" pitchFamily="50" charset="-127"/>
      <p:regular r:id="rId19"/>
    </p:embeddedFont>
    <p:embeddedFont>
      <p:font typeface="나눔바른고딕" panose="020B0603020101020101" pitchFamily="50" charset="-127"/>
      <p:regular r:id="rId20"/>
      <p:bold r:id="rId21"/>
    </p:embeddedFont>
    <p:embeddedFont>
      <p:font typeface="나눔스퀘어 ExtraBold" panose="020B0600000101010101" pitchFamily="50" charset="-127"/>
      <p:bold r:id="rId22"/>
    </p:embeddedFont>
    <p:embeddedFont>
      <p:font typeface="땅스부대찌개 Bold" panose="02020603020101020101" pitchFamily="18" charset="-127"/>
      <p:bold r:id="rId23"/>
    </p:embeddedFont>
    <p:embeddedFont>
      <p:font typeface="맑은 고딕" panose="020B0503020000020004" pitchFamily="50" charset="-127"/>
      <p:regular r:id="rId24"/>
      <p:bold r:id="rId25"/>
    </p:embeddedFont>
    <p:embeddedFont>
      <p:font typeface="에스코어 드림 8 Heavy" panose="020B0903030302020204" pitchFamily="34" charset="-127"/>
      <p:bold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6">
          <p15:clr>
            <a:srgbClr val="A4A3A4"/>
          </p15:clr>
        </p15:guide>
        <p15:guide id="2" pos="38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829">
          <p15:clr>
            <a:srgbClr val="A4A3A4"/>
          </p15:clr>
        </p15:guide>
        <p15:guide id="2" pos="214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3" autoAdjust="0"/>
    <p:restoredTop sz="82788"/>
  </p:normalViewPr>
  <p:slideViewPr>
    <p:cSldViewPr snapToGrid="0" snapToObjects="1">
      <p:cViewPr varScale="1">
        <p:scale>
          <a:sx n="56" d="100"/>
          <a:sy n="56" d="100"/>
        </p:scale>
        <p:origin x="905" y="41"/>
      </p:cViewPr>
      <p:guideLst>
        <p:guide orient="horz" pos="2156"/>
        <p:guide pos="38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3829"/>
        <p:guide pos="214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481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4VdUyc31O-M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noFill/>
          <a:ln w="12700" cap="flat" cmpd="sng" algn="ctr">
            <a:solidFill>
              <a:prstClr val="black"/>
            </a:solidFill>
            <a:prstDash val="solid"/>
            <a:round/>
            <a:headEnd w="med" len="med"/>
            <a:tailEnd w="med" len="med"/>
          </a:ln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</p:spPr>
        <p:txBody>
          <a:bodyPr/>
          <a:lstStyle/>
          <a:p>
            <a:r>
              <a:t>5차시 · 감정을 채운 병뚜껑 — 예술가의 소통</a:t>
            </a:r>
          </a:p>
          <a:p>
            <a:r>
              <a:t>6가지 사고 중 '사회·관계적 사고'를 다루는 차시입니다.</a:t>
            </a:r>
          </a:p>
        </p:txBody>
      </p:sp>
    </p:spTree>
    <p:extLst>
      <p:ext uri="{BB962C8B-B14F-4D97-AF65-F5344CB8AC3E}">
        <p14:creationId xmlns:p14="http://schemas.microsoft.com/office/powerpoint/2010/main" val="1136767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noFill/>
          <a:ln w="12700" cap="flat" cmpd="sng" algn="ctr">
            <a:solidFill>
              <a:prstClr val="black"/>
            </a:solidFill>
            <a:prstDash val="solid"/>
            <a:round/>
            <a:headEnd w="med" len="med"/>
            <a:tailEnd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</p:spPr>
        <p:txBody>
          <a:bodyPr/>
          <a:lstStyle/>
          <a:p>
            <a:r>
              <a:t>성취기준</a:t>
            </a:r>
          </a:p>
          <a:p>
            <a:r>
              <a:t>[6미02-03] 조형 요소의 어울림을 통해 조형 원리를 이해하고 주제 표현에 연결할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4104098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0"/>
            <a:r>
              <a:rPr lang="en-US" altLang="ko-KR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학습 안내 영상: https://youtu.be/4VdUyc31O-M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9572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핵심 문장 [빈칸] 추론하기</a:t>
            </a:r>
          </a:p>
          <a:p>
            <a:r>
              <a:rPr lang="ko-KR" altLang="en-US"/>
              <a:t>단원 핵심 문장: AI는 결과를 빠르게 만들지만, 작품의 의미는 예술가(나)가 직접 고르고 나누고 돌아보는 과정에서 생겨난다.</a:t>
            </a:r>
          </a:p>
          <a:p>
            <a:r>
              <a:rPr lang="ko-KR" altLang="en-US"/>
              <a:t>5차시 문장: 작품에 담은 마음은 다른 사람과의 [소통]을 거치며 더 넓은 의미를 얻는다.</a:t>
            </a:r>
          </a:p>
          <a:p>
            <a:endParaRPr/>
          </a:p>
          <a:p>
            <a:r>
              <a:t>•교사: “빈칸에 어떤 말이 들어갈까요? 내가 만든 작품을 친구에게 보여 주면 무슨 일이 일어날까요?”</a:t>
            </a:r>
          </a:p>
          <a:p>
            <a:r>
              <a:t>•교사: “오늘의 목표는 내가 만든 작품으로 내 마음을 친구들에게 전하고, 친구의 마음도 읽어 보는 거예요.”</a:t>
            </a:r>
          </a:p>
          <a:p>
            <a:r>
              <a:rPr lang="ko-KR" altLang="en-US"/>
              <a:t>(빈칸 장면 → 다음 슬라이드에서 정답 '소통'을(를) 공개한다.)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69DCDE-839F-45A5-BBBA-002CD9F8819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2000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AI는? 나는? https://youtu.be/Qmmcm3PLMkw</a:t>
            </a:r>
          </a:p>
          <a:p>
            <a:endParaRPr/>
          </a:p>
          <a:p>
            <a:r>
              <a:t>AI는 감정 단어를 입력하면 그에 맞는 이모지나 색을 즉시 추천한다.</a:t>
            </a:r>
          </a:p>
          <a:p>
            <a:r>
              <a:t>나는 직접 만든 클레이 동물을 감정 병뚜껑 보드판 위에 올려보며, 이 동물이 느끼는 마음이 어디에 가까운지 스스로 찾고 친구와 나눈다.</a:t>
            </a:r>
          </a:p>
          <a:p>
            <a:r>
              <a:t>→ 내 마음을 작품으로 표현해 다른 사람과 나누는 것, 이것이 예술가의 힘이다.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69DCDE-839F-45A5-BBBA-002CD9F8819F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69DCDE-839F-45A5-BBBA-002CD9F8819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19249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오늘의</a:t>
            </a:r>
            <a:r>
              <a:rPr dirty="0"/>
              <a:t> </a:t>
            </a:r>
            <a:r>
              <a:rPr dirty="0" err="1"/>
              <a:t>활동</a:t>
            </a:r>
            <a:r>
              <a:rPr dirty="0"/>
              <a:t> </a:t>
            </a:r>
            <a:r>
              <a:rPr dirty="0" err="1"/>
              <a:t>흐름</a:t>
            </a:r>
            <a:r>
              <a:rPr dirty="0"/>
              <a:t>(40분)</a:t>
            </a:r>
          </a:p>
          <a:p>
            <a:r>
              <a:rPr dirty="0" err="1"/>
              <a:t>질문하기</a:t>
            </a:r>
            <a:r>
              <a:rPr dirty="0"/>
              <a:t> 5분 — </a:t>
            </a:r>
            <a:r>
              <a:rPr dirty="0" err="1"/>
              <a:t>영상</a:t>
            </a:r>
            <a:r>
              <a:rPr dirty="0"/>
              <a:t>, </a:t>
            </a:r>
            <a:r>
              <a:rPr dirty="0" err="1"/>
              <a:t>작가</a:t>
            </a:r>
            <a:r>
              <a:rPr dirty="0"/>
              <a:t> </a:t>
            </a:r>
            <a:r>
              <a:rPr dirty="0" err="1"/>
              <a:t>소개</a:t>
            </a:r>
            <a:r>
              <a:rPr dirty="0"/>
              <a:t>,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문장</a:t>
            </a:r>
            <a:r>
              <a:rPr dirty="0"/>
              <a:t> </a:t>
            </a:r>
            <a:r>
              <a:rPr dirty="0" err="1"/>
              <a:t>추론</a:t>
            </a:r>
            <a:endParaRPr dirty="0"/>
          </a:p>
          <a:p>
            <a:r>
              <a:rPr dirty="0" err="1"/>
              <a:t>판단하기 12분 — 활동1 조형 언어 시범(2분) + 멸종위기동물 만들기(8분)</a:t>
            </a:r>
          </a:p>
          <a:p>
            <a:r>
              <a:rPr dirty="0" err="1"/>
              <a:t>공감하기 15분 — 활동2 감정 병뚜껑 보드판 위에 놓기, 이유 쓰기, 짝과 이야기 (핵심 활동)</a:t>
            </a:r>
          </a:p>
          <a:p>
            <a:r>
              <a:rPr dirty="0" err="1"/>
              <a:t>의미</a:t>
            </a:r>
            <a:r>
              <a:rPr dirty="0"/>
              <a:t> </a:t>
            </a:r>
            <a:r>
              <a:rPr dirty="0" err="1"/>
              <a:t>만들기</a:t>
            </a:r>
            <a:r>
              <a:rPr dirty="0"/>
              <a:t> 8분 — 활동3 </a:t>
            </a:r>
            <a:r>
              <a:rPr dirty="0" err="1"/>
              <a:t>정서</a:t>
            </a:r>
            <a:r>
              <a:rPr dirty="0"/>
              <a:t> </a:t>
            </a:r>
            <a:r>
              <a:rPr dirty="0" err="1"/>
              <a:t>다지기</a:t>
            </a:r>
            <a:r>
              <a:rPr dirty="0"/>
              <a:t>(1분) + </a:t>
            </a:r>
            <a:r>
              <a:rPr dirty="0" err="1"/>
              <a:t>둘러보기</a:t>
            </a:r>
            <a:r>
              <a:rPr dirty="0"/>
              <a:t>(4분) + </a:t>
            </a:r>
            <a:r>
              <a:rPr dirty="0" err="1"/>
              <a:t>인상</a:t>
            </a:r>
            <a:r>
              <a:rPr dirty="0"/>
              <a:t> </a:t>
            </a:r>
            <a:r>
              <a:rPr dirty="0" err="1"/>
              <a:t>깊은</a:t>
            </a:r>
            <a:r>
              <a:rPr dirty="0"/>
              <a:t> </a:t>
            </a:r>
            <a:r>
              <a:rPr dirty="0" err="1"/>
              <a:t>자리</a:t>
            </a:r>
            <a:r>
              <a:rPr dirty="0"/>
              <a:t> </a:t>
            </a:r>
            <a:r>
              <a:rPr dirty="0" err="1"/>
              <a:t>쓰기</a:t>
            </a:r>
            <a:r>
              <a:rPr dirty="0"/>
              <a:t>(3분), </a:t>
            </a:r>
            <a:r>
              <a:rPr dirty="0" err="1"/>
              <a:t>관찰평가</a:t>
            </a:r>
            <a:endParaRPr dirty="0"/>
          </a:p>
          <a:p>
            <a:r>
              <a:rPr dirty="0"/>
              <a:t>※ </a:t>
            </a:r>
            <a:r>
              <a:rPr dirty="0" err="1"/>
              <a:t>클레이</a:t>
            </a:r>
            <a:r>
              <a:rPr dirty="0"/>
              <a:t> </a:t>
            </a:r>
            <a:r>
              <a:rPr dirty="0" err="1"/>
              <a:t>작업이</a:t>
            </a:r>
            <a:r>
              <a:rPr dirty="0"/>
              <a:t> </a:t>
            </a:r>
            <a:r>
              <a:rPr dirty="0" err="1"/>
              <a:t>늦어지면</a:t>
            </a:r>
            <a:r>
              <a:rPr dirty="0"/>
              <a:t> </a:t>
            </a:r>
            <a:r>
              <a:rPr dirty="0" err="1"/>
              <a:t>공감하기의</a:t>
            </a:r>
            <a:r>
              <a:rPr dirty="0"/>
              <a:t> </a:t>
            </a:r>
            <a:r>
              <a:rPr dirty="0" err="1"/>
              <a:t>이유</a:t>
            </a:r>
            <a:r>
              <a:rPr dirty="0"/>
              <a:t> </a:t>
            </a:r>
            <a:r>
              <a:rPr dirty="0" err="1"/>
              <a:t>쓰기를</a:t>
            </a:r>
            <a:r>
              <a:rPr dirty="0"/>
              <a:t> </a:t>
            </a:r>
            <a:r>
              <a:rPr dirty="0" err="1"/>
              <a:t>활동지</a:t>
            </a:r>
            <a:r>
              <a:rPr dirty="0"/>
              <a:t> </a:t>
            </a:r>
            <a:r>
              <a:rPr dirty="0" err="1"/>
              <a:t>과제로</a:t>
            </a:r>
            <a:r>
              <a:rPr dirty="0"/>
              <a:t> </a:t>
            </a:r>
            <a:r>
              <a:rPr dirty="0" err="1"/>
              <a:t>돌려</a:t>
            </a:r>
            <a:r>
              <a:rPr dirty="0"/>
              <a:t> </a:t>
            </a:r>
            <a:r>
              <a:rPr dirty="0" err="1"/>
              <a:t>시간을</a:t>
            </a:r>
            <a:r>
              <a:rPr dirty="0"/>
              <a:t> </a:t>
            </a:r>
            <a:r>
              <a:rPr dirty="0" err="1"/>
              <a:t>확보한다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5차시(</a:t>
            </a:r>
            <a:r>
              <a:rPr dirty="0" err="1"/>
              <a:t>소통</a:t>
            </a:r>
            <a:r>
              <a:rPr dirty="0"/>
              <a:t>)는 ‘</a:t>
            </a:r>
            <a:r>
              <a:rPr dirty="0" err="1"/>
              <a:t>공감하기</a:t>
            </a:r>
            <a:r>
              <a:rPr dirty="0"/>
              <a:t>’ </a:t>
            </a:r>
            <a:r>
              <a:rPr dirty="0" err="1"/>
              <a:t>비중이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크다</a:t>
            </a:r>
            <a:r>
              <a:rPr dirty="0"/>
              <a:t>. </a:t>
            </a:r>
            <a:r>
              <a:rPr dirty="0" err="1"/>
              <a:t>각자</a:t>
            </a:r>
            <a:r>
              <a:rPr dirty="0"/>
              <a:t> </a:t>
            </a:r>
            <a:r>
              <a:rPr dirty="0" err="1"/>
              <a:t>만든</a:t>
            </a:r>
            <a:r>
              <a:rPr dirty="0"/>
              <a:t> </a:t>
            </a:r>
            <a:r>
              <a:rPr dirty="0" err="1"/>
              <a:t>동물을</a:t>
            </a:r>
            <a:r>
              <a:rPr dirty="0"/>
              <a:t> </a:t>
            </a:r>
            <a:r>
              <a:rPr dirty="0" err="1"/>
              <a:t>어떤</a:t>
            </a:r>
            <a:r>
              <a:rPr dirty="0"/>
              <a:t> </a:t>
            </a:r>
            <a:r>
              <a:rPr dirty="0" err="1"/>
              <a:t>감정</a:t>
            </a:r>
            <a:r>
              <a:rPr dirty="0"/>
              <a:t> </a:t>
            </a:r>
            <a:r>
              <a:rPr dirty="0" err="1"/>
              <a:t>위에</a:t>
            </a:r>
            <a:r>
              <a:rPr dirty="0"/>
              <a:t> </a:t>
            </a:r>
            <a:r>
              <a:rPr dirty="0" err="1"/>
              <a:t>놓았는지</a:t>
            </a:r>
            <a:r>
              <a:rPr dirty="0"/>
              <a:t> </a:t>
            </a:r>
            <a:r>
              <a:rPr dirty="0" err="1"/>
              <a:t>관찰하고</a:t>
            </a:r>
            <a:r>
              <a:rPr dirty="0"/>
              <a:t> </a:t>
            </a:r>
            <a:r>
              <a:rPr dirty="0" err="1"/>
              <a:t>서로</a:t>
            </a:r>
            <a:r>
              <a:rPr dirty="0"/>
              <a:t> </a:t>
            </a:r>
            <a:r>
              <a:rPr dirty="0" err="1"/>
              <a:t>이야기를</a:t>
            </a:r>
            <a:r>
              <a:rPr dirty="0"/>
              <a:t> </a:t>
            </a:r>
            <a:r>
              <a:rPr dirty="0" err="1"/>
              <a:t>나누는</a:t>
            </a:r>
            <a:r>
              <a:rPr dirty="0"/>
              <a:t> </a:t>
            </a:r>
            <a:r>
              <a:rPr dirty="0" err="1"/>
              <a:t>것이</a:t>
            </a:r>
            <a:r>
              <a:rPr dirty="0"/>
              <a:t> </a:t>
            </a:r>
            <a:r>
              <a:rPr dirty="0" err="1"/>
              <a:t>소통의</a:t>
            </a:r>
            <a:r>
              <a:rPr dirty="0"/>
              <a:t> </a:t>
            </a:r>
            <a:r>
              <a:rPr dirty="0" err="1"/>
              <a:t>핵심이기</a:t>
            </a:r>
            <a:r>
              <a:rPr dirty="0"/>
              <a:t> </a:t>
            </a:r>
            <a:r>
              <a:rPr dirty="0" err="1"/>
              <a:t>때문이다</a:t>
            </a:r>
            <a:r>
              <a:rPr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69DCDE-839F-45A5-BBBA-002CD9F8819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64327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1">
            <a:extLst>
              <a:ext uri="{FF2B5EF4-FFF2-40B4-BE49-F238E27FC236}">
                <a16:creationId xmlns:a16="http://schemas.microsoft.com/office/drawing/2014/main" id="{795C24D5-103F-6EED-A2BE-FC6AA5B71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t>작가 소개: 사야카 간즈(Sayaka Ganz)</a:t>
            </a:r>
          </a:p>
          <a:p>
            <a:r>
              <a:t>버려진 플라스틱 물건들을 모아 달리는 동물의 형태로 재탄생시키는 작가.</a:t>
            </a:r>
          </a:p>
          <a:p>
            <a:r>
              <a:rPr lang="ko-KR" altLang="en-US"/>
              <a:t>작가 홈페이지(통합학습창 URL): https://sayakaganz.com/exhibitions-list</a:t>
            </a:r>
          </a:p>
          <a:p>
            <a:r>
              <a:t>※ 화면의 말 이미지는 실제 작품이 아니라 이해를 돕기 위해 AI로 연출한 예입니다.</a:t>
            </a:r>
          </a:p>
          <a:p>
            <a:endParaRPr/>
          </a:p>
          <a:p>
            <a:r>
              <a:t>•교사: “버려질 뻔한 물건이 다시 생명을 얻은 걸 본 적 있나요? 사야카 간즈는 버려진 플라스틱들을 모아 달리는 동물을 만들어요. 오늘 우리는 병뚜껑 안에 클레이로 멸종위기동물을 만들어 볼 거예요.”</a:t>
            </a:r>
          </a:p>
        </p:txBody>
      </p:sp>
    </p:spTree>
    <p:extLst>
      <p:ext uri="{BB962C8B-B14F-4D97-AF65-F5344CB8AC3E}">
        <p14:creationId xmlns:p14="http://schemas.microsoft.com/office/powerpoint/2010/main" val="22971023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멸종위기동물 만들기</a:t>
            </a:r>
          </a:p>
          <a:p>
            <a:r>
              <a:t>•병뚜껑과 클레이를 이용해 멸종위기동물을 만든다.</a:t>
            </a:r>
          </a:p>
          <a:p>
            <a:r>
              <a:t>[유의점] 멸종위기동물 몇 종을 화면으로 사전에 안내한다.</a:t>
            </a:r>
          </a:p>
          <a:p>
            <a:r>
              <a:t>•교사: “어떤 친구를 소개하고 싶나요? 병뚜껑 안에 여러분이 살리고 싶은 멸종위기동물을 클레이로 만들어 봅시다. 병뚜껑을 활용해서 클레이와 함께 붙여볼게요.”</a:t>
            </a:r>
          </a:p>
          <a:p>
            <a:r>
              <a:t>준비물: 병뚜껑, 클레이, 목공풀</a:t>
            </a:r>
          </a:p>
          <a:p>
            <a:endParaRPr/>
          </a:p>
          <a:p>
            <a:r>
              <a:t>조형 언어 교사 시범(활동1 초반)</a:t>
            </a:r>
          </a:p>
          <a:p>
            <a:r>
              <a:t>•형: “병뚜껑 위에 클레이로 다리랑 몸통을 붙이니까 진짜 동물 같은 모양이 나오지? 이렇게 만들어진 전체 모양을 '형'이라고 해.”</a:t>
            </a:r>
          </a:p>
          <a:p>
            <a:r>
              <a:t>•색: “이 동물한테 이 색을 칠한 이유가 뭐야? 그렇게 마음이 담긴 색 선택이 바로 '색'이라는 조형 요소야.”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69DCDE-839F-45A5-BBBA-002CD9F8819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28067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감정 병뚜껑 보드판 위에 놓기</a:t>
            </a:r>
          </a:p>
          <a:p>
            <a:r>
              <a:t>•완성한 동물이 느낄 만한 감정을 활동지의 감정 병뚜껑 보드판 위에 올려본다. 그 자리를 고른 이유를 함께 작성한다.</a:t>
            </a:r>
          </a:p>
          <a:p>
            <a:r>
              <a:t>•교사: “이 동물을 만들면서 어떤 마음이 들었나요? 이 동물은 어떤 감정을 느낄까요? 그 마음에 가장 가까운 자리에 동물을 올려보세요.”</a:t>
            </a:r>
          </a:p>
          <a:p>
            <a:r>
              <a:t>•교사: “왜 그 자리를 골랐는지 친구에게 이야기해 볼까요?”</a:t>
            </a:r>
          </a:p>
          <a:p>
            <a:endParaRPr/>
          </a:p>
          <a:p>
            <a:r>
              <a:t>조형 언어 교사 시범</a:t>
            </a:r>
          </a:p>
          <a:p>
            <a:r>
              <a:t>•공간: “감정 병뚜껑 보드판 위에서 동물을 어디에 놓을지 골랐지? 그 넓은 감정 병뚜껑 보드판 위의 자리 하나하나가 다 '공간'이야.”</a:t>
            </a:r>
          </a:p>
          <a:p>
            <a:r>
              <a:t>•강조: “다른 자리도 많은데 하필 그 자리에 놓았지? 그렇게 특별한 자리를 골라서 내 마음을 두드러지게 보여주는 게 '강조'야.”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69DCDE-839F-45A5-BBBA-002CD9F8819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1710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친구들의 자리와 이유 나누기</a:t>
            </a:r>
          </a:p>
          <a:p>
            <a:r>
              <a:t>•(활동 직전) 같은 동물이라도 친구마다 다른 감정의 자리를 고를 수 있음을 짚고, 내 마음과 친구의 마음이 다를 때 드는 느낌(놀라움, 궁금함, 공감 등)을 나눈다.</a:t>
            </a:r>
          </a:p>
          <a:p>
            <a:r>
              <a:t>•친구들이 각자 어디에 동물을 놓았는지 살펴보고, 인상 깊은 감정의 자리와 이유를 나눈다.</a:t>
            </a:r>
          </a:p>
          <a:p>
            <a:r>
              <a:t>•교사: “교실을 돌아다니며 친구들의 동물이 어디에 놓였는지 살펴보세요. 가장 인상 깊었던 자리 하나를 골라 이유를 적어봅시다.”</a:t>
            </a:r>
          </a:p>
          <a:p>
            <a:r>
              <a:t>•균형: “감정 병뚜껑 보드판 전체를 보면 친구들 동물이 여기저기 골고루 퍼져 있지? 이렇게 전체적으로 안정돼 보이는 걸 '균형'이라고 해.”</a:t>
            </a:r>
          </a:p>
          <a:p>
            <a:r>
              <a:t>[유의점] 감정 병뚜껑 보드판에 놓는 활동은 짝 활동, 모둠 활동, 학급 활동, 온라인 활동 등으로 변형할 수 있다.</a:t>
            </a:r>
          </a:p>
          <a:p>
            <a:r>
              <a:t>[관찰평가] 조형 요소와 원리를 주제 표현에 맞게 연결하여 소통하는 능력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69DCDE-839F-45A5-BBBA-002CD9F8819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23863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형성평가 (주 평가: 활동지 자리와 이유 쓰기와 활동 관찰 / 아래 객관식 문항은 보조 자료)</a:t>
            </a:r>
          </a:p>
          <a:p>
            <a:r>
              <a:rPr lang="ko-KR" altLang="en-US"/>
              <a:t>•작품에 담은 마음은 다른 사람과의 [소통]을 거치며 더 넓은 의미를 얻는다.</a:t>
            </a:r>
          </a:p>
          <a:p>
            <a:r>
              <a:t>•작품을 감정 병뚜껑 보드판 특정 자리 위에 올려 의도를 두드러지게 하는 조형 원리는 [강조]다.</a:t>
            </a:r>
          </a:p>
          <a:p>
            <a:r>
              <a:t>•AI는 감정 단어를 입력하면 그에 맞는 이모지나 색을 즉시 추천하고, 나는 직접 만든 동물을 감정 병뚜껑 보드판 위에 올려보며 내 마음이 어디에 가까운지 스스로 찾고 친구와 나눈다.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69DCDE-839F-45A5-BBBA-002CD9F8819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2871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noFill/>
          <a:ln w="12700" cap="flat" cmpd="sng" algn="ctr">
            <a:solidFill>
              <a:prstClr val="black"/>
            </a:solidFill>
            <a:prstDash val="solid"/>
            <a:round/>
            <a:headEnd w="med" len="med"/>
            <a:tailEnd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</p:spPr>
        <p:txBody>
          <a:bodyPr/>
          <a:lstStyle/>
          <a:p>
            <a:r>
              <a:t>다음 시간 안내하기</a:t>
            </a:r>
          </a:p>
          <a:p>
            <a:r>
              <a:t>•교사: “다음 시간에는 자연을 채운 병뚜껑 수업을 하겠습니다.”</a:t>
            </a:r>
          </a:p>
          <a:p>
            <a:r>
              <a:t>준비물: 3차시에 만든 습자지 추상화, 가위, 병뚜껑, 목공풀</a:t>
            </a:r>
          </a:p>
        </p:txBody>
      </p:sp>
    </p:spTree>
    <p:extLst>
      <p:ext uri="{BB962C8B-B14F-4D97-AF65-F5344CB8AC3E}">
        <p14:creationId xmlns:p14="http://schemas.microsoft.com/office/powerpoint/2010/main" val="275037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모서리가 둥근 직사각형 10"/>
          <p:cNvSpPr/>
          <p:nvPr userDrawn="1"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80"/>
          <a:stretch/>
        </p:blipFill>
        <p:spPr>
          <a:xfrm>
            <a:off x="4938523" y="5907625"/>
            <a:ext cx="2314953" cy="76409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09943" y="2042583"/>
            <a:ext cx="6753997" cy="2387600"/>
          </a:xfrm>
        </p:spPr>
        <p:txBody>
          <a:bodyPr anchor="b">
            <a:normAutofit/>
          </a:bodyPr>
          <a:lstStyle>
            <a:lvl1pPr algn="l">
              <a:defRPr sz="6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3" name="Google Shape;23;p37"/>
          <p:cNvSpPr/>
          <p:nvPr/>
        </p:nvSpPr>
        <p:spPr>
          <a:xfrm>
            <a:off x="335361" y="488138"/>
            <a:ext cx="3834759" cy="72171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8493" y="0"/>
                </a:moveTo>
                <a:lnTo>
                  <a:pt x="3107" y="0"/>
                </a:lnTo>
                <a:cubicBezTo>
                  <a:pt x="2222" y="0"/>
                  <a:pt x="1691" y="0"/>
                  <a:pt x="1337" y="651"/>
                </a:cubicBezTo>
                <a:cubicBezTo>
                  <a:pt x="773" y="1743"/>
                  <a:pt x="328" y="4106"/>
                  <a:pt x="123" y="7106"/>
                </a:cubicBezTo>
                <a:cubicBezTo>
                  <a:pt x="41" y="8290"/>
                  <a:pt x="0" y="9540"/>
                  <a:pt x="0" y="10800"/>
                </a:cubicBezTo>
                <a:cubicBezTo>
                  <a:pt x="0" y="12060"/>
                  <a:pt x="41" y="13310"/>
                  <a:pt x="123" y="14494"/>
                </a:cubicBezTo>
                <a:cubicBezTo>
                  <a:pt x="328" y="17494"/>
                  <a:pt x="773" y="19857"/>
                  <a:pt x="1337" y="20949"/>
                </a:cubicBezTo>
                <a:cubicBezTo>
                  <a:pt x="1691" y="21600"/>
                  <a:pt x="2222" y="21600"/>
                  <a:pt x="3107" y="21600"/>
                </a:cubicBezTo>
                <a:lnTo>
                  <a:pt x="18493" y="21600"/>
                </a:lnTo>
                <a:cubicBezTo>
                  <a:pt x="19378" y="21600"/>
                  <a:pt x="19909" y="21600"/>
                  <a:pt x="20263" y="20949"/>
                </a:cubicBezTo>
                <a:cubicBezTo>
                  <a:pt x="20827" y="19857"/>
                  <a:pt x="21272" y="17494"/>
                  <a:pt x="21477" y="14494"/>
                </a:cubicBezTo>
                <a:cubicBezTo>
                  <a:pt x="21559" y="13310"/>
                  <a:pt x="21600" y="12060"/>
                  <a:pt x="21600" y="10800"/>
                </a:cubicBezTo>
                <a:cubicBezTo>
                  <a:pt x="21600" y="9540"/>
                  <a:pt x="21559" y="8290"/>
                  <a:pt x="21477" y="7106"/>
                </a:cubicBezTo>
                <a:cubicBezTo>
                  <a:pt x="21272" y="4106"/>
                  <a:pt x="20827" y="1743"/>
                  <a:pt x="20263" y="651"/>
                </a:cubicBezTo>
                <a:cubicBezTo>
                  <a:pt x="19909" y="0"/>
                  <a:pt x="19378" y="0"/>
                  <a:pt x="18493" y="0"/>
                </a:cubicBezTo>
                <a:close/>
              </a:path>
            </a:pathLst>
          </a:custGeom>
          <a:solidFill>
            <a:srgbClr val="F6877E"/>
          </a:solidFill>
          <a:ln>
            <a:noFill/>
          </a:ln>
        </p:spPr>
        <p:txBody>
          <a:bodyPr spcFirstLastPara="1" wrap="square" lIns="60933" tIns="60933" rIns="60933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176" y="1690809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60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616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2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18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모서리가 둥근 직사각형 2"/>
          <p:cNvSpPr/>
          <p:nvPr userDrawn="1"/>
        </p:nvSpPr>
        <p:spPr>
          <a:xfrm>
            <a:off x="519762" y="1412776"/>
            <a:ext cx="11144857" cy="4896544"/>
          </a:xfrm>
          <a:prstGeom prst="roundRect">
            <a:avLst>
              <a:gd name="adj" fmla="val 11065"/>
            </a:avLst>
          </a:prstGeom>
          <a:solidFill>
            <a:schemeClr val="bg1"/>
          </a:solidFill>
          <a:ln w="57150">
            <a:solidFill>
              <a:srgbClr val="F687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6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oogle Shape;22;p37"/>
          <p:cNvGrpSpPr/>
          <p:nvPr userDrawn="1"/>
        </p:nvGrpSpPr>
        <p:grpSpPr>
          <a:xfrm>
            <a:off x="335361" y="487206"/>
            <a:ext cx="3834759" cy="722645"/>
            <a:chOff x="0" y="-699"/>
            <a:chExt cx="2876068" cy="541982"/>
          </a:xfrm>
        </p:grpSpPr>
        <p:sp>
          <p:nvSpPr>
            <p:cNvPr id="13" name="Google Shape;23;p37"/>
            <p:cNvSpPr/>
            <p:nvPr/>
          </p:nvSpPr>
          <p:spPr>
            <a:xfrm>
              <a:off x="0" y="0"/>
              <a:ext cx="2876068" cy="54128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493" y="0"/>
                  </a:moveTo>
                  <a:lnTo>
                    <a:pt x="3107" y="0"/>
                  </a:lnTo>
                  <a:cubicBezTo>
                    <a:pt x="2222" y="0"/>
                    <a:pt x="1691" y="0"/>
                    <a:pt x="1337" y="651"/>
                  </a:cubicBezTo>
                  <a:cubicBezTo>
                    <a:pt x="773" y="1743"/>
                    <a:pt x="328" y="4106"/>
                    <a:pt x="123" y="7106"/>
                  </a:cubicBezTo>
                  <a:cubicBezTo>
                    <a:pt x="41" y="8290"/>
                    <a:pt x="0" y="9540"/>
                    <a:pt x="0" y="10800"/>
                  </a:cubicBezTo>
                  <a:cubicBezTo>
                    <a:pt x="0" y="12060"/>
                    <a:pt x="41" y="13310"/>
                    <a:pt x="123" y="14494"/>
                  </a:cubicBezTo>
                  <a:cubicBezTo>
                    <a:pt x="328" y="17494"/>
                    <a:pt x="773" y="19857"/>
                    <a:pt x="1337" y="20949"/>
                  </a:cubicBezTo>
                  <a:cubicBezTo>
                    <a:pt x="1691" y="21600"/>
                    <a:pt x="2222" y="21600"/>
                    <a:pt x="3107" y="21600"/>
                  </a:cubicBezTo>
                  <a:lnTo>
                    <a:pt x="18493" y="21600"/>
                  </a:lnTo>
                  <a:cubicBezTo>
                    <a:pt x="19378" y="21600"/>
                    <a:pt x="19909" y="21600"/>
                    <a:pt x="20263" y="20949"/>
                  </a:cubicBezTo>
                  <a:cubicBezTo>
                    <a:pt x="20827" y="19857"/>
                    <a:pt x="21272" y="17494"/>
                    <a:pt x="21477" y="14494"/>
                  </a:cubicBezTo>
                  <a:cubicBezTo>
                    <a:pt x="21559" y="13310"/>
                    <a:pt x="21600" y="12060"/>
                    <a:pt x="21600" y="10800"/>
                  </a:cubicBezTo>
                  <a:cubicBezTo>
                    <a:pt x="21600" y="9540"/>
                    <a:pt x="21559" y="8290"/>
                    <a:pt x="21477" y="7106"/>
                  </a:cubicBezTo>
                  <a:cubicBezTo>
                    <a:pt x="21272" y="4106"/>
                    <a:pt x="20827" y="1743"/>
                    <a:pt x="20263" y="651"/>
                  </a:cubicBezTo>
                  <a:cubicBezTo>
                    <a:pt x="19909" y="0"/>
                    <a:pt x="19378" y="0"/>
                    <a:pt x="18493" y="0"/>
                  </a:cubicBezTo>
                  <a:close/>
                </a:path>
              </a:pathLst>
            </a:custGeom>
            <a:solidFill>
              <a:srgbClr val="F6877E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14" name="Google Shape;24;p37"/>
            <p:cNvSpPr txBox="1"/>
            <p:nvPr/>
          </p:nvSpPr>
          <p:spPr>
            <a:xfrm>
              <a:off x="243287" y="-699"/>
              <a:ext cx="2389494" cy="535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333" b="1" dirty="0">
                  <a:solidFill>
                    <a:srgbClr val="FFFFFF"/>
                  </a:solidFill>
                  <a:latin typeface="+mj-ea"/>
                  <a:ea typeface="+mj-ea"/>
                  <a:cs typeface="Arial"/>
                  <a:sym typeface="Arial"/>
                </a:rPr>
                <a:t>초등 미술</a:t>
              </a:r>
              <a:endParaRPr sz="24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58" r="34094" b="5158"/>
          <a:stretch/>
        </p:blipFill>
        <p:spPr>
          <a:xfrm>
            <a:off x="4804125" y="5883883"/>
            <a:ext cx="2346484" cy="764099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 userDrawn="1"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8" name="Google Shape;125;p45"/>
          <p:cNvSpPr txBox="1"/>
          <p:nvPr userDrawn="1"/>
        </p:nvSpPr>
        <p:spPr>
          <a:xfrm>
            <a:off x="2927648" y="3591209"/>
            <a:ext cx="6387312" cy="32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0" b="1" dirty="0"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10000" b="1" dirty="0"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58" y="1079178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0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youtu.be/4VdUyc31O-M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youtu.be/Qmmcm3PLMkw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ayakaganz.com/exhibitions-list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/>
          <p:cNvSpPr/>
          <p:nvPr/>
        </p:nvSpPr>
        <p:spPr>
          <a:xfrm>
            <a:off x="512135" y="3025980"/>
            <a:ext cx="7718219" cy="995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5867" spc="-200" dirty="0">
                <a:solidFill>
                  <a:srgbClr val="F6877E"/>
                </a:solidFill>
                <a:latin typeface="+mj-ea"/>
                <a:ea typeface="+mj-ea"/>
              </a:rPr>
              <a:t>예술가의 소통</a:t>
            </a:r>
          </a:p>
        </p:txBody>
      </p:sp>
      <p:sp>
        <p:nvSpPr>
          <p:cNvPr id="2" name="모서리가 둥근 직사각형 1"/>
          <p:cNvSpPr/>
          <p:nvPr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15" name="제목 1"/>
          <p:cNvSpPr txBox="1"/>
          <p:nvPr/>
        </p:nvSpPr>
        <p:spPr>
          <a:xfrm>
            <a:off x="431319" y="577123"/>
            <a:ext cx="3552447" cy="547620"/>
          </a:xfrm>
          <a:prstGeom prst="rect">
            <a:avLst/>
          </a:prstGeom>
        </p:spPr>
        <p:txBody>
          <a:bodyPr vert="horz" lIns="121920" tIns="60960" rIns="121920" bIns="6096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defRPr/>
            </a:pPr>
            <a:r>
              <a:rPr lang="ko-KR" altLang="en-US" sz="2667">
                <a:solidFill>
                  <a:schemeClr val="bg1"/>
                </a:solidFill>
              </a:rPr>
              <a:t>초등 미술</a:t>
            </a:r>
          </a:p>
        </p:txBody>
      </p:sp>
      <p:pic>
        <p:nvPicPr>
          <p:cNvPr id="16" name="Google Shape;26;p37" descr="이미지"/>
          <p:cNvPicPr/>
          <p:nvPr/>
        </p:nvPicPr>
        <p:blipFill rotWithShape="1">
          <a:blip r:embed="rId3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5423925" y="1640745"/>
            <a:ext cx="2067867" cy="138523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31;p1"/>
          <p:cNvSpPr txBox="1"/>
          <p:nvPr/>
        </p:nvSpPr>
        <p:spPr>
          <a:xfrm>
            <a:off x="5185669" y="2018557"/>
            <a:ext cx="2542512" cy="642359"/>
          </a:xfrm>
          <a:prstGeom prst="rect">
            <a:avLst/>
          </a:prstGeom>
          <a:noFill/>
          <a:ln>
            <a:noFill/>
          </a:ln>
        </p:spPr>
        <p:txBody>
          <a:bodyPr wrap="square" lIns="121900" tIns="60933" rIns="121900" bIns="60933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>
                <a:schemeClr val="lt1"/>
              </a:buClr>
              <a:buSzPct val="25000"/>
              <a:buNone/>
              <a:defRPr/>
            </a:pPr>
            <a:r>
              <a:rPr lang="en-US" altLang="ko-KR" sz="3733">
                <a:solidFill>
                  <a:schemeClr val="bg1"/>
                </a:solidFill>
                <a:latin typeface="Noto Sans KR Black"/>
                <a:ea typeface="Noto Sans KR Black"/>
              </a:rPr>
              <a:t>5</a:t>
            </a:r>
            <a:r>
              <a:rPr lang="ko-KR" altLang="en-US" sz="3733">
                <a:solidFill>
                  <a:schemeClr val="bg1"/>
                </a:solidFill>
                <a:latin typeface="Noto Sans KR Black"/>
                <a:ea typeface="Noto Sans KR Black"/>
              </a:rPr>
              <a:t>차시</a:t>
            </a:r>
          </a:p>
        </p:txBody>
      </p:sp>
      <p:sp>
        <p:nvSpPr>
          <p:cNvPr id="4" name="가로 글상자 32">
            <a:extLst>
              <a:ext uri="{FF2B5EF4-FFF2-40B4-BE49-F238E27FC236}">
                <a16:creationId xmlns:a16="http://schemas.microsoft.com/office/drawing/2014/main" id="{931DDE7C-18AD-D853-B9DE-8E57BE27E8D7}"/>
              </a:ext>
            </a:extLst>
          </p:cNvPr>
          <p:cNvSpPr txBox="1"/>
          <p:nvPr/>
        </p:nvSpPr>
        <p:spPr>
          <a:xfrm>
            <a:off x="6082212" y="4439446"/>
            <a:ext cx="5655208" cy="5232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lvl="0" indent="0" algn="r" defTabSz="102883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2800" b="0" i="0" u="none" baseline="0" dirty="0">
                <a:solidFill>
                  <a:srgbClr val="4472C4">
                    <a:alpha val="100000"/>
                  </a:srgbClr>
                </a:solidFill>
                <a:latin typeface="에스코어 드림 8 Heavy"/>
                <a:ea typeface="에스코어 드림 8 Heavy"/>
              </a:rPr>
              <a:t>감정을 채운 병뚜껑</a:t>
            </a:r>
          </a:p>
        </p:txBody>
      </p:sp>
    </p:spTree>
    <p:extLst>
      <p:ext uri="{BB962C8B-B14F-4D97-AF65-F5344CB8AC3E}">
        <p14:creationId xmlns:p14="http://schemas.microsoft.com/office/powerpoint/2010/main" val="2746174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학습목표</a:t>
              </a:r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2639572" y="2564909"/>
            <a:ext cx="7965366" cy="2080074"/>
            <a:chOff x="3017897" y="1780274"/>
            <a:chExt cx="5166553" cy="762428"/>
          </a:xfrm>
        </p:grpSpPr>
        <p:grpSp>
          <p:nvGrpSpPr>
            <p:cNvPr id="15" name="그룹 14"/>
            <p:cNvGrpSpPr/>
            <p:nvPr/>
          </p:nvGrpSpPr>
          <p:grpSpPr>
            <a:xfrm>
              <a:off x="3017897" y="1780274"/>
              <a:ext cx="4760157" cy="213229"/>
              <a:chOff x="1397760" y="2088461"/>
              <a:chExt cx="5625738" cy="252000"/>
            </a:xfrm>
          </p:grpSpPr>
          <p:sp>
            <p:nvSpPr>
              <p:cNvPr id="4" name="타원 3"/>
              <p:cNvSpPr/>
              <p:nvPr/>
            </p:nvSpPr>
            <p:spPr>
              <a:xfrm>
                <a:off x="1397760" y="2088461"/>
                <a:ext cx="441595" cy="252000"/>
              </a:xfrm>
              <a:prstGeom prst="ellipse">
                <a:avLst/>
              </a:prstGeom>
              <a:solidFill>
                <a:srgbClr val="F687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r>
                  <a:rPr lang="en-US" altLang="ko-KR" sz="2400">
                    <a:solidFill>
                      <a:schemeClr val="bg1"/>
                    </a:solidFill>
                    <a:latin typeface="+mn-ea"/>
                  </a:rPr>
                  <a:t>1</a:t>
                </a:r>
                <a:endParaRPr lang="ko-KR" altLang="en-US" sz="240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9" name="직사각형 58"/>
              <p:cNvSpPr/>
              <p:nvPr/>
            </p:nvSpPr>
            <p:spPr>
              <a:xfrm>
                <a:off x="1912920" y="2126112"/>
                <a:ext cx="5110578" cy="195549"/>
              </a:xfrm>
              <a:prstGeom prst="rect">
                <a:avLst/>
              </a:prstGeom>
            </p:spPr>
            <p:txBody>
              <a:bodyPr wrap="none" anchor="ctr" anchorCtr="0">
                <a:spAutoFit/>
              </a:bodyPr>
              <a:lstStyle/>
              <a:p>
                <a:pPr lvl="0">
                  <a:defRPr/>
                </a:pPr>
                <a:r>
                  <a:rPr lang="ko-KR" altLang="en-US" sz="2400" spc="-147">
                    <a:solidFill>
                      <a:schemeClr val="tx1">
                        <a:lumMod val="75000"/>
                        <a:lumOff val="25000"/>
                        <a:alpha val="99000"/>
                      </a:schemeClr>
                    </a:solidFill>
                  </a:rPr>
                  <a:t>병뚜껑과 클레이로 동물을 만들고 감정을 표현할 수 있다</a:t>
                </a:r>
                <a:r>
                  <a:rPr lang="en-US" altLang="ko-KR" sz="2400" spc="-147">
                    <a:solidFill>
                      <a:schemeClr val="tx1">
                        <a:lumMod val="75000"/>
                        <a:lumOff val="25000"/>
                        <a:alpha val="99000"/>
                      </a:schemeClr>
                    </a:solidFill>
                  </a:rPr>
                  <a:t>.</a:t>
                </a:r>
              </a:p>
            </p:txBody>
          </p:sp>
        </p:grpSp>
        <p:grpSp>
          <p:nvGrpSpPr>
            <p:cNvPr id="14" name="그룹 13"/>
            <p:cNvGrpSpPr/>
            <p:nvPr/>
          </p:nvGrpSpPr>
          <p:grpSpPr>
            <a:xfrm>
              <a:off x="3017913" y="2238109"/>
              <a:ext cx="5166537" cy="304593"/>
              <a:chOff x="1397760" y="2675815"/>
              <a:chExt cx="6106005" cy="359978"/>
            </a:xfrm>
          </p:grpSpPr>
          <p:sp>
            <p:nvSpPr>
              <p:cNvPr id="61" name="타원 60"/>
              <p:cNvSpPr/>
              <p:nvPr/>
            </p:nvSpPr>
            <p:spPr>
              <a:xfrm>
                <a:off x="1397760" y="2714548"/>
                <a:ext cx="441594" cy="252000"/>
              </a:xfrm>
              <a:prstGeom prst="ellipse">
                <a:avLst/>
              </a:prstGeom>
              <a:solidFill>
                <a:srgbClr val="F687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r>
                  <a:rPr lang="en-US" altLang="ko-KR" sz="2400">
                    <a:solidFill>
                      <a:schemeClr val="bg1"/>
                    </a:solidFill>
                    <a:latin typeface="+mn-ea"/>
                  </a:rPr>
                  <a:t>2</a:t>
                </a:r>
                <a:endParaRPr lang="ko-KR" altLang="en-US" sz="240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2" name="직사각형 61"/>
              <p:cNvSpPr/>
              <p:nvPr/>
            </p:nvSpPr>
            <p:spPr>
              <a:xfrm>
                <a:off x="1912952" y="2675815"/>
                <a:ext cx="5590813" cy="359978"/>
              </a:xfrm>
              <a:prstGeom prst="rect">
                <a:avLst/>
              </a:prstGeom>
            </p:spPr>
            <p:txBody>
              <a:bodyPr wrap="square" anchor="ctr" anchorCtr="0">
                <a:spAutoFit/>
              </a:bodyPr>
              <a:lstStyle/>
              <a:p>
                <a:pPr lvl="0">
                  <a:defRPr/>
                </a:pPr>
                <a:r>
                  <a:rPr lang="ko-KR" altLang="en-US" sz="2400" spc="-147" dirty="0">
                    <a:solidFill>
                      <a:schemeClr val="tx1">
                        <a:lumMod val="75000"/>
                        <a:lumOff val="25000"/>
                        <a:alpha val="99000"/>
                      </a:schemeClr>
                    </a:solidFill>
                  </a:rPr>
                  <a:t>완성한 작품을 감정 보드에 놓고 그 이유를 친구와 나눌 수 있다</a:t>
                </a:r>
                <a:r>
                  <a:rPr lang="en-US" altLang="ko-KR" sz="2400" spc="-147" dirty="0">
                    <a:solidFill>
                      <a:schemeClr val="tx1">
                        <a:lumMod val="75000"/>
                        <a:lumOff val="25000"/>
                        <a:alpha val="99000"/>
                      </a:schemeClr>
                    </a:solidFill>
                  </a:rPr>
                  <a:t>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28356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3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감정을 채운 병뚜껑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pic>
        <p:nvPicPr>
          <p:cNvPr id="101" name="그림 10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123133"/>
            <a:ext cx="12192000" cy="5376688"/>
          </a:xfrm>
          <a:prstGeom prst="rect">
            <a:avLst/>
          </a:prstGeom>
        </p:spPr>
      </p:pic>
      <p:sp>
        <p:nvSpPr>
          <p:cNvPr id="5" name="실행 단추: 앞으로 또는 다음 18">
            <a:hlinkClick r:id="rId4"/>
            <a:extLst>
              <a:ext uri="{FF2B5EF4-FFF2-40B4-BE49-F238E27FC236}">
                <a16:creationId xmlns:a16="http://schemas.microsoft.com/office/drawing/2014/main" id="{3223559A-09E8-6A81-7078-29EAE7ED5FA5}"/>
              </a:ext>
            </a:extLst>
          </p:cNvPr>
          <p:cNvSpPr/>
          <p:nvPr/>
        </p:nvSpPr>
        <p:spPr>
          <a:xfrm>
            <a:off x="4194133" y="452670"/>
            <a:ext cx="613190" cy="564815"/>
          </a:xfrm>
          <a:prstGeom prst="actionButtonForwardNext">
            <a:avLst/>
          </a:prstGeom>
          <a:solidFill>
            <a:srgbClr val="FFE7D8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3451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141380"/>
            <a:ext cx="12192000" cy="5358441"/>
          </a:xfrm>
          <a:prstGeom prst="rect">
            <a:avLst/>
          </a:prstGeom>
        </p:spPr>
      </p:pic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4</a:t>
            </a:fld>
            <a:endParaRPr lang="en-US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예술가의 비밀 무기</a:t>
            </a:r>
          </a:p>
        </p:txBody>
      </p:sp>
      <p:sp>
        <p:nvSpPr>
          <p:cNvPr id="901" name="핵심 문장 패널"/>
          <p:cNvSpPr/>
          <p:nvPr/>
        </p:nvSpPr>
        <p:spPr>
          <a:xfrm>
            <a:off x="1096896" y="2742240"/>
            <a:ext cx="10237696" cy="3290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7B6D3"/>
            </a:solidFill>
          </a:ln>
        </p:spPr>
        <p:txBody>
          <a:bodyPr wrap="square" lIns="182880" tIns="137160" rIns="182880" bIns="137160" anchor="ctr">
            <a:norm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lang="ko-KR" altLang="en-US" sz="1400" b="1" dirty="0">
                <a:solidFill>
                  <a:srgbClr val="C0378A"/>
                </a:solidFill>
                <a:latin typeface="Noto Sans KR"/>
                <a:ea typeface="Noto Sans KR"/>
              </a:rPr>
              <a:t>단원 핵심 문장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altLang="en-US" sz="1500" b="0" dirty="0">
                <a:solidFill>
                  <a:srgbClr val="4A4A4A"/>
                </a:solidFill>
                <a:latin typeface="Noto Sans KR"/>
                <a:ea typeface="Noto Sans KR"/>
              </a:rPr>
              <a:t>AI는 결과를 빠르게 만들지만, 작품의 의미는</a:t>
            </a:r>
          </a:p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ko-KR" altLang="en-US" sz="1500" b="0" dirty="0">
                <a:solidFill>
                  <a:srgbClr val="4A4A4A"/>
                </a:solidFill>
                <a:latin typeface="Noto Sans KR"/>
                <a:ea typeface="Noto Sans KR"/>
              </a:rPr>
              <a:t>예술가(나)가 직접 고르고 나누고 돌아보는 과정에서 생겨난다.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lang="ko-KR" altLang="en-US" sz="1400" b="1" dirty="0">
                <a:solidFill>
                  <a:srgbClr val="C0378A"/>
                </a:solidFill>
                <a:latin typeface="Noto Sans KR"/>
                <a:ea typeface="Noto Sans KR"/>
              </a:rPr>
              <a:t>5차시 문장 · 빈칸에 들어갈 말은?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altLang="en-US" sz="2800" b="1" dirty="0">
                <a:solidFill>
                  <a:srgbClr val="222222"/>
                </a:solidFill>
                <a:latin typeface="Noto Sans KR"/>
                <a:ea typeface="Noto Sans KR"/>
              </a:rPr>
              <a:t>작품에 담은 마음은 다른 사람과의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altLang="en-US" sz="2800" b="1" dirty="0">
                <a:solidFill>
                  <a:srgbClr val="222222"/>
                </a:solidFill>
                <a:latin typeface="Noto Sans KR"/>
                <a:ea typeface="Noto Sans KR"/>
              </a:rPr>
              <a:t>[</a:t>
            </a:r>
            <a:r>
              <a:rPr lang="ko-KR" altLang="en-US" sz="2800" b="1" dirty="0">
                <a:solidFill>
                  <a:srgbClr val="3A3A3A"/>
                </a:solidFill>
                <a:highlight>
                  <a:srgbClr val="E8F1DD"/>
                </a:highlight>
                <a:latin typeface="Noto Sans KR"/>
                <a:ea typeface="Noto Sans KR"/>
              </a:rPr>
              <a:t>　　　</a:t>
            </a:r>
            <a:r>
              <a:rPr lang="ko-KR" altLang="en-US" sz="2800" b="1" dirty="0">
                <a:solidFill>
                  <a:srgbClr val="222222"/>
                </a:solidFill>
                <a:latin typeface="Noto Sans KR"/>
                <a:ea typeface="Noto Sans KR"/>
              </a:rPr>
              <a:t>]을 거치며 더 넓은 의미를 얻는다.</a:t>
            </a:r>
          </a:p>
        </p:txBody>
      </p:sp>
    </p:spTree>
    <p:extLst>
      <p:ext uri="{BB962C8B-B14F-4D97-AF65-F5344CB8AC3E}">
        <p14:creationId xmlns:p14="http://schemas.microsoft.com/office/powerpoint/2010/main" val="3756504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1141380"/>
            <a:ext cx="12192000" cy="5358441"/>
          </a:xfrm>
          <a:prstGeom prst="rect">
            <a:avLst/>
          </a:prstGeom>
        </p:spPr>
      </p:pic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5</a:t>
            </a:fld>
            <a:endParaRPr lang="en-US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예술가의 비밀 무기</a:t>
            </a:r>
          </a:p>
        </p:txBody>
      </p:sp>
      <p:sp>
        <p:nvSpPr>
          <p:cNvPr id="901" name="핵심 문장 패널"/>
          <p:cNvSpPr/>
          <p:nvPr/>
        </p:nvSpPr>
        <p:spPr>
          <a:xfrm>
            <a:off x="1096896" y="2742240"/>
            <a:ext cx="10237696" cy="3290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7B6D3"/>
            </a:solidFill>
          </a:ln>
        </p:spPr>
        <p:txBody>
          <a:bodyPr wrap="square" lIns="182880" tIns="137160" rIns="182880" bIns="137160" anchor="ctr">
            <a:norm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lang="ko-KR" altLang="en-US" sz="1400" b="1" dirty="0">
                <a:solidFill>
                  <a:srgbClr val="C0378A"/>
                </a:solidFill>
                <a:latin typeface="Noto Sans KR"/>
                <a:ea typeface="Noto Sans KR"/>
              </a:rPr>
              <a:t>단원 핵심 문장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altLang="en-US" sz="1500" b="0" dirty="0">
                <a:solidFill>
                  <a:srgbClr val="4A4A4A"/>
                </a:solidFill>
                <a:latin typeface="Noto Sans KR"/>
                <a:ea typeface="Noto Sans KR"/>
              </a:rPr>
              <a:t>AI는 결과를 빠르게 만들지만, 작품의 의미는</a:t>
            </a:r>
          </a:p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ko-KR" altLang="en-US" sz="1500" b="0" dirty="0">
                <a:solidFill>
                  <a:srgbClr val="4A4A4A"/>
                </a:solidFill>
                <a:latin typeface="Noto Sans KR"/>
                <a:ea typeface="Noto Sans KR"/>
              </a:rPr>
              <a:t>예술가(나)가 직접 고르고 나누고 돌아보는 과정에서 생겨난다.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lang="ko-KR" altLang="en-US" sz="1400" b="1" dirty="0">
                <a:solidFill>
                  <a:srgbClr val="C0378A"/>
                </a:solidFill>
                <a:latin typeface="Noto Sans KR"/>
                <a:ea typeface="Noto Sans KR"/>
              </a:rPr>
              <a:t>5차시 문장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altLang="en-US" sz="2800" b="1" dirty="0">
                <a:solidFill>
                  <a:srgbClr val="222222"/>
                </a:solidFill>
                <a:latin typeface="Noto Sans KR"/>
                <a:ea typeface="Noto Sans KR"/>
              </a:rPr>
              <a:t>작품에 담은 마음은 다른 사람과의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altLang="en-US" sz="2800" b="1" dirty="0">
                <a:solidFill>
                  <a:srgbClr val="D6336C"/>
                </a:solidFill>
                <a:highlight>
                  <a:srgbClr val="FFF2A8"/>
                </a:highlight>
                <a:latin typeface="Noto Sans KR"/>
                <a:ea typeface="Noto Sans KR"/>
              </a:rPr>
              <a:t>소통</a:t>
            </a:r>
            <a:r>
              <a:rPr lang="ko-KR" altLang="en-US" sz="2800" b="1" dirty="0">
                <a:solidFill>
                  <a:srgbClr val="222222"/>
                </a:solidFill>
                <a:latin typeface="Noto Sans KR"/>
                <a:ea typeface="Noto Sans KR"/>
              </a:rPr>
              <a:t>을 거치며 더 넓은 의미를 얻는다.</a:t>
            </a:r>
          </a:p>
        </p:txBody>
      </p:sp>
    </p:spTree>
    <p:extLst>
      <p:ext uri="{BB962C8B-B14F-4D97-AF65-F5344CB8AC3E}">
        <p14:creationId xmlns:p14="http://schemas.microsoft.com/office/powerpoint/2010/main" val="3756504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113608"/>
            <a:ext cx="12192000" cy="5386213"/>
          </a:xfrm>
          <a:prstGeom prst="rect">
            <a:avLst/>
          </a:prstGeom>
        </p:spPr>
      </p:pic>
      <p:sp>
        <p:nvSpPr>
          <p:cNvPr id="19" name="실행 단추: 앞으로 또는 다음 18">
            <a:hlinkClick r:id="rId4" highlightClick="1"/>
          </p:cNvPr>
          <p:cNvSpPr/>
          <p:nvPr/>
        </p:nvSpPr>
        <p:spPr>
          <a:xfrm>
            <a:off x="2958720" y="429624"/>
            <a:ext cx="613190" cy="564815"/>
          </a:xfrm>
          <a:prstGeom prst="actionButtonForwardNext">
            <a:avLst/>
          </a:prstGeom>
          <a:solidFill>
            <a:srgbClr val="FFE7D8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6</a:t>
            </a:fld>
            <a:endParaRPr lang="en-US" altLang="ko-KR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AI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?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나는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1139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151707"/>
            <a:ext cx="12192000" cy="5348113"/>
          </a:xfrm>
          <a:prstGeom prst="rect">
            <a:avLst/>
          </a:prstGeom>
        </p:spPr>
      </p:pic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7</a:t>
            </a:fld>
            <a:endParaRPr lang="en-US" altLang="ko-KR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안내</a:t>
            </a:r>
          </a:p>
        </p:txBody>
      </p:sp>
    </p:spTree>
    <p:extLst>
      <p:ext uri="{BB962C8B-B14F-4D97-AF65-F5344CB8AC3E}">
        <p14:creationId xmlns:p14="http://schemas.microsoft.com/office/powerpoint/2010/main" val="780456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실행 단추: 앞으로 또는 다음 15">
            <a:hlinkClick r:id="rId3" highlightClick="1"/>
          </p:cNvPr>
          <p:cNvSpPr/>
          <p:nvPr/>
        </p:nvSpPr>
        <p:spPr>
          <a:xfrm>
            <a:off x="6315009" y="417655"/>
            <a:ext cx="613190" cy="564815"/>
          </a:xfrm>
          <a:prstGeom prst="actionButtonForwardNext">
            <a:avLst/>
          </a:prstGeom>
          <a:solidFill>
            <a:srgbClr val="FFE7D8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8</a:t>
            </a:fld>
            <a:endParaRPr lang="en-US" altLang="ko-KR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en-US" altLang="ko-KR" b="1" i="0" u="none" baseline="0">
                <a:solidFill>
                  <a:srgbClr val="ED7D31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질</a:t>
            </a:r>
            <a:r>
              <a:rPr kumimoji="0" lang="en-US" altLang="ko-KR" b="1" i="0" u="none" baseline="0">
                <a:solidFill>
                  <a:srgbClr val="404040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문하기 — </a:t>
            </a:r>
            <a:r>
              <a:rPr kumimoji="0" lang="ko-KR" altLang="en-US" b="1" i="0" u="none" baseline="0">
                <a:solidFill>
                  <a:srgbClr val="404040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새로운</a:t>
            </a:r>
            <a:r>
              <a:rPr kumimoji="0" lang="en-US" altLang="ko-KR" b="1" i="0" u="none" baseline="0">
                <a:solidFill>
                  <a:srgbClr val="404040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 </a:t>
            </a:r>
            <a:r>
              <a:rPr kumimoji="0" lang="ko-KR" altLang="en-US" b="1" i="0" u="none" baseline="0">
                <a:solidFill>
                  <a:srgbClr val="ED7D31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생명</a:t>
            </a:r>
            <a:r>
              <a:rPr kumimoji="0" lang="ko-KR" altLang="en-US" b="1" i="0" u="none" baseline="0">
                <a:solidFill>
                  <a:srgbClr val="404040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을 얻다</a:t>
            </a: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1123133"/>
            <a:ext cx="12192000" cy="53766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D58FE5-7C33-7E1E-7BA5-0FCBA4A90251}"/>
              </a:ext>
            </a:extLst>
          </p:cNvPr>
          <p:cNvSpPr txBox="1"/>
          <p:nvPr/>
        </p:nvSpPr>
        <p:spPr>
          <a:xfrm>
            <a:off x="8130738" y="6044057"/>
            <a:ext cx="3216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dirty="0"/>
              <a:t>※ 이해를 돕기 위해 연출한 예입니다. (AI 생성 이미지)</a:t>
            </a:r>
            <a:endParaRPr lang="en-US" altLang="ko-KR" sz="1200" dirty="0"/>
          </a:p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222373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128032"/>
            <a:ext cx="12192000" cy="5371789"/>
          </a:xfrm>
          <a:prstGeom prst="rect">
            <a:avLst/>
          </a:prstGeom>
        </p:spPr>
      </p:pic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9</a:t>
            </a:fld>
            <a:endParaRPr lang="en-US" altLang="ko-KR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ko-KR" altLang="en-US" b="1" i="0" u="none" baseline="0">
                <a:solidFill>
                  <a:srgbClr val="289B6E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판</a:t>
            </a:r>
            <a:r>
              <a:rPr kumimoji="0" lang="ko-KR" altLang="en-US" b="1" i="0" u="none" baseline="0">
                <a:solidFill>
                  <a:srgbClr val="404040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단하기 — 멸종위기 동물 만들기</a:t>
            </a:r>
          </a:p>
        </p:txBody>
      </p:sp>
    </p:spTree>
    <p:extLst>
      <p:ext uri="{BB962C8B-B14F-4D97-AF65-F5344CB8AC3E}">
        <p14:creationId xmlns:p14="http://schemas.microsoft.com/office/powerpoint/2010/main" val="2772604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132658"/>
            <a:ext cx="12192000" cy="5367163"/>
          </a:xfrm>
          <a:prstGeom prst="rect">
            <a:avLst/>
          </a:prstGeom>
        </p:spPr>
      </p:pic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10</a:t>
            </a:fld>
            <a:endParaRPr lang="en-US" altLang="ko-KR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ko-KR" altLang="en-US" b="1" i="0" u="none" baseline="0">
                <a:solidFill>
                  <a:srgbClr val="9D5CBB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공</a:t>
            </a:r>
            <a:r>
              <a:rPr kumimoji="0" lang="ko-KR" altLang="en-US" b="1" i="0" u="none" baseline="0">
                <a:solidFill>
                  <a:srgbClr val="404040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감하기 — 감정 보드판 위에 놓기</a:t>
            </a:r>
          </a:p>
        </p:txBody>
      </p:sp>
      <p:sp>
        <p:nvSpPr>
          <p:cNvPr id="21" name="가로 글상자 20"/>
          <p:cNvSpPr txBox="1"/>
          <p:nvPr/>
        </p:nvSpPr>
        <p:spPr>
          <a:xfrm>
            <a:off x="0" y="6248804"/>
            <a:ext cx="2053590" cy="241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000">
                <a:solidFill>
                  <a:schemeClr val="lt1"/>
                </a:solidFill>
              </a:rPr>
              <a:t>AI(Google Flow)</a:t>
            </a:r>
            <a:r>
              <a:rPr lang="ko-KR" altLang="en-US" sz="1000">
                <a:solidFill>
                  <a:schemeClr val="lt1"/>
                </a:solidFill>
              </a:rPr>
              <a:t>로</a:t>
            </a:r>
            <a:r>
              <a:rPr lang="en-US" altLang="ko-KR" sz="1000">
                <a:solidFill>
                  <a:schemeClr val="lt1"/>
                </a:solidFill>
              </a:rPr>
              <a:t> </a:t>
            </a:r>
            <a:r>
              <a:rPr lang="ko-KR" altLang="en-US" sz="1000">
                <a:solidFill>
                  <a:schemeClr val="lt1"/>
                </a:solidFill>
              </a:rPr>
              <a:t>제작한 이미지</a:t>
            </a:r>
          </a:p>
        </p:txBody>
      </p:sp>
    </p:spTree>
    <p:extLst>
      <p:ext uri="{BB962C8B-B14F-4D97-AF65-F5344CB8AC3E}">
        <p14:creationId xmlns:p14="http://schemas.microsoft.com/office/powerpoint/2010/main" val="2225247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11</a:t>
            </a:fld>
            <a:endParaRPr lang="en-US" altLang="ko-KR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ko-KR" altLang="en-US" b="1" i="0" u="none" baseline="0">
                <a:solidFill>
                  <a:srgbClr val="4472C4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의</a:t>
            </a:r>
            <a:r>
              <a:rPr kumimoji="0" lang="ko-KR" altLang="en-US" b="1" i="0" u="none" baseline="0">
                <a:solidFill>
                  <a:srgbClr val="404040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미 만들기 — 소통하기</a:t>
            </a:r>
          </a:p>
        </p:txBody>
      </p:sp>
      <p:sp>
        <p:nvSpPr>
          <p:cNvPr id="15" name="가로 글상자 14"/>
          <p:cNvSpPr txBox="1"/>
          <p:nvPr/>
        </p:nvSpPr>
        <p:spPr>
          <a:xfrm>
            <a:off x="5300102" y="2531503"/>
            <a:ext cx="6729807" cy="402330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rmAutofit fontScale="32500" lnSpcReduction="20000"/>
          </a:bodyPr>
          <a:lstStyle/>
          <a:p>
            <a:pPr marL="203200" lvl="0" indent="-10160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1200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친구들이 어디에 동물</a:t>
            </a:r>
            <a:r>
              <a:rPr sz="11200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을 </a:t>
            </a:r>
            <a:r>
              <a:rPr lang="ko-KR" altLang="en-US" sz="11200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뒀나요</a:t>
            </a:r>
            <a:r>
              <a:rPr lang="en-US" altLang="ko-KR" sz="11200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?</a:t>
            </a:r>
            <a:endParaRPr sz="11200" b="0" i="0" u="none" strike="noStrike" baseline="0" dirty="0">
              <a:solidFill>
                <a:srgbClr val="000000"/>
              </a:solidFill>
              <a:latin typeface="나눔바른고딕"/>
              <a:ea typeface="나눔바른고딕"/>
              <a:cs typeface="나눔바른고딕"/>
            </a:endParaRPr>
          </a:p>
          <a:p>
            <a:pPr marL="203200" lvl="0" indent="-10160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200"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인상</a:t>
            </a:r>
            <a:r>
              <a:rPr sz="11200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sz="11200"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깊은</a:t>
            </a:r>
            <a:r>
              <a:rPr sz="11200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sz="11200"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감정</a:t>
            </a:r>
            <a:r>
              <a:rPr lang="ko-KR" altLang="en-US" sz="11200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과 </a:t>
            </a:r>
            <a:endParaRPr lang="en-US" altLang="ko-KR" sz="11200" b="0" i="0" u="none" strike="noStrike" baseline="0" dirty="0">
              <a:solidFill>
                <a:srgbClr val="000000"/>
              </a:solidFill>
              <a:latin typeface="나눔바른고딕"/>
              <a:ea typeface="나눔바른고딕"/>
              <a:cs typeface="나눔바른고딕"/>
            </a:endParaRPr>
          </a:p>
          <a:p>
            <a:pPr marL="203200" lvl="0" indent="-10160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1200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그 </a:t>
            </a:r>
            <a:r>
              <a:rPr sz="11200"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이유를</a:t>
            </a:r>
            <a:r>
              <a:rPr sz="11200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lang="ko-KR" altLang="en-US" sz="11200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나눠봅시다</a:t>
            </a:r>
            <a:r>
              <a:rPr lang="EN-US" sz="11200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</a:rPr>
              <a:t>.</a:t>
            </a:r>
          </a:p>
          <a:p>
            <a:pPr marL="203200" lvl="0" indent="-10160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1200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</a:rPr>
              <a:t>친구의 마음이 느껴지나요</a:t>
            </a:r>
            <a:r>
              <a:rPr lang="en-US" altLang="ko-KR" sz="11200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</a:rPr>
              <a:t>?</a:t>
            </a:r>
          </a:p>
          <a:p>
            <a:pPr marL="203200" lvl="0" indent="-10160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1200" b="0" i="0" u="none" strike="noStrike" baseline="0" dirty="0">
              <a:solidFill>
                <a:srgbClr val="000000"/>
              </a:solidFill>
              <a:latin typeface="나눔바른고딕"/>
              <a:ea typeface="나눔바른고딕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5220426" y="1508480"/>
            <a:ext cx="6835588" cy="4698010"/>
          </a:xfrm>
          <a:prstGeom prst="ellipse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grpSp>
        <p:nvGrpSpPr>
          <p:cNvPr id="29" name="그룹 28"/>
          <p:cNvGrpSpPr/>
          <p:nvPr/>
        </p:nvGrpSpPr>
        <p:grpSpPr>
          <a:xfrm>
            <a:off x="0" y="1142183"/>
            <a:ext cx="4947062" cy="5412626"/>
            <a:chOff x="0" y="1142183"/>
            <a:chExt cx="4340224" cy="5412626"/>
          </a:xfrm>
        </p:grpSpPr>
        <p:pic>
          <p:nvPicPr>
            <p:cNvPr id="24" name="그림 23"/>
            <p:cNvPicPr>
              <a:picLocks noChangeAspect="1"/>
            </p:cNvPicPr>
            <p:nvPr/>
          </p:nvPicPr>
          <p:blipFill rotWithShape="1">
            <a:blip r:embed="rId3"/>
            <a:srcRect l="8850" t="16520" r="13750"/>
            <a:stretch>
              <a:fillRect/>
            </a:stretch>
          </p:blipFill>
          <p:spPr>
            <a:xfrm rot="5400000">
              <a:off x="-512558" y="1654741"/>
              <a:ext cx="5365341" cy="4340224"/>
            </a:xfrm>
            <a:prstGeom prst="rect">
              <a:avLst/>
            </a:prstGeom>
          </p:spPr>
        </p:pic>
        <p:sp>
          <p:nvSpPr>
            <p:cNvPr id="25" name="타원 24"/>
            <p:cNvSpPr/>
            <p:nvPr/>
          </p:nvSpPr>
          <p:spPr>
            <a:xfrm>
              <a:off x="519761" y="1151708"/>
              <a:ext cx="1233959" cy="1253198"/>
            </a:xfrm>
            <a:prstGeom prst="ellipse">
              <a:avLst/>
            </a:prstGeom>
            <a:noFill/>
            <a:ln w="139700">
              <a:solidFill>
                <a:schemeClr val="accent1">
                  <a:shade val="20000"/>
                </a:schemeClr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6" name="타원 25"/>
            <p:cNvSpPr/>
            <p:nvPr/>
          </p:nvSpPr>
          <p:spPr>
            <a:xfrm>
              <a:off x="2618574" y="3101434"/>
              <a:ext cx="1233959" cy="1253198"/>
            </a:xfrm>
            <a:prstGeom prst="ellipse">
              <a:avLst/>
            </a:prstGeom>
            <a:noFill/>
            <a:ln w="139700">
              <a:solidFill>
                <a:schemeClr val="accent1">
                  <a:shade val="20000"/>
                </a:schemeClr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7" name="타원 26"/>
            <p:cNvSpPr/>
            <p:nvPr/>
          </p:nvSpPr>
          <p:spPr>
            <a:xfrm>
              <a:off x="519761" y="4073813"/>
              <a:ext cx="1233959" cy="1253198"/>
            </a:xfrm>
            <a:prstGeom prst="ellipse">
              <a:avLst/>
            </a:prstGeom>
            <a:noFill/>
            <a:ln w="139700">
              <a:solidFill>
                <a:schemeClr val="accent1">
                  <a:shade val="20000"/>
                </a:schemeClr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8" name="타원 27"/>
            <p:cNvSpPr/>
            <p:nvPr/>
          </p:nvSpPr>
          <p:spPr>
            <a:xfrm>
              <a:off x="2170112" y="5301611"/>
              <a:ext cx="1233959" cy="1253198"/>
            </a:xfrm>
            <a:prstGeom prst="ellipse">
              <a:avLst/>
            </a:prstGeom>
            <a:noFill/>
            <a:ln w="139700">
              <a:solidFill>
                <a:schemeClr val="accent1">
                  <a:shade val="20000"/>
                </a:schemeClr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DE6BC48C-E8D3-A74E-E1A1-5EADB8195257}"/>
              </a:ext>
            </a:extLst>
          </p:cNvPr>
          <p:cNvSpPr/>
          <p:nvPr/>
        </p:nvSpPr>
        <p:spPr>
          <a:xfrm>
            <a:off x="32716" y="6206490"/>
            <a:ext cx="201084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lang="ko-KR" altLang="en-US" sz="1000" b="1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출처</a:t>
            </a:r>
            <a:r>
              <a:rPr lang="en-US" altLang="ko-KR" sz="1000" b="1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:</a:t>
            </a:r>
            <a:r>
              <a:rPr sz="1000" b="1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lang="ko-KR" altLang="en-US" sz="1000" b="1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직접 </a:t>
            </a:r>
            <a:r>
              <a:rPr sz="1000" b="1" i="0" strike="noStrike" dirty="0" err="1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촬영</a:t>
            </a:r>
            <a:endParaRPr sz="1000" b="1" i="0" strike="noStrike" dirty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</p:spTree>
    <p:extLst>
      <p:ext uri="{BB962C8B-B14F-4D97-AF65-F5344CB8AC3E}">
        <p14:creationId xmlns:p14="http://schemas.microsoft.com/office/powerpoint/2010/main" val="4237477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12</a:t>
            </a:fld>
            <a:endParaRPr lang="en-US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12" name="가로 글상자 11"/>
          <p:cNvSpPr txBox="1"/>
          <p:nvPr/>
        </p:nvSpPr>
        <p:spPr>
          <a:xfrm>
            <a:off x="892019" y="1646286"/>
            <a:ext cx="7071163" cy="356542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Autofit/>
          </a:bodyPr>
          <a:lstStyle/>
          <a:p>
            <a:pPr marL="0" lvl="0" indent="0" algn="l" defTabSz="1028836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None/>
              <a:defRPr/>
            </a:pPr>
            <a:r>
              <a:rPr kumimoji="1" lang="ko-KR" altLang="en-US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  <a:sym typeface="Wingdings"/>
              </a:rPr>
              <a:t> </a:t>
            </a:r>
            <a:r>
              <a:rPr kumimoji="1" lang="ko-KR" altLang="en-US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병뚜껑과 클레이로 동물을 만들어 감정 보드 위에 표현함</a:t>
            </a:r>
          </a:p>
          <a:p>
            <a:pPr marL="0" lvl="0" indent="0" algn="l" defTabSz="1028836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None/>
              <a:defRPr/>
            </a:pPr>
            <a:endParaRPr kumimoji="1" lang="ko-KR" altLang="en-US" sz="2500" b="0" i="0" u="none" baseline="0">
              <a:solidFill>
                <a:srgbClr val="2C2C2A">
                  <a:alpha val="100000"/>
                </a:srgbClr>
              </a:solidFill>
              <a:latin typeface="Noto Sans KR Medium"/>
              <a:ea typeface="Noto Sans KR Medium"/>
            </a:endParaRPr>
          </a:p>
          <a:p>
            <a:pPr marL="0" lvl="0" indent="0" algn="l" defTabSz="1028836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None/>
              <a:defRPr/>
            </a:pPr>
            <a:r>
              <a:rPr kumimoji="1" lang="ko-KR" altLang="en-US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  <a:sym typeface="Wingdings"/>
              </a:rPr>
              <a:t> </a:t>
            </a:r>
            <a:r>
              <a:rPr kumimoji="1" lang="ko-KR" altLang="en-US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사야카 간즈처럼 버려진 재료에 생명을 불어넣어 마음을 나눔</a:t>
            </a:r>
          </a:p>
          <a:p>
            <a:pPr marL="0" lvl="0" indent="0" algn="l" defTabSz="1028836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None/>
              <a:defRPr/>
            </a:pPr>
            <a:endParaRPr kumimoji="1" lang="ko-KR" altLang="en-US" sz="2500" b="0" i="0" u="none" baseline="0">
              <a:solidFill>
                <a:srgbClr val="2C2C2A">
                  <a:alpha val="100000"/>
                </a:srgbClr>
              </a:solidFill>
              <a:latin typeface="Noto Sans KR Medium"/>
              <a:ea typeface="Noto Sans KR Medium"/>
              <a:sym typeface="Wingdings"/>
            </a:endParaRPr>
          </a:p>
          <a:p>
            <a:pPr marL="0" lvl="0" indent="0" algn="l" defTabSz="1028836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None/>
              <a:defRPr/>
            </a:pPr>
            <a:r>
              <a:rPr kumimoji="1" lang="ko-KR" altLang="en-US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□ 다음 시간 예고: 자연을 채운 병뚜껑</a:t>
            </a:r>
          </a:p>
          <a:p>
            <a:pPr marL="0" lvl="0" indent="0" algn="l" defTabSz="1028836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None/>
              <a:defRPr/>
            </a:pPr>
            <a:r>
              <a:rPr kumimoji="1" lang="ko-KR" altLang="en-US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준비물: 병뚜껑</a:t>
            </a:r>
            <a:r>
              <a:rPr kumimoji="1" lang="en-US" altLang="ko-KR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,</a:t>
            </a:r>
            <a:r>
              <a:rPr kumimoji="1" lang="ko-KR" altLang="en-US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 가위</a:t>
            </a:r>
            <a:r>
              <a:rPr kumimoji="1" lang="en-US" altLang="ko-KR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,</a:t>
            </a:r>
            <a:r>
              <a:rPr kumimoji="1" lang="ko-KR" altLang="en-US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 목공풀</a:t>
            </a:r>
            <a:r>
              <a:rPr kumimoji="1" lang="en-US" altLang="ko-KR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,</a:t>
            </a:r>
            <a:r>
              <a:rPr kumimoji="1" lang="ko-KR" altLang="en-US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 습자지 추상화</a:t>
            </a:r>
            <a:r>
              <a:rPr kumimoji="1" lang="en-US" altLang="ko-KR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(3</a:t>
            </a:r>
            <a:r>
              <a:rPr kumimoji="1" lang="ko-KR" altLang="en-US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차시 작품</a:t>
            </a:r>
            <a:r>
              <a:rPr kumimoji="1" lang="en-US" altLang="ko-KR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)</a:t>
            </a:r>
            <a:r>
              <a:rPr kumimoji="1" lang="ko-KR" altLang="en-US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 등</a:t>
            </a:r>
          </a:p>
        </p:txBody>
      </p:sp>
      <p:pic>
        <p:nvPicPr>
          <p:cNvPr id="16" name="그림 15"/>
          <p:cNvPicPr/>
          <p:nvPr/>
        </p:nvPicPr>
        <p:blipFill rotWithShape="1">
          <a:blip r:embed="rId3"/>
          <a:stretch>
            <a:fillRect/>
          </a:stretch>
        </p:blipFill>
        <p:spPr>
          <a:xfrm>
            <a:off x="7912950" y="1795145"/>
            <a:ext cx="3220737" cy="3955962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C841AD71-C88C-E62A-2AFB-13D7BC1B662A}"/>
              </a:ext>
            </a:extLst>
          </p:cNvPr>
          <p:cNvSpPr/>
          <p:nvPr/>
        </p:nvSpPr>
        <p:spPr>
          <a:xfrm>
            <a:off x="9008062" y="5941334"/>
            <a:ext cx="264093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출처</a:t>
            </a:r>
            <a:r>
              <a:rPr lang="en-US" altLang="ko-KR"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: AI(Google Gemini)</a:t>
            </a:r>
            <a:r>
              <a:rPr lang="ko-KR" altLang="en-US"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로</a:t>
            </a:r>
            <a:r>
              <a:rPr lang="en-US" altLang="ko-KR"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lang="ko-KR" altLang="en-US"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생성한 이미지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974363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661022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에스코어 드림 8 Heavy"/>
        <a:ea typeface="에스코어 드림 8 Heavy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1183</Words>
  <Application>Microsoft Office PowerPoint</Application>
  <PresentationFormat>와이드스크린</PresentationFormat>
  <Paragraphs>135</Paragraphs>
  <Slides>13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3" baseType="lpstr">
      <vt:lpstr>에스코어 드림 8 Heavy</vt:lpstr>
      <vt:lpstr>땅스부대찌개 Bold</vt:lpstr>
      <vt:lpstr>나눔스퀘어 ExtraBold</vt:lpstr>
      <vt:lpstr>Noto Sans KR Black</vt:lpstr>
      <vt:lpstr>Arial</vt:lpstr>
      <vt:lpstr>맑은 고딕</vt:lpstr>
      <vt:lpstr>Noto Sans KR Medium</vt:lpstr>
      <vt:lpstr>Noto Sans KR</vt:lpstr>
      <vt:lpstr>나눔바른고딕</vt:lpstr>
      <vt:lpstr>Office Theme</vt:lpstr>
      <vt:lpstr>PowerPoint 프레젠테이션</vt:lpstr>
      <vt:lpstr>PowerPoint 프레젠테이션</vt:lpstr>
      <vt:lpstr>감정을 채운 병뚜껑</vt:lpstr>
      <vt:lpstr>예술가의 비밀 무기</vt:lpstr>
      <vt:lpstr>예술가의 비밀 무기</vt:lpstr>
      <vt:lpstr>AI는? 나는?</vt:lpstr>
      <vt:lpstr>활동 안내</vt:lpstr>
      <vt:lpstr>질문하기 — 새로운 생명을 얻다</vt:lpstr>
      <vt:lpstr>판단하기 — 멸종위기 동물 만들기</vt:lpstr>
      <vt:lpstr>공감하기 — 감정 보드판 위에 놓기</vt:lpstr>
      <vt:lpstr>의미 만들기 — 소통하기</vt:lpstr>
      <vt:lpstr>정리하기</vt:lpstr>
      <vt:lpstr>PowerPoint 프레젠테이션</vt:lpstr>
    </vt:vector>
  </TitlesOfParts>
  <Manager/>
  <Company>PptxGenJS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장 혜림</cp:lastModifiedBy>
  <cp:revision>158</cp:revision>
  <dcterms:created xsi:type="dcterms:W3CDTF">2026-07-09T22:35:37Z</dcterms:created>
  <dcterms:modified xsi:type="dcterms:W3CDTF">2026-10-27T15:58:37Z</dcterms:modified>
  <cp:version/>
</cp:coreProperties>
</file>