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29">
          <p15:clr>
            <a:srgbClr val="A4A3A4"/>
          </p15:clr>
        </p15:guide>
        <p15:guide id="2" pos="214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6"/>
        <p:guide pos="38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29"/>
        <p:guide pos="214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ZhRI4OWqjo?si=S0ESYhgL7YWQYrfr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5차시 · 감정을 채운 병뚜껑 — 예술가의 소통</a:t>
            </a:r>
          </a:p>
          <a:p>
            <a:r>
              <a:t>6가지 사고 중 '사회·관계적 사고'를 다루는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성취기준</a:t>
            </a:r>
          </a:p>
          <a:p>
            <a:r>
              <a:t>[6미02-03] 조형 요소의 어울림을 통해 조형 원리를 이해하고 주제 표현에 연결할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en-US" altLang="ko-KR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https://youtube.com/shorts/NZhRI4OWqjo?si=S0ESYhgL7YWQYrfr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작품으로 타인과 [소통]할 수 있다.</a:t>
            </a:r>
          </a:p>
          <a:p>
            <a:endParaRPr/>
          </a:p>
          <a:p>
            <a:r>
              <a:t>•교사: “빈칸에 어떤 말이 들어갈까요? 내가 만든 작품을 친구에게 보여 주면 무슨 일이 일어날까요?”</a:t>
            </a:r>
          </a:p>
          <a:p>
            <a:r>
              <a:t>•교사: “오늘의 목표는 내가 만든 작품으로 내 마음을 친구들에게 전하고, 친구의 마음도 읽어 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https://youtu.be/Qmmcm3PLMkw</a:t>
            </a:r>
          </a:p>
          <a:p>
            <a:endParaRPr/>
          </a:p>
          <a:p>
            <a:r>
              <a:t>AI는 감정 단어를 입력하면 그에 맞는 이모지나 색을 즉시 추천한다.</a:t>
            </a:r>
          </a:p>
          <a:p>
            <a:r>
              <a:t>나는 직접 만든 클레이 동물을 감정 병뚜껑 보드판 위에 올려보며, 이 동물이 느끼는 마음이 어디에 가까운지 스스로 찾고 친구와 나눈다.</a:t>
            </a:r>
          </a:p>
          <a:p>
            <a:r>
              <a:t>→ 내 마음을 작품으로 표현해 다른 사람과 나누는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10분 — 활동1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 </a:t>
            </a:r>
            <a:r>
              <a:rPr dirty="0" err="1"/>
              <a:t>시범</a:t>
            </a:r>
            <a:r>
              <a:rPr dirty="0"/>
              <a:t>(2분) + </a:t>
            </a:r>
            <a:r>
              <a:rPr dirty="0" err="1"/>
              <a:t>멸종위기동물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(8분)</a:t>
            </a:r>
          </a:p>
          <a:p>
            <a:r>
              <a:rPr dirty="0" err="1"/>
              <a:t>공감하기</a:t>
            </a:r>
            <a:r>
              <a:rPr dirty="0"/>
              <a:t> 17분 — 활동2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보드판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놓기</a:t>
            </a:r>
            <a:r>
              <a:rPr dirty="0"/>
              <a:t>,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, </a:t>
            </a:r>
            <a:r>
              <a:rPr dirty="0" err="1"/>
              <a:t>짝과</a:t>
            </a:r>
            <a:r>
              <a:rPr dirty="0"/>
              <a:t> </a:t>
            </a:r>
            <a:r>
              <a:rPr dirty="0" err="1"/>
              <a:t>이야기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8분 — 활동3 </a:t>
            </a:r>
            <a:r>
              <a:rPr dirty="0" err="1"/>
              <a:t>정서</a:t>
            </a:r>
            <a:r>
              <a:rPr dirty="0"/>
              <a:t> </a:t>
            </a:r>
            <a:r>
              <a:rPr dirty="0" err="1"/>
              <a:t>다지기</a:t>
            </a:r>
            <a:r>
              <a:rPr dirty="0"/>
              <a:t>(1분) + </a:t>
            </a:r>
            <a:r>
              <a:rPr dirty="0" err="1"/>
              <a:t>둘러보기</a:t>
            </a:r>
            <a:r>
              <a:rPr dirty="0"/>
              <a:t>(4분) + </a:t>
            </a:r>
            <a:r>
              <a:rPr dirty="0" err="1"/>
              <a:t>인상</a:t>
            </a:r>
            <a:r>
              <a:rPr dirty="0"/>
              <a:t> </a:t>
            </a:r>
            <a:r>
              <a:rPr dirty="0" err="1"/>
              <a:t>깊은</a:t>
            </a:r>
            <a:r>
              <a:rPr dirty="0"/>
              <a:t> </a:t>
            </a:r>
            <a:r>
              <a:rPr dirty="0" err="1"/>
              <a:t>자리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(3분), </a:t>
            </a:r>
            <a:r>
              <a:rPr dirty="0" err="1"/>
              <a:t>관찰평가</a:t>
            </a:r>
            <a:endParaRPr dirty="0"/>
          </a:p>
          <a:p>
            <a:r>
              <a:rPr dirty="0"/>
              <a:t>※ </a:t>
            </a:r>
            <a:r>
              <a:rPr dirty="0" err="1"/>
              <a:t>클레이</a:t>
            </a:r>
            <a:r>
              <a:rPr dirty="0"/>
              <a:t> </a:t>
            </a:r>
            <a:r>
              <a:rPr dirty="0" err="1"/>
              <a:t>작업이</a:t>
            </a:r>
            <a:r>
              <a:rPr dirty="0"/>
              <a:t> </a:t>
            </a:r>
            <a:r>
              <a:rPr dirty="0" err="1"/>
              <a:t>늦어지면</a:t>
            </a:r>
            <a:r>
              <a:rPr dirty="0"/>
              <a:t> </a:t>
            </a:r>
            <a:r>
              <a:rPr dirty="0" err="1"/>
              <a:t>공감하기의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쓰기를</a:t>
            </a:r>
            <a:r>
              <a:rPr dirty="0"/>
              <a:t> </a:t>
            </a:r>
            <a:r>
              <a:rPr dirty="0" err="1"/>
              <a:t>활동지</a:t>
            </a:r>
            <a:r>
              <a:rPr dirty="0"/>
              <a:t> </a:t>
            </a:r>
            <a:r>
              <a:rPr dirty="0" err="1"/>
              <a:t>과제로</a:t>
            </a:r>
            <a:r>
              <a:rPr dirty="0"/>
              <a:t> </a:t>
            </a:r>
            <a:r>
              <a:rPr dirty="0" err="1"/>
              <a:t>돌려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</a:t>
            </a:r>
            <a:r>
              <a:rPr dirty="0" err="1"/>
              <a:t>확보한다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5차시(</a:t>
            </a:r>
            <a:r>
              <a:rPr dirty="0" err="1"/>
              <a:t>소통</a:t>
            </a:r>
            <a:r>
              <a:rPr dirty="0"/>
              <a:t>)는 ‘</a:t>
            </a:r>
            <a:r>
              <a:rPr dirty="0" err="1"/>
              <a:t>공감하기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dirty="0" err="1"/>
              <a:t>동물을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놓았는지</a:t>
            </a:r>
            <a:r>
              <a:rPr dirty="0"/>
              <a:t> </a:t>
            </a:r>
            <a:r>
              <a:rPr dirty="0" err="1"/>
              <a:t>관찰하고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이야기를</a:t>
            </a:r>
            <a:r>
              <a:rPr dirty="0"/>
              <a:t> </a:t>
            </a:r>
            <a:r>
              <a:rPr dirty="0" err="1"/>
              <a:t>나누는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소통의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795C24D5-103F-6EED-A2BE-FC6AA5B71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작가 소개: 사야카 간즈(Sayaka Ganz)</a:t>
            </a:r>
          </a:p>
          <a:p>
            <a:r>
              <a:t>버려진 플라스틱 물건들을 모아 달리는 동물의 형태로 재탄생시키는 작가.</a:t>
            </a:r>
          </a:p>
          <a:p>
            <a:r>
              <a:t>작가 홈페이지(활동지 QR): https://sayakaganz.com/exhibitions-list</a:t>
            </a:r>
          </a:p>
          <a:p>
            <a:r>
              <a:t>※ 화면의 말 이미지는 실제 작품이 아니라 이해를 돕기 위해 AI로 연출한 예입니다.</a:t>
            </a:r>
          </a:p>
          <a:p>
            <a:endParaRPr/>
          </a:p>
          <a:p>
            <a:r>
              <a:t>•교사: “버려질 뻔한 물건이 다시 생명을 얻은 걸 본 적 있나요? 사야카 간즈는 버려진 플라스틱들을 모아 달리는 동물을 만들어요. 오늘 우리는 병뚜껑 안에 클레이로 멸종위기동물을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멸종위기동물 만들기</a:t>
            </a:r>
          </a:p>
          <a:p>
            <a:r>
              <a:t>•병뚜껑과 클레이를 이용해 멸종위기동물을 만든다.</a:t>
            </a:r>
          </a:p>
          <a:p>
            <a:r>
              <a:t>[유의점] 멸종위기동물 몇 종을 화면으로 사전에 안내한다.</a:t>
            </a:r>
          </a:p>
          <a:p>
            <a:r>
              <a:t>•교사: “어떤 친구를 소개하고 싶나요? 병뚜껑 안에 여러분이 살리고 싶은 멸종위기동물을 클레이로 만들어 봅시다. 병뚜껑을 활용해서 클레이와 함께 붙여볼게요.”</a:t>
            </a:r>
          </a:p>
          <a:p>
            <a:r>
              <a:t>준비물: 병뚜껑, 클레이, 목공풀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“병뚜껑 위에 클레이로 다리랑 몸통을 붙이니까 진짜 동물 같은 모양이 나오지? 이렇게 만들어진 전체 모양을 '형'이라고 해.”</a:t>
            </a:r>
          </a:p>
          <a:p>
            <a:r>
              <a:t>•색: “이 동물한테 이 색을 칠한 이유가 뭐야? 그렇게 마음이 담긴 색 선택이 바로 '색'이라는 조형 요소야.”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감정 병뚜껑 보드판 위에 놓기</a:t>
            </a:r>
          </a:p>
          <a:p>
            <a:r>
              <a:t>•완성한 동물이 느낄 만한 감정을 활동지의 감정 병뚜껑 보드판 위에 올려본다. 그 자리를 고른 이유를 함께 작성한다.</a:t>
            </a:r>
          </a:p>
          <a:p>
            <a:r>
              <a:t>•교사: “이 동물을 만들면서 어떤 마음이 들었나요? 이 동물은 어떤 감정을 느낄까요? 그 마음에 가장 가까운 자리에 동물을 올려보세요.”</a:t>
            </a:r>
          </a:p>
          <a:p>
            <a:r>
              <a:t>•교사: “왜 그 자리를 골랐는지 친구에게 이야기해 볼까요?”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•공간: “감정 병뚜껑 보드판 위에서 동물을 어디에 놓을지 골랐지? 그 넓은 감정 병뚜껑 보드판 위의 자리 하나하나가 다 '공간'이야.”</a:t>
            </a:r>
          </a:p>
          <a:p>
            <a:r>
              <a:t>•강조: “다른 자리도 많은데 하필 그 자리에 놓았지? 그렇게 특별한 자리를 골라서 내 마음을 두드러지게 보여주는 게 '강조'야.”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친구들의 자리와 이유 나누기</a:t>
            </a:r>
          </a:p>
          <a:p>
            <a:r>
              <a:t>•(활동 직전) 같은 동물이라도 친구마다 다른 감정의 자리를 고를 수 있음을 짚고, 내 마음과 친구의 마음이 다를 때 드는 느낌(놀라움, 궁금함, 공감 등)을 나눈다.</a:t>
            </a:r>
          </a:p>
          <a:p>
            <a:r>
              <a:t>•친구들이 각자 어디에 동물을 놓았는지 살펴보고, 인상 깊은 감정의 자리와 이유를 나눈다.</a:t>
            </a:r>
          </a:p>
          <a:p>
            <a:r>
              <a:t>•교사: “교실을 돌아다니며 친구들의 동물이 어디에 놓였는지 살펴보세요. 가장 인상 깊었던 자리 하나를 골라 이유를 적어봅시다.”</a:t>
            </a:r>
          </a:p>
          <a:p>
            <a:r>
              <a:t>•균형: “감정 병뚜껑 보드판 전체를 보면 친구들 동물이 여기저기 골고루 퍼져 있지? 이렇게 전체적으로 안정돼 보이는 걸 '균형'이라고 해.”</a:t>
            </a:r>
          </a:p>
          <a:p>
            <a:r>
              <a:t>[유의점] 감정 병뚜껑 보드판에 놓는 활동은 짝 활동, 모둠 활동, 학급 활동, 온라인 활동 등으로 변형할 수 있다.</a:t>
            </a:r>
          </a:p>
          <a:p>
            <a:r>
              <a:t>[관찰평가] 조형 요소와 원리를 주제 표현에 맞게 연결하여 소통하는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작품으로 타인과 [소통]할 수 있다.</a:t>
            </a:r>
          </a:p>
          <a:p>
            <a:r>
              <a:t>•작품을 감정 병뚜껑 보드판 특정 자리 위에 올려 의도를 두드러지게 하는 조형 원리는 [강조]다.</a:t>
            </a:r>
          </a:p>
          <a:p>
            <a:r>
              <a:t>•AI는 감정 단어를 입력하면 그에 맞는 이모지나 색을 즉시 추천하고, 나는 직접 만든 동물을 감정 병뚜껑 보드판 위에 올려보며 내 마음이 어디에 가까운지 스스로 찾고 친구와 나눈다.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자연을 채운 병뚜껑 수업을 하겠습니다.”</a:t>
            </a:r>
          </a:p>
          <a:p>
            <a:r>
              <a:t>준비물: 3차시에 만든 습자지 추상화, 가위, 병뚜껑,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ZhRI4OWqjo?si=S0ESYhgL7YWQYrfr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Qmmcm3PLMkw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yakaganz.com/exhibitions-lis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소통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5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931DDE7C-18AD-D853-B9DE-8E57BE27E8D7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감정을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2" y="2564909"/>
            <a:ext cx="7965366" cy="2080074"/>
            <a:chOff x="3017897" y="1780274"/>
            <a:chExt cx="5166553" cy="762428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7" y="1780274"/>
              <a:ext cx="4760157" cy="213229"/>
              <a:chOff x="1397760" y="2088461"/>
              <a:chExt cx="5625738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0" y="2126112"/>
                <a:ext cx="5110578" cy="195549"/>
              </a:xfrm>
              <a:prstGeom prst="rect">
                <a:avLst/>
              </a:prstGeom>
            </p:spPr>
            <p:txBody>
              <a:bodyPr wrap="non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병뚜껑과 클레이로 동물을 만들고 감정을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3" y="2238109"/>
              <a:ext cx="5166537" cy="304593"/>
              <a:chOff x="1397760" y="2675815"/>
              <a:chExt cx="6106005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5815"/>
                <a:ext cx="5590813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완성한 작품을 감정 보드에 놓고 그 이유를 친구와 나눌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감정을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3223559A-09E8-6A81-7078-29EAE7ED5FA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59FA353-56AE-8657-AE5D-BEF0CF59D05E}"/>
              </a:ext>
            </a:extLst>
          </p:cNvPr>
          <p:cNvGrpSpPr/>
          <p:nvPr/>
        </p:nvGrpSpPr>
        <p:grpSpPr>
          <a:xfrm>
            <a:off x="4466897" y="3751372"/>
            <a:ext cx="3342290" cy="1188490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05C0A88-20D0-7D34-3426-0AB25A5BFAFD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659F57E4-5656-85F2-08F0-AC9272B2E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13608"/>
            <a:ext cx="12192000" cy="538621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58720" y="429624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6315009" y="417655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새로운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생명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얻다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58FE5-7C33-7E1E-7BA5-0FCBA4A90251}"/>
              </a:ext>
            </a:extLst>
          </p:cNvPr>
          <p:cNvSpPr txBox="1"/>
          <p:nvPr/>
        </p:nvSpPr>
        <p:spPr>
          <a:xfrm>
            <a:off x="8130738" y="6044057"/>
            <a:ext cx="3216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/>
              <a:t>※ 이해를 돕기 위해 연출한 예입니다. (AI 생성 이미지)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8032"/>
            <a:ext cx="12192000" cy="5371789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멸종위기 동물 만들기</a:t>
            </a: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감정 보드판 위에 놓기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소통하기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친구들이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어디에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동물을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놓았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</a:t>
            </a:r>
            <a:endParaRPr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인상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깊은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과 그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나눠봅시다</a:t>
            </a:r>
            <a:r>
              <a:rPr 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친구의 마음이 느껴지나요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주제 표현에 맞게 소통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0" y="1142183"/>
            <a:ext cx="4947062" cy="5412626"/>
            <a:chOff x="0" y="1142183"/>
            <a:chExt cx="4340224" cy="5412626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3"/>
            <a:srcRect l="8850" t="16520" r="13750"/>
            <a:stretch>
              <a:fillRect/>
            </a:stretch>
          </p:blipFill>
          <p:spPr>
            <a:xfrm rot="5400000">
              <a:off x="-512558" y="1654741"/>
              <a:ext cx="5365341" cy="4340224"/>
            </a:xfrm>
            <a:prstGeom prst="rect">
              <a:avLst/>
            </a:prstGeom>
          </p:spPr>
        </p:pic>
        <p:sp>
          <p:nvSpPr>
            <p:cNvPr id="25" name="타원 24"/>
            <p:cNvSpPr/>
            <p:nvPr/>
          </p:nvSpPr>
          <p:spPr>
            <a:xfrm>
              <a:off x="519761" y="1151708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2618574" y="3101434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519761" y="4073813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27"/>
            <p:cNvSpPr/>
            <p:nvPr/>
          </p:nvSpPr>
          <p:spPr>
            <a:xfrm>
              <a:off x="2170112" y="5301611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6BC48C-E8D3-A74E-E1A1-5EADB8195257}"/>
              </a:ext>
            </a:extLst>
          </p:cNvPr>
          <p:cNvSpPr/>
          <p:nvPr/>
        </p:nvSpPr>
        <p:spPr>
          <a:xfrm>
            <a:off x="32716" y="620649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endParaRPr sz="1000" b="1" i="0" strike="noStrike" dirty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646286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병뚜껑과 클레이로 동물을 만들어 감정 보드 위에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사야카 간즈처럼 버려진 재료에 생명을 불어넣어 마음을 나눔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가위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목공풀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습자지 추상화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(3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작품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)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등</a:t>
            </a:r>
          </a:p>
        </p:txBody>
      </p:sp>
      <p:pic>
        <p:nvPicPr>
          <p:cNvPr id="16" name="그림 15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795145"/>
            <a:ext cx="3220737" cy="395596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841AD71-C88C-E62A-2AFB-13D7BC1B662A}"/>
              </a:ext>
            </a:extLst>
          </p:cNvPr>
          <p:cNvSpPr/>
          <p:nvPr/>
        </p:nvSpPr>
        <p:spPr>
          <a:xfrm>
            <a:off x="9008062" y="5941334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1050</Words>
  <Application>Microsoft Office PowerPoint</Application>
  <PresentationFormat>와이드스크린</PresentationFormat>
  <Paragraphs>122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맑은 고딕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감정을 채운 병뚜껑</vt:lpstr>
      <vt:lpstr>예술가의 비밀 무기</vt:lpstr>
      <vt:lpstr>AI는? 나는?</vt:lpstr>
      <vt:lpstr>활동 안내</vt:lpstr>
      <vt:lpstr>질문하기 — 새로운 생명을 얻다</vt:lpstr>
      <vt:lpstr>판단하기 — 멸종위기 동물 만들기</vt:lpstr>
      <vt:lpstr>공감하기 — 감정 보드판 위에 놓기</vt:lpstr>
      <vt:lpstr>의미 만들기 — 소통하기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156</cp:revision>
  <dcterms:created xsi:type="dcterms:W3CDTF">2026-07-09T22:35:37Z</dcterms:created>
  <dcterms:modified xsi:type="dcterms:W3CDTF">2026-10-19T06:26:18Z</dcterms:modified>
  <cp:version/>
</cp:coreProperties>
</file>