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8"/>
  </p:notesMasterIdLst>
  <p:sldIdLst>
    <p:sldId id="264" r:id="rId2"/>
    <p:sldId id="266" r:id="rId3"/>
    <p:sldId id="287" r:id="rId4"/>
    <p:sldId id="265" r:id="rId5"/>
    <p:sldId id="279" r:id="rId6"/>
    <p:sldId id="275" r:id="rId7"/>
    <p:sldId id="276" r:id="rId8"/>
    <p:sldId id="281" r:id="rId9"/>
    <p:sldId id="277" r:id="rId10"/>
    <p:sldId id="283" r:id="rId11"/>
    <p:sldId id="278" r:id="rId12"/>
    <p:sldId id="286" r:id="rId13"/>
    <p:sldId id="285" r:id="rId14"/>
    <p:sldId id="284" r:id="rId15"/>
    <p:sldId id="269" r:id="rId16"/>
    <p:sldId id="270" r:id="rId17"/>
  </p:sldIdLst>
  <p:sldSz cx="12192000" cy="6858000"/>
  <p:notesSz cx="6858000" cy="12192000"/>
  <p:embeddedFontLst>
    <p:embeddedFont>
      <p:font typeface="Noto Sans KR" panose="020B0200000000000000" pitchFamily="50" charset="-127"/>
      <p:regular r:id="rId19"/>
      <p:bold r:id="rId20"/>
    </p:embeddedFont>
    <p:embeddedFont>
      <p:font typeface="Noto Sans KR Black" panose="020B0200000000000000" pitchFamily="50" charset="-127"/>
      <p:bold r:id="rId21"/>
    </p:embeddedFont>
    <p:embeddedFont>
      <p:font typeface="Noto Sans KR Medium" panose="020B0200000000000000" pitchFamily="50" charset="-127"/>
      <p:regular r:id="rId22"/>
    </p:embeddedFont>
    <p:embeddedFont>
      <p:font typeface="고양덕양 B" pitchFamily="2" charset="-127"/>
      <p:regular r:id="rId23"/>
    </p:embeddedFont>
    <p:embeddedFont>
      <p:font typeface="나눔바른고딕 Light" panose="020B0603020101020101" pitchFamily="50" charset="-127"/>
      <p:regular r:id="rId24"/>
    </p:embeddedFont>
    <p:embeddedFont>
      <p:font typeface="나눔스퀘어 ExtraBold" panose="020B0600000101010101" pitchFamily="50" charset="-127"/>
      <p:bold r:id="rId25"/>
    </p:embeddedFont>
    <p:embeddedFont>
      <p:font typeface="땅스부대찌개 Bold" panose="02020603020101020101" pitchFamily="18" charset="-127"/>
      <p:bold r:id="rId26"/>
    </p:embeddedFont>
    <p:embeddedFont>
      <p:font typeface="에스코어 드림 8 Heavy" panose="020B0903030302020204" pitchFamily="34" charset="-127"/>
      <p:bold r:id="rId2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383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:hp="http://schemas.haansoft.com/office/presentation/8.0" xmlns:dsp="http://schemas.microsoft.com/office/drawing/2008/diagram" xmlns:dgm="http://schemas.openxmlformats.org/drawingml/2006/diagram" xmlns:c="http://schemas.openxmlformats.org/drawingml/2006/chart" xmlns="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425" y="41"/>
      </p:cViewPr>
      <p:guideLst>
        <p:guide orient="horz" pos="2159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15초면 충분합니다. 여섯 걸음 중 어디에 있는지만 확인합니다.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7605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7610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924206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62360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563163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04990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평가 장면입니다. 반드시 시간을 확보합니다.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32871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museum.go.kr/detail?cateClass=&amp;cateListFlag=&amp;keyword=%EA%B9%8C%EC%B9%98%EC%99%80+%ED%98%B8%EB%9E%91%EC%9D%B4&amp;pageNum=3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&amp;showSearchOption=&amp;intrstMuseumCode=&amp;returnUrl=%2FheaderSearch&amp;selectMakerGroup=0&amp;radioSearchCheck=unifiedSearch&amp;headerPs01Lv1=&amp;headerPs01Lv2=&amp;headerPs01Lv3=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9.jpeg"/><Relationship Id="rId4" Type="http://schemas.openxmlformats.org/officeDocument/2006/relationships/image" Target="../media/image8.jp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museum.go.kr/detail?cateClass=&amp;cateListFlag=&amp;keyword=%EA%B9%8C%EC%B9%98%EC%99%80+%ED%98%B8%EB%9E%91%EC%9D%B4&amp;pageNum=3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&amp;showSearchOption=&amp;intrstMuseumCode=&amp;returnUrl=%2FheaderSearch&amp;selectMakerGroup=0&amp;radioSearchCheck=unifiedSearch&amp;headerPs01Lv1=&amp;headerPs01Lv2=&amp;headerPs01Lv3=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9.jpeg"/><Relationship Id="rId4" Type="http://schemas.openxmlformats.org/officeDocument/2006/relationships/image" Target="../media/image8.jp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jpeg"/><Relationship Id="rId3" Type="http://schemas.openxmlformats.org/officeDocument/2006/relationships/image" Target="../media/image11.png"/><Relationship Id="rId7" Type="http://schemas.openxmlformats.org/officeDocument/2006/relationships/image" Target="../media/image15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openxmlformats.org/officeDocument/2006/relationships/hyperlink" Target="https://www.emuseum.go.kr/main" TargetMode="Externa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g"/><Relationship Id="rId3" Type="http://schemas.openxmlformats.org/officeDocument/2006/relationships/hyperlink" Target="https://www.emuseum.go.kr/detail?cateClass=&amp;cateListFlag=&amp;keyword=%EB%AC%B8%EC%9E%90%EB%8F%84+%ED%9A%A8&amp;pageNum=14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&amp;showSearchOption=&amp;intrstMuseumCode=&amp;returnUrl=%2FheaderSearch&amp;selectMakerGroup=0&amp;radioSearchCheck=unifiedSearch&amp;headerPs01Lv1=&amp;headerPs01Lv2=&amp;headerPs01Lv3=" TargetMode="External"/><Relationship Id="rId7" Type="http://schemas.openxmlformats.org/officeDocument/2006/relationships/hyperlink" Target="https://www.emuseum.go.kr/detail?cateClass=&amp;cateListFlag=&amp;keyword=%EB%AA%A8%EB%9E%80%EB%8F%84&amp;pageNum=10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%EB%AA%A8%EB%9E%80%EB%8F%84&amp;showSearchOption=&amp;intrstMuseumCode=&amp;returnUrl=%2FheaderSearch&amp;selectMakerGroup=0&amp;radioSearchCheck=unifiedSearch&amp;headerPs01Lv1=&amp;headerPs01Lv2=&amp;headerPs01Lv3=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8.jpg"/><Relationship Id="rId5" Type="http://schemas.openxmlformats.org/officeDocument/2006/relationships/hyperlink" Target="https://www.emuseum.go.kr/detail?cateClass=&amp;cateListFlag=&amp;keyword=%EC%B1%85%EA%B0%80%EB%8F%84&amp;pageNum=5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%EC%B1%85%EA%B0%80%EB%8F%84&amp;showSearchOption=&amp;intrstMuseumCode=&amp;returnUrl=%2FheaderSearch&amp;selectMakerGroup=0&amp;radioSearchCheck=unifiedSearch&amp;headerPs01Lv1=&amp;headerPs01Lv2=&amp;headerPs01Lv3=" TargetMode="External"/><Relationship Id="rId4" Type="http://schemas.openxmlformats.org/officeDocument/2006/relationships/image" Target="../media/image17.jp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431371" y="2609387"/>
            <a:ext cx="7718219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&lt;</a:t>
            </a: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민화</a:t>
            </a: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&gt; </a:t>
            </a:r>
          </a:p>
          <a:p>
            <a:pPr lvl="0">
              <a:defRPr/>
            </a:pP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보기</a:t>
            </a: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, </a:t>
            </a: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생각하기</a:t>
            </a: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, </a:t>
            </a: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궁금해하기</a:t>
            </a:r>
          </a:p>
        </p:txBody>
      </p:sp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5" name="제목 1"/>
          <p:cNvSpPr txBox="1">
            <a:spLocks/>
          </p:cNvSpPr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rtlCol="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667" dirty="0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이미지"/>
          <p:cNvPicPr preferRelativeResize="0"/>
          <p:nvPr/>
        </p:nvPicPr>
        <p:blipFill rotWithShape="1">
          <a:blip r:embed="rId3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31;p1"/>
          <p:cNvSpPr txBox="1">
            <a:spLocks/>
          </p:cNvSpPr>
          <p:nvPr/>
        </p:nvSpPr>
        <p:spPr>
          <a:xfrm>
            <a:off x="5185669" y="2018557"/>
            <a:ext cx="2542512" cy="642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Bef>
                <a:spcPts val="0"/>
              </a:spcBef>
              <a:buClr>
                <a:schemeClr val="lt1"/>
              </a:buClr>
              <a:buSzPts val="2800"/>
              <a:buNone/>
            </a:pPr>
            <a:r>
              <a:rPr lang="en-US" altLang="ko-KR" sz="3733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8차시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96260" y="4366332"/>
            <a:ext cx="7863841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r">
              <a:lnSpc>
                <a:spcPct val="90000"/>
              </a:lnSpc>
              <a:defRPr/>
            </a:pPr>
            <a:r>
              <a:rPr lang="ko-KR" altLang="en-US" sz="2000" b="0" dirty="0" err="1">
                <a:solidFill>
                  <a:srgbClr val="8A8A8A"/>
                </a:solidFill>
                <a:latin typeface="Noto Sans KR Medium"/>
              </a:rPr>
              <a:t>아트풀</a:t>
            </a:r>
            <a:r>
              <a:rPr lang="ko-KR" altLang="en-US" sz="2000" b="0" dirty="0">
                <a:solidFill>
                  <a:srgbClr val="8A8A8A"/>
                </a:solidFill>
                <a:latin typeface="Noto Sans KR Medium"/>
              </a:rPr>
              <a:t> </a:t>
            </a:r>
            <a:r>
              <a:rPr lang="ko-KR" altLang="en-US" sz="2000" b="0" dirty="0" err="1">
                <a:solidFill>
                  <a:srgbClr val="8A8A8A"/>
                </a:solidFill>
                <a:latin typeface="Noto Sans KR Medium"/>
              </a:rPr>
              <a:t>씽킹</a:t>
            </a:r>
            <a:r>
              <a:rPr lang="en-US" altLang="ko-KR" sz="2000" b="0" dirty="0">
                <a:solidFill>
                  <a:srgbClr val="8A8A8A"/>
                </a:solidFill>
                <a:latin typeface="Noto Sans KR Medium"/>
              </a:rPr>
              <a:t>(Artful Thinking)</a:t>
            </a:r>
            <a:r>
              <a:rPr lang="ko-KR" altLang="en-US" sz="2000" b="0" dirty="0">
                <a:solidFill>
                  <a:srgbClr val="8A8A8A"/>
                </a:solidFill>
                <a:latin typeface="Noto Sans KR Medium"/>
              </a:rPr>
              <a:t>을 활용한 미술감상</a:t>
            </a:r>
            <a:endParaRPr lang="en-US" altLang="ko-KR" sz="2000" b="0" dirty="0">
              <a:solidFill>
                <a:srgbClr val="8A8A8A"/>
              </a:solidFill>
              <a:latin typeface="Noto Sans KR Medium"/>
            </a:endParaRPr>
          </a:p>
        </p:txBody>
      </p:sp>
    </p:spTree>
    <p:extLst>
      <p:ext uri="{BB962C8B-B14F-4D97-AF65-F5344CB8AC3E}">
        <p14:creationId xmlns:p14="http://schemas.microsoft.com/office/powerpoint/2010/main" val="2746174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일곱 번</a:t>
            </a:r>
            <a:r>
              <a:rPr lang="ko-KR" altLang="en-US" sz="2222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의 생각, 그 중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오늘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강좌</a:t>
            </a:r>
          </a:p>
        </p:txBody>
      </p:sp>
      <p:grpSp>
        <p:nvGrpSpPr>
          <p:cNvPr id="35" name="그룹 34"/>
          <p:cNvGrpSpPr/>
          <p:nvPr/>
        </p:nvGrpSpPr>
        <p:grpSpPr>
          <a:xfrm>
            <a:off x="643904" y="1422857"/>
            <a:ext cx="6479418" cy="400110"/>
            <a:chOff x="882304" y="1470196"/>
            <a:chExt cx="4859563" cy="300082"/>
          </a:xfrm>
        </p:grpSpPr>
        <p:grpSp>
          <p:nvGrpSpPr>
            <p:cNvPr id="36" name="그룹 35"/>
            <p:cNvGrpSpPr/>
            <p:nvPr/>
          </p:nvGrpSpPr>
          <p:grpSpPr>
            <a:xfrm>
              <a:off x="882304" y="1487958"/>
              <a:ext cx="255983" cy="253915"/>
              <a:chOff x="853872" y="1465626"/>
              <a:chExt cx="318648" cy="316074"/>
            </a:xfrm>
          </p:grpSpPr>
          <p:sp>
            <p:nvSpPr>
              <p:cNvPr id="42" name="모서리가 둥근 직사각형 41"/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>
                  <a:gd name="adj" fmla="val 16667"/>
                </a:avLst>
              </a:prstGeom>
              <a:solidFill>
                <a:srgbClr val="F6877E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43" name="TextBox 42"/>
              <p:cNvSpPr txBox="1"/>
              <p:nvPr/>
            </p:nvSpPr>
            <p:spPr>
              <a:xfrm>
                <a:off x="1000055" y="1465626"/>
                <a:ext cx="172465" cy="31607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algn="r">
                  <a:defRPr/>
                </a:pP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41" name="TextBox 40"/>
            <p:cNvSpPr txBox="1"/>
            <p:nvPr/>
          </p:nvSpPr>
          <p:spPr>
            <a:xfrm>
              <a:off x="1139405" y="1470196"/>
              <a:ext cx="4602462" cy="30008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lvl="0">
                <a:defRPr/>
              </a:pP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우리 옛 그림</a:t>
              </a:r>
              <a:r>
                <a:rPr lang="ko-KR" altLang="en-US" sz="12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을 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2000" dirty="0" err="1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아트풀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2000" dirty="0" err="1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씽킹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12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방법을 활용하여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감상해봅시다.</a:t>
              </a:r>
            </a:p>
          </p:txBody>
        </p:sp>
      </p:grpSp>
      <p:sp>
        <p:nvSpPr>
          <p:cNvPr id="97" name="Oval 96"/>
          <p:cNvSpPr/>
          <p:nvPr/>
        </p:nvSpPr>
        <p:spPr>
          <a:xfrm>
            <a:off x="2421449" y="3003064"/>
            <a:ext cx="1024128" cy="102412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FFFFFF"/>
                </a:solidFill>
                <a:latin typeface="고양덕양 B"/>
                <a:ea typeface="고양덕양 B"/>
              </a:rPr>
              <a:t>민화</a:t>
            </a:r>
            <a:endParaRPr b="1" dirty="0">
              <a:solidFill>
                <a:srgbClr val="FFFFFF"/>
              </a:solidFill>
              <a:latin typeface="고양덕양 B"/>
              <a:ea typeface="고양덕양 B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2421449" y="4100344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b="1" dirty="0">
                <a:solidFill>
                  <a:srgbClr val="F6877E"/>
                </a:solidFill>
                <a:latin typeface="고양덕양 B"/>
                <a:ea typeface="고양덕양 B"/>
              </a:rPr>
              <a:t>2</a:t>
            </a:r>
            <a:r>
              <a:rPr sz="2000" b="1" dirty="0">
                <a:solidFill>
                  <a:srgbClr val="F6877E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99" name="Oval 98"/>
          <p:cNvSpPr/>
          <p:nvPr/>
        </p:nvSpPr>
        <p:spPr>
          <a:xfrm>
            <a:off x="921569" y="2984901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산수화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921569" y="4082181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dirty="0">
                <a:solidFill>
                  <a:srgbClr val="8A8A8A"/>
                </a:solidFill>
                <a:latin typeface="고양덕양 B"/>
                <a:ea typeface="고양덕양 B"/>
              </a:rPr>
              <a:t>1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101" name="Oval 100"/>
          <p:cNvSpPr/>
          <p:nvPr/>
        </p:nvSpPr>
        <p:spPr>
          <a:xfrm>
            <a:off x="3921329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풍속화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3921329" y="4100344"/>
            <a:ext cx="1024128" cy="2712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 b="0">
                <a:solidFill>
                  <a:srgbClr val="8A8A8A"/>
                </a:solidFill>
                <a:latin typeface="고양덕양 B"/>
                <a:ea typeface="고양덕양 B"/>
              </a:rPr>
              <a:t>3차시</a:t>
            </a:r>
          </a:p>
        </p:txBody>
      </p:sp>
      <p:sp>
        <p:nvSpPr>
          <p:cNvPr id="105" name="Oval 104"/>
          <p:cNvSpPr/>
          <p:nvPr/>
        </p:nvSpPr>
        <p:spPr>
          <a:xfrm>
            <a:off x="7322898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sz="1600" b="1" dirty="0">
                <a:solidFill>
                  <a:srgbClr val="8A8A8A"/>
                </a:solidFill>
                <a:latin typeface="고양덕양 B"/>
                <a:ea typeface="고양덕양 B"/>
              </a:rPr>
              <a:t>동물화식물화</a:t>
            </a:r>
            <a:endParaRPr sz="1600"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7322898" y="4100344"/>
            <a:ext cx="1024128" cy="2712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 b="0">
                <a:solidFill>
                  <a:srgbClr val="8A8A8A"/>
                </a:solidFill>
                <a:latin typeface="고양덕양 B"/>
                <a:ea typeface="고양덕양 B"/>
              </a:rPr>
              <a:t>5차시</a:t>
            </a:r>
          </a:p>
        </p:txBody>
      </p:sp>
      <p:sp>
        <p:nvSpPr>
          <p:cNvPr id="107" name="Oval 106"/>
          <p:cNvSpPr/>
          <p:nvPr/>
        </p:nvSpPr>
        <p:spPr>
          <a:xfrm>
            <a:off x="5583936" y="2984901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인물화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5583936" y="4082181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dirty="0">
                <a:solidFill>
                  <a:srgbClr val="8A8A8A"/>
                </a:solidFill>
                <a:latin typeface="고양덕양 B"/>
                <a:ea typeface="고양덕양 B"/>
              </a:rPr>
              <a:t>4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43904" y="4976890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2000" b="1" dirty="0" err="1">
                <a:solidFill>
                  <a:srgbClr val="F6877E"/>
                </a:solidFill>
                <a:latin typeface="고양덕양 B"/>
                <a:ea typeface="고양덕양 B"/>
              </a:rPr>
              <a:t>오늘의</a:t>
            </a:r>
            <a:r>
              <a:rPr sz="2000" b="1" dirty="0">
                <a:solidFill>
                  <a:srgbClr val="F6877E"/>
                </a:solidFill>
                <a:latin typeface="고양덕양 B"/>
                <a:ea typeface="고양덕양 B"/>
              </a:rPr>
              <a:t> </a:t>
            </a:r>
            <a:r>
              <a:rPr sz="2000" b="1" dirty="0" err="1">
                <a:solidFill>
                  <a:srgbClr val="F6877E"/>
                </a:solidFill>
                <a:latin typeface="고양덕양 B"/>
                <a:ea typeface="고양덕양 B"/>
              </a:rPr>
              <a:t>성취기준</a:t>
            </a:r>
            <a:endParaRPr sz="2000" b="1" dirty="0">
              <a:solidFill>
                <a:srgbClr val="F6877E"/>
              </a:solidFill>
              <a:latin typeface="고양덕양 B"/>
              <a:ea typeface="고양덕양 B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643904" y="5338242"/>
            <a:ext cx="10881360" cy="8309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[6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03-01]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미술 작품을 작품이 만들어진 시대적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,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지역적 배경 등과 연결하여 이해할 수 있다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                                         [6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03-02]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미술 작품의 내용과 형식을 분석하여 작품의 특징을 설명할 수 있다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  <a:p>
            <a:pPr lvl="0" algn="l">
              <a:lnSpc>
                <a:spcPct val="90000"/>
              </a:lnSpc>
              <a:defRPr/>
            </a:pP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[6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03-04]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다양한 방법을 활용하여 작품을 감상하며 작품에 관한 서로 다른 관점을 존중할 수 있다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4" name="Oval 98">
            <a:extLst>
              <a:ext uri="{FF2B5EF4-FFF2-40B4-BE49-F238E27FC236}">
                <a16:creationId xmlns:a16="http://schemas.microsoft.com/office/drawing/2014/main" id="{02F26344-5359-4AC2-BE12-32CE0D8638B4}"/>
              </a:ext>
            </a:extLst>
          </p:cNvPr>
          <p:cNvSpPr/>
          <p:nvPr/>
        </p:nvSpPr>
        <p:spPr>
          <a:xfrm>
            <a:off x="9137904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기록화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D248A6-A714-DF93-F707-004EF684492B}"/>
              </a:ext>
            </a:extLst>
          </p:cNvPr>
          <p:cNvSpPr txBox="1"/>
          <p:nvPr/>
        </p:nvSpPr>
        <p:spPr>
          <a:xfrm>
            <a:off x="9137904" y="4122561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b="0" dirty="0">
                <a:solidFill>
                  <a:srgbClr val="8A8A8A"/>
                </a:solidFill>
                <a:latin typeface="고양덕양 B"/>
                <a:ea typeface="고양덕양 B"/>
              </a:rPr>
              <a:t>6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6" name="Oval 98">
            <a:extLst>
              <a:ext uri="{FF2B5EF4-FFF2-40B4-BE49-F238E27FC236}">
                <a16:creationId xmlns:a16="http://schemas.microsoft.com/office/drawing/2014/main" id="{0A4ED983-2E68-3877-C49F-EFB2AE2ADEEC}"/>
              </a:ext>
            </a:extLst>
          </p:cNvPr>
          <p:cNvSpPr/>
          <p:nvPr/>
        </p:nvSpPr>
        <p:spPr>
          <a:xfrm>
            <a:off x="10800511" y="3002098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마무리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DC0B1F-03BB-D88E-7828-B3657EA91265}"/>
              </a:ext>
            </a:extLst>
          </p:cNvPr>
          <p:cNvSpPr txBox="1"/>
          <p:nvPr/>
        </p:nvSpPr>
        <p:spPr>
          <a:xfrm>
            <a:off x="10839387" y="4109178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dirty="0">
                <a:solidFill>
                  <a:srgbClr val="8A8A8A"/>
                </a:solidFill>
                <a:latin typeface="고양덕양 B"/>
                <a:ea typeface="고양덕양 B"/>
              </a:rPr>
              <a:t>7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‘</a:t>
            </a:r>
            <a:r>
              <a:rPr lang="ko-KR" altLang="en-US" b="1" dirty="0" err="1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b="1" dirty="0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b="1" dirty="0" err="1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씽킹</a:t>
            </a:r>
            <a:r>
              <a:rPr lang="en-US" altLang="ko-KR" b="1" dirty="0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(Artful Thinking)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’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이란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강좌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583680" y="2428875"/>
            <a:ext cx="466344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>
                <a:solidFill>
                  <a:srgbClr val="FFFFFF"/>
                </a:solidFill>
                <a:latin typeface="고양덕양 B"/>
                <a:ea typeface="고양덕양 B"/>
              </a:rPr>
              <a:t>나는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8368" y="5303520"/>
            <a:ext cx="10881360" cy="154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endParaRPr sz="1150" b="0">
              <a:solidFill>
                <a:srgbClr val="8A8A8A"/>
              </a:solidFill>
              <a:latin typeface="Noto Sans KR Medium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7BC19595-D9CD-BB7B-661A-6614856CAB6A}"/>
              </a:ext>
            </a:extLst>
          </p:cNvPr>
          <p:cNvSpPr/>
          <p:nvPr/>
        </p:nvSpPr>
        <p:spPr>
          <a:xfrm>
            <a:off x="3257005" y="3281030"/>
            <a:ext cx="5120640" cy="144539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b="1" dirty="0" err="1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sz="3200" b="1" dirty="0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sz="3200" b="1" dirty="0" err="1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씽킹</a:t>
            </a:r>
            <a:endParaRPr lang="en-US" altLang="ko-KR" sz="3200" b="1" dirty="0">
              <a:solidFill>
                <a:schemeClr val="bg1">
                  <a:alpha val="99000"/>
                </a:schemeClr>
              </a:solidFill>
              <a:latin typeface="+mj-ea"/>
              <a:ea typeface="+mj-ea"/>
            </a:endParaRPr>
          </a:p>
          <a:p>
            <a:pPr algn="ctr"/>
            <a:r>
              <a:rPr lang="en-US" altLang="ko-KR" sz="3200" b="1" dirty="0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(Artful </a:t>
            </a:r>
            <a:r>
              <a:rPr lang="en-US" altLang="ko-KR" sz="3200" b="1" dirty="0">
                <a:solidFill>
                  <a:schemeClr val="bg1"/>
                </a:solidFill>
                <a:latin typeface="+mj-ea"/>
                <a:ea typeface="+mj-ea"/>
              </a:rPr>
              <a:t>Thinking)</a:t>
            </a:r>
            <a:endParaRPr lang="ko-KR" altLang="en-US" sz="3200" dirty="0">
              <a:solidFill>
                <a:schemeClr val="bg1"/>
              </a:solidFill>
            </a:endParaRPr>
          </a:p>
        </p:txBody>
      </p:sp>
      <p:sp>
        <p:nvSpPr>
          <p:cNvPr id="11" name="순서도: 대체 처리 10">
            <a:extLst>
              <a:ext uri="{FF2B5EF4-FFF2-40B4-BE49-F238E27FC236}">
                <a16:creationId xmlns:a16="http://schemas.microsoft.com/office/drawing/2014/main" id="{5DD6F91D-1A8B-DF64-F15C-7D53D4EE2DB9}"/>
              </a:ext>
            </a:extLst>
          </p:cNvPr>
          <p:cNvSpPr/>
          <p:nvPr/>
        </p:nvSpPr>
        <p:spPr>
          <a:xfrm>
            <a:off x="374469" y="1779457"/>
            <a:ext cx="3039291" cy="1887583"/>
          </a:xfrm>
          <a:prstGeom prst="flowChartAlternateProcess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하버드 교육대학원</a:t>
            </a:r>
            <a:endParaRPr lang="en-US" altLang="ko-KR" dirty="0"/>
          </a:p>
          <a:p>
            <a:pPr algn="ctr"/>
            <a:r>
              <a:rPr lang="en-US" altLang="ko-KR" dirty="0"/>
              <a:t>Project Zero</a:t>
            </a:r>
            <a:r>
              <a:rPr lang="ko-KR" altLang="en-US" dirty="0"/>
              <a:t>에서</a:t>
            </a:r>
            <a:endParaRPr lang="en-US" altLang="ko-KR" dirty="0"/>
          </a:p>
          <a:p>
            <a:pPr algn="ctr"/>
            <a:r>
              <a:rPr lang="ko-KR" altLang="en-US" dirty="0"/>
              <a:t>개발한 미술감상교육 프로그램</a:t>
            </a:r>
            <a:endParaRPr lang="ko-KR" altLang="en-US" sz="1600" dirty="0"/>
          </a:p>
        </p:txBody>
      </p:sp>
      <p:sp>
        <p:nvSpPr>
          <p:cNvPr id="12" name="순서도: 대체 처리 11">
            <a:extLst>
              <a:ext uri="{FF2B5EF4-FFF2-40B4-BE49-F238E27FC236}">
                <a16:creationId xmlns:a16="http://schemas.microsoft.com/office/drawing/2014/main" id="{0CE3265F-C9DA-D5E4-1650-F7F647AE4869}"/>
              </a:ext>
            </a:extLst>
          </p:cNvPr>
          <p:cNvSpPr/>
          <p:nvPr/>
        </p:nvSpPr>
        <p:spPr>
          <a:xfrm>
            <a:off x="374469" y="4436880"/>
            <a:ext cx="3039291" cy="1887583"/>
          </a:xfrm>
          <a:prstGeom prst="flowChartAlternateProcess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r>
              <a:rPr lang="ko-KR" altLang="en-US" dirty="0"/>
              <a:t>가지 유형으로 구성된 </a:t>
            </a:r>
            <a:endParaRPr lang="en-US" altLang="ko-KR" dirty="0"/>
          </a:p>
          <a:p>
            <a:pPr algn="ctr"/>
            <a:r>
              <a:rPr lang="ko-KR" altLang="en-US" dirty="0"/>
              <a:t>생각의 팔레트로</a:t>
            </a:r>
            <a:endParaRPr lang="en-US" altLang="ko-KR" dirty="0"/>
          </a:p>
          <a:p>
            <a:pPr algn="ctr"/>
            <a:r>
              <a:rPr lang="ko-KR" altLang="en-US" dirty="0"/>
              <a:t>사고의 깊이를 확장</a:t>
            </a:r>
            <a:endParaRPr lang="en-US" altLang="ko-KR" dirty="0"/>
          </a:p>
        </p:txBody>
      </p:sp>
      <p:sp>
        <p:nvSpPr>
          <p:cNvPr id="13" name="순서도: 대체 처리 12">
            <a:extLst>
              <a:ext uri="{FF2B5EF4-FFF2-40B4-BE49-F238E27FC236}">
                <a16:creationId xmlns:a16="http://schemas.microsoft.com/office/drawing/2014/main" id="{1F314941-B04B-76D2-C6D6-57FB186AA626}"/>
              </a:ext>
            </a:extLst>
          </p:cNvPr>
          <p:cNvSpPr/>
          <p:nvPr/>
        </p:nvSpPr>
        <p:spPr>
          <a:xfrm>
            <a:off x="8500437" y="1823334"/>
            <a:ext cx="3039291" cy="1887583"/>
          </a:xfrm>
          <a:prstGeom prst="flowChartAlternateProcess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예술 작품을 </a:t>
            </a:r>
            <a:endParaRPr lang="en-US" altLang="ko-KR" dirty="0"/>
          </a:p>
          <a:p>
            <a:pPr algn="ctr"/>
            <a:r>
              <a:rPr lang="ko-KR" altLang="en-US" dirty="0"/>
              <a:t>효과적으로 활용하여 사고력과 학습능력을 증진 </a:t>
            </a:r>
          </a:p>
        </p:txBody>
      </p:sp>
      <p:sp>
        <p:nvSpPr>
          <p:cNvPr id="14" name="순서도: 대체 처리 13">
            <a:extLst>
              <a:ext uri="{FF2B5EF4-FFF2-40B4-BE49-F238E27FC236}">
                <a16:creationId xmlns:a16="http://schemas.microsoft.com/office/drawing/2014/main" id="{6D981CF4-E11C-C858-DA25-18FC982743AB}"/>
              </a:ext>
            </a:extLst>
          </p:cNvPr>
          <p:cNvSpPr/>
          <p:nvPr/>
        </p:nvSpPr>
        <p:spPr>
          <a:xfrm>
            <a:off x="8494341" y="4359728"/>
            <a:ext cx="3039291" cy="1887583"/>
          </a:xfrm>
          <a:prstGeom prst="flowChartAlternateProcess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생각하는</a:t>
            </a:r>
            <a:r>
              <a:rPr lang="en-US" altLang="ko-KR" dirty="0"/>
              <a:t> </a:t>
            </a:r>
            <a:r>
              <a:rPr lang="ko-KR" altLang="en-US" dirty="0"/>
              <a:t>방법을 </a:t>
            </a:r>
            <a:endParaRPr lang="en-US" altLang="ko-KR" dirty="0"/>
          </a:p>
          <a:p>
            <a:pPr algn="ctr"/>
            <a:r>
              <a:rPr lang="ko-KR" altLang="en-US" dirty="0"/>
              <a:t>실제 수업에 적용하기 위한 사고 루틴 활용</a:t>
            </a:r>
          </a:p>
        </p:txBody>
      </p:sp>
    </p:spTree>
    <p:extLst>
      <p:ext uri="{BB962C8B-B14F-4D97-AF65-F5344CB8AC3E}">
        <p14:creationId xmlns:p14="http://schemas.microsoft.com/office/powerpoint/2010/main" val="3090384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4189968" y="836713"/>
            <a:ext cx="3876013" cy="1209013"/>
            <a:chOff x="3059832" y="627534"/>
            <a:chExt cx="2907010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3367074" y="748064"/>
              <a:ext cx="2244566" cy="73783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Oval 58"/>
          <p:cNvSpPr/>
          <p:nvPr/>
        </p:nvSpPr>
        <p:spPr>
          <a:xfrm>
            <a:off x="2395728" y="2414016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34843" y="2505075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핵심 문장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27245" y="2490978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우리 옛 그림을 </a:t>
            </a:r>
            <a:r>
              <a:rPr lang="ko-KR" altLang="en-US" sz="1600" dirty="0" err="1">
                <a:solidFill>
                  <a:srgbClr val="3B3B3B"/>
                </a:solidFill>
              </a:rPr>
              <a:t>아트풀</a:t>
            </a:r>
            <a:r>
              <a:rPr lang="ko-KR" altLang="en-US" sz="1600" dirty="0">
                <a:solidFill>
                  <a:srgbClr val="3B3B3B"/>
                </a:solidFill>
              </a:rPr>
              <a:t> </a:t>
            </a:r>
            <a:r>
              <a:rPr lang="ko-KR" altLang="en-US" sz="1600" dirty="0" err="1">
                <a:solidFill>
                  <a:srgbClr val="3B3B3B"/>
                </a:solidFill>
              </a:rPr>
              <a:t>씽킹</a:t>
            </a:r>
            <a:r>
              <a:rPr lang="ko-KR" altLang="en-US" sz="1600" dirty="0">
                <a:solidFill>
                  <a:srgbClr val="3B3B3B"/>
                </a:solidFill>
              </a:rPr>
              <a:t> 방법으로 감상한다</a:t>
            </a:r>
            <a:r>
              <a:rPr lang="en-US" altLang="ko-KR" sz="1600" dirty="0">
                <a:solidFill>
                  <a:srgbClr val="3B3B3B"/>
                </a:solidFill>
              </a:rPr>
              <a:t>.</a:t>
            </a:r>
            <a:endParaRPr sz="1600" dirty="0">
              <a:solidFill>
                <a:srgbClr val="3B3B3B"/>
              </a:solidFill>
            </a:endParaRPr>
          </a:p>
        </p:txBody>
      </p:sp>
      <p:sp>
        <p:nvSpPr>
          <p:cNvPr id="62" name="Oval 61"/>
          <p:cNvSpPr/>
          <p:nvPr/>
        </p:nvSpPr>
        <p:spPr>
          <a:xfrm>
            <a:off x="2395728" y="3200400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34843" y="3295650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지식·이해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627245" y="3277362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작품을 시대적 배경</a:t>
            </a:r>
            <a:r>
              <a:rPr lang="en-US" altLang="ko-KR" sz="1600" dirty="0">
                <a:solidFill>
                  <a:srgbClr val="3B3B3B"/>
                </a:solidFill>
              </a:rPr>
              <a:t>, </a:t>
            </a:r>
            <a:r>
              <a:rPr lang="ko-KR" altLang="en-US" sz="1600" dirty="0">
                <a:solidFill>
                  <a:srgbClr val="3B3B3B"/>
                </a:solidFill>
              </a:rPr>
              <a:t>지역적 배경과 연결하여 이해한다</a:t>
            </a:r>
            <a:r>
              <a:rPr lang="en-US" altLang="ko-KR" sz="1600" dirty="0">
                <a:solidFill>
                  <a:srgbClr val="3B3B3B"/>
                </a:solidFill>
              </a:rPr>
              <a:t>.</a:t>
            </a:r>
            <a:r>
              <a:rPr lang="ko-KR" altLang="en-US" sz="1600" dirty="0">
                <a:solidFill>
                  <a:srgbClr val="3B3B3B"/>
                </a:solidFill>
              </a:rPr>
              <a:t> </a:t>
            </a:r>
            <a:endParaRPr sz="1600" dirty="0">
              <a:solidFill>
                <a:srgbClr val="3B3B3B"/>
              </a:solidFill>
            </a:endParaRPr>
          </a:p>
        </p:txBody>
      </p:sp>
      <p:sp>
        <p:nvSpPr>
          <p:cNvPr id="65" name="Oval 64"/>
          <p:cNvSpPr/>
          <p:nvPr/>
        </p:nvSpPr>
        <p:spPr>
          <a:xfrm>
            <a:off x="2395728" y="3986783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934843" y="4086225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과정·기능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27245" y="4063746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작품의 내용과 형식을 분석하여 설명할 수 있다</a:t>
            </a:r>
            <a:r>
              <a:rPr lang="en-US" altLang="ko-KR" sz="1600" dirty="0">
                <a:solidFill>
                  <a:srgbClr val="3B3B3B"/>
                </a:solidFill>
              </a:rPr>
              <a:t>.</a:t>
            </a:r>
            <a:endParaRPr sz="1600" dirty="0">
              <a:solidFill>
                <a:srgbClr val="3B3B3B"/>
              </a:solidFill>
            </a:endParaRPr>
          </a:p>
        </p:txBody>
      </p:sp>
      <p:sp>
        <p:nvSpPr>
          <p:cNvPr id="68" name="Oval 67"/>
          <p:cNvSpPr/>
          <p:nvPr/>
        </p:nvSpPr>
        <p:spPr>
          <a:xfrm>
            <a:off x="2395728" y="4773168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934843" y="4867275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가치·태도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627245" y="4850130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작품에 관한 </a:t>
            </a:r>
            <a:r>
              <a:rPr sz="1600" dirty="0" err="1">
                <a:solidFill>
                  <a:srgbClr val="3B3B3B"/>
                </a:solidFill>
              </a:rPr>
              <a:t>다른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관점을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존중하는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태도를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가진다</a:t>
            </a:r>
            <a:r>
              <a:rPr sz="1600" dirty="0">
                <a:solidFill>
                  <a:srgbClr val="3B3B3B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Rounded Rectangle 98"/>
          <p:cNvSpPr/>
          <p:nvPr/>
        </p:nvSpPr>
        <p:spPr>
          <a:xfrm>
            <a:off x="724952" y="2150498"/>
            <a:ext cx="10881360" cy="3145402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5</a:t>
            </a:fld>
            <a:endParaRPr lang="en-US" altLang="ko-KR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</a:t>
            </a:r>
            <a:r>
              <a:rPr lang="ko-KR" altLang="en-US" sz="2222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늘의</a:t>
            </a: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핵심 </a:t>
            </a:r>
            <a:r>
              <a:rPr lang="ko-KR" altLang="en-US" b="1">
                <a:solidFill>
                  <a:srgbClr val="404040"/>
                </a:solidFill>
                <a:latin typeface="+mj-ea"/>
                <a:ea typeface="+mj-ea"/>
              </a:rPr>
              <a:t>문</a:t>
            </a:r>
            <a:r>
              <a:rPr lang="ko-KR" altLang="en-US" b="1">
                <a:solidFill>
                  <a:srgbClr val="289B6E"/>
                </a:solidFill>
                <a:latin typeface="+mj-ea"/>
                <a:ea typeface="+mj-ea"/>
              </a:rPr>
              <a:t>장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강좌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14558" y="2631947"/>
            <a:ext cx="10881360" cy="2077107"/>
          </a:xfrm>
          <a:prstGeom prst="rect">
            <a:avLst/>
          </a:prstGeom>
          <a:noFill/>
        </p:spPr>
        <p:txBody>
          <a:bodyPr vert="horz" wrap="square" lIns="0" tIns="0" rIns="0" bIns="0" anchor="t">
            <a:spAutoFit/>
          </a:bodyPr>
          <a:lstStyle/>
          <a:p>
            <a:pPr lvl="0" algn="ctr">
              <a:lnSpc>
                <a:spcPct val="115000"/>
              </a:lnSpc>
              <a:defRPr/>
            </a:pPr>
            <a:r>
              <a:rPr lang="ko-KR" altLang="en-US" sz="4000" b="1" spc="500" dirty="0">
                <a:solidFill>
                  <a:srgbClr val="FF843A"/>
                </a:solidFill>
                <a:latin typeface="고양덕양 B"/>
                <a:ea typeface="고양덕양 B"/>
              </a:rPr>
              <a:t>우리 옛 그림</a:t>
            </a:r>
            <a:r>
              <a:rPr lang="ko-KR" altLang="en-US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을</a:t>
            </a:r>
            <a:endParaRPr lang="en-US" altLang="ko-KR" sz="4000" spc="500" dirty="0">
              <a:solidFill>
                <a:srgbClr val="3B3B3B"/>
              </a:solidFill>
              <a:latin typeface="고양덕양 B"/>
              <a:ea typeface="고양덕양 B"/>
            </a:endParaRPr>
          </a:p>
          <a:p>
            <a:pPr lvl="0" algn="ctr">
              <a:lnSpc>
                <a:spcPct val="115000"/>
              </a:lnSpc>
              <a:defRPr/>
            </a:pPr>
            <a:r>
              <a:rPr lang="ko-KR" altLang="en-US" sz="4000" b="1" spc="500" dirty="0" err="1">
                <a:solidFill>
                  <a:srgbClr val="0070C0"/>
                </a:solidFill>
                <a:latin typeface="고양덕양 B"/>
                <a:ea typeface="고양덕양 B"/>
              </a:rPr>
              <a:t>아트풀</a:t>
            </a:r>
            <a:r>
              <a:rPr lang="ko-KR" altLang="en-US" sz="4000" b="1" spc="500" dirty="0">
                <a:solidFill>
                  <a:srgbClr val="0070C0"/>
                </a:solidFill>
                <a:latin typeface="고양덕양 B"/>
                <a:ea typeface="고양덕양 B"/>
              </a:rPr>
              <a:t> </a:t>
            </a:r>
            <a:r>
              <a:rPr lang="ko-KR" altLang="en-US" sz="4000" b="1" spc="500" dirty="0" err="1">
                <a:solidFill>
                  <a:srgbClr val="0070C0"/>
                </a:solidFill>
                <a:latin typeface="고양덕양 B"/>
                <a:ea typeface="고양덕양 B"/>
              </a:rPr>
              <a:t>씽킹</a:t>
            </a:r>
            <a:r>
              <a:rPr lang="ko-KR" altLang="en-US" sz="4000" b="1" spc="500" dirty="0">
                <a:solidFill>
                  <a:srgbClr val="0070C0"/>
                </a:solidFill>
                <a:latin typeface="고양덕양 B"/>
                <a:ea typeface="고양덕양 B"/>
              </a:rPr>
              <a:t> </a:t>
            </a:r>
            <a:r>
              <a:rPr lang="ko-KR" altLang="en-US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방법을 활용하여 </a:t>
            </a:r>
            <a:endParaRPr lang="en-US" altLang="ko-KR" sz="4000" spc="500" dirty="0">
              <a:solidFill>
                <a:srgbClr val="3B3B3B"/>
              </a:solidFill>
              <a:latin typeface="고양덕양 B"/>
              <a:ea typeface="고양덕양 B"/>
            </a:endParaRPr>
          </a:p>
          <a:p>
            <a:pPr lvl="0" algn="ctr">
              <a:lnSpc>
                <a:spcPct val="115000"/>
              </a:lnSpc>
              <a:defRPr/>
            </a:pPr>
            <a:r>
              <a:rPr lang="ko-KR" altLang="en-US" sz="4000" spc="500" dirty="0">
                <a:latin typeface="고양덕양 B"/>
                <a:ea typeface="고양덕양 B"/>
              </a:rPr>
              <a:t>감상해봅</a:t>
            </a:r>
            <a:r>
              <a:rPr lang="ko-KR" altLang="en-US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시다</a:t>
            </a:r>
            <a:r>
              <a:rPr lang="en-US" altLang="ko-KR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4000" spc="50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932688" y="5133975"/>
            <a:ext cx="10332720" cy="1619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endParaRPr sz="1150" b="0">
              <a:solidFill>
                <a:srgbClr val="8A8A8A"/>
              </a:solidFill>
              <a:latin typeface="Noto Sans KR Medium"/>
            </a:endParaRPr>
          </a:p>
        </p:txBody>
      </p:sp>
    </p:spTree>
    <p:extLst>
      <p:ext uri="{BB962C8B-B14F-4D97-AF65-F5344CB8AC3E}">
        <p14:creationId xmlns:p14="http://schemas.microsoft.com/office/powerpoint/2010/main" val="14380331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6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&lt;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민화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&gt;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를 알아봅시다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(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영상제목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: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민화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)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강좌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583680" y="2428875"/>
            <a:ext cx="466344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>
                <a:solidFill>
                  <a:srgbClr val="FFFFFF"/>
                </a:solidFill>
                <a:latin typeface="고양덕양 B"/>
                <a:ea typeface="고양덕양 B"/>
              </a:rPr>
              <a:t>나는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8368" y="5303520"/>
            <a:ext cx="10881360" cy="154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endParaRPr sz="1150" b="0">
              <a:solidFill>
                <a:srgbClr val="8A8A8A"/>
              </a:solidFill>
              <a:latin typeface="Noto Sans KR Medium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B972399-C531-C3BC-04CE-1E9436CE6B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771" y="1400175"/>
            <a:ext cx="8508274" cy="478590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00944FF-96D8-E0BE-F809-2DF7C1AB6D16}"/>
              </a:ext>
            </a:extLst>
          </p:cNvPr>
          <p:cNvSpPr txBox="1"/>
          <p:nvPr/>
        </p:nvSpPr>
        <p:spPr>
          <a:xfrm>
            <a:off x="58500" y="6599812"/>
            <a:ext cx="6734186" cy="166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출처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: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캔바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에듀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이미지</a:t>
            </a:r>
            <a:endParaRPr sz="12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ounded Rectangle 22"/>
          <p:cNvSpPr/>
          <p:nvPr/>
        </p:nvSpPr>
        <p:spPr>
          <a:xfrm>
            <a:off x="841248" y="3585019"/>
            <a:ext cx="10424160" cy="1665340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고양덕양 B"/>
              <a:ea typeface="고양덕양 B"/>
            </a:endParaRP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7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1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옛 그림과 만나기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176272"/>
            <a:ext cx="10424160" cy="1051560"/>
          </a:xfrm>
          <a:prstGeom prst="roundRect">
            <a:avLst>
              <a:gd name="adj" fmla="val 10000"/>
            </a:avLst>
          </a:prstGeom>
          <a:solidFill>
            <a:srgbClr val="FFF4E2"/>
          </a:solidFill>
          <a:ln w="15875">
            <a:solidFill>
              <a:srgbClr val="FBAE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42999" y="2541686"/>
            <a:ext cx="9995263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/>
            </a:pPr>
            <a:r>
              <a:rPr 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&lt;</a:t>
            </a: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호랑이와 까치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&gt;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를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 함께 감상해 봅시다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941832" y="378561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98448" y="377952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작품의 첫인상은 </a:t>
            </a:r>
            <a:r>
              <a:rPr lang="ko-KR" altLang="en-US" sz="2000" dirty="0" err="1">
                <a:solidFill>
                  <a:srgbClr val="3B3B3B"/>
                </a:solidFill>
                <a:latin typeface="고양덕양 B"/>
                <a:ea typeface="고양덕양 B"/>
              </a:rPr>
              <a:t>어떤가요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  <a:endParaRPr lang="en-US" altLang="ko-KR"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941832" y="4288536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98448" y="428244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작품 속에 무엇이 보이나요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  <p:sp>
        <p:nvSpPr>
          <p:cNvPr id="21" name="Oval 20"/>
          <p:cNvSpPr/>
          <p:nvPr/>
        </p:nvSpPr>
        <p:spPr>
          <a:xfrm>
            <a:off x="941832" y="479145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298448" y="4785359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무슨 이야기가 숨어 있을까요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8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1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옛 그림과 만나기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350D6A15-76B1-0CF5-9ABC-92B22CF4C0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9133700"/>
              </p:ext>
            </p:extLst>
          </p:nvPr>
        </p:nvGraphicFramePr>
        <p:xfrm>
          <a:off x="519760" y="1910600"/>
          <a:ext cx="10252743" cy="4438878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937914">
                  <a:extLst>
                    <a:ext uri="{9D8B030D-6E8A-4147-A177-3AD203B41FA5}">
                      <a16:colId xmlns:a16="http://schemas.microsoft.com/office/drawing/2014/main" val="3511918884"/>
                    </a:ext>
                  </a:extLst>
                </a:gridCol>
                <a:gridCol w="6314829">
                  <a:extLst>
                    <a:ext uri="{9D8B030D-6E8A-4147-A177-3AD203B41FA5}">
                      <a16:colId xmlns:a16="http://schemas.microsoft.com/office/drawing/2014/main" val="1190672579"/>
                    </a:ext>
                  </a:extLst>
                </a:gridCol>
              </a:tblGrid>
              <a:tr h="4194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호랑이와 까치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작품설명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85455267"/>
                  </a:ext>
                </a:extLst>
              </a:tr>
              <a:tr h="4019444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dirty="0"/>
                    </a:p>
                    <a:p>
                      <a:pPr marL="285750" marR="0" lvl="0" indent="-2857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dirty="0"/>
                        <a:t>호랑이는 무섭고 용맹스러운 모습이 아닌 바보스럽고 친근한 표정으로 묘사했다</a:t>
                      </a:r>
                      <a:r>
                        <a:rPr lang="en-US" altLang="ko-KR" dirty="0"/>
                        <a:t>.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800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285750" marR="0" lvl="0" indent="-2857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dirty="0"/>
                        <a:t>까치는 호랑이 바로 위 소나무 가지에 앉아 호랑이를 향해 짖는    </a:t>
                      </a:r>
                      <a:endParaRPr lang="en-US" altLang="ko-KR" dirty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     </a:t>
                      </a:r>
                      <a:r>
                        <a:rPr lang="ko-KR" altLang="en-US" dirty="0"/>
                        <a:t>듯한 포즈를 취하고 있다</a:t>
                      </a:r>
                      <a:r>
                        <a:rPr lang="en-US" altLang="ko-KR" dirty="0"/>
                        <a:t>.</a:t>
                      </a:r>
                      <a:endParaRPr lang="en-US" altLang="ko-KR" sz="1800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285750" marR="0" lvl="0" indent="-2857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endParaRPr lang="en-US" altLang="ko-KR" sz="1800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285750" marR="0" lvl="0" indent="-2857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dirty="0"/>
                        <a:t>권력자나 탐관오리를 상징하는 거대한 호랑이가 작고 약하지만 바른 말을 하는 까치 앞에서 어쩔 줄 몰라 하는 모습을 통해</a:t>
                      </a:r>
                      <a:r>
                        <a:rPr lang="en-US" altLang="ko-KR" dirty="0"/>
                        <a:t>,   </a:t>
                      </a:r>
                      <a:r>
                        <a:rPr lang="ko-KR" altLang="en-US" b="1" dirty="0"/>
                        <a:t>민중의 속시원한 풍자와 해학</a:t>
                      </a:r>
                      <a:r>
                        <a:rPr lang="ko-KR" altLang="en-US" dirty="0"/>
                        <a:t>을 담아냈다</a:t>
                      </a:r>
                      <a:r>
                        <a:rPr lang="en-US" altLang="ko-KR" dirty="0"/>
                        <a:t>.</a:t>
                      </a:r>
                      <a:endParaRPr lang="en-US" altLang="ko-KR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1339957"/>
                  </a:ext>
                </a:extLst>
              </a:tr>
            </a:tbl>
          </a:graphicData>
        </a:graphic>
      </p:graphicFrame>
      <p:pic>
        <p:nvPicPr>
          <p:cNvPr id="5" name="그림 4">
            <a:hlinkClick r:id="rId3"/>
            <a:extLst>
              <a:ext uri="{FF2B5EF4-FFF2-40B4-BE49-F238E27FC236}">
                <a16:creationId xmlns:a16="http://schemas.microsoft.com/office/drawing/2014/main" id="{DD811741-5839-91E5-97E1-B89ABF0D1D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8310" y="2656114"/>
            <a:ext cx="1816650" cy="294785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B0230CA-9BF8-7F23-D691-229492D15492}"/>
              </a:ext>
            </a:extLst>
          </p:cNvPr>
          <p:cNvSpPr txBox="1"/>
          <p:nvPr/>
        </p:nvSpPr>
        <p:spPr>
          <a:xfrm>
            <a:off x="58500" y="6599812"/>
            <a:ext cx="6734186" cy="166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출처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: e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(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국립중앙박물관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누리집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)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/ </a:t>
            </a:r>
            <a:r>
              <a:rPr lang="ko-KR" altLang="en-US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호랑이와 까치</a:t>
            </a:r>
            <a:endParaRPr sz="12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pic>
        <p:nvPicPr>
          <p:cNvPr id="4" name="Picture 2" descr="1유형">
            <a:extLst>
              <a:ext uri="{FF2B5EF4-FFF2-40B4-BE49-F238E27FC236}">
                <a16:creationId xmlns:a16="http://schemas.microsoft.com/office/drawing/2014/main" id="{1F2DD266-8324-81E5-2B63-4CC1FEC194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9828" y="6530137"/>
            <a:ext cx="739276" cy="282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542780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ounded Rectangle 22"/>
          <p:cNvSpPr/>
          <p:nvPr/>
        </p:nvSpPr>
        <p:spPr>
          <a:xfrm>
            <a:off x="798643" y="3557015"/>
            <a:ext cx="10424160" cy="1651331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9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 2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씽킹으로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생각하기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176272"/>
            <a:ext cx="10424160" cy="1051560"/>
          </a:xfrm>
          <a:prstGeom prst="roundRect">
            <a:avLst>
              <a:gd name="adj" fmla="val 10000"/>
            </a:avLst>
          </a:prstGeom>
          <a:solidFill>
            <a:srgbClr val="FFF4E2"/>
          </a:solidFill>
          <a:ln w="15875">
            <a:solidFill>
              <a:srgbClr val="FBAE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43000" y="2543175"/>
            <a:ext cx="9875520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ctr">
              <a:lnSpc>
                <a:spcPct val="100000"/>
              </a:lnSpc>
              <a:defRPr/>
            </a:pP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보기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(See) - </a:t>
            </a: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생각하기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(Think) - </a:t>
            </a: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궁금해하기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(Wonder)</a:t>
            </a:r>
            <a:endParaRPr sz="2000" b="1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941832" y="378561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98448" y="376047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보기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: 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무엇이 보이나요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941832" y="4288536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98448" y="426339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생각하기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: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내가 생각하기에는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941832" y="479145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298448" y="4766309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궁금해하기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: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이런 점이 궁금해요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!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2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씽킹으로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생각하기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A9CCF7A-BF13-7DC2-7227-408772CEA1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6122492"/>
              </p:ext>
            </p:extLst>
          </p:nvPr>
        </p:nvGraphicFramePr>
        <p:xfrm>
          <a:off x="301895" y="1754701"/>
          <a:ext cx="11553372" cy="40760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8343">
                  <a:extLst>
                    <a:ext uri="{9D8B030D-6E8A-4147-A177-3AD203B41FA5}">
                      <a16:colId xmlns:a16="http://schemas.microsoft.com/office/drawing/2014/main" val="714158368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2827751710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1402651460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816618604"/>
                    </a:ext>
                  </a:extLst>
                </a:gridCol>
              </a:tblGrid>
              <a:tr h="5052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작품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호랑이와 까치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보기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무엇이 보이나요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</a:t>
                      </a:r>
                      <a:endParaRPr lang="ko-KR" altLang="en-US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생각하기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내가 생각하기에는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..</a:t>
                      </a:r>
                      <a:endParaRPr lang="ko-KR" altLang="en-US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궁금해하기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이런 점이 궁금해요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!</a:t>
                      </a:r>
                      <a:endParaRPr lang="ko-KR" altLang="en-US" dirty="0"/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1045496"/>
                  </a:ext>
                </a:extLst>
              </a:tr>
              <a:tr h="343593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6218258"/>
                  </a:ext>
                </a:extLst>
              </a:tr>
            </a:tbl>
          </a:graphicData>
        </a:graphic>
      </p:graphicFrame>
      <p:pic>
        <p:nvPicPr>
          <p:cNvPr id="3" name="그림 2">
            <a:hlinkClick r:id="rId3"/>
            <a:extLst>
              <a:ext uri="{FF2B5EF4-FFF2-40B4-BE49-F238E27FC236}">
                <a16:creationId xmlns:a16="http://schemas.microsoft.com/office/drawing/2014/main" id="{67ECE845-09A4-D9F9-9C83-E7E53FFA5E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7419" y="2656114"/>
            <a:ext cx="1816650" cy="294785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09C03DA-C44F-A441-4E0E-7A59EE95A9C7}"/>
              </a:ext>
            </a:extLst>
          </p:cNvPr>
          <p:cNvSpPr txBox="1"/>
          <p:nvPr/>
        </p:nvSpPr>
        <p:spPr>
          <a:xfrm>
            <a:off x="58500" y="6599812"/>
            <a:ext cx="6734186" cy="166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출처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: e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(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국립중앙박물관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누리집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)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/ </a:t>
            </a:r>
            <a:r>
              <a:rPr lang="ko-KR" altLang="en-US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호랑이와 까치</a:t>
            </a:r>
            <a:endParaRPr sz="12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pic>
        <p:nvPicPr>
          <p:cNvPr id="6" name="Picture 2" descr="1유형">
            <a:extLst>
              <a:ext uri="{FF2B5EF4-FFF2-40B4-BE49-F238E27FC236}">
                <a16:creationId xmlns:a16="http://schemas.microsoft.com/office/drawing/2014/main" id="{C1DD9CBC-C10A-B094-1261-1FEF482A43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9828" y="6530137"/>
            <a:ext cx="739276" cy="282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22806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22">
            <a:extLst>
              <a:ext uri="{FF2B5EF4-FFF2-40B4-BE49-F238E27FC236}">
                <a16:creationId xmlns:a16="http://schemas.microsoft.com/office/drawing/2014/main" id="{2311F1A2-C57E-8C9B-5CA9-CEC91E942AA4}"/>
              </a:ext>
            </a:extLst>
          </p:cNvPr>
          <p:cNvSpPr/>
          <p:nvPr/>
        </p:nvSpPr>
        <p:spPr>
          <a:xfrm>
            <a:off x="798643" y="3557015"/>
            <a:ext cx="10424160" cy="1651331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11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3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생각의 팔레트 확장하기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176272"/>
            <a:ext cx="10424160" cy="1051560"/>
          </a:xfrm>
          <a:prstGeom prst="roundRect">
            <a:avLst>
              <a:gd name="adj" fmla="val 10000"/>
            </a:avLst>
          </a:prstGeom>
          <a:solidFill>
            <a:srgbClr val="FFF4E2"/>
          </a:solidFill>
          <a:ln w="15875">
            <a:solidFill>
              <a:srgbClr val="FBAE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" name="Oval 16">
            <a:extLst>
              <a:ext uri="{FF2B5EF4-FFF2-40B4-BE49-F238E27FC236}">
                <a16:creationId xmlns:a16="http://schemas.microsoft.com/office/drawing/2014/main" id="{85629DCC-9E12-7248-ED30-C7F6ACAF46A0}"/>
              </a:ext>
            </a:extLst>
          </p:cNvPr>
          <p:cNvSpPr/>
          <p:nvPr/>
        </p:nvSpPr>
        <p:spPr>
          <a:xfrm>
            <a:off x="941832" y="378561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CAB5DD-0815-3520-DA5A-441A8C7E09EA}"/>
              </a:ext>
            </a:extLst>
          </p:cNvPr>
          <p:cNvSpPr txBox="1"/>
          <p:nvPr/>
        </p:nvSpPr>
        <p:spPr>
          <a:xfrm>
            <a:off x="1298448" y="376047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‘e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’ 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누리집을 방문하여 작품들을 살펴본다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4" name="Oval 18">
            <a:extLst>
              <a:ext uri="{FF2B5EF4-FFF2-40B4-BE49-F238E27FC236}">
                <a16:creationId xmlns:a16="http://schemas.microsoft.com/office/drawing/2014/main" id="{2EA8DE01-85FB-A8AE-1F77-A5D98EEDA1FF}"/>
              </a:ext>
            </a:extLst>
          </p:cNvPr>
          <p:cNvSpPr/>
          <p:nvPr/>
        </p:nvSpPr>
        <p:spPr>
          <a:xfrm>
            <a:off x="941832" y="4288536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E91CD8-7275-00EC-05AA-7E47289BECC4}"/>
              </a:ext>
            </a:extLst>
          </p:cNvPr>
          <p:cNvSpPr txBox="1"/>
          <p:nvPr/>
        </p:nvSpPr>
        <p:spPr>
          <a:xfrm>
            <a:off x="1298448" y="426339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마음에 드는 작품을 골라 활동지를 작성한다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6" name="Oval 20">
            <a:extLst>
              <a:ext uri="{FF2B5EF4-FFF2-40B4-BE49-F238E27FC236}">
                <a16:creationId xmlns:a16="http://schemas.microsoft.com/office/drawing/2014/main" id="{439857FA-9AFC-2A91-2BE8-D848568C3F90}"/>
              </a:ext>
            </a:extLst>
          </p:cNvPr>
          <p:cNvSpPr/>
          <p:nvPr/>
        </p:nvSpPr>
        <p:spPr>
          <a:xfrm>
            <a:off x="941832" y="479145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8AEBA5-8658-E5C6-F107-5A1D10CCE45C}"/>
              </a:ext>
            </a:extLst>
          </p:cNvPr>
          <p:cNvSpPr txBox="1"/>
          <p:nvPr/>
        </p:nvSpPr>
        <p:spPr>
          <a:xfrm>
            <a:off x="1298448" y="4766309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클래스 보드에 올리고 친구들과 공유한다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794D2FC-2480-8BE8-0128-368AD01200E9}"/>
              </a:ext>
            </a:extLst>
          </p:cNvPr>
          <p:cNvSpPr txBox="1"/>
          <p:nvPr/>
        </p:nvSpPr>
        <p:spPr>
          <a:xfrm>
            <a:off x="1143000" y="2541686"/>
            <a:ext cx="98755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ctr">
              <a:lnSpc>
                <a:spcPct val="100000"/>
              </a:lnSpc>
              <a:defRPr/>
            </a:pP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작품을 더 살펴보며 생각의 팔레트를 확장해 봅시다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330818-5476-3FAC-3758-BAD397DA9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+mj-ea"/>
                <a:ea typeface="+mj-ea"/>
              </a:rPr>
              <a:t>활동안내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2632AC8-93AA-41DD-6D46-E9E08015A0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5886" y="1422559"/>
            <a:ext cx="3540093" cy="225728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9AE4EF2E-0B2A-A26C-7747-EF36B036E3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883" y="1263512"/>
            <a:ext cx="3331089" cy="119471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AB4B710-1DCE-436A-F53E-206CDD65AE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8000" y="2458222"/>
            <a:ext cx="3634731" cy="131007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502AA44-F190-4C0F-3066-E5062F0411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2629" y="1617218"/>
            <a:ext cx="4023317" cy="206262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395A5570-A064-3FFF-AB4F-65BA1D9D67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6236" y="4082970"/>
            <a:ext cx="3842385" cy="2303831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50955A9-739F-F5AA-75E4-CD36F485181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45887" y="4082970"/>
            <a:ext cx="3729476" cy="2242457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0DC3B78B-2913-FBA6-3AB0-56A0EDDD3FF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42629" y="4021596"/>
            <a:ext cx="4023317" cy="2303831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DB2DE9AB-4D0D-1070-10D1-613337C007C5}"/>
              </a:ext>
            </a:extLst>
          </p:cNvPr>
          <p:cNvSpPr txBox="1"/>
          <p:nvPr/>
        </p:nvSpPr>
        <p:spPr>
          <a:xfrm>
            <a:off x="2689759" y="640538"/>
            <a:ext cx="1934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hlinkClick r:id="rId9"/>
              </a:rPr>
              <a:t>▶</a:t>
            </a:r>
            <a:r>
              <a:rPr lang="en-US" altLang="ko-KR" dirty="0">
                <a:hlinkClick r:id="rId9"/>
              </a:rPr>
              <a:t> e</a:t>
            </a:r>
            <a:r>
              <a:rPr lang="ko-KR" altLang="en-US" dirty="0">
                <a:hlinkClick r:id="rId9"/>
              </a:rPr>
              <a:t>뮤지엄 </a:t>
            </a:r>
            <a:r>
              <a:rPr lang="ko-KR" altLang="en-US" dirty="0" err="1">
                <a:hlinkClick r:id="rId9"/>
              </a:rPr>
              <a:t>누리집</a:t>
            </a:r>
            <a:endParaRPr lang="ko-KR" altLang="en-US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2DD618A6-0967-E86E-2349-227671D26567}"/>
              </a:ext>
            </a:extLst>
          </p:cNvPr>
          <p:cNvSpPr/>
          <p:nvPr/>
        </p:nvSpPr>
        <p:spPr>
          <a:xfrm>
            <a:off x="258000" y="1968137"/>
            <a:ext cx="1004743" cy="4900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19CC11A-EFA5-EE0B-7CE9-9847CEF4BE3D}"/>
              </a:ext>
            </a:extLst>
          </p:cNvPr>
          <p:cNvSpPr/>
          <p:nvPr/>
        </p:nvSpPr>
        <p:spPr>
          <a:xfrm>
            <a:off x="760371" y="3373678"/>
            <a:ext cx="2618555" cy="4900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1E4DC684-384B-36F7-F9E5-754B7E8B366A}"/>
              </a:ext>
            </a:extLst>
          </p:cNvPr>
          <p:cNvSpPr/>
          <p:nvPr/>
        </p:nvSpPr>
        <p:spPr>
          <a:xfrm>
            <a:off x="8176563" y="2280139"/>
            <a:ext cx="1402866" cy="27106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A5F58DC5-1580-D372-AE4F-EAC79F433E87}"/>
              </a:ext>
            </a:extLst>
          </p:cNvPr>
          <p:cNvSpPr/>
          <p:nvPr/>
        </p:nvSpPr>
        <p:spPr>
          <a:xfrm>
            <a:off x="11133123" y="2322690"/>
            <a:ext cx="309940" cy="27106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0C21248C-F2F4-A06B-459E-F9CA9A9872BB}"/>
              </a:ext>
            </a:extLst>
          </p:cNvPr>
          <p:cNvSpPr/>
          <p:nvPr/>
        </p:nvSpPr>
        <p:spPr>
          <a:xfrm>
            <a:off x="1109557" y="4897684"/>
            <a:ext cx="1050169" cy="14277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2356446-DB91-14EA-9A52-85223537973C}"/>
              </a:ext>
            </a:extLst>
          </p:cNvPr>
          <p:cNvSpPr/>
          <p:nvPr/>
        </p:nvSpPr>
        <p:spPr>
          <a:xfrm>
            <a:off x="7132320" y="4007698"/>
            <a:ext cx="826676" cy="195767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6FBFE4A1-7DCB-8C96-78B9-D4B95A4B30B9}"/>
              </a:ext>
            </a:extLst>
          </p:cNvPr>
          <p:cNvSpPr/>
          <p:nvPr/>
        </p:nvSpPr>
        <p:spPr>
          <a:xfrm>
            <a:off x="10554789" y="6048517"/>
            <a:ext cx="796834" cy="35570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07330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3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F7137300-59CF-4C19-1DA2-44E466D03448}"/>
              </a:ext>
            </a:extLst>
          </p:cNvPr>
          <p:cNvSpPr txBox="1">
            <a:spLocks/>
          </p:cNvSpPr>
          <p:nvPr/>
        </p:nvSpPr>
        <p:spPr>
          <a:xfrm>
            <a:off x="519760" y="440868"/>
            <a:ext cx="9525376" cy="641085"/>
          </a:xfrm>
          <a:prstGeom prst="rect">
            <a:avLst/>
          </a:prstGeom>
        </p:spPr>
        <p:txBody>
          <a:bodyPr anchor="ctr">
            <a:normAutofit fontScale="97500"/>
          </a:bodyPr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pPr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생각의 팔레트 확장하기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A8C8EE8-BC99-C68E-06DA-6A106E474F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9183449"/>
              </p:ext>
            </p:extLst>
          </p:nvPr>
        </p:nvGraphicFramePr>
        <p:xfrm>
          <a:off x="406595" y="2129083"/>
          <a:ext cx="11219394" cy="3999373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739798">
                  <a:extLst>
                    <a:ext uri="{9D8B030D-6E8A-4147-A177-3AD203B41FA5}">
                      <a16:colId xmlns:a16="http://schemas.microsoft.com/office/drawing/2014/main" val="1068825157"/>
                    </a:ext>
                  </a:extLst>
                </a:gridCol>
                <a:gridCol w="3739798">
                  <a:extLst>
                    <a:ext uri="{9D8B030D-6E8A-4147-A177-3AD203B41FA5}">
                      <a16:colId xmlns:a16="http://schemas.microsoft.com/office/drawing/2014/main" val="1128753635"/>
                    </a:ext>
                  </a:extLst>
                </a:gridCol>
                <a:gridCol w="3739798">
                  <a:extLst>
                    <a:ext uri="{9D8B030D-6E8A-4147-A177-3AD203B41FA5}">
                      <a16:colId xmlns:a16="http://schemas.microsoft.com/office/drawing/2014/main" val="454399094"/>
                    </a:ext>
                  </a:extLst>
                </a:gridCol>
              </a:tblGrid>
              <a:tr h="43994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문자도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모란 병풍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책가도 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8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폭 병풍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631406"/>
                  </a:ext>
                </a:extLst>
              </a:tr>
              <a:tr h="355942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234630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C1A8104C-4B97-A06E-5052-E5D110559104}"/>
              </a:ext>
            </a:extLst>
          </p:cNvPr>
          <p:cNvSpPr txBox="1"/>
          <p:nvPr/>
        </p:nvSpPr>
        <p:spPr>
          <a:xfrm>
            <a:off x="406595" y="142085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아래 예시작품을 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‘e</a:t>
            </a:r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’</a:t>
            </a:r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에서 검색해서 살펴보세요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. </a:t>
            </a:r>
          </a:p>
        </p:txBody>
      </p:sp>
      <p:pic>
        <p:nvPicPr>
          <p:cNvPr id="6" name="그림 5">
            <a:hlinkClick r:id="rId3"/>
            <a:extLst>
              <a:ext uri="{FF2B5EF4-FFF2-40B4-BE49-F238E27FC236}">
                <a16:creationId xmlns:a16="http://schemas.microsoft.com/office/drawing/2014/main" id="{8FD1085A-85F5-1BF4-21EF-67F69FFEAC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3075" y="2837314"/>
            <a:ext cx="1331211" cy="3108395"/>
          </a:xfrm>
          <a:prstGeom prst="rect">
            <a:avLst/>
          </a:prstGeom>
        </p:spPr>
      </p:pic>
      <p:pic>
        <p:nvPicPr>
          <p:cNvPr id="13" name="그림 12">
            <a:hlinkClick r:id="rId5"/>
            <a:extLst>
              <a:ext uri="{FF2B5EF4-FFF2-40B4-BE49-F238E27FC236}">
                <a16:creationId xmlns:a16="http://schemas.microsoft.com/office/drawing/2014/main" id="{598C351B-54B6-0574-3C50-7BCC25CCCA6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29560" y="3535559"/>
            <a:ext cx="3491880" cy="1441166"/>
          </a:xfrm>
          <a:prstGeom prst="rect">
            <a:avLst/>
          </a:prstGeom>
        </p:spPr>
      </p:pic>
      <p:pic>
        <p:nvPicPr>
          <p:cNvPr id="17" name="그림 16">
            <a:hlinkClick r:id="rId7"/>
            <a:extLst>
              <a:ext uri="{FF2B5EF4-FFF2-40B4-BE49-F238E27FC236}">
                <a16:creationId xmlns:a16="http://schemas.microsoft.com/office/drawing/2014/main" id="{57FEF8AA-0CDA-80E0-39D7-B1A3AE04259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00976" y="2837314"/>
            <a:ext cx="1790047" cy="304717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4609ACD-7F64-083E-68C4-C8447104AA5A}"/>
              </a:ext>
            </a:extLst>
          </p:cNvPr>
          <p:cNvSpPr txBox="1"/>
          <p:nvPr/>
        </p:nvSpPr>
        <p:spPr>
          <a:xfrm>
            <a:off x="0" y="6544412"/>
            <a:ext cx="1178540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본 저작물은 공공누리 제1유형으로 개방한 작품을 이용하였으며, 해당 저작물은 '국립중앙박물관 </a:t>
            </a:r>
            <a:r>
              <a:rPr lang="ko-KR" altLang="en-US" sz="1000" dirty="0" err="1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e뮤지엄</a:t>
            </a:r>
            <a:r>
              <a:rPr lang="ko-KR" altLang="en-US" sz="1000" dirty="0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 </a:t>
            </a:r>
            <a:r>
              <a:rPr lang="ko-KR" altLang="en-US" sz="1000" dirty="0" err="1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누리집</a:t>
            </a:r>
            <a:r>
              <a:rPr lang="ko-KR" altLang="en-US" sz="1000" dirty="0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(https://www.emuseum.go.kr)'에서 무료로 다운받으실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6732956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3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F7137300-59CF-4C19-1DA2-44E466D03448}"/>
              </a:ext>
            </a:extLst>
          </p:cNvPr>
          <p:cNvSpPr txBox="1">
            <a:spLocks/>
          </p:cNvSpPr>
          <p:nvPr/>
        </p:nvSpPr>
        <p:spPr>
          <a:xfrm>
            <a:off x="519760" y="440868"/>
            <a:ext cx="9525376" cy="641085"/>
          </a:xfrm>
          <a:prstGeom prst="rect">
            <a:avLst/>
          </a:prstGeom>
        </p:spPr>
        <p:txBody>
          <a:bodyPr anchor="ctr">
            <a:normAutofit fontScale="97500"/>
          </a:bodyPr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pPr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생각의 팔레트 확장하기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378A9F-1EAF-E6FC-1F07-E6E10019235D}"/>
              </a:ext>
            </a:extLst>
          </p:cNvPr>
          <p:cNvSpPr txBox="1"/>
          <p:nvPr/>
        </p:nvSpPr>
        <p:spPr>
          <a:xfrm>
            <a:off x="406595" y="131561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작품을 한 가지 선택하고 활동지를 작성해보세요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D62C175D-04A6-7119-423E-EC97B09781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112802"/>
              </p:ext>
            </p:extLst>
          </p:nvPr>
        </p:nvGraphicFramePr>
        <p:xfrm>
          <a:off x="301895" y="1754701"/>
          <a:ext cx="11553372" cy="43503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8343">
                  <a:extLst>
                    <a:ext uri="{9D8B030D-6E8A-4147-A177-3AD203B41FA5}">
                      <a16:colId xmlns:a16="http://schemas.microsoft.com/office/drawing/2014/main" val="714158368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2827751710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1402651460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816618604"/>
                    </a:ext>
                  </a:extLst>
                </a:gridCol>
              </a:tblGrid>
              <a:tr h="5052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작품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algn="ctr" latinLnBrk="1"/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algn="ctr" latinLnBrk="1"/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</a:endParaRP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보기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무엇이 보이나요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</a:t>
                      </a:r>
                      <a:endParaRPr lang="ko-KR" altLang="en-US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생각하기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내가 생각하기에는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..</a:t>
                      </a:r>
                      <a:endParaRPr lang="ko-KR" altLang="en-US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궁금해하기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이런 점이 궁금해요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!</a:t>
                      </a:r>
                      <a:endParaRPr lang="ko-KR" altLang="en-US" dirty="0"/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1045496"/>
                  </a:ext>
                </a:extLst>
              </a:tr>
              <a:tr h="343593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62182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16887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 b="0"/>
              <a:pPr lvl="0">
                <a:defRPr/>
              </a:pPr>
              <a:t>15</a:t>
            </a:fld>
            <a:endParaRPr lang="en-US" altLang="ko-KR" b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121180"/>
            <a:ext cx="10424160" cy="2933945"/>
          </a:xfrm>
          <a:prstGeom prst="roundRect">
            <a:avLst>
              <a:gd name="adj" fmla="val 10000"/>
            </a:avLst>
          </a:prstGeom>
          <a:solidFill>
            <a:srgbClr val="FDEEEC"/>
          </a:solidFill>
          <a:ln w="15875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" name="Oval 12"/>
          <p:cNvSpPr/>
          <p:nvPr/>
        </p:nvSpPr>
        <p:spPr>
          <a:xfrm>
            <a:off x="1629809" y="2554089"/>
            <a:ext cx="173736" cy="173736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endParaRPr lang="ko-KR" altLang="en-US" sz="1400">
              <a:solidFill>
                <a:srgbClr val="FFFFFF"/>
              </a:solidFill>
              <a:latin typeface="Noto Sans KR Black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986425" y="2538849"/>
            <a:ext cx="9966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우리 옛 그림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(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민화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)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에 대해 설명할 수 있나요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  <p:sp>
        <p:nvSpPr>
          <p:cNvPr id="15" name="Oval 14"/>
          <p:cNvSpPr/>
          <p:nvPr/>
        </p:nvSpPr>
        <p:spPr>
          <a:xfrm>
            <a:off x="1629809" y="3402624"/>
            <a:ext cx="173736" cy="173736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endParaRPr lang="ko-KR" altLang="en-US" sz="1400">
              <a:solidFill>
                <a:srgbClr val="FFFFFF"/>
              </a:solidFill>
              <a:latin typeface="Noto Sans KR Black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986425" y="3387385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가장 기억에 남는 작품은 무엇인가요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  <p:sp>
        <p:nvSpPr>
          <p:cNvPr id="18" name="TextBox 3"/>
          <p:cNvSpPr txBox="1"/>
          <p:nvPr/>
        </p:nvSpPr>
        <p:spPr>
          <a:xfrm>
            <a:off x="1098804" y="5618228"/>
            <a:ext cx="9994392" cy="2331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105000"/>
              </a:lnSpc>
              <a:defRPr/>
            </a:pPr>
            <a:r>
              <a:rPr sz="1500" b="0" dirty="0" err="1">
                <a:solidFill>
                  <a:srgbClr val="3B3B3B"/>
                </a:solidFill>
                <a:latin typeface="고양덕양 B"/>
                <a:ea typeface="고양덕양 B"/>
              </a:rPr>
              <a:t>다음</a:t>
            </a:r>
            <a:r>
              <a:rPr sz="1500" b="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sz="1500" b="0" dirty="0" err="1">
                <a:solidFill>
                  <a:srgbClr val="3B3B3B"/>
                </a:solidFill>
                <a:latin typeface="고양덕양 B"/>
                <a:ea typeface="고양덕양 B"/>
              </a:rPr>
              <a:t>시간에는</a:t>
            </a:r>
            <a:r>
              <a:rPr sz="1500" b="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en-US" sz="1500" dirty="0">
                <a:solidFill>
                  <a:srgbClr val="3B3B3B"/>
                </a:solidFill>
                <a:latin typeface="고양덕양 B"/>
                <a:ea typeface="고양덕양 B"/>
              </a:rPr>
              <a:t>'</a:t>
            </a:r>
            <a:r>
              <a:rPr lang="ko-KR" altLang="en-US" sz="1500" b="0" dirty="0">
                <a:solidFill>
                  <a:srgbClr val="3B3B3B"/>
                </a:solidFill>
                <a:latin typeface="고양덕양 B"/>
                <a:ea typeface="고양덕양 B"/>
              </a:rPr>
              <a:t>우리 옛 그림 풍속</a:t>
            </a:r>
            <a:r>
              <a:rPr lang="ko-KR" altLang="en-US" sz="1500" dirty="0">
                <a:solidFill>
                  <a:srgbClr val="3B3B3B"/>
                </a:solidFill>
                <a:latin typeface="고양덕양 B"/>
                <a:ea typeface="고양덕양 B"/>
              </a:rPr>
              <a:t>화</a:t>
            </a:r>
            <a:r>
              <a:rPr lang="en-US" altLang="ko-KR" sz="1500" dirty="0">
                <a:solidFill>
                  <a:srgbClr val="3B3B3B"/>
                </a:solidFill>
                <a:latin typeface="고양덕양 B"/>
                <a:ea typeface="고양덕양 B"/>
              </a:rPr>
              <a:t>’</a:t>
            </a:r>
            <a:r>
              <a:rPr lang="ko-KR" altLang="en-US" sz="1500" dirty="0">
                <a:solidFill>
                  <a:srgbClr val="3B3B3B"/>
                </a:solidFill>
                <a:latin typeface="고양덕양 B"/>
                <a:ea typeface="고양덕양 B"/>
              </a:rPr>
              <a:t>를 알아봅시</a:t>
            </a:r>
            <a:r>
              <a:rPr lang="ko-KR" altLang="en-US" sz="1500" b="0" dirty="0">
                <a:solidFill>
                  <a:srgbClr val="3B3B3B"/>
                </a:solidFill>
                <a:latin typeface="고양덕양 B"/>
                <a:ea typeface="고양덕양 B"/>
              </a:rPr>
              <a:t>다</a:t>
            </a:r>
            <a:r>
              <a:rPr lang="en-US" altLang="ko-KR" sz="15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</p:txBody>
      </p:sp>
      <p:sp>
        <p:nvSpPr>
          <p:cNvPr id="2" name="Oval 14">
            <a:extLst>
              <a:ext uri="{FF2B5EF4-FFF2-40B4-BE49-F238E27FC236}">
                <a16:creationId xmlns:a16="http://schemas.microsoft.com/office/drawing/2014/main" id="{FF76A8CF-1727-CB58-0BDE-5A31B7CBC241}"/>
              </a:ext>
            </a:extLst>
          </p:cNvPr>
          <p:cNvSpPr/>
          <p:nvPr/>
        </p:nvSpPr>
        <p:spPr>
          <a:xfrm>
            <a:off x="1629809" y="4195140"/>
            <a:ext cx="173736" cy="173736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endParaRPr lang="ko-KR" altLang="en-US" sz="1400">
              <a:solidFill>
                <a:srgbClr val="FFFFFF"/>
              </a:solidFill>
              <a:latin typeface="Noto Sans KR Black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2F519D-6CC9-CB11-9330-2650761E3889}"/>
              </a:ext>
            </a:extLst>
          </p:cNvPr>
          <p:cNvSpPr txBox="1"/>
          <p:nvPr/>
        </p:nvSpPr>
        <p:spPr>
          <a:xfrm>
            <a:off x="1986425" y="4179901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내 생각과 친구의 생각 중 어떤 점이 비슷하고 어떤 점이 달랐나요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9743637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315</TotalTime>
  <Words>618</Words>
  <Application>Microsoft Office PowerPoint</Application>
  <PresentationFormat>와이드스크린</PresentationFormat>
  <Paragraphs>140</Paragraphs>
  <Slides>16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6" baseType="lpstr">
      <vt:lpstr>고양덕양 B</vt:lpstr>
      <vt:lpstr>에스코어 드림 8 Heavy</vt:lpstr>
      <vt:lpstr>땅스부대찌개 Bold</vt:lpstr>
      <vt:lpstr>나눔스퀘어 ExtraBold</vt:lpstr>
      <vt:lpstr>Noto Sans KR Black</vt:lpstr>
      <vt:lpstr>Arial</vt:lpstr>
      <vt:lpstr>Noto Sans KR Medium</vt:lpstr>
      <vt:lpstr>나눔바른고딕 Light</vt:lpstr>
      <vt:lpstr>Noto Sans KR</vt:lpstr>
      <vt:lpstr>Office Theme</vt:lpstr>
      <vt:lpstr>PowerPoint 프레젠테이션</vt:lpstr>
      <vt:lpstr>일곱 번의 생각, 그 중 오늘</vt:lpstr>
      <vt:lpstr>‘아트풀 씽킹(Artful Thinking)’ 이란?</vt:lpstr>
      <vt:lpstr>PowerPoint 프레젠테이션</vt:lpstr>
      <vt:lpstr>오늘의 핵심 문장</vt:lpstr>
      <vt:lpstr>&lt;민화&gt;를 알아봅시다(영상제목: 민화)</vt:lpstr>
      <vt:lpstr>옛 그림과 만나기</vt:lpstr>
      <vt:lpstr>옛 그림과 만나기</vt:lpstr>
      <vt:lpstr>아트풀 씽킹으로 생각하기</vt:lpstr>
      <vt:lpstr>아트풀 씽킹으로 생각하기</vt:lpstr>
      <vt:lpstr>생각의 팔레트 확장하기</vt:lpstr>
      <vt:lpstr>활동안내</vt:lpstr>
      <vt:lpstr>PowerPoint 프레젠테이션</vt:lpstr>
      <vt:lpstr>PowerPoint 프레젠테이션</vt:lpstr>
      <vt:lpstr>정리하기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장 혜림</cp:lastModifiedBy>
  <cp:revision>55</cp:revision>
  <dcterms:created xsi:type="dcterms:W3CDTF">2026-07-09T22:35:37Z</dcterms:created>
  <dcterms:modified xsi:type="dcterms:W3CDTF">2026-10-27T15:59:55Z</dcterms:modified>
  <cp:version/>
</cp:coreProperties>
</file>