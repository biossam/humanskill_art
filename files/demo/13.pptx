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4" r:id="rId2"/>
    <p:sldId id="266" r:id="rId3"/>
    <p:sldId id="287" r:id="rId4"/>
    <p:sldId id="265" r:id="rId5"/>
    <p:sldId id="279" r:id="rId6"/>
    <p:sldId id="275" r:id="rId7"/>
    <p:sldId id="276" r:id="rId8"/>
    <p:sldId id="277" r:id="rId9"/>
    <p:sldId id="283" r:id="rId10"/>
    <p:sldId id="278" r:id="rId11"/>
    <p:sldId id="269" r:id="rId12"/>
    <p:sldId id="270" r:id="rId13"/>
  </p:sldIdLst>
  <p:sldSz cx="12192000" cy="6858000"/>
  <p:notesSz cx="6858000" cy="12192000"/>
  <p:embeddedFontLst>
    <p:embeddedFont>
      <p:font typeface="Noto Sans KR Black" panose="020B0200000000000000" pitchFamily="50" charset="-127"/>
      <p:bold r:id="rId15"/>
    </p:embeddedFont>
    <p:embeddedFont>
      <p:font typeface="Noto Sans KR Medium" panose="020B0200000000000000" pitchFamily="50" charset="-127"/>
      <p:regular r:id="rId16"/>
    </p:embeddedFont>
    <p:embeddedFont>
      <p:font typeface="고양덕양 B" pitchFamily="2" charset="-127"/>
      <p:regular r:id="rId17"/>
    </p:embeddedFont>
    <p:embeddedFont>
      <p:font typeface="나눔바른고딕" panose="020B0603020101020101" pitchFamily="50" charset="-127"/>
      <p:regular r:id="rId18"/>
      <p:bold r:id="rId19"/>
    </p:embeddedFont>
    <p:embeddedFont>
      <p:font typeface="나눔스퀘어 ExtraBold" panose="020B0600000101010101" pitchFamily="50" charset="-127"/>
      <p:bold r:id="rId20"/>
    </p:embeddedFont>
    <p:embeddedFont>
      <p:font typeface="땅스부대찌개 Bold" panose="02020603020101020101" pitchFamily="18" charset="-127"/>
      <p:bold r:id="rId21"/>
    </p:embeddedFont>
    <p:embeddedFont>
      <p:font typeface="에스코어 드림 8 Heavy" panose="020B0903030302020204" pitchFamily="34" charset="-127"/>
      <p:bold r:id="rId22"/>
    </p:embeddedFont>
    <p:embeddedFont>
      <p:font typeface="함초롬바탕" panose="02030604000101010101" pitchFamily="18" charset="-127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15초면 충분합니다. 여섯 걸음 중 어디에 있는지만 확인합니다.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60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6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236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평가 장면입니다. 반드시 시간을 확보합니다.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94041" y="2594078"/>
            <a:ext cx="771821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우리 옛 그림 </a:t>
            </a:r>
            <a:endParaRPr lang="en-US" altLang="ko-KR" sz="4400" spc="-200" dirty="0">
              <a:solidFill>
                <a:srgbClr val="F6877E"/>
              </a:solidFill>
              <a:latin typeface="+mj-ea"/>
              <a:ea typeface="+mj-ea"/>
            </a:endParaRPr>
          </a:p>
          <a:p>
            <a:pPr lvl="0">
              <a:defRPr/>
            </a:pP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이전 생각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, 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지금 생각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13차시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6260" y="4366332"/>
            <a:ext cx="786384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r">
              <a:lnSpc>
                <a:spcPct val="90000"/>
              </a:lnSpc>
              <a:defRPr/>
            </a:pP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아트풀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 </a:t>
            </a: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씽킹</a:t>
            </a:r>
            <a:r>
              <a:rPr lang="en-US" altLang="ko-KR" sz="2000" b="0" dirty="0">
                <a:solidFill>
                  <a:srgbClr val="8A8A8A"/>
                </a:solidFill>
                <a:latin typeface="Noto Sans KR Medium"/>
              </a:rPr>
              <a:t>(Artful Thinking)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을 활용한 미술감상</a:t>
            </a:r>
            <a:endParaRPr lang="en-US" altLang="ko-KR" sz="2000" b="0" dirty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</a:t>
            </a:r>
            <a:r>
              <a:rPr lang="ko-KR" altLang="en-US" sz="2222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의 생각, 그 중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grpSp>
        <p:nvGrpSpPr>
          <p:cNvPr id="35" name="그룹 34"/>
          <p:cNvGrpSpPr/>
          <p:nvPr/>
        </p:nvGrpSpPr>
        <p:grpSpPr>
          <a:xfrm>
            <a:off x="643904" y="1422857"/>
            <a:ext cx="6479418" cy="400110"/>
            <a:chOff x="882304" y="1470196"/>
            <a:chExt cx="4859563" cy="300082"/>
          </a:xfrm>
        </p:grpSpPr>
        <p:grpSp>
          <p:nvGrpSpPr>
            <p:cNvPr id="36" name="그룹 35"/>
            <p:cNvGrpSpPr/>
            <p:nvPr/>
          </p:nvGrpSpPr>
          <p:grpSpPr>
            <a:xfrm>
              <a:off x="882304" y="1487958"/>
              <a:ext cx="255983" cy="253915"/>
              <a:chOff x="853872" y="1465626"/>
              <a:chExt cx="318648" cy="316074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>
                  <a:gd name="adj" fmla="val 16667"/>
                </a:avLst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000055" y="1465626"/>
                <a:ext cx="172465" cy="31607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algn="r">
                  <a:defRPr/>
                </a:pP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1139405" y="1470196"/>
              <a:ext cx="4602462" cy="3000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 옛 그림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을 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아트풀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씽킹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방법을 활용하여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감상해봅시다.</a:t>
              </a:r>
            </a:p>
          </p:txBody>
        </p:sp>
      </p:grpSp>
      <p:sp>
        <p:nvSpPr>
          <p:cNvPr id="97" name="Oval 96"/>
          <p:cNvSpPr/>
          <p:nvPr/>
        </p:nvSpPr>
        <p:spPr>
          <a:xfrm>
            <a:off x="10582184" y="2942753"/>
            <a:ext cx="1024128" cy="102412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FFFFFF"/>
                </a:solidFill>
                <a:latin typeface="고양덕양 B"/>
                <a:ea typeface="고양덕양 B"/>
              </a:rPr>
              <a:t>마무리</a:t>
            </a:r>
            <a:endParaRPr b="1" dirty="0">
              <a:solidFill>
                <a:srgbClr val="FFFFFF"/>
              </a:solidFill>
              <a:latin typeface="고양덕양 B"/>
              <a:ea typeface="고양덕양 B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0582184" y="4084124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1" dirty="0">
                <a:solidFill>
                  <a:srgbClr val="F6877E"/>
                </a:solidFill>
                <a:latin typeface="고양덕양 B"/>
                <a:ea typeface="고양덕양 B"/>
              </a:rPr>
              <a:t>7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99" name="Oval 98"/>
          <p:cNvSpPr/>
          <p:nvPr/>
        </p:nvSpPr>
        <p:spPr>
          <a:xfrm>
            <a:off x="2220545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민화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220545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2차시</a:t>
            </a:r>
          </a:p>
        </p:txBody>
      </p:sp>
      <p:sp>
        <p:nvSpPr>
          <p:cNvPr id="101" name="Oval 100"/>
          <p:cNvSpPr/>
          <p:nvPr/>
        </p:nvSpPr>
        <p:spPr>
          <a:xfrm>
            <a:off x="3921329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풍속화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921329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>
                <a:solidFill>
                  <a:srgbClr val="8A8A8A"/>
                </a:solidFill>
                <a:latin typeface="고양덕양 B"/>
                <a:ea typeface="고양덕양 B"/>
              </a:rPr>
              <a:t>3차시</a:t>
            </a:r>
          </a:p>
        </p:txBody>
      </p:sp>
      <p:sp>
        <p:nvSpPr>
          <p:cNvPr id="103" name="Oval 102"/>
          <p:cNvSpPr/>
          <p:nvPr/>
        </p:nvSpPr>
        <p:spPr>
          <a:xfrm>
            <a:off x="760708" y="3013329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산수화</a:t>
            </a:r>
            <a:endParaRPr sz="2000"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760708" y="4110609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0" dirty="0">
                <a:solidFill>
                  <a:srgbClr val="8A8A8A"/>
                </a:solidFill>
                <a:latin typeface="고양덕양 B"/>
                <a:ea typeface="고양덕양 B"/>
              </a:rPr>
              <a:t>1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105" name="Oval 104"/>
          <p:cNvSpPr/>
          <p:nvPr/>
        </p:nvSpPr>
        <p:spPr>
          <a:xfrm>
            <a:off x="7322898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sz="1600" b="1" dirty="0">
                <a:solidFill>
                  <a:srgbClr val="8A8A8A"/>
                </a:solidFill>
                <a:latin typeface="고양덕양 B"/>
                <a:ea typeface="고양덕양 B"/>
              </a:rPr>
              <a:t>동물화식물화</a:t>
            </a:r>
            <a:endParaRPr sz="1600"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322898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>
                <a:solidFill>
                  <a:srgbClr val="8A8A8A"/>
                </a:solidFill>
                <a:latin typeface="고양덕양 B"/>
                <a:ea typeface="고양덕양 B"/>
              </a:rPr>
              <a:t>5차시</a:t>
            </a:r>
          </a:p>
        </p:txBody>
      </p:sp>
      <p:sp>
        <p:nvSpPr>
          <p:cNvPr id="107" name="Oval 106"/>
          <p:cNvSpPr/>
          <p:nvPr/>
        </p:nvSpPr>
        <p:spPr>
          <a:xfrm>
            <a:off x="5583936" y="2984901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인물화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583936" y="408218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4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3904" y="497689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오늘의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 </a:t>
            </a: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성취기준</a:t>
            </a:r>
            <a:endParaRPr sz="2000" b="1" dirty="0">
              <a:solidFill>
                <a:srgbClr val="F6877E"/>
              </a:solidFill>
              <a:latin typeface="고양덕양 B"/>
              <a:ea typeface="고양덕양 B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43904" y="5338242"/>
            <a:ext cx="108813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03-01]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작품을 작품이 만들어진 시대적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,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지역적 배경 등과 연결하여 이해할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                                         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03-02]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작품의 내용과 형식을 분석하여 작품의 특징을 설명할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03-04]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다양한 방법을 활용하여 작품을 감상하며 작품에 관한 서로 다른 관점을 존중할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98">
            <a:extLst>
              <a:ext uri="{FF2B5EF4-FFF2-40B4-BE49-F238E27FC236}">
                <a16:creationId xmlns:a16="http://schemas.microsoft.com/office/drawing/2014/main" id="{02F26344-5359-4AC2-BE12-32CE0D8638B4}"/>
              </a:ext>
            </a:extLst>
          </p:cNvPr>
          <p:cNvSpPr/>
          <p:nvPr/>
        </p:nvSpPr>
        <p:spPr>
          <a:xfrm>
            <a:off x="9021008" y="3016960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기록화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248A6-A714-DF93-F707-004EF684492B}"/>
              </a:ext>
            </a:extLst>
          </p:cNvPr>
          <p:cNvSpPr txBox="1"/>
          <p:nvPr/>
        </p:nvSpPr>
        <p:spPr>
          <a:xfrm>
            <a:off x="9021008" y="408218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0" dirty="0">
                <a:solidFill>
                  <a:srgbClr val="8A8A8A"/>
                </a:solidFill>
                <a:latin typeface="고양덕양 B"/>
                <a:ea typeface="고양덕양 B"/>
              </a:rPr>
              <a:t>6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r>
              <a:rPr lang="en-US" altLang="ko-KR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(Artful Thinking)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’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이란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BC19595-D9CD-BB7B-661A-6614856CAB6A}"/>
              </a:ext>
            </a:extLst>
          </p:cNvPr>
          <p:cNvSpPr/>
          <p:nvPr/>
        </p:nvSpPr>
        <p:spPr>
          <a:xfrm>
            <a:off x="3257005" y="3281030"/>
            <a:ext cx="5120640" cy="144539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endParaRPr lang="en-US" altLang="ko-KR" sz="3200" b="1" dirty="0">
              <a:solidFill>
                <a:schemeClr val="bg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en-US" altLang="ko-KR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(Artful </a:t>
            </a:r>
            <a:r>
              <a:rPr lang="en-US" altLang="ko-KR" sz="3200" b="1" dirty="0">
                <a:solidFill>
                  <a:schemeClr val="bg1"/>
                </a:solidFill>
                <a:latin typeface="+mj-ea"/>
                <a:ea typeface="+mj-ea"/>
              </a:rPr>
              <a:t>Thinking)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5DD6F91D-1A8B-DF64-F15C-7D53D4EE2DB9}"/>
              </a:ext>
            </a:extLst>
          </p:cNvPr>
          <p:cNvSpPr/>
          <p:nvPr/>
        </p:nvSpPr>
        <p:spPr>
          <a:xfrm>
            <a:off x="374469" y="1779457"/>
            <a:ext cx="3039291" cy="1887583"/>
          </a:xfrm>
          <a:prstGeom prst="flowChartAlternate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하버드 교육대학원</a:t>
            </a:r>
            <a:endParaRPr lang="en-US" altLang="ko-KR" dirty="0"/>
          </a:p>
          <a:p>
            <a:pPr algn="ctr"/>
            <a:r>
              <a:rPr lang="en-US" altLang="ko-KR" dirty="0"/>
              <a:t>Project Zero</a:t>
            </a:r>
            <a:r>
              <a:rPr lang="ko-KR" altLang="en-US" dirty="0"/>
              <a:t>에서</a:t>
            </a:r>
            <a:endParaRPr lang="en-US" altLang="ko-KR" dirty="0"/>
          </a:p>
          <a:p>
            <a:pPr algn="ctr"/>
            <a:r>
              <a:rPr lang="ko-KR" altLang="en-US" dirty="0"/>
              <a:t>개발한 미술감상교육 프로그램</a:t>
            </a:r>
            <a:endParaRPr lang="ko-KR" altLang="en-US" sz="1600" dirty="0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0CE3265F-C9DA-D5E4-1650-F7F647AE4869}"/>
              </a:ext>
            </a:extLst>
          </p:cNvPr>
          <p:cNvSpPr/>
          <p:nvPr/>
        </p:nvSpPr>
        <p:spPr>
          <a:xfrm>
            <a:off x="374469" y="4436880"/>
            <a:ext cx="3039291" cy="1887583"/>
          </a:xfrm>
          <a:prstGeom prst="flowChartAlternateProcess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r>
              <a:rPr lang="ko-KR" altLang="en-US" dirty="0"/>
              <a:t>가지 유형으로 구성된 </a:t>
            </a:r>
            <a:endParaRPr lang="en-US" altLang="ko-KR" dirty="0"/>
          </a:p>
          <a:p>
            <a:pPr algn="ctr"/>
            <a:r>
              <a:rPr lang="ko-KR" altLang="en-US" dirty="0"/>
              <a:t>생각의 팔레트로</a:t>
            </a:r>
            <a:endParaRPr lang="en-US" altLang="ko-KR" dirty="0"/>
          </a:p>
          <a:p>
            <a:pPr algn="ctr"/>
            <a:r>
              <a:rPr lang="ko-KR" altLang="en-US" dirty="0"/>
              <a:t>사고의 깊이를 확장</a:t>
            </a:r>
            <a:endParaRPr lang="en-US" altLang="ko-KR" dirty="0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1F314941-B04B-76D2-C6D6-57FB186AA626}"/>
              </a:ext>
            </a:extLst>
          </p:cNvPr>
          <p:cNvSpPr/>
          <p:nvPr/>
        </p:nvSpPr>
        <p:spPr>
          <a:xfrm>
            <a:off x="8500437" y="1823334"/>
            <a:ext cx="3039291" cy="1887583"/>
          </a:xfrm>
          <a:prstGeom prst="flowChartAlternate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예술 작품을 </a:t>
            </a:r>
            <a:endParaRPr lang="en-US" altLang="ko-KR" dirty="0"/>
          </a:p>
          <a:p>
            <a:pPr algn="ctr"/>
            <a:r>
              <a:rPr lang="ko-KR" altLang="en-US" dirty="0"/>
              <a:t>효과적으로 활용하여 사고력과 학습능력을 증진 </a:t>
            </a: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6D981CF4-E11C-C858-DA25-18FC982743AB}"/>
              </a:ext>
            </a:extLst>
          </p:cNvPr>
          <p:cNvSpPr/>
          <p:nvPr/>
        </p:nvSpPr>
        <p:spPr>
          <a:xfrm>
            <a:off x="8494341" y="4359728"/>
            <a:ext cx="3039291" cy="1887583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생각하는</a:t>
            </a:r>
            <a:r>
              <a:rPr lang="en-US" altLang="ko-KR" dirty="0"/>
              <a:t> </a:t>
            </a:r>
            <a:r>
              <a:rPr lang="ko-KR" altLang="en-US" dirty="0"/>
              <a:t>방법을 </a:t>
            </a:r>
            <a:endParaRPr lang="en-US" altLang="ko-KR" dirty="0"/>
          </a:p>
          <a:p>
            <a:pPr algn="ctr"/>
            <a:r>
              <a:rPr lang="ko-KR" altLang="en-US" dirty="0"/>
              <a:t>실제 수업에 적용하기 위한 사고 루틴 활용</a:t>
            </a:r>
          </a:p>
        </p:txBody>
      </p:sp>
    </p:spTree>
    <p:extLst>
      <p:ext uri="{BB962C8B-B14F-4D97-AF65-F5344CB8AC3E}">
        <p14:creationId xmlns:p14="http://schemas.microsoft.com/office/powerpoint/2010/main" val="30903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4189968" y="836713"/>
            <a:ext cx="3876013" cy="1209013"/>
            <a:chOff x="3059832" y="627534"/>
            <a:chExt cx="2907010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367074" y="748064"/>
              <a:ext cx="2244566" cy="737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Oval 58"/>
          <p:cNvSpPr/>
          <p:nvPr/>
        </p:nvSpPr>
        <p:spPr>
          <a:xfrm>
            <a:off x="2395728" y="2414016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34843" y="25050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핵심 문장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7245" y="2490978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우리 옛 그림을 </a:t>
            </a:r>
            <a:r>
              <a:rPr lang="ko-KR" altLang="en-US" sz="1600" dirty="0" err="1">
                <a:solidFill>
                  <a:srgbClr val="3B3B3B"/>
                </a:solidFill>
              </a:rPr>
              <a:t>아트풀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r>
              <a:rPr lang="ko-KR" altLang="en-US" sz="1600" dirty="0" err="1">
                <a:solidFill>
                  <a:srgbClr val="3B3B3B"/>
                </a:solidFill>
              </a:rPr>
              <a:t>씽킹</a:t>
            </a:r>
            <a:r>
              <a:rPr lang="ko-KR" altLang="en-US" sz="1600" dirty="0">
                <a:solidFill>
                  <a:srgbClr val="3B3B3B"/>
                </a:solidFill>
              </a:rPr>
              <a:t> 방법으로 감상한다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395728" y="3200400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34843" y="3295650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지식·이해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27245" y="3277362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작품을 시대적 배경</a:t>
            </a:r>
            <a:r>
              <a:rPr lang="en-US" altLang="ko-KR" sz="1600" dirty="0">
                <a:solidFill>
                  <a:srgbClr val="3B3B3B"/>
                </a:solidFill>
              </a:rPr>
              <a:t>, </a:t>
            </a:r>
            <a:r>
              <a:rPr lang="ko-KR" altLang="en-US" sz="1600" dirty="0">
                <a:solidFill>
                  <a:srgbClr val="3B3B3B"/>
                </a:solidFill>
              </a:rPr>
              <a:t>지역적 배경과 연결하여 이해한다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2395728" y="3986783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4843" y="408622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과정·기능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27245" y="4063746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작품의 내용과 형식을 분석하여 설명할 수 있다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2395728" y="4773168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34843" y="48672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가치·태도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27245" y="4850130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작품에 관한 </a:t>
            </a:r>
            <a:r>
              <a:rPr sz="1600" dirty="0" err="1">
                <a:solidFill>
                  <a:srgbClr val="3B3B3B"/>
                </a:solidFill>
              </a:rPr>
              <a:t>다른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관점을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존중하는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태도를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가진다</a:t>
            </a:r>
            <a:r>
              <a:rPr sz="1600" dirty="0">
                <a:solidFill>
                  <a:srgbClr val="3B3B3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ounded Rectangle 98"/>
          <p:cNvSpPr/>
          <p:nvPr/>
        </p:nvSpPr>
        <p:spPr>
          <a:xfrm>
            <a:off x="724952" y="2150498"/>
            <a:ext cx="10881360" cy="314540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5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</a:t>
            </a:r>
            <a:r>
              <a:rPr lang="ko-KR" altLang="en-US" sz="2222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늘의</a:t>
            </a: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핵심 </a:t>
            </a:r>
            <a:r>
              <a:rPr lang="ko-KR" altLang="en-US" b="1">
                <a:solidFill>
                  <a:srgbClr val="404040"/>
                </a:solidFill>
                <a:latin typeface="+mj-ea"/>
                <a:ea typeface="+mj-ea"/>
              </a:rPr>
              <a:t>문</a:t>
            </a:r>
            <a:r>
              <a:rPr lang="ko-KR" altLang="en-US" b="1">
                <a:solidFill>
                  <a:srgbClr val="289B6E"/>
                </a:solidFill>
                <a:latin typeface="+mj-ea"/>
                <a:ea typeface="+mj-ea"/>
              </a:rPr>
              <a:t>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강좌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4558" y="2631947"/>
            <a:ext cx="10881360" cy="2077107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>
                <a:solidFill>
                  <a:srgbClr val="FF843A"/>
                </a:solidFill>
                <a:latin typeface="고양덕양 B"/>
                <a:ea typeface="고양덕양 B"/>
              </a:rPr>
              <a:t>우리 옛 그림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을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아트풀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씽킹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방법을 활용하여 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spc="500" dirty="0">
                <a:latin typeface="고양덕양 B"/>
                <a:ea typeface="고양덕양 B"/>
              </a:rPr>
              <a:t>감상해봅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시다</a:t>
            </a:r>
            <a:r>
              <a:rPr lang="en-US" altLang="ko-KR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2688" y="5133975"/>
            <a:ext cx="1033272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3803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49522"/>
            <a:ext cx="9525376" cy="644233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영상제목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이전 생각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지금 생각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FC5238-D1E1-29CD-6E21-135ADEF4F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38" y="1670031"/>
            <a:ext cx="7541623" cy="4242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DE53A3-6344-B791-3EE6-FF9AB2A1AD91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캔바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에듀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이미지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841248" y="3585019"/>
            <a:ext cx="10424160" cy="166534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고양덕양 B"/>
              <a:ea typeface="고양덕양 B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우리반 옛 그림 산책하기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58240" y="2541686"/>
            <a:ext cx="9875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1-6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차시까지 감상한 그림을 다시 살펴봅시다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593246"/>
            <a:ext cx="9966960" cy="440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1600" marR="0" indent="-10160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1~6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차시 활동지를 한눈에 살펴보고 가장 기억에 남는 작품 떠올리기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3208" y="4098925"/>
            <a:ext cx="9966960" cy="440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1600" marR="0" indent="-10160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자신에게 가장 깊은 인상을 남긴 그림을 하나 선정하고 작품 소개 안내판 적기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3208" y="4604604"/>
            <a:ext cx="9966960" cy="440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1600" marR="0" indent="-10160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작품 소개 안내판을 교실에 전시하고 자유롭게 산책하듯이 돌아다니며 살펴보기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798643" y="3429000"/>
            <a:ext cx="10424160" cy="1651331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 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549652"/>
            <a:ext cx="987552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이전 생각 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- </a:t>
            </a: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지금 생각</a:t>
            </a:r>
            <a:endParaRPr sz="2000" b="1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3208" y="3580669"/>
            <a:ext cx="9966960" cy="4417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 fontAlgn="base" latinLnBrk="1">
              <a:lnSpc>
                <a:spcPct val="180000"/>
              </a:lnSpc>
              <a:spcBef>
                <a:spcPts val="0"/>
              </a:spcBef>
              <a:spcAft>
                <a:spcPts val="30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이전 생각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프로젝트 시작 전 우리 옛 그림에 대해 가졌던 생각 적기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399868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55843" y="4157356"/>
            <a:ext cx="9966960" cy="440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 fontAlgn="base" latinLnBrk="1">
              <a:lnSpc>
                <a:spcPct val="180000"/>
              </a:lnSpc>
              <a:spcBef>
                <a:spcPts val="0"/>
              </a:spcBef>
              <a:spcAft>
                <a:spcPts val="30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지금 생각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다양한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아트풀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씽킹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기법으로 탐구한 후 달라지거나 새로워진 생각 적기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A9CCF7A-BF13-7DC2-7227-408772CEA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148450"/>
              </p:ext>
            </p:extLst>
          </p:nvPr>
        </p:nvGraphicFramePr>
        <p:xfrm>
          <a:off x="301894" y="1754701"/>
          <a:ext cx="11193420" cy="4363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6710">
                  <a:extLst>
                    <a:ext uri="{9D8B030D-6E8A-4147-A177-3AD203B41FA5}">
                      <a16:colId xmlns:a16="http://schemas.microsoft.com/office/drawing/2014/main" val="714158368"/>
                    </a:ext>
                  </a:extLst>
                </a:gridCol>
                <a:gridCol w="5596710">
                  <a:extLst>
                    <a:ext uri="{9D8B030D-6E8A-4147-A177-3AD203B41FA5}">
                      <a16:colId xmlns:a16="http://schemas.microsoft.com/office/drawing/2014/main" val="1402651460"/>
                    </a:ext>
                  </a:extLst>
                </a:gridCol>
              </a:tblGrid>
              <a:tr h="927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이전 생각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지금 생각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45496"/>
                  </a:ext>
                </a:extLst>
              </a:tr>
              <a:tr h="34359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18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28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22">
            <a:extLst>
              <a:ext uri="{FF2B5EF4-FFF2-40B4-BE49-F238E27FC236}">
                <a16:creationId xmlns:a16="http://schemas.microsoft.com/office/drawing/2014/main" id="{2311F1A2-C57E-8C9B-5CA9-CEC91E942AA4}"/>
              </a:ext>
            </a:extLst>
          </p:cNvPr>
          <p:cNvSpPr/>
          <p:nvPr/>
        </p:nvSpPr>
        <p:spPr>
          <a:xfrm>
            <a:off x="798643" y="3557015"/>
            <a:ext cx="10424160" cy="1651331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Oval 16">
            <a:extLst>
              <a:ext uri="{FF2B5EF4-FFF2-40B4-BE49-F238E27FC236}">
                <a16:creationId xmlns:a16="http://schemas.microsoft.com/office/drawing/2014/main" id="{85629DCC-9E12-7248-ED30-C7F6ACAF46A0}"/>
              </a:ext>
            </a:extLst>
          </p:cNvPr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AB5DD-0815-3520-DA5A-441A8C7E09EA}"/>
              </a:ext>
            </a:extLst>
          </p:cNvPr>
          <p:cNvSpPr txBox="1"/>
          <p:nvPr/>
        </p:nvSpPr>
        <p:spPr>
          <a:xfrm>
            <a:off x="1283208" y="3593246"/>
            <a:ext cx="9966960" cy="440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1600" marR="0" indent="-10160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모둠원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및 클래스보드를 통해 자신의 변화된 생각 공유하기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4" name="Oval 18">
            <a:extLst>
              <a:ext uri="{FF2B5EF4-FFF2-40B4-BE49-F238E27FC236}">
                <a16:creationId xmlns:a16="http://schemas.microsoft.com/office/drawing/2014/main" id="{2EA8DE01-85FB-A8AE-1F77-A5D98EEDA1FF}"/>
              </a:ext>
            </a:extLst>
          </p:cNvPr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91CD8-7275-00EC-05AA-7E47289BECC4}"/>
              </a:ext>
            </a:extLst>
          </p:cNvPr>
          <p:cNvSpPr txBox="1"/>
          <p:nvPr/>
        </p:nvSpPr>
        <p:spPr>
          <a:xfrm>
            <a:off x="1255843" y="4101186"/>
            <a:ext cx="9966960" cy="440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1600" marR="0" indent="-10160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친구들의 이전 생각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지금 생각을 살펴보며 나의 생각과 비교해보기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6" name="Oval 20">
            <a:extLst>
              <a:ext uri="{FF2B5EF4-FFF2-40B4-BE49-F238E27FC236}">
                <a16:creationId xmlns:a16="http://schemas.microsoft.com/office/drawing/2014/main" id="{439857FA-9AFC-2A91-2BE8-D848568C3F90}"/>
              </a:ext>
            </a:extLst>
          </p:cNvPr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AEBA5-8658-E5C6-F107-5A1D10CCE45C}"/>
              </a:ext>
            </a:extLst>
          </p:cNvPr>
          <p:cNvSpPr txBox="1"/>
          <p:nvPr/>
        </p:nvSpPr>
        <p:spPr>
          <a:xfrm>
            <a:off x="1185705" y="4581050"/>
            <a:ext cx="9966960" cy="440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1600" marR="0" indent="-101600" algn="just" fontAlgn="base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친구의 의견 중 참신하거나 공감되는 문장에 응원 댓글 달아주기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94D2FC-2480-8BE8-0128-368AD01200E9}"/>
              </a:ext>
            </a:extLst>
          </p:cNvPr>
          <p:cNvSpPr txBox="1"/>
          <p:nvPr/>
        </p:nvSpPr>
        <p:spPr>
          <a:xfrm>
            <a:off x="1143000" y="2541686"/>
            <a:ext cx="9875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친구와의 생각을 비교해보며 생각의 팔레트를 확장해 봅시다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 b="0"/>
              <a:pPr lvl="0">
                <a:defRPr/>
              </a:pPr>
              <a:t>11</a:t>
            </a:fld>
            <a:endParaRPr lang="en-US" altLang="ko-KR" b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121180"/>
            <a:ext cx="10424160" cy="2933945"/>
          </a:xfrm>
          <a:prstGeom prst="roundRect">
            <a:avLst>
              <a:gd name="adj" fmla="val 10000"/>
            </a:avLst>
          </a:prstGeom>
          <a:solidFill>
            <a:srgbClr val="FDEEEC"/>
          </a:solidFill>
          <a:ln w="15875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Oval 12"/>
          <p:cNvSpPr/>
          <p:nvPr/>
        </p:nvSpPr>
        <p:spPr>
          <a:xfrm>
            <a:off x="1629809" y="2554089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86425" y="2538849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그림에 대해 나의 변화된 생각이 있나요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5" name="Oval 14"/>
          <p:cNvSpPr/>
          <p:nvPr/>
        </p:nvSpPr>
        <p:spPr>
          <a:xfrm>
            <a:off x="1629809" y="3402624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86425" y="3387385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가장 기억에 남는 작품은 무엇인가요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8" name="TextBox 3"/>
          <p:cNvSpPr txBox="1"/>
          <p:nvPr/>
        </p:nvSpPr>
        <p:spPr>
          <a:xfrm>
            <a:off x="1098804" y="5488034"/>
            <a:ext cx="9994392" cy="233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105000"/>
              </a:lnSpc>
              <a:defRPr/>
            </a:pP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 산책 수업을 마치겠습니다</a:t>
            </a:r>
            <a:r>
              <a:rPr lang="en-US" altLang="ko-KR" sz="1500" b="0" dirty="0">
                <a:solidFill>
                  <a:srgbClr val="3B3B3B"/>
                </a:solidFill>
                <a:latin typeface="고양덕양 B"/>
                <a:ea typeface="고양덕양 B"/>
              </a:rPr>
              <a:t>. </a:t>
            </a: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모두 고생하셨습니다</a:t>
            </a:r>
            <a:r>
              <a:rPr lang="en-US" altLang="ko-KR" sz="15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sp>
        <p:nvSpPr>
          <p:cNvPr id="2" name="Oval 14">
            <a:extLst>
              <a:ext uri="{FF2B5EF4-FFF2-40B4-BE49-F238E27FC236}">
                <a16:creationId xmlns:a16="http://schemas.microsoft.com/office/drawing/2014/main" id="{FF76A8CF-1727-CB58-0BDE-5A31B7CBC241}"/>
              </a:ext>
            </a:extLst>
          </p:cNvPr>
          <p:cNvSpPr/>
          <p:nvPr/>
        </p:nvSpPr>
        <p:spPr>
          <a:xfrm>
            <a:off x="1629809" y="4195140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F519D-6CC9-CB11-9330-2650761E3889}"/>
              </a:ext>
            </a:extLst>
          </p:cNvPr>
          <p:cNvSpPr txBox="1"/>
          <p:nvPr/>
        </p:nvSpPr>
        <p:spPr>
          <a:xfrm>
            <a:off x="1986425" y="4179901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프로젝트를 마친 전체 소감은 </a:t>
            </a:r>
            <a:r>
              <a:rPr lang="ko-KR" altLang="en-US" sz="2000" dirty="0" err="1">
                <a:solidFill>
                  <a:srgbClr val="3B3B3B"/>
                </a:solidFill>
                <a:latin typeface="고양덕양 B"/>
                <a:ea typeface="고양덕양 B"/>
              </a:rPr>
              <a:t>어떤가요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430</Words>
  <Application>Microsoft Office PowerPoint</Application>
  <PresentationFormat>와이드스크린</PresentationFormat>
  <Paragraphs>102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3" baseType="lpstr">
      <vt:lpstr>고양덕양 B</vt:lpstr>
      <vt:lpstr>나눔바른고딕</vt:lpstr>
      <vt:lpstr>에스코어 드림 8 Heavy</vt:lpstr>
      <vt:lpstr>땅스부대찌개 Bold</vt:lpstr>
      <vt:lpstr>나눔스퀘어 ExtraBold</vt:lpstr>
      <vt:lpstr>Noto Sans KR Black</vt:lpstr>
      <vt:lpstr>Arial</vt:lpstr>
      <vt:lpstr>Noto Sans KR Medium</vt:lpstr>
      <vt:lpstr>Times New Roman</vt:lpstr>
      <vt:lpstr>함초롬바탕</vt:lpstr>
      <vt:lpstr>Office Theme</vt:lpstr>
      <vt:lpstr>PowerPoint 프레젠테이션</vt:lpstr>
      <vt:lpstr>일곱 번의 생각, 그 중 오늘</vt:lpstr>
      <vt:lpstr>‘아트풀 씽킹(Artful Thinking)’ 이란?</vt:lpstr>
      <vt:lpstr>PowerPoint 프레젠테이션</vt:lpstr>
      <vt:lpstr>오늘의 핵심 문장</vt:lpstr>
      <vt:lpstr>영상제목: 이전 생각/지금 생각</vt:lpstr>
      <vt:lpstr>우리반 옛 그림 산책하기</vt:lpstr>
      <vt:lpstr>아트풀 씽킹으로 생각하기</vt:lpstr>
      <vt:lpstr>아트풀 씽킹으로 생각하기</vt:lpstr>
      <vt:lpstr>생각의 팔레트 확장하기</vt:lpstr>
      <vt:lpstr>정리하기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48</cp:revision>
  <dcterms:created xsi:type="dcterms:W3CDTF">2026-07-09T22:35:37Z</dcterms:created>
  <dcterms:modified xsi:type="dcterms:W3CDTF">2026-10-27T16:01:37Z</dcterms:modified>
  <cp:version/>
</cp:coreProperties>
</file>