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77" r:id="rId10"/>
    <p:sldId id="283" r:id="rId11"/>
    <p:sldId id="278" r:id="rId12"/>
    <p:sldId id="286" r:id="rId13"/>
    <p:sldId id="285" r:id="rId14"/>
    <p:sldId id="284" r:id="rId15"/>
    <p:sldId id="269" r:id="rId16"/>
    <p:sldId id="270" r:id="rId17"/>
  </p:sldIdLst>
  <p:sldSz cx="12192000" cy="6858000"/>
  <p:notesSz cx="6858000" cy="12192000"/>
  <p:embeddedFontLst>
    <p:embeddedFont>
      <p:font typeface="Noto Sans KR" panose="020B0200000000000000" pitchFamily="50" charset="-127"/>
      <p:regular r:id="rId19"/>
      <p:bold r:id="rId20"/>
    </p:embeddedFont>
    <p:embeddedFont>
      <p:font typeface="Noto Sans KR Black" panose="020B0200000000000000" pitchFamily="50" charset="-127"/>
      <p:bold r:id="rId21"/>
    </p:embeddedFont>
    <p:embeddedFont>
      <p:font typeface="Noto Sans KR Medium" panose="020B0200000000000000" pitchFamily="50" charset="-127"/>
      <p:regular r:id="rId22"/>
    </p:embeddedFont>
    <p:embeddedFont>
      <p:font typeface="고양덕양 B" pitchFamily="2" charset="-127"/>
      <p:regular r:id="rId23"/>
    </p:embeddedFont>
    <p:embeddedFont>
      <p:font typeface="나눔바른고딕 Light" panose="020B0603020101020101" pitchFamily="50" charset="-127"/>
      <p:regular r:id="rId24"/>
    </p:embeddedFont>
    <p:embeddedFont>
      <p:font typeface="나눔스퀘어 ExtraBold" panose="020B0600000101010101" pitchFamily="50" charset="-127"/>
      <p:bold r:id="rId25"/>
    </p:embeddedFont>
    <p:embeddedFont>
      <p:font typeface="땅스부대찌개 Bold" panose="02020603020101020101" pitchFamily="18" charset="-127"/>
      <p:bold r:id="rId26"/>
    </p:embeddedFont>
    <p:embeddedFont>
      <p:font typeface="에스코어 드림 8 Heavy" panose="020B0903030302020204" pitchFamily="34" charset="-127"/>
      <p:bold r:id="rId2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B5%9C%EC%9D%B5%ED%98%84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B5%9C%EC%9D%B5%ED%98%84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B5%9C%EC%9D%B5%ED%98%84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B5%9C%EC%9D%B5%ED%98%84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11.png"/><Relationship Id="rId7" Type="http://schemas.openxmlformats.org/officeDocument/2006/relationships/image" Target="../media/image15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hyperlink" Target="https://www.emuseum.go.kr/main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hyperlink" Target="https://www.emuseum.go.kr/detail?cateClass=&amp;cateListFlag=&amp;keyword=%EC%84%9C%EC%A7%81%EC%88%98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84%9C%EC%A7%81%EC%88%98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cateClass=&amp;cateListFlag=&amp;keyword=%EC%9C%A4%EB%91%90%EC%84%9C&amp;pageNum=17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9C%A4%EB%91%90%EC%84%9C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g"/><Relationship Id="rId5" Type="http://schemas.openxmlformats.org/officeDocument/2006/relationships/hyperlink" Target="https://www.emuseum.go.kr/detail?cateClass=&amp;cateListFlag=&amp;keyword=%EA%B3%A0%EC%A2%85&amp;pageNum=3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A%B3%A0%EC%A2%85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31371" y="2660916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인물화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창의적인 질문 만들기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10차시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5621415" y="3002098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5621415" y="40993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4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800484" y="2998950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800484" y="4096230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9137904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9137904" y="412256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6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6" name="Oval 98">
            <a:extLst>
              <a:ext uri="{FF2B5EF4-FFF2-40B4-BE49-F238E27FC236}">
                <a16:creationId xmlns:a16="http://schemas.microsoft.com/office/drawing/2014/main" id="{0A4ED983-2E68-3877-C49F-EFB2AE2ADEEC}"/>
              </a:ext>
            </a:extLst>
          </p:cNvPr>
          <p:cNvSpPr/>
          <p:nvPr/>
        </p:nvSpPr>
        <p:spPr>
          <a:xfrm>
            <a:off x="10800511" y="3002098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DC0B1F-03BB-D88E-7828-B3657EA91265}"/>
              </a:ext>
            </a:extLst>
          </p:cNvPr>
          <p:cNvSpPr txBox="1"/>
          <p:nvPr/>
        </p:nvSpPr>
        <p:spPr>
          <a:xfrm>
            <a:off x="10839387" y="4109178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인물화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인물화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09FD261-C748-2672-0FAE-1AD71BD33C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80" y="1334043"/>
            <a:ext cx="8741302" cy="491698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5AF2E2-55EC-AC9E-6BE2-96F1FC964DCB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2999" y="2541686"/>
            <a:ext cx="999526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최익현 초상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 함께 감상해 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3419361"/>
              </p:ext>
            </p:extLst>
          </p:nvPr>
        </p:nvGraphicFramePr>
        <p:xfrm>
          <a:off x="519761" y="1831069"/>
          <a:ext cx="10746425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4127530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6618895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최익현 초상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- 1905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년에 채용신이 그린 최익현의 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74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 초상화이다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얼굴의 윤곽에 따라 밝기를 구분하여 입체감을 표현하고 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최익현은 머리에 겨울철에 사냥꾼이 주로 쓰는 가죽 모자를 착용한 모습을 하고 있다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marR="0" lvl="0" indent="-28575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가죽 모자의 하얀 털의 거친 질감이 잘 느껴지는 작품이다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E8F9353F-3803-7419-CE01-439B244254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7" y="2378022"/>
            <a:ext cx="3040598" cy="37631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CBED192-ECB3-3D70-FE98-F083CB1EBC45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채용신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필 최익현 초상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5" name="Picture 2" descr="1유형">
            <a:extLst>
              <a:ext uri="{FF2B5EF4-FFF2-40B4-BE49-F238E27FC236}">
                <a16:creationId xmlns:a16="http://schemas.microsoft.com/office/drawing/2014/main" id="{4279A4A7-F649-4679-557A-02B96BE46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3633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2077703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1687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창의적인 질문하기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(Creative Questions)</a:t>
            </a: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이 작품에 관한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질문을 최소 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5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가지 만들어보세요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가장 흥미로운 질문에 별표를 표시하세요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별표 표시된 질문 중 하나를 선택하여 잠시 토론해보세요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토론한 내용중 흥미로운 내용을 기록해 보세요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5059963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5034817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이전에는 없었던 작품에 대한 새로운 아이디어가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생각한 내용을 기록해 보세요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5213377"/>
              </p:ext>
            </p:extLst>
          </p:nvPr>
        </p:nvGraphicFramePr>
        <p:xfrm>
          <a:off x="301895" y="1754701"/>
          <a:ext cx="10906036" cy="47522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168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7384868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</a:tblGrid>
              <a:tr h="5469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최익현 초상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창의적인 질문 만들기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예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왜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그 이유는 무엇일까요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의 목적은 무엇일까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라면 어떻게 달라질까요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라고 가정한다면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우리가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을 안다면 어떨까요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라면 무엇이 달라질까요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400" b="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95977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1: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2: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3: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4: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5: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pic>
        <p:nvPicPr>
          <p:cNvPr id="3" name="그림 2">
            <a:hlinkClick r:id="rId3"/>
            <a:extLst>
              <a:ext uri="{FF2B5EF4-FFF2-40B4-BE49-F238E27FC236}">
                <a16:creationId xmlns:a16="http://schemas.microsoft.com/office/drawing/2014/main" id="{E4EDD868-384D-6477-599A-5670FDD754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173" y="2926662"/>
            <a:ext cx="2465832" cy="30517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77A43E9-1B6F-6E5F-DCA5-887E15ACA8AC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채용신</a:t>
            </a:r>
            <a:r>
              <a:rPr lang="ko-KR" altLang="en-US" sz="1200" b="0" i="0" dirty="0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 필 최익현 초상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6" name="Picture 2" descr="1유형">
            <a:extLst>
              <a:ext uri="{FF2B5EF4-FFF2-40B4-BE49-F238E27FC236}">
                <a16:creationId xmlns:a16="http://schemas.microsoft.com/office/drawing/2014/main" id="{5A03C02B-7D8E-70E8-519E-9D21408F37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3633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3465942"/>
              </p:ext>
            </p:extLst>
          </p:nvPr>
        </p:nvGraphicFramePr>
        <p:xfrm>
          <a:off x="406595" y="2129083"/>
          <a:ext cx="11219394" cy="399937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서직수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초상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고종 어진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심득경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초상</a:t>
                      </a:r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5" name="그림 4">
            <a:hlinkClick r:id="rId3"/>
            <a:extLst>
              <a:ext uri="{FF2B5EF4-FFF2-40B4-BE49-F238E27FC236}">
                <a16:creationId xmlns:a16="http://schemas.microsoft.com/office/drawing/2014/main" id="{9ED21FE5-F202-13E7-3282-6D964602E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6765" y="2926080"/>
            <a:ext cx="1889760" cy="2834640"/>
          </a:xfrm>
          <a:prstGeom prst="rect">
            <a:avLst/>
          </a:prstGeom>
        </p:spPr>
      </p:pic>
      <p:pic>
        <p:nvPicPr>
          <p:cNvPr id="7" name="그림 6">
            <a:hlinkClick r:id="rId5"/>
            <a:extLst>
              <a:ext uri="{FF2B5EF4-FFF2-40B4-BE49-F238E27FC236}">
                <a16:creationId xmlns:a16="http://schemas.microsoft.com/office/drawing/2014/main" id="{D4F68189-BA0C-E228-6EB9-63AD0D8F2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0267" y="2837314"/>
            <a:ext cx="1892049" cy="3078480"/>
          </a:xfrm>
          <a:prstGeom prst="rect">
            <a:avLst/>
          </a:prstGeom>
        </p:spPr>
      </p:pic>
      <p:pic>
        <p:nvPicPr>
          <p:cNvPr id="11" name="그림 10">
            <a:hlinkClick r:id="rId7"/>
            <a:extLst>
              <a:ext uri="{FF2B5EF4-FFF2-40B4-BE49-F238E27FC236}">
                <a16:creationId xmlns:a16="http://schemas.microsoft.com/office/drawing/2014/main" id="{4B06BFEE-5CB2-A9F2-A978-E5D3683002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06058" y="2981331"/>
            <a:ext cx="2133156" cy="2686594"/>
          </a:xfrm>
          <a:prstGeom prst="rect">
            <a:avLst/>
          </a:prstGeom>
        </p:spPr>
      </p:pic>
      <p:sp>
        <p:nvSpPr>
          <p:cNvPr id="2" name="TextBox 3">
            <a:extLst>
              <a:ext uri="{FF2B5EF4-FFF2-40B4-BE49-F238E27FC236}">
                <a16:creationId xmlns:a16="http://schemas.microsoft.com/office/drawing/2014/main" id="{0B3568D9-BC6E-96B7-A63B-744C024DB4F1}"/>
              </a:ext>
            </a:extLst>
          </p:cNvPr>
          <p:cNvSpPr txBox="1"/>
          <p:nvPr/>
        </p:nvSpPr>
        <p:spPr>
          <a:xfrm>
            <a:off x="78177" y="6577987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121BAD-8615-D564-B951-7CF459272DFE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F411DA6-6F3F-225E-D216-D3AB1391D3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0718748"/>
              </p:ext>
            </p:extLst>
          </p:nvPr>
        </p:nvGraphicFramePr>
        <p:xfrm>
          <a:off x="519760" y="1756522"/>
          <a:ext cx="10906036" cy="47522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1168">
                  <a:extLst>
                    <a:ext uri="{9D8B030D-6E8A-4147-A177-3AD203B41FA5}">
                      <a16:colId xmlns:a16="http://schemas.microsoft.com/office/drawing/2014/main" val="3026553761"/>
                    </a:ext>
                  </a:extLst>
                </a:gridCol>
                <a:gridCol w="7384868">
                  <a:extLst>
                    <a:ext uri="{9D8B030D-6E8A-4147-A177-3AD203B41FA5}">
                      <a16:colId xmlns:a16="http://schemas.microsoft.com/office/drawing/2014/main" val="4143215953"/>
                    </a:ext>
                  </a:extLst>
                </a:gridCol>
              </a:tblGrid>
              <a:tr h="54699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창의적인 질문 만들기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예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: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왜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그 이유는 무엇일까요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..? 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의 목적은 무엇일까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 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라면 어떻게 달라질까요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라고 가정한다면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우리가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을 안다면 어떨까요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만약 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..</a:t>
                      </a:r>
                      <a:r>
                        <a:rPr lang="ko-KR" altLang="en-US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라면 무엇이 달라질까요</a:t>
                      </a:r>
                      <a:r>
                        <a:rPr lang="en-US" altLang="ko-KR" sz="1400" b="0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400" b="0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9685601"/>
                  </a:ext>
                </a:extLst>
              </a:tr>
              <a:tr h="395977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1: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2: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3: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4:</a:t>
                      </a:r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ko-KR" altLang="en-US" dirty="0"/>
                        <a:t>질문</a:t>
                      </a:r>
                      <a:r>
                        <a:rPr lang="en-US" altLang="ko-KR" dirty="0"/>
                        <a:t>5: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06950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15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인물화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동물화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/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식물화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를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</TotalTime>
  <Words>715</Words>
  <Application>Microsoft Office PowerPoint</Application>
  <PresentationFormat>와이드스크린</PresentationFormat>
  <Paragraphs>161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6" baseType="lpstr">
      <vt:lpstr>고양덕양 B</vt:lpstr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나눔바른고딕 Light</vt:lpstr>
      <vt:lpstr>Noto Sans KR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&lt;인물화&gt;를 알아봅시다(영상제목: 인물화)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56</cp:revision>
  <dcterms:created xsi:type="dcterms:W3CDTF">2026-07-09T22:35:37Z</dcterms:created>
  <dcterms:modified xsi:type="dcterms:W3CDTF">2026-10-27T16:00:40Z</dcterms:modified>
  <cp:version/>
</cp:coreProperties>
</file>