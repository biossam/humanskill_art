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sldIdLst>
    <p:sldId id="264" r:id="rId2"/>
    <p:sldId id="266" r:id="rId3"/>
    <p:sldId id="287" r:id="rId4"/>
    <p:sldId id="265" r:id="rId5"/>
    <p:sldId id="279" r:id="rId6"/>
    <p:sldId id="275" r:id="rId7"/>
    <p:sldId id="276" r:id="rId8"/>
    <p:sldId id="281" r:id="rId9"/>
    <p:sldId id="277" r:id="rId10"/>
    <p:sldId id="283" r:id="rId11"/>
    <p:sldId id="278" r:id="rId12"/>
    <p:sldId id="286" r:id="rId13"/>
    <p:sldId id="285" r:id="rId14"/>
    <p:sldId id="284" r:id="rId15"/>
    <p:sldId id="269" r:id="rId16"/>
    <p:sldId id="270" r:id="rId17"/>
  </p:sldIdLst>
  <p:sldSz cx="12192000" cy="6858000"/>
  <p:notesSz cx="6858000" cy="12192000"/>
  <p:embeddedFontLst>
    <p:embeddedFont>
      <p:font typeface="Noto Sans KR" panose="020B0200000000000000" pitchFamily="50" charset="-127"/>
      <p:regular r:id="rId19"/>
      <p:bold r:id="rId20"/>
    </p:embeddedFont>
    <p:embeddedFont>
      <p:font typeface="Noto Sans KR Black" panose="020B0200000000000000" pitchFamily="50" charset="-127"/>
      <p:bold r:id="rId21"/>
    </p:embeddedFont>
    <p:embeddedFont>
      <p:font typeface="Noto Sans KR Medium" panose="020B0200000000000000" pitchFamily="50" charset="-127"/>
      <p:regular r:id="rId22"/>
    </p:embeddedFont>
    <p:embeddedFont>
      <p:font typeface="고양덕양 B" pitchFamily="2" charset="-127"/>
      <p:regular r:id="rId23"/>
    </p:embeddedFont>
    <p:embeddedFont>
      <p:font typeface="나눔바른고딕 Light" panose="020B0603020101020101" pitchFamily="50" charset="-127"/>
      <p:regular r:id="rId24"/>
    </p:embeddedFont>
    <p:embeddedFont>
      <p:font typeface="나눔스퀘어 ExtraBold" panose="020B0600000101010101" pitchFamily="50" charset="-127"/>
      <p:bold r:id="rId25"/>
    </p:embeddedFont>
    <p:embeddedFont>
      <p:font typeface="땅스부대찌개 Bold" panose="02020603020101020101" pitchFamily="18" charset="-127"/>
      <p:bold r:id="rId26"/>
    </p:embeddedFont>
    <p:embeddedFont>
      <p:font typeface="에스코어 드림 8 Heavy" panose="020B0903030302020204" pitchFamily="34" charset="-127"/>
      <p:bold r:id="rId2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15초면 충분합니다. 여섯 걸음 중 어디에 있는지만 확인합니다.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60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761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2420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62360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6316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04990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평가 장면입니다. 반드시 시간을 확보합니다.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C%B5%9C%EC%9D%B5%ED%98%84&amp;pageNum=3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B5%9C%EC%9D%B5%ED%98%84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C%B5%9C%EC%9D%B5%ED%98%84&amp;pageNum=3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B5%9C%EC%9D%B5%ED%98%84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hyperlink" Target="https://www.emuseum.go.kr/main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hyperlink" Target="https://www.emuseum.go.kr/detail?cateClass=&amp;cateListFlag=&amp;keyword=%EC%84%9C%EC%A7%81%EC%88%98&amp;pageNum=1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84%9C%EC%A7%81%EC%88%98&amp;showSearchOption=&amp;intrstMuseumCode=&amp;returnUrl=%2FheaderSearch&amp;selectMakerGroup=0&amp;radioSearchCheck=unifiedSearch&amp;headerPs01Lv1=&amp;headerPs01Lv2=&amp;headerPs01Lv3=" TargetMode="External"/><Relationship Id="rId7" Type="http://schemas.openxmlformats.org/officeDocument/2006/relationships/hyperlink" Target="https://www.emuseum.go.kr/detail?cateClass=&amp;cateListFlag=&amp;keyword=%EC%9C%A4%EB%91%90%EC%84%9C&amp;pageNum=17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9C%A4%EB%91%90%EC%84%9C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jpg"/><Relationship Id="rId5" Type="http://schemas.openxmlformats.org/officeDocument/2006/relationships/hyperlink" Target="https://www.emuseum.go.kr/detail?cateClass=&amp;cateListFlag=&amp;keyword=%EA%B3%A0%EC%A2%85&amp;pageNum=3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A%B3%A0%EC%A2%85&amp;showSearchOption=&amp;intrstMuseumCode=&amp;returnUrl=%2FheaderSearch&amp;selectMakerGroup=0&amp;radioSearchCheck=unifiedSearch&amp;headerPs01Lv1=&amp;headerPs01Lv2=&amp;headerPs01Lv3=" TargetMode="External"/><Relationship Id="rId4" Type="http://schemas.openxmlformats.org/officeDocument/2006/relationships/image" Target="../media/image17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31371" y="2660916"/>
            <a:ext cx="771821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&lt;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인물화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&gt;</a:t>
            </a:r>
          </a:p>
          <a:p>
            <a:pPr lvl="0">
              <a:defRPr/>
            </a:pP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창의적인 질문 만들기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10차시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6260" y="4366332"/>
            <a:ext cx="786384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ct val="90000"/>
              </a:lnSpc>
              <a:defRPr/>
            </a:pP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아트풀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 </a:t>
            </a: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씽킹</a:t>
            </a:r>
            <a:r>
              <a:rPr lang="en-US" altLang="ko-KR" sz="2000" b="0" dirty="0">
                <a:solidFill>
                  <a:srgbClr val="8A8A8A"/>
                </a:solidFill>
                <a:latin typeface="Noto Sans KR Medium"/>
              </a:rPr>
              <a:t>(Artful Thinking)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을 활용한 미술감상</a:t>
            </a:r>
            <a:endParaRPr lang="en-US" altLang="ko-KR" sz="2000" b="0" dirty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</a:t>
            </a:r>
            <a:r>
              <a:rPr lang="ko-KR" altLang="en-US" sz="2222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의 생각, 그 중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643904" y="1422857"/>
            <a:ext cx="6479418" cy="400110"/>
            <a:chOff x="882304" y="1470196"/>
            <a:chExt cx="4859563" cy="300082"/>
          </a:xfrm>
        </p:grpSpPr>
        <p:grpSp>
          <p:nvGrpSpPr>
            <p:cNvPr id="36" name="그룹 35"/>
            <p:cNvGrpSpPr/>
            <p:nvPr/>
          </p:nvGrpSpPr>
          <p:grpSpPr>
            <a:xfrm>
              <a:off x="882304" y="1487958"/>
              <a:ext cx="255983" cy="253915"/>
              <a:chOff x="853872" y="1465626"/>
              <a:chExt cx="318648" cy="316074"/>
            </a:xfrm>
          </p:grpSpPr>
          <p:sp>
            <p:nvSpPr>
              <p:cNvPr id="42" name="모서리가 둥근 직사각형 41"/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>
                  <a:gd name="adj" fmla="val 16667"/>
                </a:avLst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1000055" y="1465626"/>
                <a:ext cx="172465" cy="31607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r">
                  <a:defRPr/>
                </a:pP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1" name="TextBox 40"/>
            <p:cNvSpPr txBox="1"/>
            <p:nvPr/>
          </p:nvSpPr>
          <p:spPr>
            <a:xfrm>
              <a:off x="1139405" y="1470196"/>
              <a:ext cx="4602462" cy="30008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옛 그림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을 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아트풀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씽킹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방법을 활용하여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감상해봅시다.</a:t>
              </a:r>
            </a:p>
          </p:txBody>
        </p:sp>
      </p:grpSp>
      <p:sp>
        <p:nvSpPr>
          <p:cNvPr id="97" name="Oval 96"/>
          <p:cNvSpPr/>
          <p:nvPr/>
        </p:nvSpPr>
        <p:spPr>
          <a:xfrm>
            <a:off x="5621415" y="3002098"/>
            <a:ext cx="1024128" cy="102412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FFFFFF"/>
                </a:solidFill>
                <a:latin typeface="고양덕양 B"/>
                <a:ea typeface="고양덕양 B"/>
              </a:rPr>
              <a:t>인물화</a:t>
            </a:r>
            <a:endParaRPr b="1" dirty="0">
              <a:solidFill>
                <a:srgbClr val="FFFFFF"/>
              </a:solidFill>
              <a:latin typeface="고양덕양 B"/>
              <a:ea typeface="고양덕양 B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5621415" y="4099378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1" dirty="0">
                <a:solidFill>
                  <a:srgbClr val="F6877E"/>
                </a:solidFill>
                <a:latin typeface="고양덕양 B"/>
                <a:ea typeface="고양덕양 B"/>
              </a:rPr>
              <a:t>4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99" name="Oval 98"/>
          <p:cNvSpPr/>
          <p:nvPr/>
        </p:nvSpPr>
        <p:spPr>
          <a:xfrm>
            <a:off x="2220545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220545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2차시</a:t>
            </a:r>
          </a:p>
        </p:txBody>
      </p:sp>
      <p:sp>
        <p:nvSpPr>
          <p:cNvPr id="101" name="Oval 100"/>
          <p:cNvSpPr/>
          <p:nvPr/>
        </p:nvSpPr>
        <p:spPr>
          <a:xfrm>
            <a:off x="3921329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풍속화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3921329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3차시</a:t>
            </a:r>
          </a:p>
        </p:txBody>
      </p:sp>
      <p:sp>
        <p:nvSpPr>
          <p:cNvPr id="105" name="Oval 104"/>
          <p:cNvSpPr/>
          <p:nvPr/>
        </p:nvSpPr>
        <p:spPr>
          <a:xfrm>
            <a:off x="7322898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sz="1600" b="1" dirty="0">
                <a:solidFill>
                  <a:srgbClr val="8A8A8A"/>
                </a:solidFill>
                <a:latin typeface="고양덕양 B"/>
                <a:ea typeface="고양덕양 B"/>
              </a:rPr>
              <a:t>동물화식물화</a:t>
            </a:r>
            <a:endParaRPr sz="16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322898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5차시</a:t>
            </a:r>
          </a:p>
        </p:txBody>
      </p:sp>
      <p:sp>
        <p:nvSpPr>
          <p:cNvPr id="107" name="Oval 106"/>
          <p:cNvSpPr/>
          <p:nvPr/>
        </p:nvSpPr>
        <p:spPr>
          <a:xfrm>
            <a:off x="800484" y="2998950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산수화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800484" y="4096230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1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3904" y="497689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오늘의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 </a:t>
            </a: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성취기준</a:t>
            </a:r>
            <a:endParaRPr sz="2000" b="1" dirty="0">
              <a:solidFill>
                <a:srgbClr val="F6877E"/>
              </a:solidFill>
              <a:latin typeface="고양덕양 B"/>
              <a:ea typeface="고양덕양 B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643904" y="5338242"/>
            <a:ext cx="1088136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03-01]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작품을 작품이 만들어진 시대적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지역적 배경 등과 연결하여 이해할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                                        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03-02]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작품의 내용과 형식을 분석하여 작품의 특징을 설명할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03-04]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다양한 방법을 활용하여 작품을 감상하며 작품에 관한 서로 다른 관점을 존중할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98">
            <a:extLst>
              <a:ext uri="{FF2B5EF4-FFF2-40B4-BE49-F238E27FC236}">
                <a16:creationId xmlns:a16="http://schemas.microsoft.com/office/drawing/2014/main" id="{02F26344-5359-4AC2-BE12-32CE0D8638B4}"/>
              </a:ext>
            </a:extLst>
          </p:cNvPr>
          <p:cNvSpPr/>
          <p:nvPr/>
        </p:nvSpPr>
        <p:spPr>
          <a:xfrm>
            <a:off x="9137904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기록화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248A6-A714-DF93-F707-004EF684492B}"/>
              </a:ext>
            </a:extLst>
          </p:cNvPr>
          <p:cNvSpPr txBox="1"/>
          <p:nvPr/>
        </p:nvSpPr>
        <p:spPr>
          <a:xfrm>
            <a:off x="9137904" y="412256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6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6" name="Oval 98">
            <a:extLst>
              <a:ext uri="{FF2B5EF4-FFF2-40B4-BE49-F238E27FC236}">
                <a16:creationId xmlns:a16="http://schemas.microsoft.com/office/drawing/2014/main" id="{0A4ED983-2E68-3877-C49F-EFB2AE2ADEEC}"/>
              </a:ext>
            </a:extLst>
          </p:cNvPr>
          <p:cNvSpPr/>
          <p:nvPr/>
        </p:nvSpPr>
        <p:spPr>
          <a:xfrm>
            <a:off x="10800511" y="3002098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마무리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DC0B1F-03BB-D88E-7828-B3657EA91265}"/>
              </a:ext>
            </a:extLst>
          </p:cNvPr>
          <p:cNvSpPr txBox="1"/>
          <p:nvPr/>
        </p:nvSpPr>
        <p:spPr>
          <a:xfrm>
            <a:off x="10839387" y="4109178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7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r>
              <a:rPr lang="en-US" altLang="ko-KR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(Artful Thinking)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이란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7BC19595-D9CD-BB7B-661A-6614856CAB6A}"/>
              </a:ext>
            </a:extLst>
          </p:cNvPr>
          <p:cNvSpPr/>
          <p:nvPr/>
        </p:nvSpPr>
        <p:spPr>
          <a:xfrm>
            <a:off x="3257005" y="3281030"/>
            <a:ext cx="5120640" cy="144539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endParaRPr lang="en-US" altLang="ko-KR" sz="3200" b="1" dirty="0">
              <a:solidFill>
                <a:schemeClr val="bg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(Artful </a:t>
            </a:r>
            <a:r>
              <a:rPr lang="en-US" altLang="ko-KR" sz="3200" b="1" dirty="0">
                <a:solidFill>
                  <a:schemeClr val="bg1"/>
                </a:solidFill>
                <a:latin typeface="+mj-ea"/>
                <a:ea typeface="+mj-ea"/>
              </a:rPr>
              <a:t>Thinking)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5DD6F91D-1A8B-DF64-F15C-7D53D4EE2DB9}"/>
              </a:ext>
            </a:extLst>
          </p:cNvPr>
          <p:cNvSpPr/>
          <p:nvPr/>
        </p:nvSpPr>
        <p:spPr>
          <a:xfrm>
            <a:off x="374469" y="1779457"/>
            <a:ext cx="3039291" cy="1887583"/>
          </a:xfrm>
          <a:prstGeom prst="flowChartAlternateProcess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하버드 교육대학원</a:t>
            </a:r>
            <a:endParaRPr lang="en-US" altLang="ko-KR" dirty="0"/>
          </a:p>
          <a:p>
            <a:pPr algn="ctr"/>
            <a:r>
              <a:rPr lang="en-US" altLang="ko-KR" dirty="0"/>
              <a:t>Project Zero</a:t>
            </a:r>
            <a:r>
              <a:rPr lang="ko-KR" altLang="en-US" dirty="0"/>
              <a:t>에서</a:t>
            </a:r>
            <a:endParaRPr lang="en-US" altLang="ko-KR" dirty="0"/>
          </a:p>
          <a:p>
            <a:pPr algn="ctr"/>
            <a:r>
              <a:rPr lang="ko-KR" altLang="en-US" dirty="0"/>
              <a:t>개발한 미술감상교육 프로그램</a:t>
            </a:r>
            <a:endParaRPr lang="ko-KR" altLang="en-US" sz="1600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0CE3265F-C9DA-D5E4-1650-F7F647AE4869}"/>
              </a:ext>
            </a:extLst>
          </p:cNvPr>
          <p:cNvSpPr/>
          <p:nvPr/>
        </p:nvSpPr>
        <p:spPr>
          <a:xfrm>
            <a:off x="374469" y="4436880"/>
            <a:ext cx="3039291" cy="1887583"/>
          </a:xfrm>
          <a:prstGeom prst="flowChartAlternateProcess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r>
              <a:rPr lang="ko-KR" altLang="en-US" dirty="0"/>
              <a:t>가지 유형으로 구성된 </a:t>
            </a:r>
            <a:endParaRPr lang="en-US" altLang="ko-KR" dirty="0"/>
          </a:p>
          <a:p>
            <a:pPr algn="ctr"/>
            <a:r>
              <a:rPr lang="ko-KR" altLang="en-US" dirty="0"/>
              <a:t>생각의 팔레트로</a:t>
            </a:r>
            <a:endParaRPr lang="en-US" altLang="ko-KR" dirty="0"/>
          </a:p>
          <a:p>
            <a:pPr algn="ctr"/>
            <a:r>
              <a:rPr lang="ko-KR" altLang="en-US" dirty="0"/>
              <a:t>사고의 깊이를 확장</a:t>
            </a:r>
            <a:endParaRPr lang="en-US" altLang="ko-KR" dirty="0"/>
          </a:p>
        </p:txBody>
      </p:sp>
      <p:sp>
        <p:nvSpPr>
          <p:cNvPr id="13" name="순서도: 대체 처리 12">
            <a:extLst>
              <a:ext uri="{FF2B5EF4-FFF2-40B4-BE49-F238E27FC236}">
                <a16:creationId xmlns:a16="http://schemas.microsoft.com/office/drawing/2014/main" id="{1F314941-B04B-76D2-C6D6-57FB186AA626}"/>
              </a:ext>
            </a:extLst>
          </p:cNvPr>
          <p:cNvSpPr/>
          <p:nvPr/>
        </p:nvSpPr>
        <p:spPr>
          <a:xfrm>
            <a:off x="8500437" y="1823334"/>
            <a:ext cx="3039291" cy="1887583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작품을 </a:t>
            </a:r>
            <a:endParaRPr lang="en-US" altLang="ko-KR" dirty="0"/>
          </a:p>
          <a:p>
            <a:pPr algn="ctr"/>
            <a:r>
              <a:rPr lang="ko-KR" altLang="en-US" dirty="0"/>
              <a:t>효과적으로 활용하여 사고력과 학습능력을 증진 </a:t>
            </a:r>
          </a:p>
        </p:txBody>
      </p:sp>
      <p:sp>
        <p:nvSpPr>
          <p:cNvPr id="14" name="순서도: 대체 처리 13">
            <a:extLst>
              <a:ext uri="{FF2B5EF4-FFF2-40B4-BE49-F238E27FC236}">
                <a16:creationId xmlns:a16="http://schemas.microsoft.com/office/drawing/2014/main" id="{6D981CF4-E11C-C858-DA25-18FC982743AB}"/>
              </a:ext>
            </a:extLst>
          </p:cNvPr>
          <p:cNvSpPr/>
          <p:nvPr/>
        </p:nvSpPr>
        <p:spPr>
          <a:xfrm>
            <a:off x="8494341" y="4359728"/>
            <a:ext cx="3039291" cy="18875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생각하는</a:t>
            </a:r>
            <a:r>
              <a:rPr lang="en-US" altLang="ko-KR" dirty="0"/>
              <a:t> </a:t>
            </a:r>
            <a:r>
              <a:rPr lang="ko-KR" altLang="en-US" dirty="0"/>
              <a:t>방법을 </a:t>
            </a:r>
            <a:endParaRPr lang="en-US" altLang="ko-KR" dirty="0"/>
          </a:p>
          <a:p>
            <a:pPr algn="ctr"/>
            <a:r>
              <a:rPr lang="ko-KR" altLang="en-US" dirty="0"/>
              <a:t>실제 수업에 적용하기 위한 사고 루틴 활용</a:t>
            </a:r>
          </a:p>
        </p:txBody>
      </p:sp>
    </p:spTree>
    <p:extLst>
      <p:ext uri="{BB962C8B-B14F-4D97-AF65-F5344CB8AC3E}">
        <p14:creationId xmlns:p14="http://schemas.microsoft.com/office/powerpoint/2010/main" val="309038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189968" y="836713"/>
            <a:ext cx="3876013" cy="1209013"/>
            <a:chOff x="3059832" y="627534"/>
            <a:chExt cx="2907010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367074" y="748064"/>
              <a:ext cx="2244566" cy="73783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Oval 58"/>
          <p:cNvSpPr/>
          <p:nvPr/>
        </p:nvSpPr>
        <p:spPr>
          <a:xfrm>
            <a:off x="2395728" y="2414016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34843" y="25050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핵심 문장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7245" y="2490978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우리 옛 그림을 </a:t>
            </a:r>
            <a:r>
              <a:rPr lang="ko-KR" altLang="en-US" sz="1600" dirty="0" err="1">
                <a:solidFill>
                  <a:srgbClr val="3B3B3B"/>
                </a:solidFill>
              </a:rPr>
              <a:t>아트풀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r>
              <a:rPr lang="ko-KR" altLang="en-US" sz="1600" dirty="0" err="1">
                <a:solidFill>
                  <a:srgbClr val="3B3B3B"/>
                </a:solidFill>
              </a:rPr>
              <a:t>씽킹</a:t>
            </a:r>
            <a:r>
              <a:rPr lang="ko-KR" altLang="en-US" sz="1600" dirty="0">
                <a:solidFill>
                  <a:srgbClr val="3B3B3B"/>
                </a:solidFill>
              </a:rPr>
              <a:t> 방법으로 감상한다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2" name="Oval 61"/>
          <p:cNvSpPr/>
          <p:nvPr/>
        </p:nvSpPr>
        <p:spPr>
          <a:xfrm>
            <a:off x="2395728" y="3200400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4843" y="3295650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지식·이해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27245" y="3277362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작품을 시대적 배경</a:t>
            </a:r>
            <a:r>
              <a:rPr lang="en-US" altLang="ko-KR" sz="1600" dirty="0">
                <a:solidFill>
                  <a:srgbClr val="3B3B3B"/>
                </a:solidFill>
              </a:rPr>
              <a:t>, </a:t>
            </a:r>
            <a:r>
              <a:rPr lang="ko-KR" altLang="en-US" sz="1600" dirty="0">
                <a:solidFill>
                  <a:srgbClr val="3B3B3B"/>
                </a:solidFill>
              </a:rPr>
              <a:t>지역적 배경과 연결하여 이해한다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5" name="Oval 64"/>
          <p:cNvSpPr/>
          <p:nvPr/>
        </p:nvSpPr>
        <p:spPr>
          <a:xfrm>
            <a:off x="2395728" y="3986783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34843" y="408622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과정·기능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27245" y="4063746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작품의 내용과 형식을 분석하여 설명할 수 있다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8" name="Oval 67"/>
          <p:cNvSpPr/>
          <p:nvPr/>
        </p:nvSpPr>
        <p:spPr>
          <a:xfrm>
            <a:off x="2395728" y="4773168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34843" y="48672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가치·태도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27245" y="4850130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작품에 관한 </a:t>
            </a:r>
            <a:r>
              <a:rPr sz="1600" dirty="0" err="1">
                <a:solidFill>
                  <a:srgbClr val="3B3B3B"/>
                </a:solidFill>
              </a:rPr>
              <a:t>다른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관점을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존중하는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태도를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가진다</a:t>
            </a:r>
            <a:r>
              <a:rPr sz="1600" dirty="0">
                <a:solidFill>
                  <a:srgbClr val="3B3B3B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ounded Rectangle 98"/>
          <p:cNvSpPr/>
          <p:nvPr/>
        </p:nvSpPr>
        <p:spPr>
          <a:xfrm>
            <a:off x="724952" y="2150498"/>
            <a:ext cx="10881360" cy="3145402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</a:t>
            </a:r>
            <a:r>
              <a:rPr lang="ko-KR" altLang="en-US" sz="2222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늘의</a:t>
            </a: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핵심 </a:t>
            </a:r>
            <a:r>
              <a:rPr lang="ko-KR" altLang="en-US" b="1">
                <a:solidFill>
                  <a:srgbClr val="404040"/>
                </a:solidFill>
                <a:latin typeface="+mj-ea"/>
                <a:ea typeface="+mj-ea"/>
              </a:rPr>
              <a:t>문</a:t>
            </a:r>
            <a:r>
              <a:rPr lang="ko-KR" altLang="en-US" b="1">
                <a:solidFill>
                  <a:srgbClr val="289B6E"/>
                </a:solidFill>
                <a:latin typeface="+mj-ea"/>
                <a:ea typeface="+mj-ea"/>
              </a:rPr>
              <a:t>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4558" y="2631947"/>
            <a:ext cx="10881360" cy="2077107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>
                <a:solidFill>
                  <a:srgbClr val="FF843A"/>
                </a:solidFill>
                <a:latin typeface="고양덕양 B"/>
                <a:ea typeface="고양덕양 B"/>
              </a:rPr>
              <a:t>우리 옛 그림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아트풀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씽킹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방법을 활용하여 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spc="500" dirty="0">
                <a:latin typeface="고양덕양 B"/>
                <a:ea typeface="고양덕양 B"/>
              </a:rPr>
              <a:t>감상해봅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시다</a:t>
            </a:r>
            <a:r>
              <a:rPr lang="en-US" altLang="ko-KR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32688" y="5133975"/>
            <a:ext cx="10332720" cy="1619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438033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인물화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알아봅시다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영상제목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인물화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09FD261-C748-2672-0FAE-1AD71BD33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80" y="1334043"/>
            <a:ext cx="8741302" cy="491698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5AF2E2-55EC-AC9E-6BE2-96F1FC964DCB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캔바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에듀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이미지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841248" y="3585019"/>
            <a:ext cx="10424160" cy="166534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고양덕양 B"/>
              <a:ea typeface="고양덕양 B"/>
            </a:endParaRP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2999" y="2541686"/>
            <a:ext cx="999526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&lt;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최익현 초상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&gt;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 함께 감상해 봅시다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7952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작품의 첫인상은 </a:t>
            </a:r>
            <a:r>
              <a:rPr lang="ko-KR" altLang="en-US" sz="2000" dirty="0" err="1">
                <a:solidFill>
                  <a:srgbClr val="3B3B3B"/>
                </a:solidFill>
                <a:latin typeface="고양덕양 B"/>
                <a:ea typeface="고양덕양 B"/>
              </a:rPr>
              <a:t>어떤가요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lang="en-US" altLang="ko-KR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8244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작품 속에 무엇이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8535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무슨 이야기가 숨어 있을까요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50D6A15-76B1-0CF5-9ABC-92B22CF4C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3419361"/>
              </p:ext>
            </p:extLst>
          </p:nvPr>
        </p:nvGraphicFramePr>
        <p:xfrm>
          <a:off x="519761" y="1831069"/>
          <a:ext cx="10746425" cy="443887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127530">
                  <a:extLst>
                    <a:ext uri="{9D8B030D-6E8A-4147-A177-3AD203B41FA5}">
                      <a16:colId xmlns:a16="http://schemas.microsoft.com/office/drawing/2014/main" val="3511918884"/>
                    </a:ext>
                  </a:extLst>
                </a:gridCol>
                <a:gridCol w="6618895">
                  <a:extLst>
                    <a:ext uri="{9D8B030D-6E8A-4147-A177-3AD203B41FA5}">
                      <a16:colId xmlns:a16="http://schemas.microsoft.com/office/drawing/2014/main" val="1190672579"/>
                    </a:ext>
                  </a:extLst>
                </a:gridCol>
              </a:tblGrid>
              <a:tr h="4194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최익현 초상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작품설명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5455267"/>
                  </a:ext>
                </a:extLst>
              </a:tr>
              <a:tr h="40194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- 1905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년에 채용신이 그린 최익현의 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74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 초상화이다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얼굴의 윤곽에 따라 밝기를 구분하여 입체감을 표현하고 있다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최익현은 머리에 겨울철에 사냥꾼이 주로 쓰는 가죽 모자를 착용한 모습을 하고 있다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가죽 모자의 하얀 털의 거친 질감이 잘 느껴지는 작품이다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1339957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E8F9353F-3803-7419-CE01-439B244254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7" y="2378022"/>
            <a:ext cx="3040598" cy="37631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CBED192-ECB3-3D70-FE98-F083CB1EBC45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채용신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필 최익현 초상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5" name="Picture 2" descr="1유형">
            <a:extLst>
              <a:ext uri="{FF2B5EF4-FFF2-40B4-BE49-F238E27FC236}">
                <a16:creationId xmlns:a16="http://schemas.microsoft.com/office/drawing/2014/main" id="{4279A4A7-F649-4679-557A-02B96BE46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3633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4278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798643" y="3557015"/>
            <a:ext cx="10424160" cy="2077703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 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541687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창의적인 질문하기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(Creative Questions)</a:t>
            </a: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이 작품에 관한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질문을 최소 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5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가지 만들어보세요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63390"/>
            <a:ext cx="99669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가장 흥미로운 질문에 별표를 표시하세요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별표 표시된 질문 중 하나를 선택하여 잠시 토론해보세요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토론한 내용중 흥미로운 내용을 기록해 보세요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941832" y="5059963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5034817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이전에는 없었던 작품에 대한 새로운 아이디어가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생각한 내용을 기록해 보세요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5213377"/>
              </p:ext>
            </p:extLst>
          </p:nvPr>
        </p:nvGraphicFramePr>
        <p:xfrm>
          <a:off x="301895" y="1754701"/>
          <a:ext cx="10906036" cy="47522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1168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7384868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</a:tblGrid>
              <a:tr h="5469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최익현 초상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창의적인 질문 만들기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예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왜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그 이유는 무엇일까요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..? 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의 목적은 무엇일까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 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라면 어떻게 달라질까요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 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라고 가정한다면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 우리가 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을 안다면 어떨까요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 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라면 무엇이 달라질까요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400" b="0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95977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1: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2: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3: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4: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5: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E4EDD868-384D-6477-599A-5670FDD754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173" y="2926662"/>
            <a:ext cx="2465832" cy="30517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77A43E9-1B6F-6E5F-DCA5-887E15ACA8AC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채용신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필 최익현 초상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6" name="Picture 2" descr="1유형">
            <a:extLst>
              <a:ext uri="{FF2B5EF4-FFF2-40B4-BE49-F238E27FC236}">
                <a16:creationId xmlns:a16="http://schemas.microsoft.com/office/drawing/2014/main" id="{5A03C02B-7D8E-70E8-519E-9D21408F3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3633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2806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22">
            <a:extLst>
              <a:ext uri="{FF2B5EF4-FFF2-40B4-BE49-F238E27FC236}">
                <a16:creationId xmlns:a16="http://schemas.microsoft.com/office/drawing/2014/main" id="{2311F1A2-C57E-8C9B-5CA9-CEC91E942AA4}"/>
              </a:ext>
            </a:extLst>
          </p:cNvPr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Oval 16">
            <a:extLst>
              <a:ext uri="{FF2B5EF4-FFF2-40B4-BE49-F238E27FC236}">
                <a16:creationId xmlns:a16="http://schemas.microsoft.com/office/drawing/2014/main" id="{85629DCC-9E12-7248-ED30-C7F6ACAF46A0}"/>
              </a:ext>
            </a:extLst>
          </p:cNvPr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CAB5DD-0815-3520-DA5A-441A8C7E09EA}"/>
              </a:ext>
            </a:extLst>
          </p:cNvPr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’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누리집을 방문하여 작품들을 살펴본다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18">
            <a:extLst>
              <a:ext uri="{FF2B5EF4-FFF2-40B4-BE49-F238E27FC236}">
                <a16:creationId xmlns:a16="http://schemas.microsoft.com/office/drawing/2014/main" id="{2EA8DE01-85FB-A8AE-1F77-A5D98EEDA1FF}"/>
              </a:ext>
            </a:extLst>
          </p:cNvPr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91CD8-7275-00EC-05AA-7E47289BECC4}"/>
              </a:ext>
            </a:extLst>
          </p:cNvPr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마음에 드는 작품을 골라 활동지를 작성한다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6" name="Oval 20">
            <a:extLst>
              <a:ext uri="{FF2B5EF4-FFF2-40B4-BE49-F238E27FC236}">
                <a16:creationId xmlns:a16="http://schemas.microsoft.com/office/drawing/2014/main" id="{439857FA-9AFC-2A91-2BE8-D848568C3F90}"/>
              </a:ext>
            </a:extLst>
          </p:cNvPr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EBA5-8658-E5C6-F107-5A1D10CCE45C}"/>
              </a:ext>
            </a:extLst>
          </p:cNvPr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클래스 보드에 올리고 친구들과 공유한다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4D2FC-2480-8BE8-0128-368AD01200E9}"/>
              </a:ext>
            </a:extLst>
          </p:cNvPr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더 살펴보며 생각의 팔레트를 확장해 봅시다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330818-5476-3FAC-3758-BAD397DA9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활동안내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2632AC8-93AA-41DD-6D46-E9E08015A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886" y="1422559"/>
            <a:ext cx="3540093" cy="225728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AE4EF2E-0B2A-A26C-7747-EF36B036E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3" y="1263512"/>
            <a:ext cx="3331089" cy="11947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AB4B710-1DCE-436A-F53E-206CDD65A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000" y="2458222"/>
            <a:ext cx="3634731" cy="131007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502AA44-F190-4C0F-3066-E5062F041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2629" y="1617218"/>
            <a:ext cx="4023317" cy="2062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95A5570-A064-3FFF-AB4F-65BA1D9D67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36" y="4082970"/>
            <a:ext cx="3842385" cy="230383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50955A9-739F-F5AA-75E4-CD36F48518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5887" y="4082970"/>
            <a:ext cx="3729476" cy="224245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0DC3B78B-2913-FBA6-3AB0-56A0EDDD3F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2629" y="4021596"/>
            <a:ext cx="4023317" cy="230383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B2DE9AB-4D0D-1070-10D1-613337C007C5}"/>
              </a:ext>
            </a:extLst>
          </p:cNvPr>
          <p:cNvSpPr txBox="1"/>
          <p:nvPr/>
        </p:nvSpPr>
        <p:spPr>
          <a:xfrm>
            <a:off x="2689759" y="640538"/>
            <a:ext cx="1934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9"/>
              </a:rPr>
              <a:t>▶</a:t>
            </a:r>
            <a:r>
              <a:rPr lang="en-US" altLang="ko-KR" dirty="0">
                <a:hlinkClick r:id="rId9"/>
              </a:rPr>
              <a:t> e</a:t>
            </a:r>
            <a:r>
              <a:rPr lang="ko-KR" altLang="en-US" dirty="0">
                <a:hlinkClick r:id="rId9"/>
              </a:rPr>
              <a:t>뮤지엄 </a:t>
            </a:r>
            <a:r>
              <a:rPr lang="ko-KR" altLang="en-US" dirty="0" err="1">
                <a:hlinkClick r:id="rId9"/>
              </a:rPr>
              <a:t>누리집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DD618A6-0967-E86E-2349-227671D26567}"/>
              </a:ext>
            </a:extLst>
          </p:cNvPr>
          <p:cNvSpPr/>
          <p:nvPr/>
        </p:nvSpPr>
        <p:spPr>
          <a:xfrm>
            <a:off x="258000" y="1968137"/>
            <a:ext cx="1004743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19CC11A-EFA5-EE0B-7CE9-9847CEF4BE3D}"/>
              </a:ext>
            </a:extLst>
          </p:cNvPr>
          <p:cNvSpPr/>
          <p:nvPr/>
        </p:nvSpPr>
        <p:spPr>
          <a:xfrm>
            <a:off x="760371" y="3373678"/>
            <a:ext cx="2618555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E4DC684-384B-36F7-F9E5-754B7E8B366A}"/>
              </a:ext>
            </a:extLst>
          </p:cNvPr>
          <p:cNvSpPr/>
          <p:nvPr/>
        </p:nvSpPr>
        <p:spPr>
          <a:xfrm>
            <a:off x="8176563" y="2280139"/>
            <a:ext cx="1402866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5F58DC5-1580-D372-AE4F-EAC79F433E87}"/>
              </a:ext>
            </a:extLst>
          </p:cNvPr>
          <p:cNvSpPr/>
          <p:nvPr/>
        </p:nvSpPr>
        <p:spPr>
          <a:xfrm>
            <a:off x="11133123" y="2322690"/>
            <a:ext cx="309940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C21248C-F2F4-A06B-459E-F9CA9A9872BB}"/>
              </a:ext>
            </a:extLst>
          </p:cNvPr>
          <p:cNvSpPr/>
          <p:nvPr/>
        </p:nvSpPr>
        <p:spPr>
          <a:xfrm>
            <a:off x="1109557" y="4897684"/>
            <a:ext cx="1050169" cy="14277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2356446-DB91-14EA-9A52-85223537973C}"/>
              </a:ext>
            </a:extLst>
          </p:cNvPr>
          <p:cNvSpPr/>
          <p:nvPr/>
        </p:nvSpPr>
        <p:spPr>
          <a:xfrm>
            <a:off x="7132320" y="4007698"/>
            <a:ext cx="826676" cy="19576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FBFE4A1-7DCB-8C96-78B9-D4B95A4B30B9}"/>
              </a:ext>
            </a:extLst>
          </p:cNvPr>
          <p:cNvSpPr/>
          <p:nvPr/>
        </p:nvSpPr>
        <p:spPr>
          <a:xfrm>
            <a:off x="10554789" y="6048517"/>
            <a:ext cx="796834" cy="355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733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A8C8EE8-BC99-C68E-06DA-6A106E474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3465942"/>
              </p:ext>
            </p:extLst>
          </p:nvPr>
        </p:nvGraphicFramePr>
        <p:xfrm>
          <a:off x="406595" y="2129083"/>
          <a:ext cx="11219394" cy="399937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39798">
                  <a:extLst>
                    <a:ext uri="{9D8B030D-6E8A-4147-A177-3AD203B41FA5}">
                      <a16:colId xmlns:a16="http://schemas.microsoft.com/office/drawing/2014/main" val="1068825157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1128753635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454399094"/>
                    </a:ext>
                  </a:extLst>
                </a:gridCol>
              </a:tblGrid>
              <a:tr h="4399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서직수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 초상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고종 어진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심득경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 초상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631406"/>
                  </a:ext>
                </a:extLst>
              </a:tr>
              <a:tr h="355942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23463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A8104C-4B97-A06E-5052-E5D110559104}"/>
              </a:ext>
            </a:extLst>
          </p:cNvPr>
          <p:cNvSpPr txBox="1"/>
          <p:nvPr/>
        </p:nvSpPr>
        <p:spPr>
          <a:xfrm>
            <a:off x="406595" y="142085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아래 예시작품을 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에서 검색해서 살펴보세요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</a:p>
        </p:txBody>
      </p:sp>
      <p:pic>
        <p:nvPicPr>
          <p:cNvPr id="5" name="그림 4">
            <a:hlinkClick r:id="rId3"/>
            <a:extLst>
              <a:ext uri="{FF2B5EF4-FFF2-40B4-BE49-F238E27FC236}">
                <a16:creationId xmlns:a16="http://schemas.microsoft.com/office/drawing/2014/main" id="{9ED21FE5-F202-13E7-3282-6D964602ED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6765" y="2926080"/>
            <a:ext cx="1889760" cy="2834640"/>
          </a:xfrm>
          <a:prstGeom prst="rect">
            <a:avLst/>
          </a:prstGeom>
        </p:spPr>
      </p:pic>
      <p:pic>
        <p:nvPicPr>
          <p:cNvPr id="7" name="그림 6">
            <a:hlinkClick r:id="rId5"/>
            <a:extLst>
              <a:ext uri="{FF2B5EF4-FFF2-40B4-BE49-F238E27FC236}">
                <a16:creationId xmlns:a16="http://schemas.microsoft.com/office/drawing/2014/main" id="{D4F68189-BA0C-E228-6EB9-63AD0D8F2F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0267" y="2837314"/>
            <a:ext cx="1892049" cy="3078480"/>
          </a:xfrm>
          <a:prstGeom prst="rect">
            <a:avLst/>
          </a:prstGeom>
        </p:spPr>
      </p:pic>
      <p:pic>
        <p:nvPicPr>
          <p:cNvPr id="11" name="그림 10">
            <a:hlinkClick r:id="rId7"/>
            <a:extLst>
              <a:ext uri="{FF2B5EF4-FFF2-40B4-BE49-F238E27FC236}">
                <a16:creationId xmlns:a16="http://schemas.microsoft.com/office/drawing/2014/main" id="{4B06BFEE-5CB2-A9F2-A978-E5D36830021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06058" y="2981331"/>
            <a:ext cx="2133156" cy="2686594"/>
          </a:xfrm>
          <a:prstGeom prst="rect">
            <a:avLst/>
          </a:prstGeom>
        </p:spPr>
      </p:pic>
      <p:sp>
        <p:nvSpPr>
          <p:cNvPr id="2" name="TextBox 3">
            <a:extLst>
              <a:ext uri="{FF2B5EF4-FFF2-40B4-BE49-F238E27FC236}">
                <a16:creationId xmlns:a16="http://schemas.microsoft.com/office/drawing/2014/main" id="{0B3568D9-BC6E-96B7-A63B-744C024DB4F1}"/>
              </a:ext>
            </a:extLst>
          </p:cNvPr>
          <p:cNvSpPr txBox="1"/>
          <p:nvPr/>
        </p:nvSpPr>
        <p:spPr>
          <a:xfrm>
            <a:off x="78177" y="6577987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121BAD-8615-D564-B951-7CF459272DFE}"/>
              </a:ext>
            </a:extLst>
          </p:cNvPr>
          <p:cNvSpPr txBox="1"/>
          <p:nvPr/>
        </p:nvSpPr>
        <p:spPr>
          <a:xfrm>
            <a:off x="0" y="6544412"/>
            <a:ext cx="117854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본 저작물은 공공누리 제1유형으로 개방한 작품을 이용하였으며, 해당 저작물은 '국립중앙박물관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e뮤지엄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누리집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(https://www.emuseum.go.kr)'에서 무료로 다운받으실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673295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78A9F-1EAF-E6FC-1F07-E6E10019235D}"/>
              </a:ext>
            </a:extLst>
          </p:cNvPr>
          <p:cNvSpPr txBox="1"/>
          <p:nvPr/>
        </p:nvSpPr>
        <p:spPr>
          <a:xfrm>
            <a:off x="406595" y="131561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한 가지 선택하고 활동지를 작성해보세요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F411DA6-6F3F-225E-D216-D3AB1391D3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0718748"/>
              </p:ext>
            </p:extLst>
          </p:nvPr>
        </p:nvGraphicFramePr>
        <p:xfrm>
          <a:off x="519760" y="1756522"/>
          <a:ext cx="10906036" cy="47522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1168">
                  <a:extLst>
                    <a:ext uri="{9D8B030D-6E8A-4147-A177-3AD203B41FA5}">
                      <a16:colId xmlns:a16="http://schemas.microsoft.com/office/drawing/2014/main" val="3026553761"/>
                    </a:ext>
                  </a:extLst>
                </a:gridCol>
                <a:gridCol w="7384868">
                  <a:extLst>
                    <a:ext uri="{9D8B030D-6E8A-4147-A177-3AD203B41FA5}">
                      <a16:colId xmlns:a16="http://schemas.microsoft.com/office/drawing/2014/main" val="4143215953"/>
                    </a:ext>
                  </a:extLst>
                </a:gridCol>
              </a:tblGrid>
              <a:tr h="5469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창의적인 질문 만들기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예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왜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그 이유는 무엇일까요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..? 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의 목적은 무엇일까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 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라면 어떻게 달라질까요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 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라고 가정한다면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 우리가 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을 안다면 어떨까요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 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라면 무엇이 달라질까요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400" b="0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9685601"/>
                  </a:ext>
                </a:extLst>
              </a:tr>
              <a:tr h="395977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1: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2: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3: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4: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5: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06950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1688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 b="0"/>
              <a:pPr lvl="0">
                <a:defRPr/>
              </a:pPr>
              <a:t>15</a:t>
            </a:fld>
            <a:endParaRPr lang="en-US" altLang="ko-KR" b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121180"/>
            <a:ext cx="10424160" cy="2933945"/>
          </a:xfrm>
          <a:prstGeom prst="roundRect">
            <a:avLst>
              <a:gd name="adj" fmla="val 10000"/>
            </a:avLst>
          </a:prstGeom>
          <a:solidFill>
            <a:srgbClr val="FDEEEC"/>
          </a:solidFill>
          <a:ln w="15875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Oval 12"/>
          <p:cNvSpPr/>
          <p:nvPr/>
        </p:nvSpPr>
        <p:spPr>
          <a:xfrm>
            <a:off x="1629809" y="2554089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86425" y="2538849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인물화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에 대해 설명할 수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5" name="Oval 14"/>
          <p:cNvSpPr/>
          <p:nvPr/>
        </p:nvSpPr>
        <p:spPr>
          <a:xfrm>
            <a:off x="1629809" y="3402624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86425" y="3387385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가장 기억에 남는 작품은 무엇인가요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8" name="TextBox 3"/>
          <p:cNvSpPr txBox="1"/>
          <p:nvPr/>
        </p:nvSpPr>
        <p:spPr>
          <a:xfrm>
            <a:off x="1098804" y="5618228"/>
            <a:ext cx="9994392" cy="233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105000"/>
              </a:lnSpc>
              <a:defRPr/>
            </a:pP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다음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시간에는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'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 동물화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/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식물화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를 알아봅시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다</a:t>
            </a:r>
            <a:r>
              <a:rPr lang="en-US" altLang="ko-KR" sz="15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sp>
        <p:nvSpPr>
          <p:cNvPr id="2" name="Oval 14">
            <a:extLst>
              <a:ext uri="{FF2B5EF4-FFF2-40B4-BE49-F238E27FC236}">
                <a16:creationId xmlns:a16="http://schemas.microsoft.com/office/drawing/2014/main" id="{FF76A8CF-1727-CB58-0BDE-5A31B7CBC241}"/>
              </a:ext>
            </a:extLst>
          </p:cNvPr>
          <p:cNvSpPr/>
          <p:nvPr/>
        </p:nvSpPr>
        <p:spPr>
          <a:xfrm>
            <a:off x="1629809" y="4195140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F519D-6CC9-CB11-9330-2650761E3889}"/>
              </a:ext>
            </a:extLst>
          </p:cNvPr>
          <p:cNvSpPr txBox="1"/>
          <p:nvPr/>
        </p:nvSpPr>
        <p:spPr>
          <a:xfrm>
            <a:off x="1986425" y="4179901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내 생각과 친구의 생각 중 어떤 점이 비슷하고 어떤 점이 달랐나요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</TotalTime>
  <Words>715</Words>
  <Application>Microsoft Office PowerPoint</Application>
  <PresentationFormat>와이드스크린</PresentationFormat>
  <Paragraphs>161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6" baseType="lpstr">
      <vt:lpstr>고양덕양 B</vt:lpstr>
      <vt:lpstr>에스코어 드림 8 Heavy</vt:lpstr>
      <vt:lpstr>땅스부대찌개 Bold</vt:lpstr>
      <vt:lpstr>나눔스퀘어 ExtraBold</vt:lpstr>
      <vt:lpstr>Noto Sans KR Black</vt:lpstr>
      <vt:lpstr>Arial</vt:lpstr>
      <vt:lpstr>Noto Sans KR Medium</vt:lpstr>
      <vt:lpstr>나눔바른고딕 Light</vt:lpstr>
      <vt:lpstr>Noto Sans KR</vt:lpstr>
      <vt:lpstr>Office Theme</vt:lpstr>
      <vt:lpstr>PowerPoint 프레젠테이션</vt:lpstr>
      <vt:lpstr>일곱 번의 생각, 그 중 오늘</vt:lpstr>
      <vt:lpstr>‘아트풀 씽킹(Artful Thinking)’ 이란?</vt:lpstr>
      <vt:lpstr>PowerPoint 프레젠테이션</vt:lpstr>
      <vt:lpstr>오늘의 핵심 문장</vt:lpstr>
      <vt:lpstr>&lt;인물화&gt;를 알아봅시다(영상제목: 인물화)</vt:lpstr>
      <vt:lpstr>옛 그림과 만나기</vt:lpstr>
      <vt:lpstr>옛 그림과 만나기</vt:lpstr>
      <vt:lpstr>아트풀 씽킹으로 생각하기</vt:lpstr>
      <vt:lpstr>아트풀 씽킹으로 생각하기</vt:lpstr>
      <vt:lpstr>생각의 팔레트 확장하기</vt:lpstr>
      <vt:lpstr>활동안내</vt:lpstr>
      <vt:lpstr>PowerPoint 프레젠테이션</vt:lpstr>
      <vt:lpstr>PowerPoint 프레젠테이션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56</cp:revision>
  <dcterms:created xsi:type="dcterms:W3CDTF">2026-07-09T22:35:37Z</dcterms:created>
  <dcterms:modified xsi:type="dcterms:W3CDTF">2026-10-27T16:00:40Z</dcterms:modified>
  <cp:version/>
</cp:coreProperties>
</file>