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65" r:id="rId3"/>
    <p:sldId id="267" r:id="rId4"/>
    <p:sldId id="268" r:id="rId5"/>
    <p:sldId id="280" r:id="rId6"/>
    <p:sldId id="279" r:id="rId7"/>
    <p:sldId id="272" r:id="rId8"/>
    <p:sldId id="275" r:id="rId9"/>
    <p:sldId id="276" r:id="rId10"/>
    <p:sldId id="277" r:id="rId11"/>
    <p:sldId id="278" r:id="rId12"/>
    <p:sldId id="269" r:id="rId13"/>
    <p:sldId id="270" r:id="rId14"/>
  </p:sldIdLst>
  <p:sldSz cx="12192000" cy="6858000"/>
  <p:notesSz cx="6858000" cy="12192000"/>
  <p:embeddedFontLst>
    <p:embeddedFont>
      <p:font typeface="Noto Sans KR" panose="020B0200000000000000" pitchFamily="50" charset="-127"/>
      <p:regular r:id="rId16"/>
      <p:bold r:id="rId17"/>
    </p:embeddedFont>
    <p:embeddedFont>
      <p:font typeface="Noto Sans KR Black" panose="020B0200000000000000" pitchFamily="50" charset="-127"/>
      <p:bold r:id="rId18"/>
    </p:embeddedFont>
    <p:embeddedFont>
      <p:font typeface="Noto Sans KR Medium" panose="020B0200000000000000" pitchFamily="50" charset="-127"/>
      <p:regular r:id="rId19"/>
    </p:embeddedFont>
    <p:embeddedFont>
      <p:font typeface="고양덕양 EB" pitchFamily="2" charset="-127"/>
      <p:regular r:id="rId20"/>
    </p:embeddedFont>
    <p:embeddedFont>
      <p:font typeface="나눔바른고딕" panose="020B0603020101020101" pitchFamily="50" charset="-127"/>
      <p:regular r:id="rId21"/>
      <p:bold r:id="rId22"/>
    </p:embeddedFont>
    <p:embeddedFont>
      <p:font typeface="나눔스퀘어 ExtraBold" panose="020B0600000101010101" pitchFamily="50" charset="-127"/>
      <p:bold r:id="rId23"/>
    </p:embeddedFont>
    <p:embeddedFont>
      <p:font typeface="땅스부대찌개 Bold" panose="02020603020101020101" pitchFamily="18" charset="-127"/>
      <p:bold r:id="rId24"/>
    </p:embeddedFont>
    <p:embeddedFont>
      <p:font typeface="에스코어 드림 8 Heavy" panose="020B0903030302020204" pitchFamily="34" charset="-127"/>
      <p:bold r:id="rId25"/>
    </p:embeddedFont>
    <p:embeddedFont>
      <p:font typeface="함초롬돋움" panose="020B0604000101010101" pitchFamily="50" charset="-127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31">
          <p15:clr>
            <a:srgbClr val="A4A3A4"/>
          </p15:clr>
        </p15:guide>
        <p15:guide id="2" pos="215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82788"/>
  </p:normalViewPr>
  <p:slideViewPr>
    <p:cSldViewPr snapToGrid="0" snapToObjects="1">
      <p:cViewPr varScale="1">
        <p:scale>
          <a:sx n="56" d="100"/>
          <a:sy n="56" d="100"/>
        </p:scale>
        <p:origin x="905" y="41"/>
      </p:cViewPr>
      <p:guideLst>
        <p:guide orient="horz" pos="2155"/>
        <p:guide pos="3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3831"/>
        <p:guide pos="215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676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[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6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미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01-02]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자신이나 주변 환경에서 찾은 감각적 특징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느낌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생각 등을 관련지어 나타낼 수 있다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409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학습 안내 영상: https://youtu.be/3S6SBun7P10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95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단원 핵심 문장: AI는 결과를 빠르게 만들지만, 작품의 의미는 예술가(나)가 직접 고르고 나누고 돌아보는 과정에서 생겨난다.</a:t>
            </a:r>
          </a:p>
          <a:p>
            <a:pPr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3차시 문장: 색의 느낌은 곁에 놓인 색에 따라 달라지고, 그 의미를 [해석]하는 것은 나의 몫이다.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AI</a:t>
            </a:r>
            <a:r>
              <a:rPr lang="ko-KR" altLang="en-US"/>
              <a:t>는</a:t>
            </a:r>
            <a:r>
              <a:rPr lang="en-US" altLang="ko-KR"/>
              <a:t>?</a:t>
            </a:r>
            <a:r>
              <a:rPr lang="ko-KR" altLang="en-US"/>
              <a:t> 나는</a:t>
            </a:r>
            <a:r>
              <a:rPr lang="en-US" altLang="ko-KR"/>
              <a:t>?</a:t>
            </a:r>
            <a:r>
              <a:rPr lang="ko-KR" altLang="en-US"/>
              <a:t> </a:t>
            </a:r>
            <a:r>
              <a:rPr lang="en-US" altLang="ko-KR"/>
              <a:t>https://youtu.be/zPkUK1xM7ZE</a:t>
            </a:r>
            <a:endParaRPr lang="ko-KR" altLang="en-US"/>
          </a:p>
          <a:p>
            <a:pPr lvl="0">
              <a:defRPr/>
            </a:pPr>
            <a:endParaRPr lang="EN-US" b="0" i="0" u="none" strike="noStrike" baseline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AI는 ‘긴장감 있는 색’을 입력하면 통계적으로 많이 쓰인 색 조합을 즉시 제시한다. </a:t>
            </a:r>
          </a:p>
          <a:p>
            <a: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나는 직접 습자지를 겹쳐보며 우연히 만들어지는 색을 눈과 손으로 확인하고 그 의미를 해석한다.</a:t>
            </a:r>
          </a:p>
          <a:p>
            <a: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→ 색이 주는 느낌을 몸으로 직접 실험하며 해석하는 것, 이것이 예술가의 힘이다.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92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학습 안내 영상: https://youtu.be/3S6SBun7P10</a:t>
            </a:r>
          </a:p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3차시(해석)는 ‘의미 만들기’ 비중이 가장 크다. 완성된 색의 관계를 놓고 내가 먼저 해석해 보고,</a:t>
            </a:r>
          </a:p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친구의 해석과 비교해 보는 것이 이 차시의 핵심이기 때문이다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432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10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보색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VS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유사색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판단하기</a:t>
            </a:r>
            <a:endParaRPr b="0" i="0" u="none" strike="noStrike" baseline="0" dirty="0">
              <a:solidFill>
                <a:srgbClr val="000000"/>
              </a:solidFill>
              <a:latin typeface="고양덕양 EB"/>
              <a:ea typeface="고양덕양 EB"/>
              <a:cs typeface="고양덕양 EB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(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긴장감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)과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유사색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(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고요함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) 중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내가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표현하려는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맞는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조합이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무엇인지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판단한다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[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유의점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]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색상환을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화면에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띄워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/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유사색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개념을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먼저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짚어준다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색상환을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볼게요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마주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,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옆에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붙은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유사색이에요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2차시에서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자연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속에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서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있던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나와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병뚜껑은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각각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감정이었나요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?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          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어울리는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색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조합을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골라봅시다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.”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자연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속에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놓인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병뚜껑은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들었을까요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?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그것을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본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우리는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들었나요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?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           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상황에서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만들어지는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감정들을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색으로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표현하려면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고르고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싶나요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?”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806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습자지 겹쳐 붙이기</a:t>
            </a:r>
            <a:endParaRPr b="0" i="0" u="none" strike="noStrike" baseline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  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•고른 색 조합의 습자지를 도화지 위에 겹쳐 붙이며 색 실험을 한다. 분무기로 물을 뿌리며 이어 붙이면 번지는 효과가 난다. 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•교사: “습자지를 겹쳐 붙일 때마다 색이 어떻게 달라지는지 잘 보세요. 물을 살짝 뿌리면 색이 번지면서 또 다른 느낌이 생겨요.”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71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색깔이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된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감정</a:t>
            </a:r>
            <a:r>
              <a:rPr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나누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기</a:t>
            </a:r>
            <a:endParaRPr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완성된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추상화를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무슨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느낌이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만들어졌는지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스스로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먼저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짧게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적어본다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학급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상황에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따라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통합학습창을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사용하거나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클래스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보드에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사진과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글로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게시한다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[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유의점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] 이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작품은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6차시에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다시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사용됨을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미리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안내한다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완성된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그림을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잠시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바라보세요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이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색들이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여러분에게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이야기를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하는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것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같나요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?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제목을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붙이고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왜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그렇게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느꼈는지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한두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문장으로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적어봅시다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”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모둠끼리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돌아가며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작품을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사람의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의도를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먼저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짐작한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뒤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실제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설명을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듣는다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교사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: “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친구의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작품을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보고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느낌인지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먼저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해석해보세요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그다음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만든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친구에게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실제로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어떤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느낌을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담았는지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물어보고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</a:t>
            </a:r>
            <a:r>
              <a:rPr b="0" i="0" u="none" strike="noStrike" baseline="0" dirty="0" err="1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비교해봅시다</a:t>
            </a:r>
            <a:r>
              <a:rPr b="0" i="0" u="none" strike="noStrike" baseline="0" dirty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.” 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386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형성평가 (주 평가: 작품 제목·느낌 글와 활동 관찰 / 아래 객관식 문항은 보조 자료)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•색의 느낌은 곁에 놓인 색에 따라 달라지고, 그 의미를 [해석]하는 것은 나의 몫이다.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•서로 마주 보는 보색의 습자지를 나란히 붙였을 때 드러나는 조형 원리는 [대비]이다. 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•AI는 '긴장감 있는 색'을 입력하면 통계적으로 많이 쓰인 색 조합을 즉시 제시하고, 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나는 직접 습자지를 겹쳐보며 우연히 만들어지는 색을 눈과 손으로 확인하고 그 의미를 해석한다.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b="0" i="0" u="none" strike="noStrike" baseline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고양덕양 EB"/>
                <a:ea typeface="고양덕양 EB"/>
                <a:cs typeface="고양덕양 EB"/>
              </a:rPr>
              <a:t>다음 시간 안내하기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•교사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: “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다음 시간에는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자연이 된 스티로폼</a:t>
            </a:r>
            <a:r>
              <a:rPr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  <a:cs typeface="나눔바른고딕"/>
              </a:rPr>
              <a:t> 수업을 하겠습니다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바른고딕"/>
                <a:ea typeface="나눔바른고딕"/>
              </a:rPr>
              <a:t>.”</a:t>
            </a:r>
          </a:p>
          <a:p>
            <a:pPr marL="203200" lvl="0" indent="-1016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3S6SBun7P1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youtu.be/zPkUK1xM7Z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3S6SBun7P1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oyoungkuk.or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/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>
                <a:schemeClr val="lt1"/>
              </a:buClr>
              <a:buSzPct val="25000"/>
              <a:buNone/>
              <a:defRPr/>
            </a:pPr>
            <a:r>
              <a:rPr lang="en-US" altLang="ko-KR" sz="3733">
                <a:solidFill>
                  <a:schemeClr val="bg1"/>
                </a:solidFill>
                <a:latin typeface="Noto Sans KR Black"/>
                <a:ea typeface="Noto Sans KR Black"/>
              </a:rPr>
              <a:t>3</a:t>
            </a:r>
            <a:r>
              <a:rPr lang="ko-KR" altLang="en-US" sz="3733">
                <a:solidFill>
                  <a:schemeClr val="bg1"/>
                </a:solidFill>
                <a:latin typeface="Noto Sans KR Black"/>
                <a:ea typeface="Noto Sans KR Black"/>
              </a:rPr>
              <a:t>차시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57D608-F4B8-F14C-E8A8-C9716FCCA2CD}"/>
              </a:ext>
            </a:extLst>
          </p:cNvPr>
          <p:cNvSpPr/>
          <p:nvPr/>
        </p:nvSpPr>
        <p:spPr>
          <a:xfrm>
            <a:off x="512135" y="3025980"/>
            <a:ext cx="7718219" cy="99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867" spc="-200" dirty="0">
                <a:solidFill>
                  <a:srgbClr val="F6877E"/>
                </a:solidFill>
                <a:latin typeface="+mj-ea"/>
                <a:ea typeface="+mj-ea"/>
              </a:rPr>
              <a:t>예술가의 해석</a:t>
            </a:r>
          </a:p>
        </p:txBody>
      </p:sp>
      <p:sp>
        <p:nvSpPr>
          <p:cNvPr id="6" name="가로 글상자 32">
            <a:extLst>
              <a:ext uri="{FF2B5EF4-FFF2-40B4-BE49-F238E27FC236}">
                <a16:creationId xmlns:a16="http://schemas.microsoft.com/office/drawing/2014/main" id="{F4F9FEDD-DFB2-3D65-D13D-626C04484FB2}"/>
              </a:ext>
            </a:extLst>
          </p:cNvPr>
          <p:cNvSpPr txBox="1"/>
          <p:nvPr/>
        </p:nvSpPr>
        <p:spPr>
          <a:xfrm>
            <a:off x="6082212" y="4439446"/>
            <a:ext cx="565520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r" defTabSz="102883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</a:rPr>
              <a:t>색깔이 된 감정</a:t>
            </a: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639576" y="2527186"/>
            <a:ext cx="8224621" cy="1957939"/>
            <a:chOff x="3017900" y="1766448"/>
            <a:chExt cx="5334713" cy="717661"/>
          </a:xfrm>
        </p:grpSpPr>
        <p:grpSp>
          <p:nvGrpSpPr>
            <p:cNvPr id="15" name="그룹 14"/>
            <p:cNvGrpSpPr/>
            <p:nvPr/>
          </p:nvGrpSpPr>
          <p:grpSpPr>
            <a:xfrm>
              <a:off x="3017900" y="1766448"/>
              <a:ext cx="4805235" cy="304593"/>
              <a:chOff x="1397760" y="2072124"/>
              <a:chExt cx="5679012" cy="359977"/>
            </a:xfrm>
          </p:grpSpPr>
          <p:sp>
            <p:nvSpPr>
              <p:cNvPr id="4" name="타원 3"/>
              <p:cNvSpPr/>
              <p:nvPr/>
            </p:nvSpPr>
            <p:spPr>
              <a:xfrm>
                <a:off x="1397760" y="2088461"/>
                <a:ext cx="441595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1912931" y="2072124"/>
                <a:ext cx="5163841" cy="359977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보색과 </a:t>
                </a:r>
                <a:r>
                  <a:rPr lang="ko-KR" altLang="en-US" sz="2400" spc="-147" dirty="0" err="1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유사색</a:t>
                </a:r>
                <a:r>
                  <a:rPr lang="ko-KR" altLang="en-US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 중 내 감정에 어울리는 색을 판단하여 고를 수 있다</a:t>
                </a:r>
                <a:r>
                  <a:rPr lang="en-US" altLang="ko-KR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.</a:t>
                </a: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3017915" y="2270881"/>
              <a:ext cx="5334698" cy="213228"/>
              <a:chOff x="1397760" y="2714548"/>
              <a:chExt cx="6304744" cy="252000"/>
            </a:xfrm>
          </p:grpSpPr>
          <p:sp>
            <p:nvSpPr>
              <p:cNvPr id="61" name="타원 60"/>
              <p:cNvSpPr/>
              <p:nvPr/>
            </p:nvSpPr>
            <p:spPr>
              <a:xfrm>
                <a:off x="1397760" y="2714548"/>
                <a:ext cx="441594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2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912953" y="2745060"/>
                <a:ext cx="5789551" cy="196403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완성한 색 그림을 보고 느낀 점을 친구와 나눌 수 있다</a:t>
                </a:r>
                <a:r>
                  <a:rPr lang="en-US" altLang="ko-KR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색깔이 된 감정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99" name="그림 9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23133"/>
            <a:ext cx="12192000" cy="5376688"/>
          </a:xfrm>
          <a:prstGeom prst="rect">
            <a:avLst/>
          </a:prstGeom>
        </p:spPr>
      </p:pic>
      <p:sp>
        <p:nvSpPr>
          <p:cNvPr id="5" name="실행 단추: 앞으로 또는 다음 18">
            <a:hlinkClick r:id="rId4"/>
            <a:extLst>
              <a:ext uri="{FF2B5EF4-FFF2-40B4-BE49-F238E27FC236}">
                <a16:creationId xmlns:a16="http://schemas.microsoft.com/office/drawing/2014/main" id="{8C078D6F-FFBA-BE1B-3D47-106B2C46780F}"/>
              </a:ext>
            </a:extLst>
          </p:cNvPr>
          <p:cNvSpPr/>
          <p:nvPr/>
        </p:nvSpPr>
        <p:spPr>
          <a:xfrm>
            <a:off x="3377010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5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22329"/>
            <a:ext cx="12192000" cy="5737861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639856" y="2742240"/>
            <a:ext cx="10968960" cy="3564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3차시 문장 · 빈칸에 들어갈 말은?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색의 느낌은 곁에 놓인 색에 따라 달라지고,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그 의미를 [</a:t>
            </a:r>
            <a:r>
              <a:rPr lang="ko-KR" altLang="en-US" sz="2800" b="1" dirty="0">
                <a:solidFill>
                  <a:srgbClr val="3A3A3A"/>
                </a:solidFill>
                <a:highlight>
                  <a:srgbClr val="E8F1DD"/>
                </a:highlight>
                <a:latin typeface="Noto Sans KR"/>
                <a:ea typeface="Noto Sans KR"/>
              </a:rPr>
              <a:t>　　　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]하는 것은 나의 몫이다.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22329"/>
            <a:ext cx="12192000" cy="5737861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sp>
        <p:nvSpPr>
          <p:cNvPr id="901" name="핵심 문장 패널"/>
          <p:cNvSpPr/>
          <p:nvPr/>
        </p:nvSpPr>
        <p:spPr>
          <a:xfrm>
            <a:off x="639856" y="2742240"/>
            <a:ext cx="10968960" cy="3564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7B6D3"/>
            </a:solidFill>
          </a:ln>
        </p:spPr>
        <p:txBody>
          <a:bodyPr wrap="square" lIns="182880" tIns="137160" rIns="182880" bIns="13716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단원 핵심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AI는 결과를 빠르게 만들지만, 작품의 의미는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ko-KR" altLang="en-US" sz="1500" b="0" dirty="0">
                <a:solidFill>
                  <a:srgbClr val="4A4A4A"/>
                </a:solidFill>
                <a:latin typeface="Noto Sans KR"/>
                <a:ea typeface="Noto Sans KR"/>
              </a:rPr>
              <a:t>예술가(나)가 직접 고르고 나누고 돌아보는 과정에서 생겨난다.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lang="ko-KR" altLang="en-US" sz="1400" b="1" dirty="0">
                <a:solidFill>
                  <a:srgbClr val="C0378A"/>
                </a:solidFill>
                <a:latin typeface="Noto Sans KR"/>
                <a:ea typeface="Noto Sans KR"/>
              </a:rPr>
              <a:t>3차시 문장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색의 느낌은 곁에 놓인 색에 따라 달라지고,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그 의미를 </a:t>
            </a:r>
            <a:r>
              <a:rPr lang="ko-KR" altLang="en-US" sz="2800" b="1" dirty="0">
                <a:solidFill>
                  <a:srgbClr val="D6336C"/>
                </a:solidFill>
                <a:highlight>
                  <a:srgbClr val="FFF2A8"/>
                </a:highlight>
                <a:latin typeface="Noto Sans KR"/>
                <a:ea typeface="Noto Sans KR"/>
              </a:rPr>
              <a:t>해석</a:t>
            </a:r>
            <a:r>
              <a:rPr lang="ko-KR" altLang="en-US" sz="2800" b="1" dirty="0">
                <a:solidFill>
                  <a:srgbClr val="222222"/>
                </a:solidFill>
                <a:latin typeface="Noto Sans KR"/>
                <a:ea typeface="Noto Sans KR"/>
              </a:rPr>
              <a:t>하는 것은 나의 몫이다.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42183"/>
            <a:ext cx="12192000" cy="5679909"/>
          </a:xfrm>
          <a:prstGeom prst="rect">
            <a:avLst/>
          </a:prstGeom>
        </p:spPr>
      </p:pic>
      <p:sp>
        <p:nvSpPr>
          <p:cNvPr id="19" name="실행 단추: 앞으로 또는 다음 18">
            <a:hlinkClick r:id="rId4" highlightClick="1"/>
          </p:cNvPr>
          <p:cNvSpPr/>
          <p:nvPr/>
        </p:nvSpPr>
        <p:spPr>
          <a:xfrm>
            <a:off x="2929538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6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13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7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안내</a:t>
            </a:r>
          </a:p>
        </p:txBody>
      </p:sp>
      <p:sp>
        <p:nvSpPr>
          <p:cNvPr id="15" name="실행 단추: 앞으로 또는 다음 14">
            <a:hlinkClick r:id="rId3" highlightClick="1"/>
          </p:cNvPr>
          <p:cNvSpPr/>
          <p:nvPr/>
        </p:nvSpPr>
        <p:spPr>
          <a:xfrm>
            <a:off x="2485236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48ABEC-1A95-5781-741E-467693ED2C88}"/>
              </a:ext>
            </a:extLst>
          </p:cNvPr>
          <p:cNvGrpSpPr/>
          <p:nvPr/>
        </p:nvGrpSpPr>
        <p:grpSpPr>
          <a:xfrm>
            <a:off x="0" y="1093755"/>
            <a:ext cx="12192000" cy="5406066"/>
            <a:chOff x="0" y="1093755"/>
            <a:chExt cx="12192000" cy="5406066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1093755"/>
              <a:ext cx="12192000" cy="5406066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2C4133B-EBBD-5748-F9A8-55AC71C231A4}"/>
                </a:ext>
              </a:extLst>
            </p:cNvPr>
            <p:cNvSpPr/>
            <p:nvPr/>
          </p:nvSpPr>
          <p:spPr>
            <a:xfrm>
              <a:off x="5717628" y="3836276"/>
              <a:ext cx="1660634" cy="5465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045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8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질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문하기 — 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색과 면으로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 </a:t>
            </a:r>
            <a:r>
              <a:rPr kumimoji="0" lang="ko-KR" altLang="en-US" b="1" i="0" u="none" baseline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감정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을 그리다</a:t>
            </a:r>
          </a:p>
        </p:txBody>
      </p:sp>
      <p:sp>
        <p:nvSpPr>
          <p:cNvPr id="16" name="실행 단추: 앞으로 또는 다음 15">
            <a:hlinkClick r:id="rId3" highlightClick="1"/>
          </p:cNvPr>
          <p:cNvSpPr/>
          <p:nvPr/>
        </p:nvSpPr>
        <p:spPr>
          <a:xfrm>
            <a:off x="7633619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3" name="그림 2" descr="The image depicts a stylized mountain and ocean made entirely of paper, showcasing a Korean artist's abstract style, inviting viewers to appreciate the grandeur through color alone.">
            <a:extLst>
              <a:ext uri="{FF2B5EF4-FFF2-40B4-BE49-F238E27FC236}">
                <a16:creationId xmlns:a16="http://schemas.microsoft.com/office/drawing/2014/main" id="{4D42D532-F522-423A-20A7-E96BE7A2C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0080"/>
            <a:ext cx="1219200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7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9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289B6E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판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단하기 — 보색 </a:t>
            </a:r>
            <a:r>
              <a:rPr kumimoji="0" lang="en-US" altLang="ko-KR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vs 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유사색 판단하기</a:t>
            </a:r>
          </a:p>
        </p:txBody>
      </p:sp>
      <p:sp>
        <p:nvSpPr>
          <p:cNvPr id="19" name="가로 글상자 18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8"/>
            <a:ext cx="12192000" cy="536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0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8"/>
            <a:ext cx="12192000" cy="5367163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10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9D5CBB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공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감하기 — 습자지 겹쳐 붙이기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</p:spTree>
    <p:extLst>
      <p:ext uri="{BB962C8B-B14F-4D97-AF65-F5344CB8AC3E}">
        <p14:creationId xmlns:p14="http://schemas.microsoft.com/office/powerpoint/2010/main" val="222524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/>
          <a:srcRect l="17920" r="22110"/>
          <a:stretch>
            <a:fillRect/>
          </a:stretch>
        </p:blipFill>
        <p:spPr>
          <a:xfrm>
            <a:off x="9525" y="1142173"/>
            <a:ext cx="5129777" cy="5357648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11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의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미 만들기 — 색깔이 된 감정 나누기</a:t>
            </a:r>
          </a:p>
        </p:txBody>
      </p:sp>
      <p:sp>
        <p:nvSpPr>
          <p:cNvPr id="15" name="가로 글상자 14"/>
          <p:cNvSpPr txBox="1"/>
          <p:nvPr/>
        </p:nvSpPr>
        <p:spPr>
          <a:xfrm>
            <a:off x="5259121" y="2659606"/>
            <a:ext cx="6729807" cy="40233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rmAutofit fontScale="32500" lnSpcReduction="20000"/>
          </a:bodyPr>
          <a:lstStyle/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</a:rPr>
              <a:t>완성된 그림을 잠시 바라보세요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</a:rPr>
              <a:t>.</a:t>
            </a: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cs typeface="나눔바른고딕"/>
              </a:rPr>
              <a:t>이 색들이 여러분에게 </a:t>
            </a:r>
            <a:endParaRPr lang="en-US" altLang="ko-KR" sz="11200" b="0" i="0" u="none" strike="noStrike" baseline="0" dirty="0">
              <a:solidFill>
                <a:srgbClr val="000000"/>
              </a:solidFill>
              <a:cs typeface="나눔바른고딕"/>
            </a:endParaRP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cs typeface="나눔바른고딕"/>
              </a:rPr>
              <a:t>어떤 이야기를 하는 것 같나요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  <a:cs typeface="나눔바른고딕"/>
              </a:rPr>
              <a:t>?</a:t>
            </a:r>
            <a:r>
              <a:rPr lang="ko-KR" altLang="en-US" sz="11200" b="0" i="0" u="none" strike="noStrike" baseline="0" dirty="0">
                <a:solidFill>
                  <a:srgbClr val="000000"/>
                </a:solidFill>
                <a:cs typeface="나눔바른고딕"/>
              </a:rPr>
              <a:t> </a:t>
            </a:r>
            <a:endParaRPr lang="en-US" altLang="ko-KR" sz="11200" b="0" i="0" u="none" strike="noStrike" baseline="0" dirty="0">
              <a:solidFill>
                <a:srgbClr val="000000"/>
              </a:solidFill>
              <a:cs typeface="나눔바른고딕"/>
            </a:endParaRP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200" b="0" i="0" u="none" strike="noStrike" baseline="0" dirty="0">
                <a:solidFill>
                  <a:srgbClr val="000000"/>
                </a:solidFill>
                <a:cs typeface="나눔바른고딕"/>
              </a:rPr>
              <a:t>왜 그렇게 느꼈나요</a:t>
            </a:r>
            <a:r>
              <a:rPr lang="en-US" altLang="ko-KR" sz="11200" b="0" i="0" u="none" strike="noStrike" baseline="0" dirty="0">
                <a:solidFill>
                  <a:srgbClr val="000000"/>
                </a:solidFill>
                <a:cs typeface="나눔바른고딕"/>
              </a:rPr>
              <a:t>?</a:t>
            </a:r>
          </a:p>
          <a:p>
            <a:pPr marL="203200" lvl="0" indent="-10160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1200" b="0" i="0" u="none" strike="noStrike" baseline="0" dirty="0">
              <a:solidFill>
                <a:srgbClr val="000000"/>
              </a:solidFill>
              <a:cs typeface="나눔바른고딕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206231" y="1768324"/>
            <a:ext cx="6835588" cy="4416358"/>
          </a:xfrm>
          <a:prstGeom prst="ellipse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가로 글상자 19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</p:spTree>
    <p:extLst>
      <p:ext uri="{BB962C8B-B14F-4D97-AF65-F5344CB8AC3E}">
        <p14:creationId xmlns:p14="http://schemas.microsoft.com/office/powerpoint/2010/main" val="423747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892019" y="1991960"/>
            <a:ext cx="7245564" cy="3659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보색과 유사색 중 감정에 어울리는 색을 판단하고 색의 관계를 해석함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유영국처럼 구체적인 형태 없이 색과 면만으로 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감정을 표현함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  <a:sym typeface="Wingdings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□ 다음 시간 예고: 자연이 된 스티로폼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준비물: 스티로폼, 조각칼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사포</a:t>
            </a:r>
            <a:r>
              <a:rPr kumimoji="1" lang="en-US" altLang="ko-KR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장갑</a:t>
            </a:r>
          </a:p>
        </p:txBody>
      </p:sp>
      <p:pic>
        <p:nvPicPr>
          <p:cNvPr id="14" name="그림 13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8304804" y="1945608"/>
            <a:ext cx="2990395" cy="365933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9021BC8-F3CE-1202-AD92-2230C3C719EF}"/>
              </a:ext>
            </a:extLst>
          </p:cNvPr>
          <p:cNvSpPr/>
          <p:nvPr/>
        </p:nvSpPr>
        <p:spPr>
          <a:xfrm>
            <a:off x="9008062" y="5783680"/>
            <a:ext cx="264093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 AI(Google Gemini)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생성한 이미지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827</Words>
  <Application>Microsoft Office PowerPoint</Application>
  <PresentationFormat>와이드스크린</PresentationFormat>
  <Paragraphs>111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Noto Sans KR Medium</vt:lpstr>
      <vt:lpstr>고양덕양 EB</vt:lpstr>
      <vt:lpstr>Arial</vt:lpstr>
      <vt:lpstr>나눔바른고딕</vt:lpstr>
      <vt:lpstr>함초롬돋움</vt:lpstr>
      <vt:lpstr>Noto Sans KR Black</vt:lpstr>
      <vt:lpstr>땅스부대찌개 Bold</vt:lpstr>
      <vt:lpstr>나눔스퀘어 ExtraBold</vt:lpstr>
      <vt:lpstr>Noto Sans KR</vt:lpstr>
      <vt:lpstr>에스코어 드림 8 Heavy</vt:lpstr>
      <vt:lpstr>Office Theme</vt:lpstr>
      <vt:lpstr>PowerPoint 프레젠테이션</vt:lpstr>
      <vt:lpstr>PowerPoint 프레젠테이션</vt:lpstr>
      <vt:lpstr>색깔이 된 감정</vt:lpstr>
      <vt:lpstr>예술가의 비밀 무기</vt:lpstr>
      <vt:lpstr>예술가의 비밀 무기</vt:lpstr>
      <vt:lpstr>AI는? 나는?</vt:lpstr>
      <vt:lpstr>활동 안내</vt:lpstr>
      <vt:lpstr>질문하기 — 색과 면으로 감정을 그리다</vt:lpstr>
      <vt:lpstr>판단하기 — 보색 vs 유사색 판단하기</vt:lpstr>
      <vt:lpstr>공감하기 — 습자지 겹쳐 붙이기</vt:lpstr>
      <vt:lpstr>의미 만들기 — 색깔이 된 감정 나누기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132</cp:revision>
  <dcterms:created xsi:type="dcterms:W3CDTF">2026-07-09T22:35:37Z</dcterms:created>
  <dcterms:modified xsi:type="dcterms:W3CDTF">2026-10-27T15:57:58Z</dcterms:modified>
  <cp:version/>
</cp:coreProperties>
</file>