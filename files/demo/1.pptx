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sldIdLst>
    <p:sldId id="264" r:id="rId2"/>
    <p:sldId id="265" r:id="rId3"/>
    <p:sldId id="280" r:id="rId4"/>
    <p:sldId id="268" r:id="rId5"/>
    <p:sldId id="279" r:id="rId6"/>
    <p:sldId id="272" r:id="rId7"/>
    <p:sldId id="275" r:id="rId8"/>
    <p:sldId id="276" r:id="rId9"/>
    <p:sldId id="277" r:id="rId10"/>
    <p:sldId id="278" r:id="rId11"/>
    <p:sldId id="269" r:id="rId12"/>
    <p:sldId id="270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4">
          <p15:clr>
            <a:srgbClr val="A4A3A4"/>
          </p15:clr>
        </p15:guide>
        <p15:guide id="2" pos="383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33">
          <p15:clr>
            <a:srgbClr val="A4A3A4"/>
          </p15:clr>
        </p15:guide>
        <p15:guide id="2" pos="215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3" autoAdjust="0"/>
    <p:restoredTop sz="67378"/>
  </p:normalViewPr>
  <p:slideViewPr>
    <p:cSldViewPr snapToGrid="0" snapToObjects="1">
      <p:cViewPr varScale="1">
        <p:scale>
          <a:sx n="46" d="100"/>
          <a:sy n="46" d="100"/>
        </p:scale>
        <p:origin x="1293" y="24"/>
      </p:cViewPr>
      <p:guideLst>
        <p:guide orient="horz" pos="2154"/>
        <p:guide pos="3834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3833"/>
        <p:guide pos="2153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36767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[6미02-04] 주제 표현에 의지를 갖고 표현 과정을 돌아보며 작품을 발전시킬 수 있다.</a:t>
            </a:r>
          </a:p>
        </p:txBody>
      </p:sp>
    </p:spTree>
    <p:extLst>
      <p:ext uri="{BB962C8B-B14F-4D97-AF65-F5344CB8AC3E}">
        <p14:creationId xmlns:p14="http://schemas.microsoft.com/office/powerpoint/2010/main" val="4104098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3051A-FA3D-809B-1393-FA75A9D43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90091E-AA53-C146-8476-CBF466A1B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2A4DD3-FA4B-FCC8-7120-FA49106BE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https://youtube.com/shorts/ZOWcQH3vgkg?feature=share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EBAB47-6B0F-476F-C21D-4E3CA9B267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1509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예술가(나)는 다양한 관점에서 생각하고 [판단]할 수 있다.</a:t>
            </a:r>
          </a:p>
          <a:p>
            <a:endParaRPr/>
          </a:p>
          <a:p>
            <a:r>
              <a:t>핵심 문장 [빈칸] 추론하기</a:t>
            </a:r>
          </a:p>
          <a:p>
            <a:r>
              <a:t>•교사: “오늘의 목표는 평범한 병뚜껑에 내 의도를 담아 나만의 표현 도구로 스스로 정하고 완성하는 거예요.”</a:t>
            </a:r>
          </a:p>
          <a:p>
            <a:r>
              <a:t>(정답 '판단'은 학생들이 추론한 뒤 확인한다.)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노트 개체 틀 1">
            <a:extLst>
              <a:ext uri="{FF2B5EF4-FFF2-40B4-BE49-F238E27FC236}">
                <a16:creationId xmlns:a16="http://schemas.microsoft.com/office/drawing/2014/main" id="{30BF3816-016B-2B87-DA72-BF89B18F1B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t>AI는? 나는? https://youtu.be/_t8m-yB_8gc</a:t>
            </a:r>
          </a:p>
          <a:p>
            <a:endParaRPr/>
          </a:p>
          <a:p>
            <a:r>
              <a:t>AI는 명령 한 줄로 그럴듯한 이미지나 물건 디자인을 순식간에 만들어 낸다.</a:t>
            </a:r>
          </a:p>
          <a:p>
            <a:r>
              <a:t>나는 뚜껑 하나를 손에 쥐고, 어떤 모양으로 나를 표현할지 스스로 고민하고 결정한다.</a:t>
            </a:r>
          </a:p>
          <a:p>
            <a:r>
              <a:t>→ 무엇을 만들지 스스로 판단하고 완성하는 것, 이것이 예술가의 힘이다.</a:t>
            </a:r>
          </a:p>
        </p:txBody>
      </p:sp>
    </p:spTree>
    <p:extLst>
      <p:ext uri="{BB962C8B-B14F-4D97-AF65-F5344CB8AC3E}">
        <p14:creationId xmlns:p14="http://schemas.microsoft.com/office/powerpoint/2010/main" val="29119249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수업의 흐름 (40분)</a:t>
            </a:r>
          </a:p>
          <a:p>
            <a:r>
              <a:t>질문하기(5분) → 판단하기(15분) → 공감하기(10분) → 의미 만들기(10분)</a:t>
            </a:r>
          </a:p>
          <a:p>
            <a:r>
              <a:t>※ 1차시(판단)는 ‘판단하기’ 비중이 가장 크다. 병뚜껑 겉면에 어떤 그림을 그릴지, 손잡이로 접을 색종이는 어떤 색을 고를지 스스로 결정하는 것이 이 차시의 핵심이기 때문이다.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432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작가 홈페이지 https://www.banksy.co.uk/</a:t>
            </a:r>
          </a:p>
          <a:p>
            <a:r>
              <a:t>뱅크시는 아무도 눈여겨보지 않던 벽을, 그림을 그리는 순간 저항과 목소리를 담은 강력한 도구로 바꿔 놓았다.</a:t>
            </a:r>
          </a:p>
          <a:p>
            <a:endParaRPr/>
          </a:p>
          <a:p>
            <a:r>
              <a:t>•교사: (병뚜껑 여러 개를 보여 주며) “여러분, 이 작은 병뚜껑이 나만의 무기가 될 수 있을까요? 뱅크시는 아무도 신경 쓰지 않던 벽에 그림을 그려서 세상에서 가장 힘 있는 목소리로 만들었어요. 우리는 이 병뚜껑으로 그런 일을 해 볼 거예요.”</a:t>
            </a:r>
          </a:p>
          <a:p>
            <a:r>
              <a:t>[유의점] 뱅크시의 실제 작품은 QR(공식 누리집)로 함께 본다.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102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병뚜껑 팽이 만들기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•병뚜껑 겉면에 어떤 그림을 그릴지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손잡이로 접을 색종이는 어떤 색으로 고를지 스스로 판단해 계획하고 제작한다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색종이 접기는 뒷면 도안을 참고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색종이 대신 활동지에 직접 그림을 그려서 사용해도 된다고 안내한다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•교사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활동지에 나온 도안을 보고 손잡이를 접어요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•교사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병뚜껑 겉면에는 어떤 그림을 그리고 싶나요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색은요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정해진 답은 없어요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왜 그렇게 골랐는지 이유만 있으면 됩니다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3430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서로의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팽이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살펴보기</a:t>
            </a:r>
            <a:endParaRPr b="0" i="0" u="none" strike="noStrike" baseline="0" dirty="0">
              <a:solidFill>
                <a:srgbClr val="000000"/>
              </a:solidFill>
              <a:latin typeface="고양덕양 EB"/>
              <a:ea typeface="고양덕양 EB"/>
              <a:cs typeface="고양덕양 EB"/>
            </a:endParaRP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모둠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안에서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완성한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팽이를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서로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돌려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고른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그림과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담긴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의미를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헤아려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본다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이렇게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만들었을까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?”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를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추측해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설명과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비교해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본다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팽이를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한번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돌려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보세요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잘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회전하나요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그리고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왜 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고르고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그림을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그렸을지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짐작해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봅시다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진짜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이유를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친구에게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물어보세요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9171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 err="1"/>
              <a:t>Photo</a:t>
            </a:r>
            <a:r>
              <a:rPr lang="ko-KR" altLang="en-US" dirty="0"/>
              <a:t> </a:t>
            </a:r>
            <a:r>
              <a:rPr lang="ko-KR" altLang="en-US" dirty="0" err="1"/>
              <a:t>by</a:t>
            </a:r>
            <a:r>
              <a:rPr lang="ko-KR" altLang="en-US" dirty="0"/>
              <a:t> 장혜림 직접 촬영 (</a:t>
            </a:r>
            <a:r>
              <a:rPr lang="ko-KR" altLang="en-US" dirty="0" err="1"/>
              <a:t>뱅크시전</a:t>
            </a:r>
            <a:r>
              <a:rPr lang="ko-KR" altLang="en-US" dirty="0"/>
              <a:t>, </a:t>
            </a:r>
            <a:r>
              <a:rPr lang="ko-KR" altLang="en-US" dirty="0" err="1"/>
              <a:t>더현대</a:t>
            </a:r>
            <a:r>
              <a:rPr lang="ko-KR" altLang="en-US" dirty="0"/>
              <a:t> 서울)</a:t>
            </a:r>
          </a:p>
          <a:p>
            <a:pPr lvl="0">
              <a:defRPr/>
            </a:pPr>
            <a:endParaRPr lang="ko-KR" altLang="en-US" dirty="0"/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뱅크시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벽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</a:rPr>
              <a:t>(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무기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</a:rPr>
              <a:t>)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선언하기</a:t>
            </a:r>
            <a:endParaRPr b="0" i="0" u="none" strike="noStrike" baseline="0" dirty="0">
              <a:solidFill>
                <a:srgbClr val="000000"/>
              </a:solidFill>
              <a:latin typeface="고양덕양 EB"/>
              <a:ea typeface="고양덕양 EB"/>
              <a:cs typeface="고양덕양 EB"/>
            </a:endParaRP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완성한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팽이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옆에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짧은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선언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카드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(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이렇게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만들었는지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무엇을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표현했는지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)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를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적어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함께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게시한다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학급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상황에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따라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통합학습창을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사용하거나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클래스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보드에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사진으로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게시한다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팽이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옆에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카드를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하나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적어볼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거예요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‘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이것이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무기다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왜냐하면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...’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이렇게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시작해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보세요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86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형성평가</a:t>
            </a:r>
          </a:p>
          <a:p>
            <a:r>
              <a:rPr dirty="0"/>
              <a:t>•</a:t>
            </a:r>
            <a:r>
              <a:rPr dirty="0" err="1"/>
              <a:t>예술가</a:t>
            </a:r>
            <a:r>
              <a:rPr dirty="0"/>
              <a:t>(나)는 </a:t>
            </a:r>
            <a:r>
              <a:rPr dirty="0" err="1"/>
              <a:t>다양한</a:t>
            </a:r>
            <a:r>
              <a:rPr dirty="0"/>
              <a:t> </a:t>
            </a:r>
            <a:r>
              <a:rPr dirty="0" err="1"/>
              <a:t>관점에서</a:t>
            </a:r>
            <a:r>
              <a:rPr dirty="0"/>
              <a:t> </a:t>
            </a:r>
            <a:r>
              <a:rPr dirty="0" err="1"/>
              <a:t>생각하고</a:t>
            </a:r>
            <a:r>
              <a:rPr dirty="0"/>
              <a:t> [</a:t>
            </a:r>
            <a:r>
              <a:rPr dirty="0" err="1"/>
              <a:t>판단</a:t>
            </a:r>
            <a:r>
              <a:rPr dirty="0"/>
              <a:t>]할 수 </a:t>
            </a:r>
            <a:r>
              <a:rPr dirty="0" err="1"/>
              <a:t>있다</a:t>
            </a:r>
            <a:r>
              <a:rPr dirty="0"/>
              <a:t>.</a:t>
            </a:r>
          </a:p>
          <a:p>
            <a:r>
              <a:rPr dirty="0"/>
              <a:t>•</a:t>
            </a:r>
            <a:r>
              <a:rPr dirty="0" err="1"/>
              <a:t>병뚜껑</a:t>
            </a:r>
            <a:r>
              <a:rPr dirty="0"/>
              <a:t> </a:t>
            </a:r>
            <a:r>
              <a:rPr dirty="0" err="1"/>
              <a:t>팽이의</a:t>
            </a:r>
            <a:r>
              <a:rPr dirty="0"/>
              <a:t> </a:t>
            </a:r>
            <a:r>
              <a:rPr dirty="0" err="1"/>
              <a:t>손잡이를</a:t>
            </a:r>
            <a:r>
              <a:rPr dirty="0"/>
              <a:t> </a:t>
            </a:r>
            <a:r>
              <a:rPr dirty="0" err="1"/>
              <a:t>만들</a:t>
            </a:r>
            <a:r>
              <a:rPr dirty="0"/>
              <a:t> 때, </a:t>
            </a:r>
            <a:r>
              <a:rPr dirty="0" err="1"/>
              <a:t>색종이를</a:t>
            </a:r>
            <a:r>
              <a:rPr dirty="0"/>
              <a:t> 세 번 </a:t>
            </a:r>
            <a:r>
              <a:rPr dirty="0" err="1"/>
              <a:t>접는</a:t>
            </a:r>
            <a:r>
              <a:rPr dirty="0"/>
              <a:t> </a:t>
            </a:r>
            <a:r>
              <a:rPr dirty="0" err="1"/>
              <a:t>과정에서</a:t>
            </a:r>
            <a:r>
              <a:rPr dirty="0"/>
              <a:t> </a:t>
            </a:r>
            <a:r>
              <a:rPr dirty="0" err="1"/>
              <a:t>나타나는</a:t>
            </a:r>
            <a:r>
              <a:rPr dirty="0"/>
              <a:t> </a:t>
            </a:r>
            <a:r>
              <a:rPr dirty="0" err="1"/>
              <a:t>조형</a:t>
            </a:r>
            <a:r>
              <a:rPr dirty="0"/>
              <a:t> </a:t>
            </a:r>
            <a:r>
              <a:rPr dirty="0" err="1"/>
              <a:t>원리는</a:t>
            </a:r>
            <a:r>
              <a:rPr dirty="0"/>
              <a:t> [</a:t>
            </a:r>
            <a:r>
              <a:rPr dirty="0" err="1"/>
              <a:t>반복</a:t>
            </a:r>
            <a:r>
              <a:rPr dirty="0"/>
              <a:t>]</a:t>
            </a:r>
            <a:r>
              <a:rPr dirty="0" err="1"/>
              <a:t>이다</a:t>
            </a:r>
            <a:r>
              <a:rPr dirty="0"/>
              <a:t>.</a:t>
            </a:r>
          </a:p>
          <a:p>
            <a:r>
              <a:rPr dirty="0"/>
              <a:t>•</a:t>
            </a:r>
            <a:r>
              <a:rPr dirty="0" err="1"/>
              <a:t>AI는</a:t>
            </a:r>
            <a:r>
              <a:rPr dirty="0"/>
              <a:t> </a:t>
            </a:r>
            <a:r>
              <a:rPr dirty="0" err="1"/>
              <a:t>명령</a:t>
            </a:r>
            <a:r>
              <a:rPr dirty="0"/>
              <a:t> 한 </a:t>
            </a:r>
            <a:r>
              <a:rPr dirty="0" err="1"/>
              <a:t>줄로</a:t>
            </a:r>
            <a:r>
              <a:rPr dirty="0"/>
              <a:t> </a:t>
            </a:r>
            <a:r>
              <a:rPr dirty="0" err="1"/>
              <a:t>순식간에</a:t>
            </a:r>
            <a:r>
              <a:rPr dirty="0"/>
              <a:t> </a:t>
            </a:r>
            <a:r>
              <a:rPr dirty="0" err="1"/>
              <a:t>디자인을</a:t>
            </a:r>
            <a:r>
              <a:rPr dirty="0"/>
              <a:t> </a:t>
            </a:r>
            <a:r>
              <a:rPr dirty="0" err="1"/>
              <a:t>만들고</a:t>
            </a:r>
            <a:r>
              <a:rPr dirty="0"/>
              <a:t>, </a:t>
            </a:r>
            <a:r>
              <a:rPr dirty="0" err="1"/>
              <a:t>나는</a:t>
            </a:r>
            <a:r>
              <a:rPr dirty="0"/>
              <a:t> </a:t>
            </a:r>
            <a:r>
              <a:rPr dirty="0" err="1"/>
              <a:t>병뚜껑을</a:t>
            </a:r>
            <a:r>
              <a:rPr dirty="0"/>
              <a:t> </a:t>
            </a:r>
            <a:r>
              <a:rPr dirty="0" err="1"/>
              <a:t>손에</a:t>
            </a:r>
            <a:r>
              <a:rPr dirty="0"/>
              <a:t> </a:t>
            </a:r>
            <a:r>
              <a:rPr dirty="0" err="1"/>
              <a:t>쥐고</a:t>
            </a:r>
            <a:r>
              <a:rPr dirty="0"/>
              <a:t> </a:t>
            </a:r>
            <a:r>
              <a:rPr dirty="0" err="1"/>
              <a:t>스스로</a:t>
            </a:r>
            <a:r>
              <a:rPr dirty="0"/>
              <a:t> </a:t>
            </a:r>
            <a:r>
              <a:rPr dirty="0" err="1"/>
              <a:t>고민하며</a:t>
            </a:r>
            <a:r>
              <a:rPr dirty="0"/>
              <a:t> </a:t>
            </a:r>
            <a:r>
              <a:rPr dirty="0" err="1"/>
              <a:t>결정한다</a:t>
            </a:r>
            <a:r>
              <a:rPr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다음 시간 안내하기</a:t>
            </a:r>
          </a:p>
          <a:p>
            <a:r>
              <a:t>•교사: “다음 시간에는 [자연과 만난 병뚜껑] 수업을 하겠습니다.”</a:t>
            </a:r>
          </a:p>
          <a:p>
            <a:r>
              <a:t>준비물: 지점토, 색한지, 도화지, 가위, 테이프, 이쑤시개</a:t>
            </a:r>
          </a:p>
        </p:txBody>
      </p:sp>
    </p:spTree>
    <p:extLst>
      <p:ext uri="{BB962C8B-B14F-4D97-AF65-F5344CB8AC3E}">
        <p14:creationId xmlns:p14="http://schemas.microsoft.com/office/powerpoint/2010/main" val="9868106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be.com/shorts/ZOWcQH3vgkg?feature=share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youtu.be/_t8m-yB_8gc?si=4wpNPeZs73k5MZRJ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://www.banksy.co.uk" TargetMode="Externa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판단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1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33" name="가로 글상자 32"/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놀이로 만난 병뚜껑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592" y="2481181"/>
            <a:ext cx="8224617" cy="2003945"/>
            <a:chOff x="3017908" y="1749585"/>
            <a:chExt cx="5334710" cy="734524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908" y="1749585"/>
              <a:ext cx="4719608" cy="304593"/>
              <a:chOff x="1397760" y="2052189"/>
              <a:chExt cx="5577814" cy="359976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45" y="2052189"/>
                <a:ext cx="5062629" cy="359976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병뚜껑에 그릴 그림과 색을 스스로 판단해 작품을 완성할 수 있다</a:t>
                </a:r>
                <a:r>
                  <a:rPr lang="en-US" altLang="ko-KR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19" y="2270881"/>
              <a:ext cx="5334699" cy="213228"/>
              <a:chOff x="1397760" y="2714548"/>
              <a:chExt cx="6304745" cy="252000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3" y="2745060"/>
                <a:ext cx="5789551" cy="196403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완성한 작품에 담긴 의미를 친구와 나눌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F7BA5-B205-3FC0-71E2-F1C0A76DD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>
            <a:extLst>
              <a:ext uri="{FF2B5EF4-FFF2-40B4-BE49-F238E27FC236}">
                <a16:creationId xmlns:a16="http://schemas.microsoft.com/office/drawing/2014/main" id="{2198D0E7-553D-1FFF-9875-D9000B4425A6}"/>
              </a:ext>
            </a:extLst>
          </p:cNvPr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CB48F43-E51D-2ED4-1BB9-8693FDD32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9F4F1C8-2678-65A7-DADF-E82A3C344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놀이로 만난 병뚜껑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1E74447-BD54-C00D-9DB1-3FA9D4BA9DED}"/>
              </a:ext>
            </a:extLst>
          </p:cNvPr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pic>
        <p:nvPicPr>
          <p:cNvPr id="6" name="그림 5" descr="The image shows a simple plastic bottle with a bold, Korean-language message encouraging creativity and judgment.&#10;&#10;AI 생성 콘텐츠는 정확하지 않을 수 있습니다.">
            <a:extLst>
              <a:ext uri="{FF2B5EF4-FFF2-40B4-BE49-F238E27FC236}">
                <a16:creationId xmlns:a16="http://schemas.microsoft.com/office/drawing/2014/main" id="{E3335DC7-CC58-DEEE-15A6-839ADD269A3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44023"/>
            <a:ext cx="12192000" cy="540765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271BEFDE-C50E-6B6E-2967-10A8598078C9}"/>
              </a:ext>
            </a:extLst>
          </p:cNvPr>
          <p:cNvSpPr/>
          <p:nvPr/>
        </p:nvSpPr>
        <p:spPr>
          <a:xfrm>
            <a:off x="4194133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7178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34816"/>
            <a:ext cx="12167550" cy="536500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4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2B8AC7B-2DF0-282D-A2C7-4AF33B7083A0}"/>
              </a:ext>
            </a:extLst>
          </p:cNvPr>
          <p:cNvGrpSpPr/>
          <p:nvPr/>
        </p:nvGrpSpPr>
        <p:grpSpPr>
          <a:xfrm>
            <a:off x="1147483" y="3331143"/>
            <a:ext cx="5933909" cy="2700824"/>
            <a:chOff x="2589517" y="2870101"/>
            <a:chExt cx="2942985" cy="1965157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776789A-3873-2CCC-DD61-633F9E904349}"/>
                </a:ext>
              </a:extLst>
            </p:cNvPr>
            <p:cNvSpPr/>
            <p:nvPr/>
          </p:nvSpPr>
          <p:spPr>
            <a:xfrm>
              <a:off x="2589517" y="2966037"/>
              <a:ext cx="2942985" cy="17903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" name="그래픽 2" descr="휘갈겨 쓰다 윤곽선">
              <a:extLst>
                <a:ext uri="{FF2B5EF4-FFF2-40B4-BE49-F238E27FC236}">
                  <a16:creationId xmlns:a16="http://schemas.microsoft.com/office/drawing/2014/main" id="{3DDFA997-BEF9-22E7-5136-9627838E04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078432" y="2870101"/>
              <a:ext cx="1965157" cy="1965157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34881"/>
            <a:ext cx="12192000" cy="536494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21422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139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53866"/>
            <a:ext cx="12167550" cy="536500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</p:spTree>
    <p:extLst>
      <p:ext uri="{BB962C8B-B14F-4D97-AF65-F5344CB8AC3E}">
        <p14:creationId xmlns:p14="http://schemas.microsoft.com/office/powerpoint/2010/main" val="780456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The image depicts a wall, on which an anonymous artist has painted, symbolizing Banksy's powerful use of graffiti to express resistance and voice.&#10;&#10;AI 생성 콘텐츠는 정확하지 않을 수 있습니다.">
            <a:extLst>
              <a:ext uri="{FF2B5EF4-FFF2-40B4-BE49-F238E27FC236}">
                <a16:creationId xmlns:a16="http://schemas.microsoft.com/office/drawing/2014/main" id="{111C2715-01FA-8887-8597-D725704C0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57994"/>
            <a:ext cx="12192000" cy="5417988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 — 병뚜껑도 뱅크시의 </a:t>
            </a: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벽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이 될 수 있을까?</a:t>
            </a:r>
            <a:endParaRPr lang="ko-KR" altLang="en-US" b="1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5" name="그림 14">
            <a:hlinkClick r:id="" action="ppaction://noaction"/>
          </p:cNvPr>
          <p:cNvPicPr>
            <a:picLocks noChangeAspect="1"/>
          </p:cNvPicPr>
          <p:nvPr/>
        </p:nvPicPr>
        <p:blipFill rotWithShape="1">
          <a:blip r:embed="rId4">
            <a:lum/>
          </a:blip>
          <a:stretch>
            <a:fillRect/>
          </a:stretch>
        </p:blipFill>
        <p:spPr>
          <a:xfrm>
            <a:off x="966351" y="1533069"/>
            <a:ext cx="2581467" cy="2372858"/>
          </a:xfrm>
          <a:prstGeom prst="rect">
            <a:avLst/>
          </a:prstGeom>
          <a:noFill/>
          <a:ln>
            <a:noFill/>
          </a:ln>
          <a:effectLst>
            <a:outerShdw blurRad="127000" dist="127484" dir="2700000" algn="br">
              <a:srgbClr val="000000">
                <a:alpha val="40000"/>
              </a:srgbClr>
            </a:outerShdw>
          </a:effectLst>
        </p:spPr>
      </p:pic>
      <p:sp>
        <p:nvSpPr>
          <p:cNvPr id="16" name="실행 단추: 앞으로 또는 다음 15">
            <a:hlinkClick r:id="rId5" highlightClick="1"/>
          </p:cNvPr>
          <p:cNvSpPr/>
          <p:nvPr/>
        </p:nvSpPr>
        <p:spPr>
          <a:xfrm>
            <a:off x="9628986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73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34816"/>
            <a:ext cx="12167550" cy="536500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병뚜껑 팽이 만들기</a:t>
            </a:r>
            <a:endParaRPr lang="ko-KR" altLang="en-US" b="1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72604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서로의 팽이 살펴보기</a:t>
            </a:r>
            <a:endParaRPr lang="ko-KR" altLang="en-US" b="1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5" name="가로 글상자 14"/>
          <p:cNvSpPr txBox="1"/>
          <p:nvPr/>
        </p:nvSpPr>
        <p:spPr>
          <a:xfrm>
            <a:off x="4669582" y="2041135"/>
            <a:ext cx="6367886" cy="348714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chemeClr val="tx1"/>
                </a:solidFill>
                <a:latin typeface="Noto Sans KR Medium"/>
                <a:ea typeface="Noto Sans KR Medium"/>
              </a:rPr>
              <a:t>   모둠 안에서 완성한 팽이를 돌려보며, </a:t>
            </a:r>
          </a:p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chemeClr val="tx1"/>
                </a:solidFill>
                <a:latin typeface="Noto Sans KR Medium"/>
                <a:ea typeface="Noto Sans KR Medium"/>
              </a:rPr>
              <a:t>친구가 고른 그림과 색에 담긴 의미를 </a:t>
            </a:r>
          </a:p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chemeClr val="tx1"/>
                </a:solidFill>
                <a:latin typeface="Noto Sans KR Medium"/>
                <a:ea typeface="Noto Sans KR Medium"/>
              </a:rPr>
              <a:t>헤아려 봅시다.</a:t>
            </a:r>
            <a:endParaRPr kumimoji="1" lang="ko-KR" altLang="en-US" sz="2800" b="0" i="0" u="none" baseline="0">
              <a:solidFill>
                <a:srgbClr val="FFFFFF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220691" lvl="0" indent="-220691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>
                <a:srgbClr val="2C2C2A">
                  <a:alpha val="100000"/>
                </a:srgbClr>
              </a:buClr>
              <a:buSzPct val="100000"/>
              <a:buFont typeface="Calibri"/>
              <a:buChar char="•"/>
              <a:defRPr/>
            </a:pPr>
            <a:endParaRPr kumimoji="1" lang="ko-KR" altLang="en-US" sz="28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220691" lvl="0" indent="-220691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>
                <a:srgbClr val="2C2C2A">
                  <a:alpha val="100000"/>
                </a:srgbClr>
              </a:buClr>
              <a:buSzPct val="100000"/>
              <a:buFont typeface="Calibri"/>
              <a:buChar char="•"/>
              <a:defRPr/>
            </a:pP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교사용 유의점(삭제) - 유의점: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"왜 이렇게 만들었을까?"를 추측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친구가 만든 의도와 내 생각 비교</a:t>
            </a: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519761" y="1819739"/>
            <a:ext cx="3937605" cy="39299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타원 16"/>
          <p:cNvSpPr/>
          <p:nvPr/>
        </p:nvSpPr>
        <p:spPr>
          <a:xfrm>
            <a:off x="4677755" y="1601040"/>
            <a:ext cx="6835588" cy="2318216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E88AA7A-8823-1468-3300-99722A481C5A}"/>
              </a:ext>
            </a:extLst>
          </p:cNvPr>
          <p:cNvSpPr/>
          <p:nvPr/>
        </p:nvSpPr>
        <p:spPr>
          <a:xfrm>
            <a:off x="1483141" y="6153940"/>
            <a:ext cx="201084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직접 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촬영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(</a:t>
            </a:r>
            <a:r>
              <a:rPr lang="ko-KR" altLang="en-US"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캔바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2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차 가공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25247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뱅크시 벽(무기) 선언하기</a:t>
            </a:r>
            <a:endParaRPr lang="ko-KR" altLang="en-US" b="1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5" name="가로 글상자 14"/>
          <p:cNvSpPr txBox="1"/>
          <p:nvPr/>
        </p:nvSpPr>
        <p:spPr>
          <a:xfrm>
            <a:off x="4620351" y="2061787"/>
            <a:ext cx="6729807" cy="3866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rmAutofit lnSpcReduction="10000"/>
          </a:bodyPr>
          <a:lstStyle/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rgbClr val="FFFFFF">
                    <a:alpha val="100000"/>
                  </a:srgbClr>
                </a:solidFill>
                <a:latin typeface="Noto Sans KR Medium"/>
                <a:ea typeface="Noto Sans KR Medium"/>
              </a:rPr>
              <a:t>   </a:t>
            </a:r>
            <a:r>
              <a:rPr kumimoji="1" lang="ko-KR" altLang="en-US" sz="2800" b="0" i="0" u="none" baseline="0">
                <a:solidFill>
                  <a:schemeClr val="tx1"/>
                </a:solidFill>
                <a:latin typeface="Noto Sans KR Medium"/>
                <a:ea typeface="Noto Sans KR Medium"/>
              </a:rPr>
              <a:t>완성한 팽이 옆에 선언 카드</a:t>
            </a:r>
          </a:p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chemeClr val="tx1"/>
                </a:solidFill>
                <a:latin typeface="Noto Sans KR Medium"/>
                <a:ea typeface="Noto Sans KR Medium"/>
              </a:rPr>
              <a:t>(왜 이렇게 만들었는지, 무엇을 표현했는지)</a:t>
            </a:r>
          </a:p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chemeClr val="tx1"/>
                </a:solidFill>
                <a:latin typeface="Noto Sans KR Medium"/>
                <a:ea typeface="Noto Sans KR Medium"/>
              </a:rPr>
              <a:t>적어 게시해봅시다.</a:t>
            </a:r>
            <a:endParaRPr kumimoji="1" lang="ko-KR" altLang="en-US" sz="2800" b="0" i="0" u="none" baseline="0">
              <a:solidFill>
                <a:srgbClr val="FFFFFF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800" b="0" i="0" u="none" baseline="0">
              <a:solidFill>
                <a:srgbClr val="FFFFFF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220691" lvl="0" indent="-220691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>
                <a:srgbClr val="2C2C2A">
                  <a:alpha val="100000"/>
                </a:srgbClr>
              </a:buClr>
              <a:buSzPct val="100000"/>
              <a:buFont typeface="Calibri"/>
              <a:buChar char="•"/>
              <a:defRPr/>
            </a:pP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교사용 유의점(삭제) - 유의점: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관찰평가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재료 탐색과 자기 의도 반영 정도를 관찰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3"/>
          <a:srcRect b="28290"/>
          <a:stretch>
            <a:fillRect/>
          </a:stretch>
        </p:blipFill>
        <p:spPr>
          <a:xfrm>
            <a:off x="455733" y="1312334"/>
            <a:ext cx="3861614" cy="4917981"/>
          </a:xfrm>
          <a:prstGeom prst="rect">
            <a:avLst/>
          </a:prstGeom>
        </p:spPr>
      </p:pic>
      <p:sp>
        <p:nvSpPr>
          <p:cNvPr id="18" name="타원 17"/>
          <p:cNvSpPr/>
          <p:nvPr/>
        </p:nvSpPr>
        <p:spPr>
          <a:xfrm>
            <a:off x="4677755" y="1601040"/>
            <a:ext cx="6835588" cy="2318216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455733" y="6246507"/>
            <a:ext cx="4621531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직접 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촬영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(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뱅크시전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, 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더현대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서울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, 2026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37477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8045593" y="1966563"/>
            <a:ext cx="3233118" cy="359342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가로 글상자 11"/>
          <p:cNvSpPr txBox="1"/>
          <p:nvPr/>
        </p:nvSpPr>
        <p:spPr>
          <a:xfrm>
            <a:off x="892019" y="1991960"/>
            <a:ext cx="7245564" cy="365933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평범한 병뚜껑에 내 의도를 담아 나만의 팽이를 주체적으로 완성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뱅크시처럼 아무도 신경 쓰지 않던 것을 나만의 표현 도구로 바꿈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□ 다음 시간 예고: 자연과 만난 병뚜껑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준비물: 병뚜껑</a:t>
            </a:r>
            <a:r>
              <a:rPr kumimoji="1" lang="en-US" altLang="ko-KR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지점토, </a:t>
            </a:r>
            <a:r>
              <a:rPr kumimoji="1" lang="ko-KR" altLang="en-US" sz="2500" b="0" i="0" u="none" baseline="0" dirty="0" err="1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색한지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 가위, 테이프, 이쑤시개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5DFBBB8-28D9-896D-8372-0DB418B61EFF}"/>
              </a:ext>
            </a:extLst>
          </p:cNvPr>
          <p:cNvSpPr/>
          <p:nvPr/>
        </p:nvSpPr>
        <p:spPr>
          <a:xfrm>
            <a:off x="9008062" y="5783680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838</Words>
  <Application>Microsoft Office PowerPoint</Application>
  <PresentationFormat>와이드스크린</PresentationFormat>
  <Paragraphs>107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2" baseType="lpstr">
      <vt:lpstr>Noto Sans KR Black</vt:lpstr>
      <vt:lpstr>Noto Sans KR Medium</vt:lpstr>
      <vt:lpstr>고양덕양 EB</vt:lpstr>
      <vt:lpstr>나눔바른고딕</vt:lpstr>
      <vt:lpstr>나눔스퀘어 ExtraBold</vt:lpstr>
      <vt:lpstr>땅스부대찌개 Bold</vt:lpstr>
      <vt:lpstr>에스코어 드림 8 Heavy</vt:lpstr>
      <vt:lpstr>Arial</vt:lpstr>
      <vt:lpstr>Calibri</vt:lpstr>
      <vt:lpstr>Office Theme</vt:lpstr>
      <vt:lpstr>PowerPoint 프레젠테이션</vt:lpstr>
      <vt:lpstr>PowerPoint 프레젠테이션</vt:lpstr>
      <vt:lpstr>놀이로 만난 병뚜껑</vt:lpstr>
      <vt:lpstr>예술가의 비밀 무기</vt:lpstr>
      <vt:lpstr>AI는? 나는?</vt:lpstr>
      <vt:lpstr>활동 안내</vt:lpstr>
      <vt:lpstr>질문하기 — 병뚜껑도 뱅크시의 벽이 될 수 있을까?</vt:lpstr>
      <vt:lpstr>판단하기 — 병뚜껑 팽이 만들기</vt:lpstr>
      <vt:lpstr>공감하기 — 서로의 팽이 살펴보기</vt:lpstr>
      <vt:lpstr>의미 만들기 — 뱅크시 벽(무기) 선언하기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78</cp:revision>
  <dcterms:created xsi:type="dcterms:W3CDTF">2026-07-09T22:35:37Z</dcterms:created>
  <dcterms:modified xsi:type="dcterms:W3CDTF">2026-10-18T08:55:02Z</dcterms:modified>
  <cp:version/>
</cp:coreProperties>
</file>