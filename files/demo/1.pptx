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14"/>
  </p:notesMasterIdLst>
  <p:sldIdLst>
    <p:sldId id="264" r:id="rId2"/>
    <p:sldId id="265" r:id="rId3"/>
    <p:sldId id="280" r:id="rId4"/>
    <p:sldId id="268" r:id="rId5"/>
    <p:sldId id="279" r:id="rId6"/>
    <p:sldId id="272" r:id="rId7"/>
    <p:sldId id="275" r:id="rId8"/>
    <p:sldId id="276" r:id="rId9"/>
    <p:sldId id="277" r:id="rId10"/>
    <p:sldId id="278" r:id="rId11"/>
    <p:sldId id="269" r:id="rId12"/>
    <p:sldId id="270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54">
          <p15:clr>
            <a:srgbClr val="A4A3A4"/>
          </p15:clr>
        </p15:guide>
        <p15:guide id="2" pos="3834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833">
          <p15:clr>
            <a:srgbClr val="A4A3A4"/>
          </p15:clr>
        </p15:guide>
        <p15:guide id="2" pos="2153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  <p:ext uri="ACF4677E-8BD2-47ae-8A1F-98590045965D">
      <hp:hncThemeShow xmlns:hp="http://schemas.haansoft.com/office/presentation/8.0" xmlns:dsp="http://schemas.microsoft.com/office/drawing/2008/diagram" xmlns:dgm="http://schemas.openxmlformats.org/drawingml/2006/diagram" xmlns:c="http://schemas.openxmlformats.org/drawingml/2006/chart" xmlns="" themeShowType="1" themeSkinType="1" themeTransitionType="1" useThemeTransition="1" byMouseClick="1" attrType="1" dur="200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23" autoAdjust="0"/>
    <p:restoredTop sz="67378"/>
  </p:normalViewPr>
  <p:slideViewPr>
    <p:cSldViewPr snapToGrid="0" snapToObjects="1">
      <p:cViewPr varScale="1">
        <p:scale>
          <a:sx n="46" d="100"/>
          <a:sy n="46" d="100"/>
        </p:scale>
        <p:origin x="1293" y="24"/>
      </p:cViewPr>
      <p:guideLst>
        <p:guide orient="horz" pos="2154"/>
        <p:guide pos="3834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 snapToGrid="0" snapToObjects="1">
      <p:cViewPr varScale="1">
        <p:scale>
          <a:sx n="100" d="100"/>
          <a:sy n="100" d="100"/>
        </p:scale>
        <p:origin x="0" y="0"/>
      </p:cViewPr>
      <p:guideLst>
        <p:guide orient="horz" pos="3833"/>
        <p:guide pos="2153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6134812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-635000" y="914400"/>
            <a:ext cx="8128000" cy="4572000"/>
          </a:xfrm>
          <a:noFill/>
          <a:ln w="12700" cap="flat" cmpd="sng" algn="ctr">
            <a:solidFill>
              <a:prstClr val="black"/>
            </a:solidFill>
            <a:prstDash val="solid"/>
            <a:round/>
            <a:headEnd w="med" len="med"/>
            <a:tailEnd w="med" len="med"/>
          </a:ln>
        </p:spPr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5791200"/>
            <a:ext cx="5486400" cy="5486400"/>
          </a:xfrm>
        </p:spPr>
        <p:txBody>
          <a:bodyPr/>
          <a:lstStyle/>
          <a:p>
            <a:pPr lv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13676757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-635000" y="914400"/>
            <a:ext cx="8128000" cy="4572000"/>
          </a:xfrm>
          <a:noFill/>
          <a:ln w="12700" cap="flat" cmpd="sng" algn="ctr">
            <a:solidFill>
              <a:prstClr val="black"/>
            </a:solidFill>
            <a:prstDash val="solid"/>
            <a:round/>
            <a:headEnd w="med" len="med"/>
            <a:tailEnd w="med" len="me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5791200"/>
            <a:ext cx="5486400" cy="5486400"/>
          </a:xfrm>
        </p:spPr>
        <p:txBody>
          <a:bodyPr/>
          <a:lstStyle/>
          <a:p>
            <a:r>
              <a:t>[6미02-04] 주제 표현에 의지를 갖고 표현 과정을 돌아보며 작품을 발전시킬 수 있다.</a:t>
            </a:r>
          </a:p>
        </p:txBody>
      </p:sp>
    </p:spTree>
    <p:extLst>
      <p:ext uri="{BB962C8B-B14F-4D97-AF65-F5344CB8AC3E}">
        <p14:creationId xmlns:p14="http://schemas.microsoft.com/office/powerpoint/2010/main" val="410409814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23051A-FA3D-809B-1393-FA75A9D439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D90091E-AA53-C146-8476-CBF466A1B3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22A4DD3-FA4B-FCC8-7120-FA49106BE2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https://youtube.com/shorts/ZOWcQH3vgkg?feature=share</a:t>
            </a:r>
          </a:p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DEBAB47-6B0F-476F-C21D-4E3CA9B2676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4115095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예술가(나)는 다양한 관점에서 생각하고 [판단]할 수 있다.</a:t>
            </a:r>
          </a:p>
          <a:p>
            <a:endParaRPr/>
          </a:p>
          <a:p>
            <a:r>
              <a:t>핵심 문장 [빈칸] 추론하기</a:t>
            </a:r>
          </a:p>
          <a:p>
            <a:r>
              <a:t>•교사: “오늘의 목표는 평범한 병뚜껑에 내 의도를 담아 나만의 표현 도구로 스스로 정하고 완성하는 거예요.”</a:t>
            </a:r>
          </a:p>
          <a:p>
            <a:r>
              <a:t>(정답 '판단'은 학생들이 추론한 뒤 확인한다.)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/>
            <a:fld id="{6669DCDE-839F-45A5-BBBA-002CD9F8819F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1920004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노트 개체 틀 1">
            <a:extLst>
              <a:ext uri="{FF2B5EF4-FFF2-40B4-BE49-F238E27FC236}">
                <a16:creationId xmlns:a16="http://schemas.microsoft.com/office/drawing/2014/main" id="{30BF3816-016B-2B87-DA72-BF89B18F1B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/>
          <a:lstStyle/>
          <a:p>
            <a:r>
              <a:t>AI는? 나는? https://youtu.be/_t8m-yB_8gc</a:t>
            </a:r>
          </a:p>
          <a:p>
            <a:endParaRPr/>
          </a:p>
          <a:p>
            <a:r>
              <a:t>AI는 명령 한 줄로 그럴듯한 이미지나 물건 디자인을 순식간에 만들어 낸다.</a:t>
            </a:r>
          </a:p>
          <a:p>
            <a:r>
              <a:t>나는 뚜껑 하나를 손에 쥐고, 어떤 모양으로 나를 표현할지 스스로 고민하고 결정한다.</a:t>
            </a:r>
          </a:p>
          <a:p>
            <a:r>
              <a:t>→ 무엇을 만들지 스스로 판단하고 완성하는 것, 이것이 예술가의 힘이다.</a:t>
            </a:r>
          </a:p>
        </p:txBody>
      </p:sp>
    </p:spTree>
    <p:extLst>
      <p:ext uri="{BB962C8B-B14F-4D97-AF65-F5344CB8AC3E}">
        <p14:creationId xmlns:p14="http://schemas.microsoft.com/office/powerpoint/2010/main" val="291192494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수업의 흐름 (40분)</a:t>
            </a:r>
          </a:p>
          <a:p>
            <a:r>
              <a:t>질문하기(5분) → 판단하기(15분) → 공감하기(10분) → 의미 만들기(10분)</a:t>
            </a:r>
          </a:p>
          <a:p>
            <a:r>
              <a:t>※ 1차시(판단)는 ‘판단하기’ 비중이 가장 크다. 병뚜껑 겉면에 어떤 그림을 그릴지, 손잡이로 접을 색종이는 어떤 색을 고를지 스스로 결정하는 것이 이 차시의 핵심이기 때문이다.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/>
            <a:fld id="{6669DCDE-839F-45A5-BBBA-002CD9F8819F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7643270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작가 홈페이지 https://www.banksy.co.uk/</a:t>
            </a:r>
          </a:p>
          <a:p>
            <a:r>
              <a:t>뱅크시는 아무도 눈여겨보지 않던 벽을, 그림을 그리는 순간 저항과 목소리를 담은 강력한 도구로 바꿔 놓았다.</a:t>
            </a:r>
          </a:p>
          <a:p>
            <a:endParaRPr/>
          </a:p>
          <a:p>
            <a:r>
              <a:t>•교사: (병뚜껑 여러 개를 보여 주며) “여러분, 이 작은 병뚜껑이 나만의 무기가 될 수 있을까요? 뱅크시는 아무도 신경 쓰지 않던 벽에 그림을 그려서 세상에서 가장 힘 있는 목소리로 만들었어요. 우리는 이 병뚜껑으로 그런 일을 해 볼 거예요.”</a:t>
            </a:r>
          </a:p>
          <a:p>
            <a:r>
              <a:t>[유의점] 뱅크시의 실제 작품은 QR(공식 누리집)로 함께 본다.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/>
            <a:fld id="{6669DCDE-839F-45A5-BBBA-002CD9F8819F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5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6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7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/>
            <a:fld id="{6669DCDE-839F-45A5-BBBA-002CD9F8819F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9710236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b="0" i="0" u="none" strike="noStrike" baseline="0">
                <a:solidFill>
                  <a:srgbClr val="000000"/>
                </a:solidFill>
                <a:latin typeface="고양덕양 EB"/>
                <a:ea typeface="고양덕양 EB"/>
                <a:cs typeface="고양덕양 EB"/>
              </a:rPr>
              <a:t>병뚜껑 팽이 만들기</a:t>
            </a:r>
          </a:p>
          <a:p>
            <a:pPr marL="203200" lvl="0" indent="-10160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•병뚜껑 겉면에 어떤 그림을 그릴지</a:t>
            </a:r>
            <a:r>
              <a:rPr lang="EN-US"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</a:rPr>
              <a:t>, </a:t>
            </a:r>
            <a:r>
              <a:rPr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손잡이로 접을 색종이는 어떤 색으로 고를지 스스로 판단해 계획하고 제작한다</a:t>
            </a:r>
            <a:r>
              <a:rPr lang="EN-US"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</a:rPr>
              <a:t>. </a:t>
            </a:r>
            <a:r>
              <a:rPr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색종이 접기는 뒷면 도안을 참고</a:t>
            </a:r>
            <a:r>
              <a:rPr lang="EN-US"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</a:rPr>
              <a:t>, </a:t>
            </a:r>
            <a:r>
              <a:rPr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색종이 대신 활동지에 직접 그림을 그려서 사용해도 된다고 안내한다</a:t>
            </a:r>
            <a:r>
              <a:rPr lang="EN-US"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</a:rPr>
              <a:t>.</a:t>
            </a:r>
          </a:p>
          <a:p>
            <a:pPr marL="203200" lvl="0" indent="-10160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•교사</a:t>
            </a:r>
            <a:r>
              <a:rPr lang="EN-US"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</a:rPr>
              <a:t>: “</a:t>
            </a:r>
            <a:r>
              <a:rPr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활동지에 나온 도안을 보고 손잡이를 접어요</a:t>
            </a:r>
            <a:r>
              <a:rPr lang="EN-US"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</a:rPr>
              <a:t>.”</a:t>
            </a:r>
          </a:p>
          <a:p>
            <a:pPr marL="203200" lvl="0" indent="-10160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•교사</a:t>
            </a:r>
            <a:r>
              <a:rPr lang="EN-US"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</a:rPr>
              <a:t>: “</a:t>
            </a:r>
            <a:r>
              <a:rPr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병뚜껑 겉면에는 어떤 그림을 그리고 싶나요</a:t>
            </a:r>
            <a:r>
              <a:rPr lang="EN-US"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</a:rPr>
              <a:t>? </a:t>
            </a:r>
            <a:r>
              <a:rPr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색은요</a:t>
            </a:r>
            <a:r>
              <a:rPr lang="EN-US"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</a:rPr>
              <a:t>? </a:t>
            </a:r>
            <a:r>
              <a:rPr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정해진 답은 없어요</a:t>
            </a:r>
            <a:r>
              <a:rPr lang="EN-US"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</a:rPr>
              <a:t>. </a:t>
            </a:r>
            <a:r>
              <a:rPr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왜 그렇게 골랐는지 이유만 있으면 됩니다</a:t>
            </a:r>
            <a:r>
              <a:rPr lang="EN-US"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</a:rPr>
              <a:t>.”</a:t>
            </a:r>
          </a:p>
          <a:p>
            <a:pPr marL="203200" lvl="0" indent="-10160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/>
            <a:fld id="{6669DCDE-839F-45A5-BBBA-002CD9F8819F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934309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b="0" i="0" u="none" strike="noStrike" baseline="0" dirty="0" err="1">
                <a:solidFill>
                  <a:srgbClr val="000000"/>
                </a:solidFill>
                <a:latin typeface="고양덕양 EB"/>
                <a:ea typeface="고양덕양 EB"/>
                <a:cs typeface="고양덕양 EB"/>
              </a:rPr>
              <a:t>서로의</a:t>
            </a:r>
            <a:r>
              <a:rPr b="0" i="0" u="none" strike="noStrike" baseline="0" dirty="0">
                <a:solidFill>
                  <a:srgbClr val="000000"/>
                </a:solidFill>
                <a:latin typeface="고양덕양 EB"/>
                <a:ea typeface="고양덕양 EB"/>
                <a:cs typeface="고양덕양 EB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고양덕양 EB"/>
                <a:ea typeface="고양덕양 EB"/>
                <a:cs typeface="고양덕양 EB"/>
              </a:rPr>
              <a:t>팽이</a:t>
            </a:r>
            <a:r>
              <a:rPr b="0" i="0" u="none" strike="noStrike" baseline="0" dirty="0">
                <a:solidFill>
                  <a:srgbClr val="000000"/>
                </a:solidFill>
                <a:latin typeface="고양덕양 EB"/>
                <a:ea typeface="고양덕양 EB"/>
                <a:cs typeface="고양덕양 EB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고양덕양 EB"/>
                <a:ea typeface="고양덕양 EB"/>
                <a:cs typeface="고양덕양 EB"/>
              </a:rPr>
              <a:t>살펴보기</a:t>
            </a:r>
            <a:endParaRPr b="0" i="0" u="none" strike="noStrike" baseline="0" dirty="0">
              <a:solidFill>
                <a:srgbClr val="000000"/>
              </a:solidFill>
              <a:latin typeface="고양덕양 EB"/>
              <a:ea typeface="고양덕양 EB"/>
              <a:cs typeface="고양덕양 EB"/>
            </a:endParaRPr>
          </a:p>
          <a:p>
            <a:pPr marL="203200" lvl="0" indent="-10160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•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모둠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안에서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완성한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팽이를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서로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돌려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보고</a:t>
            </a:r>
            <a:r>
              <a:rPr lang="EN-US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</a:rPr>
              <a:t>,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친구가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고른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그림과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색에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담긴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의미를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헤아려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본다</a:t>
            </a:r>
            <a:r>
              <a:rPr lang="EN-US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</a:rPr>
              <a:t>. “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왜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이렇게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만들었을까</a:t>
            </a:r>
            <a:r>
              <a:rPr lang="EN-US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</a:rPr>
              <a:t>?”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를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먼저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추측해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보고</a:t>
            </a:r>
            <a:r>
              <a:rPr lang="EN-US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</a:rPr>
              <a:t>,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만든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친구의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설명과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비교해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본다</a:t>
            </a:r>
            <a:r>
              <a:rPr lang="EN-US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</a:rPr>
              <a:t>. </a:t>
            </a:r>
          </a:p>
          <a:p>
            <a:pPr marL="203200" lvl="0" indent="-10160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•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교사</a:t>
            </a:r>
            <a:r>
              <a:rPr lang="EN-US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</a:rPr>
              <a:t>: “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친구의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팽이를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한번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돌려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보세요</a:t>
            </a:r>
            <a:r>
              <a:rPr lang="EN-US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</a:rPr>
              <a:t>. 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잘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회전하나요</a:t>
            </a:r>
            <a:r>
              <a:rPr lang="EN-US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</a:rPr>
              <a:t>?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그리고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이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친구는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왜 이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색을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고르고</a:t>
            </a:r>
            <a:r>
              <a:rPr lang="EN-US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</a:rPr>
              <a:t>, 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이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그림을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그렸을지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먼저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짐작해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봅시다</a:t>
            </a:r>
            <a:r>
              <a:rPr lang="EN-US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</a:rPr>
              <a:t>.”</a:t>
            </a:r>
          </a:p>
          <a:p>
            <a:pPr marL="203200" lvl="0" indent="-10160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•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교사</a:t>
            </a:r>
            <a:r>
              <a:rPr lang="EN-US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</a:rPr>
              <a:t>: “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이제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진짜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이유를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친구에게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물어보세요</a:t>
            </a:r>
            <a:r>
              <a:rPr lang="EN-US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</a:rPr>
              <a:t>.”</a:t>
            </a:r>
          </a:p>
          <a:p>
            <a:pPr marL="203200" lvl="0" indent="-10160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/>
            <a:fld id="{6669DCDE-839F-45A5-BBBA-002CD9F8819F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4917100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 dirty="0" err="1"/>
              <a:t>Photo</a:t>
            </a:r>
            <a:r>
              <a:rPr lang="ko-KR" altLang="en-US" dirty="0"/>
              <a:t> </a:t>
            </a:r>
            <a:r>
              <a:rPr lang="ko-KR" altLang="en-US" dirty="0" err="1"/>
              <a:t>by</a:t>
            </a:r>
            <a:r>
              <a:rPr lang="ko-KR" altLang="en-US" dirty="0"/>
              <a:t> 장혜림 직접 촬영 (</a:t>
            </a:r>
            <a:r>
              <a:rPr lang="ko-KR" altLang="en-US" dirty="0" err="1"/>
              <a:t>뱅크시전</a:t>
            </a:r>
            <a:r>
              <a:rPr lang="ko-KR" altLang="en-US" dirty="0"/>
              <a:t>, </a:t>
            </a:r>
            <a:r>
              <a:rPr lang="ko-KR" altLang="en-US" dirty="0" err="1"/>
              <a:t>더현대</a:t>
            </a:r>
            <a:r>
              <a:rPr lang="ko-KR" altLang="en-US" dirty="0"/>
              <a:t> 서울)</a:t>
            </a:r>
          </a:p>
          <a:p>
            <a:pPr lvl="0">
              <a:defRPr/>
            </a:pPr>
            <a:endParaRPr lang="ko-KR" altLang="en-US" dirty="0"/>
          </a:p>
          <a:p>
            <a:pPr lvl="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b="0" i="0" u="none" strike="noStrike" baseline="0" dirty="0" err="1">
                <a:solidFill>
                  <a:srgbClr val="000000"/>
                </a:solidFill>
                <a:latin typeface="고양덕양 EB"/>
                <a:ea typeface="고양덕양 EB"/>
                <a:cs typeface="고양덕양 EB"/>
              </a:rPr>
              <a:t>뱅크시</a:t>
            </a:r>
            <a:r>
              <a:rPr b="0" i="0" u="none" strike="noStrike" baseline="0" dirty="0">
                <a:solidFill>
                  <a:srgbClr val="000000"/>
                </a:solidFill>
                <a:latin typeface="고양덕양 EB"/>
                <a:ea typeface="고양덕양 EB"/>
                <a:cs typeface="고양덕양 EB"/>
              </a:rPr>
              <a:t> 벽</a:t>
            </a:r>
            <a:r>
              <a:rPr lang="EN-US" b="0" i="0" u="none" strike="noStrike" baseline="0" dirty="0">
                <a:solidFill>
                  <a:srgbClr val="000000"/>
                </a:solidFill>
                <a:latin typeface="고양덕양 EB"/>
                <a:ea typeface="고양덕양 EB"/>
              </a:rPr>
              <a:t>(</a:t>
            </a:r>
            <a:r>
              <a:rPr b="0" i="0" u="none" strike="noStrike" baseline="0" dirty="0" err="1">
                <a:solidFill>
                  <a:srgbClr val="000000"/>
                </a:solidFill>
                <a:latin typeface="고양덕양 EB"/>
                <a:ea typeface="고양덕양 EB"/>
                <a:cs typeface="고양덕양 EB"/>
              </a:rPr>
              <a:t>무기</a:t>
            </a:r>
            <a:r>
              <a:rPr lang="EN-US" b="0" i="0" u="none" strike="noStrike" baseline="0" dirty="0">
                <a:solidFill>
                  <a:srgbClr val="000000"/>
                </a:solidFill>
                <a:latin typeface="고양덕양 EB"/>
                <a:ea typeface="고양덕양 EB"/>
              </a:rPr>
              <a:t>) </a:t>
            </a:r>
            <a:r>
              <a:rPr b="0" i="0" u="none" strike="noStrike" baseline="0" dirty="0" err="1">
                <a:solidFill>
                  <a:srgbClr val="000000"/>
                </a:solidFill>
                <a:latin typeface="고양덕양 EB"/>
                <a:ea typeface="고양덕양 EB"/>
                <a:cs typeface="고양덕양 EB"/>
              </a:rPr>
              <a:t>선언하기</a:t>
            </a:r>
            <a:endParaRPr b="0" i="0" u="none" strike="noStrike" baseline="0" dirty="0">
              <a:solidFill>
                <a:srgbClr val="000000"/>
              </a:solidFill>
              <a:latin typeface="고양덕양 EB"/>
              <a:ea typeface="고양덕양 EB"/>
              <a:cs typeface="고양덕양 EB"/>
            </a:endParaRPr>
          </a:p>
          <a:p>
            <a:pPr marL="203200" lvl="0" indent="-10160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•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완성한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팽이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옆에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짧은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선언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카드</a:t>
            </a:r>
            <a:r>
              <a:rPr lang="EN-US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</a:rPr>
              <a:t>(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왜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이렇게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만들었는지</a:t>
            </a:r>
            <a:r>
              <a:rPr lang="EN-US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</a:rPr>
              <a:t>,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무엇을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표현했는지</a:t>
            </a:r>
            <a:r>
              <a:rPr lang="EN-US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</a:rPr>
              <a:t>)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를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적어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함께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게시한다</a:t>
            </a:r>
            <a:r>
              <a:rPr lang="EN-US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</a:rPr>
              <a:t>.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학급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상황에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따라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통합학습창을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사용하거나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클래스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보드에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사진으로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게시한다</a:t>
            </a:r>
            <a:r>
              <a:rPr lang="EN-US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</a:rPr>
              <a:t>.</a:t>
            </a:r>
          </a:p>
          <a:p>
            <a:pPr marL="203200" lvl="0" indent="-10160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•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교사</a:t>
            </a:r>
            <a:r>
              <a:rPr lang="EN-US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</a:rPr>
              <a:t>: “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이제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내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팽이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옆에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카드를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하나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적어볼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거예요</a:t>
            </a:r>
            <a:r>
              <a:rPr lang="EN-US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</a:rPr>
              <a:t>. ‘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이것이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나의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무기다</a:t>
            </a:r>
            <a:r>
              <a:rPr lang="EN-US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</a:rPr>
              <a:t>.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왜냐하면</a:t>
            </a:r>
            <a:r>
              <a:rPr lang="EN-US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</a:rPr>
              <a:t>...’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이렇게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시작해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보세요</a:t>
            </a:r>
            <a:r>
              <a:rPr lang="EN-US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</a:rPr>
              <a:t>.”</a:t>
            </a:r>
          </a:p>
          <a:p>
            <a:pPr marL="203200" lvl="0" indent="-10160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/>
            <a:fld id="{6669DCDE-839F-45A5-BBBA-002CD9F8819F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2238638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형성평가</a:t>
            </a:r>
          </a:p>
          <a:p>
            <a:r>
              <a:rPr dirty="0"/>
              <a:t>•</a:t>
            </a:r>
            <a:r>
              <a:rPr dirty="0" err="1"/>
              <a:t>예술가</a:t>
            </a:r>
            <a:r>
              <a:rPr dirty="0"/>
              <a:t>(나)는 </a:t>
            </a:r>
            <a:r>
              <a:rPr dirty="0" err="1"/>
              <a:t>다양한</a:t>
            </a:r>
            <a:r>
              <a:rPr dirty="0"/>
              <a:t> </a:t>
            </a:r>
            <a:r>
              <a:rPr dirty="0" err="1"/>
              <a:t>관점에서</a:t>
            </a:r>
            <a:r>
              <a:rPr dirty="0"/>
              <a:t> </a:t>
            </a:r>
            <a:r>
              <a:rPr dirty="0" err="1"/>
              <a:t>생각하고</a:t>
            </a:r>
            <a:r>
              <a:rPr dirty="0"/>
              <a:t> [</a:t>
            </a:r>
            <a:r>
              <a:rPr dirty="0" err="1"/>
              <a:t>판단</a:t>
            </a:r>
            <a:r>
              <a:rPr dirty="0"/>
              <a:t>]할 수 </a:t>
            </a:r>
            <a:r>
              <a:rPr dirty="0" err="1"/>
              <a:t>있다</a:t>
            </a:r>
            <a:r>
              <a:rPr dirty="0"/>
              <a:t>.</a:t>
            </a:r>
          </a:p>
          <a:p>
            <a:r>
              <a:rPr dirty="0"/>
              <a:t>•</a:t>
            </a:r>
            <a:r>
              <a:rPr dirty="0" err="1"/>
              <a:t>병뚜껑</a:t>
            </a:r>
            <a:r>
              <a:rPr dirty="0"/>
              <a:t> </a:t>
            </a:r>
            <a:r>
              <a:rPr dirty="0" err="1"/>
              <a:t>팽이의</a:t>
            </a:r>
            <a:r>
              <a:rPr dirty="0"/>
              <a:t> </a:t>
            </a:r>
            <a:r>
              <a:rPr dirty="0" err="1"/>
              <a:t>손잡이를</a:t>
            </a:r>
            <a:r>
              <a:rPr dirty="0"/>
              <a:t> </a:t>
            </a:r>
            <a:r>
              <a:rPr dirty="0" err="1"/>
              <a:t>만들</a:t>
            </a:r>
            <a:r>
              <a:rPr dirty="0"/>
              <a:t> 때, </a:t>
            </a:r>
            <a:r>
              <a:rPr dirty="0" err="1"/>
              <a:t>색종이를</a:t>
            </a:r>
            <a:r>
              <a:rPr dirty="0"/>
              <a:t> 세 번 </a:t>
            </a:r>
            <a:r>
              <a:rPr dirty="0" err="1"/>
              <a:t>접는</a:t>
            </a:r>
            <a:r>
              <a:rPr dirty="0"/>
              <a:t> </a:t>
            </a:r>
            <a:r>
              <a:rPr dirty="0" err="1"/>
              <a:t>과정에서</a:t>
            </a:r>
            <a:r>
              <a:rPr dirty="0"/>
              <a:t> </a:t>
            </a:r>
            <a:r>
              <a:rPr dirty="0" err="1"/>
              <a:t>나타나는</a:t>
            </a:r>
            <a:r>
              <a:rPr dirty="0"/>
              <a:t> </a:t>
            </a:r>
            <a:r>
              <a:rPr dirty="0" err="1"/>
              <a:t>조형</a:t>
            </a:r>
            <a:r>
              <a:rPr dirty="0"/>
              <a:t> </a:t>
            </a:r>
            <a:r>
              <a:rPr dirty="0" err="1"/>
              <a:t>원리는</a:t>
            </a:r>
            <a:r>
              <a:rPr dirty="0"/>
              <a:t> [</a:t>
            </a:r>
            <a:r>
              <a:rPr dirty="0" err="1"/>
              <a:t>반복</a:t>
            </a:r>
            <a:r>
              <a:rPr dirty="0"/>
              <a:t>]</a:t>
            </a:r>
            <a:r>
              <a:rPr dirty="0" err="1"/>
              <a:t>이다</a:t>
            </a:r>
            <a:r>
              <a:rPr dirty="0"/>
              <a:t>.</a:t>
            </a:r>
          </a:p>
          <a:p>
            <a:r>
              <a:rPr dirty="0"/>
              <a:t>•</a:t>
            </a:r>
            <a:r>
              <a:rPr dirty="0" err="1"/>
              <a:t>AI는</a:t>
            </a:r>
            <a:r>
              <a:rPr dirty="0"/>
              <a:t> </a:t>
            </a:r>
            <a:r>
              <a:rPr dirty="0" err="1"/>
              <a:t>명령</a:t>
            </a:r>
            <a:r>
              <a:rPr dirty="0"/>
              <a:t> 한 </a:t>
            </a:r>
            <a:r>
              <a:rPr dirty="0" err="1"/>
              <a:t>줄로</a:t>
            </a:r>
            <a:r>
              <a:rPr dirty="0"/>
              <a:t> </a:t>
            </a:r>
            <a:r>
              <a:rPr dirty="0" err="1"/>
              <a:t>순식간에</a:t>
            </a:r>
            <a:r>
              <a:rPr dirty="0"/>
              <a:t> </a:t>
            </a:r>
            <a:r>
              <a:rPr dirty="0" err="1"/>
              <a:t>디자인을</a:t>
            </a:r>
            <a:r>
              <a:rPr dirty="0"/>
              <a:t> </a:t>
            </a:r>
            <a:r>
              <a:rPr dirty="0" err="1"/>
              <a:t>만들고</a:t>
            </a:r>
            <a:r>
              <a:rPr dirty="0"/>
              <a:t>, </a:t>
            </a:r>
            <a:r>
              <a:rPr dirty="0" err="1"/>
              <a:t>나는</a:t>
            </a:r>
            <a:r>
              <a:rPr dirty="0"/>
              <a:t> </a:t>
            </a:r>
            <a:r>
              <a:rPr dirty="0" err="1"/>
              <a:t>병뚜껑을</a:t>
            </a:r>
            <a:r>
              <a:rPr dirty="0"/>
              <a:t> </a:t>
            </a:r>
            <a:r>
              <a:rPr dirty="0" err="1"/>
              <a:t>손에</a:t>
            </a:r>
            <a:r>
              <a:rPr dirty="0"/>
              <a:t> </a:t>
            </a:r>
            <a:r>
              <a:rPr dirty="0" err="1"/>
              <a:t>쥐고</a:t>
            </a:r>
            <a:r>
              <a:rPr dirty="0"/>
              <a:t> </a:t>
            </a:r>
            <a:r>
              <a:rPr dirty="0" err="1"/>
              <a:t>스스로</a:t>
            </a:r>
            <a:r>
              <a:rPr dirty="0"/>
              <a:t> </a:t>
            </a:r>
            <a:r>
              <a:rPr dirty="0" err="1"/>
              <a:t>고민하며</a:t>
            </a:r>
            <a:r>
              <a:rPr dirty="0"/>
              <a:t> </a:t>
            </a:r>
            <a:r>
              <a:rPr dirty="0" err="1"/>
              <a:t>결정한다</a:t>
            </a:r>
            <a:r>
              <a:rPr dirty="0"/>
              <a:t>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/>
            <a:fld id="{6669DCDE-839F-45A5-BBBA-002CD9F8819F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328716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-635000" y="914400"/>
            <a:ext cx="8128000" cy="4572000"/>
          </a:xfrm>
          <a:noFill/>
          <a:ln w="12700" cap="flat" cmpd="sng" algn="ctr">
            <a:solidFill>
              <a:prstClr val="black"/>
            </a:solidFill>
            <a:prstDash val="solid"/>
            <a:round/>
            <a:headEnd w="med" len="med"/>
            <a:tailEnd w="med" len="me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5791200"/>
            <a:ext cx="5486400" cy="5486400"/>
          </a:xfrm>
        </p:spPr>
        <p:txBody>
          <a:bodyPr/>
          <a:lstStyle/>
          <a:p>
            <a:r>
              <a:t>다음 시간 안내하기</a:t>
            </a:r>
          </a:p>
          <a:p>
            <a:r>
              <a:t>•교사: “다음 시간에는 [자연과 만난 병뚜껑] 수업을 하겠습니다.”</a:t>
            </a:r>
          </a:p>
          <a:p>
            <a:r>
              <a:t>준비물: 지점토, 색한지, 도화지, 가위, 테이프, 이쑤시개</a:t>
            </a:r>
          </a:p>
        </p:txBody>
      </p:sp>
    </p:spTree>
    <p:extLst>
      <p:ext uri="{BB962C8B-B14F-4D97-AF65-F5344CB8AC3E}">
        <p14:creationId xmlns:p14="http://schemas.microsoft.com/office/powerpoint/2010/main" val="98681062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모서리가 둥근 직사각형 10"/>
          <p:cNvSpPr/>
          <p:nvPr userDrawn="1"/>
        </p:nvSpPr>
        <p:spPr>
          <a:xfrm>
            <a:off x="431371" y="4115329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18" name="그림 17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980"/>
          <a:stretch/>
        </p:blipFill>
        <p:spPr>
          <a:xfrm>
            <a:off x="4938523" y="5907625"/>
            <a:ext cx="2314953" cy="764099"/>
          </a:xfrm>
          <a:prstGeom prst="rect">
            <a:avLst/>
          </a:prstGeom>
        </p:spPr>
      </p:pic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409943" y="2042583"/>
            <a:ext cx="6753997" cy="2387600"/>
          </a:xfrm>
        </p:spPr>
        <p:txBody>
          <a:bodyPr anchor="b">
            <a:normAutofit/>
          </a:bodyPr>
          <a:lstStyle>
            <a:lvl1pPr algn="l">
              <a:defRPr sz="6400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23" name="Google Shape;23;p37"/>
          <p:cNvSpPr/>
          <p:nvPr/>
        </p:nvSpPr>
        <p:spPr>
          <a:xfrm>
            <a:off x="335361" y="488138"/>
            <a:ext cx="3834759" cy="721713"/>
          </a:xfrm>
          <a:custGeom>
            <a:avLst/>
            <a:gdLst/>
            <a:ahLst/>
            <a:cxnLst/>
            <a:rect l="l" t="t" r="r" b="b"/>
            <a:pathLst>
              <a:path w="21600" h="21600" extrusionOk="0">
                <a:moveTo>
                  <a:pt x="18493" y="0"/>
                </a:moveTo>
                <a:lnTo>
                  <a:pt x="3107" y="0"/>
                </a:lnTo>
                <a:cubicBezTo>
                  <a:pt x="2222" y="0"/>
                  <a:pt x="1691" y="0"/>
                  <a:pt x="1337" y="651"/>
                </a:cubicBezTo>
                <a:cubicBezTo>
                  <a:pt x="773" y="1743"/>
                  <a:pt x="328" y="4106"/>
                  <a:pt x="123" y="7106"/>
                </a:cubicBezTo>
                <a:cubicBezTo>
                  <a:pt x="41" y="8290"/>
                  <a:pt x="0" y="9540"/>
                  <a:pt x="0" y="10800"/>
                </a:cubicBezTo>
                <a:cubicBezTo>
                  <a:pt x="0" y="12060"/>
                  <a:pt x="41" y="13310"/>
                  <a:pt x="123" y="14494"/>
                </a:cubicBezTo>
                <a:cubicBezTo>
                  <a:pt x="328" y="17494"/>
                  <a:pt x="773" y="19857"/>
                  <a:pt x="1337" y="20949"/>
                </a:cubicBezTo>
                <a:cubicBezTo>
                  <a:pt x="1691" y="21600"/>
                  <a:pt x="2222" y="21600"/>
                  <a:pt x="3107" y="21600"/>
                </a:cubicBezTo>
                <a:lnTo>
                  <a:pt x="18493" y="21600"/>
                </a:lnTo>
                <a:cubicBezTo>
                  <a:pt x="19378" y="21600"/>
                  <a:pt x="19909" y="21600"/>
                  <a:pt x="20263" y="20949"/>
                </a:cubicBezTo>
                <a:cubicBezTo>
                  <a:pt x="20827" y="19857"/>
                  <a:pt x="21272" y="17494"/>
                  <a:pt x="21477" y="14494"/>
                </a:cubicBezTo>
                <a:cubicBezTo>
                  <a:pt x="21559" y="13310"/>
                  <a:pt x="21600" y="12060"/>
                  <a:pt x="21600" y="10800"/>
                </a:cubicBezTo>
                <a:cubicBezTo>
                  <a:pt x="21600" y="9540"/>
                  <a:pt x="21559" y="8290"/>
                  <a:pt x="21477" y="7106"/>
                </a:cubicBezTo>
                <a:cubicBezTo>
                  <a:pt x="21272" y="4106"/>
                  <a:pt x="20827" y="1743"/>
                  <a:pt x="20263" y="651"/>
                </a:cubicBezTo>
                <a:cubicBezTo>
                  <a:pt x="19909" y="0"/>
                  <a:pt x="19378" y="0"/>
                  <a:pt x="18493" y="0"/>
                </a:cubicBezTo>
                <a:close/>
              </a:path>
            </a:pathLst>
          </a:custGeom>
          <a:solidFill>
            <a:srgbClr val="F6877E"/>
          </a:solidFill>
          <a:ln>
            <a:noFill/>
          </a:ln>
        </p:spPr>
        <p:txBody>
          <a:bodyPr spcFirstLastPara="1" wrap="square" lIns="60933" tIns="60933" rIns="60933" bIns="60933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>
              <a:solidFill>
                <a:schemeClr val="dk1"/>
              </a:solidFill>
              <a:latin typeface="나눔스퀘어 ExtraBold" panose="020B0600000101010101" pitchFamily="50" charset="-127"/>
              <a:ea typeface="나눔스퀘어 ExtraBold" panose="020B0600000101010101" pitchFamily="50" charset="-127"/>
              <a:cs typeface="Arial"/>
              <a:sym typeface="Arial"/>
            </a:endParaRPr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94176" y="1690809"/>
            <a:ext cx="4500000" cy="2533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00605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9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타원 7"/>
          <p:cNvSpPr/>
          <p:nvPr userDrawn="1"/>
        </p:nvSpPr>
        <p:spPr>
          <a:xfrm>
            <a:off x="1314979" y="932723"/>
            <a:ext cx="9562043" cy="519542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4" name="그림 3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3774"/>
          <a:stretch/>
        </p:blipFill>
        <p:spPr>
          <a:xfrm>
            <a:off x="5232685" y="6213310"/>
            <a:ext cx="1726629" cy="559532"/>
          </a:xfrm>
          <a:prstGeom prst="rect">
            <a:avLst/>
          </a:prstGeom>
        </p:spPr>
      </p:pic>
      <p:grpSp>
        <p:nvGrpSpPr>
          <p:cNvPr id="3" name="그룹 2"/>
          <p:cNvGrpSpPr/>
          <p:nvPr userDrawn="1"/>
        </p:nvGrpSpPr>
        <p:grpSpPr>
          <a:xfrm>
            <a:off x="8380207" y="4128700"/>
            <a:ext cx="3810915" cy="2740004"/>
            <a:chOff x="8380207" y="4128700"/>
            <a:chExt cx="3810915" cy="2740004"/>
          </a:xfrm>
        </p:grpSpPr>
        <p:pic>
          <p:nvPicPr>
            <p:cNvPr id="5" name="그림 4"/>
            <p:cNvPicPr>
              <a:picLocks noChangeAspect="1"/>
            </p:cNvPicPr>
            <p:nvPr userDrawn="1"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0207" y="4139458"/>
              <a:ext cx="3806750" cy="2729246"/>
            </a:xfrm>
            <a:prstGeom prst="rect">
              <a:avLst/>
            </a:prstGeom>
          </p:spPr>
        </p:pic>
        <p:pic>
          <p:nvPicPr>
            <p:cNvPr id="2" name="그림 1"/>
            <p:cNvPicPr>
              <a:picLocks noChangeAspect="1"/>
            </p:cNvPicPr>
            <p:nvPr userDrawn="1"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5922" y="4128700"/>
              <a:ext cx="3805200" cy="273185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366167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1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/>
          <p:cNvSpPr/>
          <p:nvPr userDrawn="1"/>
        </p:nvSpPr>
        <p:spPr>
          <a:xfrm>
            <a:off x="0" y="1134884"/>
            <a:ext cx="12192000" cy="53664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5" name="모서리가 둥근 직사각형 14"/>
          <p:cNvSpPr/>
          <p:nvPr userDrawn="1"/>
        </p:nvSpPr>
        <p:spPr>
          <a:xfrm>
            <a:off x="431371" y="1083243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11" name="그림 10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49224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2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/>
          <p:cNvSpPr/>
          <p:nvPr userDrawn="1"/>
        </p:nvSpPr>
        <p:spPr>
          <a:xfrm>
            <a:off x="0" y="1134884"/>
            <a:ext cx="12192000" cy="53664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5" name="모서리가 둥근 직사각형 14"/>
          <p:cNvSpPr/>
          <p:nvPr userDrawn="1"/>
        </p:nvSpPr>
        <p:spPr>
          <a:xfrm>
            <a:off x="431371" y="1083243"/>
            <a:ext cx="11329259" cy="101600"/>
          </a:xfrm>
          <a:prstGeom prst="roundRect">
            <a:avLst>
              <a:gd name="adj" fmla="val 5000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68189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3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모서리가 둥근 직사각형 2"/>
          <p:cNvSpPr/>
          <p:nvPr userDrawn="1"/>
        </p:nvSpPr>
        <p:spPr>
          <a:xfrm>
            <a:off x="519762" y="1412776"/>
            <a:ext cx="11144857" cy="4896544"/>
          </a:xfrm>
          <a:prstGeom prst="roundRect">
            <a:avLst>
              <a:gd name="adj" fmla="val 11065"/>
            </a:avLst>
          </a:prstGeom>
          <a:solidFill>
            <a:schemeClr val="bg1"/>
          </a:solidFill>
          <a:ln w="57150">
            <a:solidFill>
              <a:srgbClr val="F6877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55653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12" name="Google Shape;22;p37"/>
          <p:cNvGrpSpPr/>
          <p:nvPr userDrawn="1"/>
        </p:nvGrpSpPr>
        <p:grpSpPr>
          <a:xfrm>
            <a:off x="335361" y="487206"/>
            <a:ext cx="3834759" cy="722645"/>
            <a:chOff x="0" y="-699"/>
            <a:chExt cx="2876068" cy="541982"/>
          </a:xfrm>
        </p:grpSpPr>
        <p:sp>
          <p:nvSpPr>
            <p:cNvPr id="13" name="Google Shape;23;p37"/>
            <p:cNvSpPr/>
            <p:nvPr/>
          </p:nvSpPr>
          <p:spPr>
            <a:xfrm>
              <a:off x="0" y="0"/>
              <a:ext cx="2876068" cy="541283"/>
            </a:xfrm>
            <a:custGeom>
              <a:avLst/>
              <a:gdLst/>
              <a:ahLst/>
              <a:cxnLst/>
              <a:rect l="l" t="t" r="r" b="b"/>
              <a:pathLst>
                <a:path w="21600" h="21600" extrusionOk="0">
                  <a:moveTo>
                    <a:pt x="18493" y="0"/>
                  </a:moveTo>
                  <a:lnTo>
                    <a:pt x="3107" y="0"/>
                  </a:lnTo>
                  <a:cubicBezTo>
                    <a:pt x="2222" y="0"/>
                    <a:pt x="1691" y="0"/>
                    <a:pt x="1337" y="651"/>
                  </a:cubicBezTo>
                  <a:cubicBezTo>
                    <a:pt x="773" y="1743"/>
                    <a:pt x="328" y="4106"/>
                    <a:pt x="123" y="7106"/>
                  </a:cubicBezTo>
                  <a:cubicBezTo>
                    <a:pt x="41" y="8290"/>
                    <a:pt x="0" y="9540"/>
                    <a:pt x="0" y="10800"/>
                  </a:cubicBezTo>
                  <a:cubicBezTo>
                    <a:pt x="0" y="12060"/>
                    <a:pt x="41" y="13310"/>
                    <a:pt x="123" y="14494"/>
                  </a:cubicBezTo>
                  <a:cubicBezTo>
                    <a:pt x="328" y="17494"/>
                    <a:pt x="773" y="19857"/>
                    <a:pt x="1337" y="20949"/>
                  </a:cubicBezTo>
                  <a:cubicBezTo>
                    <a:pt x="1691" y="21600"/>
                    <a:pt x="2222" y="21600"/>
                    <a:pt x="3107" y="21600"/>
                  </a:cubicBezTo>
                  <a:lnTo>
                    <a:pt x="18493" y="21600"/>
                  </a:lnTo>
                  <a:cubicBezTo>
                    <a:pt x="19378" y="21600"/>
                    <a:pt x="19909" y="21600"/>
                    <a:pt x="20263" y="20949"/>
                  </a:cubicBezTo>
                  <a:cubicBezTo>
                    <a:pt x="20827" y="19857"/>
                    <a:pt x="21272" y="17494"/>
                    <a:pt x="21477" y="14494"/>
                  </a:cubicBezTo>
                  <a:cubicBezTo>
                    <a:pt x="21559" y="13310"/>
                    <a:pt x="21600" y="12060"/>
                    <a:pt x="21600" y="10800"/>
                  </a:cubicBezTo>
                  <a:cubicBezTo>
                    <a:pt x="21600" y="9540"/>
                    <a:pt x="21559" y="8290"/>
                    <a:pt x="21477" y="7106"/>
                  </a:cubicBezTo>
                  <a:cubicBezTo>
                    <a:pt x="21272" y="4106"/>
                    <a:pt x="20827" y="1743"/>
                    <a:pt x="20263" y="651"/>
                  </a:cubicBezTo>
                  <a:cubicBezTo>
                    <a:pt x="19909" y="0"/>
                    <a:pt x="19378" y="0"/>
                    <a:pt x="18493" y="0"/>
                  </a:cubicBezTo>
                  <a:close/>
                </a:path>
              </a:pathLst>
            </a:custGeom>
            <a:solidFill>
              <a:srgbClr val="F6877E"/>
            </a:solidFill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 dirty="0">
                <a:solidFill>
                  <a:schemeClr val="dk1"/>
                </a:solidFill>
                <a:latin typeface="나눔스퀘어 ExtraBold" panose="020B0600000101010101" pitchFamily="50" charset="-127"/>
                <a:ea typeface="나눔스퀘어 ExtraBold" panose="020B0600000101010101" pitchFamily="50" charset="-127"/>
                <a:cs typeface="Arial"/>
                <a:sym typeface="Arial"/>
              </a:endParaRPr>
            </a:p>
          </p:txBody>
        </p:sp>
        <p:sp>
          <p:nvSpPr>
            <p:cNvPr id="14" name="Google Shape;24;p37"/>
            <p:cNvSpPr txBox="1"/>
            <p:nvPr/>
          </p:nvSpPr>
          <p:spPr>
            <a:xfrm>
              <a:off x="243287" y="-699"/>
              <a:ext cx="2389494" cy="53566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altLang="en-US" sz="3333" b="1" dirty="0">
                  <a:solidFill>
                    <a:srgbClr val="FFFFFF"/>
                  </a:solidFill>
                  <a:latin typeface="+mj-ea"/>
                  <a:ea typeface="+mj-ea"/>
                  <a:cs typeface="Arial"/>
                  <a:sym typeface="Arial"/>
                </a:rPr>
                <a:t>초등 미술</a:t>
              </a:r>
              <a:endParaRPr sz="2400" dirty="0">
                <a:latin typeface="+mj-ea"/>
                <a:ea typeface="+mj-ea"/>
              </a:endParaRPr>
            </a:p>
          </p:txBody>
        </p:sp>
      </p:grpSp>
      <p:pic>
        <p:nvPicPr>
          <p:cNvPr id="15" name="그림 14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5158" r="34094" b="5158"/>
          <a:stretch/>
        </p:blipFill>
        <p:spPr>
          <a:xfrm>
            <a:off x="4804125" y="5883883"/>
            <a:ext cx="2346484" cy="764099"/>
          </a:xfrm>
          <a:prstGeom prst="rect">
            <a:avLst/>
          </a:prstGeom>
        </p:spPr>
      </p:pic>
      <p:sp>
        <p:nvSpPr>
          <p:cNvPr id="17" name="모서리가 둥근 직사각형 16"/>
          <p:cNvSpPr/>
          <p:nvPr userDrawn="1"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8" name="Google Shape;125;p45"/>
          <p:cNvSpPr txBox="1"/>
          <p:nvPr userDrawn="1"/>
        </p:nvSpPr>
        <p:spPr>
          <a:xfrm>
            <a:off x="2927648" y="3591209"/>
            <a:ext cx="6387312" cy="3200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000" b="1" dirty="0">
                <a:latin typeface="+mj-ea"/>
                <a:ea typeface="+mj-ea"/>
                <a:cs typeface="Arial"/>
                <a:sym typeface="Arial"/>
              </a:rPr>
              <a:t>감사합니다</a:t>
            </a:r>
            <a:endParaRPr sz="10000" b="1" dirty="0">
              <a:latin typeface="+mj-ea"/>
              <a:ea typeface="+mj-ea"/>
              <a:cs typeface="Arial"/>
              <a:sym typeface="Arial"/>
            </a:endParaRPr>
          </a:p>
        </p:txBody>
      </p:sp>
      <p:pic>
        <p:nvPicPr>
          <p:cNvPr id="19" name="그림 18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6758" y="1079178"/>
            <a:ext cx="4500000" cy="2533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06002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youtube.com/shorts/ZOWcQH3vgkg?feature=share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9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Relationship Id="rId4" Type="http://schemas.openxmlformats.org/officeDocument/2006/relationships/hyperlink" Target="https://youtu.be/_t8m-yB_8gc?si=4wpNPeZs73k5MZRJ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Relationship Id="rId5" Type="http://schemas.openxmlformats.org/officeDocument/2006/relationships/hyperlink" Target="http://www.banksy.co.uk" TargetMode="External"/><Relationship Id="rId4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직사각형 31"/>
          <p:cNvSpPr/>
          <p:nvPr/>
        </p:nvSpPr>
        <p:spPr>
          <a:xfrm>
            <a:off x="512135" y="3025980"/>
            <a:ext cx="7718219" cy="99520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5867" spc="-200" dirty="0">
                <a:solidFill>
                  <a:srgbClr val="F6877E"/>
                </a:solidFill>
                <a:latin typeface="+mj-ea"/>
                <a:ea typeface="+mj-ea"/>
              </a:rPr>
              <a:t>예술가의 판단</a:t>
            </a:r>
          </a:p>
        </p:txBody>
      </p:sp>
      <p:sp>
        <p:nvSpPr>
          <p:cNvPr id="2" name="모서리가 둥근 직사각형 1"/>
          <p:cNvSpPr/>
          <p:nvPr/>
        </p:nvSpPr>
        <p:spPr>
          <a:xfrm>
            <a:off x="431371" y="4115329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5" name="제목 1"/>
          <p:cNvSpPr txBox="1">
            <a:spLocks/>
          </p:cNvSpPr>
          <p:nvPr/>
        </p:nvSpPr>
        <p:spPr>
          <a:xfrm>
            <a:off x="431319" y="577123"/>
            <a:ext cx="3552447" cy="547620"/>
          </a:xfrm>
          <a:prstGeom prst="rect">
            <a:avLst/>
          </a:prstGeom>
        </p:spPr>
        <p:txBody>
          <a:bodyPr vert="horz" lIns="121920" tIns="60960" rIns="121920" bIns="60960" rtlCol="0" anchor="b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8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ko-KR" altLang="en-US" sz="2667" dirty="0">
                <a:solidFill>
                  <a:schemeClr val="bg1"/>
                </a:solidFill>
              </a:rPr>
              <a:t>초등 미술</a:t>
            </a:r>
          </a:p>
        </p:txBody>
      </p:sp>
      <p:pic>
        <p:nvPicPr>
          <p:cNvPr id="16" name="Google Shape;26;p37" descr="이미지"/>
          <p:cNvPicPr preferRelativeResize="0"/>
          <p:nvPr/>
        </p:nvPicPr>
        <p:blipFill rotWithShape="1">
          <a:blip r:embed="rId3">
            <a:alphaModFix/>
            <a:duotone>
              <a:schemeClr val="accent2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5423925" y="1640745"/>
            <a:ext cx="2067867" cy="1385235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Google Shape;131;p1"/>
          <p:cNvSpPr txBox="1"/>
          <p:nvPr/>
        </p:nvSpPr>
        <p:spPr>
          <a:xfrm>
            <a:off x="5185669" y="2018557"/>
            <a:ext cx="2542512" cy="642359"/>
          </a:xfrm>
          <a:prstGeom prst="rect">
            <a:avLst/>
          </a:prstGeom>
          <a:noFill/>
          <a:ln>
            <a:noFill/>
          </a:ln>
        </p:spPr>
        <p:txBody>
          <a:bodyPr wrap="square" lIns="121900" tIns="60933" rIns="121900" bIns="60933" anchor="t" anchorCtr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>
              <a:spcBef>
                <a:spcPts val="0"/>
              </a:spcBef>
              <a:buClr>
                <a:schemeClr val="lt1"/>
              </a:buClr>
              <a:buSzPct val="25000"/>
              <a:buNone/>
              <a:defRPr/>
            </a:pPr>
            <a:r>
              <a:rPr lang="en-US" altLang="ko-KR" sz="3733">
                <a:solidFill>
                  <a:schemeClr val="bg1"/>
                </a:solidFill>
                <a:latin typeface="Noto Sans KR Black"/>
                <a:ea typeface="Noto Sans KR Black"/>
              </a:rPr>
              <a:t>1</a:t>
            </a:r>
            <a:r>
              <a:rPr lang="ko-KR" altLang="en-US" sz="3733">
                <a:solidFill>
                  <a:schemeClr val="bg1"/>
                </a:solidFill>
                <a:latin typeface="Noto Sans KR Black"/>
                <a:ea typeface="Noto Sans KR Black"/>
              </a:rPr>
              <a:t>차시</a:t>
            </a:r>
          </a:p>
        </p:txBody>
      </p:sp>
      <p:sp>
        <p:nvSpPr>
          <p:cNvPr id="33" name="가로 글상자 32"/>
          <p:cNvSpPr txBox="1"/>
          <p:nvPr/>
        </p:nvSpPr>
        <p:spPr>
          <a:xfrm>
            <a:off x="6082212" y="4439446"/>
            <a:ext cx="5655208" cy="52322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>
            <a:spAutoFit/>
          </a:bodyPr>
          <a:lstStyle/>
          <a:p>
            <a:pPr marL="0" lvl="0" indent="0" algn="r" defTabSz="1028836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kumimoji="1" lang="ko-KR" altLang="en-US" sz="2800" b="0" i="0" u="none" baseline="0" dirty="0">
                <a:solidFill>
                  <a:srgbClr val="4472C4">
                    <a:alpha val="100000"/>
                  </a:srgbClr>
                </a:solidFill>
                <a:latin typeface="에스코어 드림 8 Heavy"/>
                <a:ea typeface="에스코어 드림 8 Heavy"/>
              </a:rPr>
              <a:t>놀이로 만난 병뚜껑</a:t>
            </a:r>
          </a:p>
        </p:txBody>
      </p:sp>
    </p:spTree>
    <p:extLst>
      <p:ext uri="{BB962C8B-B14F-4D97-AF65-F5344CB8AC3E}">
        <p14:creationId xmlns:p14="http://schemas.microsoft.com/office/powerpoint/2010/main" val="27461746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학습목표</a:t>
              </a:r>
            </a:p>
          </p:txBody>
        </p:sp>
      </p:grpSp>
      <p:grpSp>
        <p:nvGrpSpPr>
          <p:cNvPr id="18" name="그룹 17"/>
          <p:cNvGrpSpPr/>
          <p:nvPr/>
        </p:nvGrpSpPr>
        <p:grpSpPr>
          <a:xfrm>
            <a:off x="2639592" y="2481181"/>
            <a:ext cx="8224617" cy="2003945"/>
            <a:chOff x="3017908" y="1749585"/>
            <a:chExt cx="5334710" cy="734524"/>
          </a:xfrm>
        </p:grpSpPr>
        <p:grpSp>
          <p:nvGrpSpPr>
            <p:cNvPr id="15" name="그룹 14"/>
            <p:cNvGrpSpPr/>
            <p:nvPr/>
          </p:nvGrpSpPr>
          <p:grpSpPr>
            <a:xfrm>
              <a:off x="3017908" y="1749585"/>
              <a:ext cx="4719608" cy="304593"/>
              <a:chOff x="1397760" y="2052189"/>
              <a:chExt cx="5577814" cy="359976"/>
            </a:xfrm>
          </p:grpSpPr>
          <p:sp>
            <p:nvSpPr>
              <p:cNvPr id="4" name="타원 3"/>
              <p:cNvSpPr/>
              <p:nvPr/>
            </p:nvSpPr>
            <p:spPr>
              <a:xfrm>
                <a:off x="1397760" y="2088461"/>
                <a:ext cx="441595" cy="252000"/>
              </a:xfrm>
              <a:prstGeom prst="ellipse">
                <a:avLst/>
              </a:prstGeom>
              <a:solidFill>
                <a:srgbClr val="F6877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lvl="0" algn="ctr">
                  <a:defRPr/>
                </a:pPr>
                <a:r>
                  <a:rPr lang="en-US" altLang="ko-KR" sz="2400">
                    <a:solidFill>
                      <a:schemeClr val="bg1"/>
                    </a:solidFill>
                    <a:latin typeface="+mn-ea"/>
                  </a:rPr>
                  <a:t>1</a:t>
                </a:r>
                <a:endParaRPr lang="ko-KR" altLang="en-US" sz="2400">
                  <a:solidFill>
                    <a:schemeClr val="bg1"/>
                  </a:solidFill>
                  <a:latin typeface="+mn-ea"/>
                </a:endParaRPr>
              </a:p>
            </p:txBody>
          </p:sp>
          <p:sp>
            <p:nvSpPr>
              <p:cNvPr id="59" name="직사각형 58"/>
              <p:cNvSpPr/>
              <p:nvPr/>
            </p:nvSpPr>
            <p:spPr>
              <a:xfrm>
                <a:off x="1912945" y="2052189"/>
                <a:ext cx="5062629" cy="359976"/>
              </a:xfrm>
              <a:prstGeom prst="rect">
                <a:avLst/>
              </a:prstGeom>
            </p:spPr>
            <p:txBody>
              <a:bodyPr wrap="square" anchor="ctr" anchorCtr="0">
                <a:spAutoFit/>
              </a:bodyPr>
              <a:lstStyle/>
              <a:p>
                <a:pPr lvl="0">
                  <a:defRPr/>
                </a:pPr>
                <a:r>
                  <a:rPr lang="ko-KR" altLang="en-US" sz="2400" spc="-147" dirty="0">
                    <a:solidFill>
                      <a:schemeClr val="tx1">
                        <a:lumMod val="75000"/>
                        <a:lumOff val="25000"/>
                        <a:alpha val="99000"/>
                      </a:schemeClr>
                    </a:solidFill>
                    <a:latin typeface="+mn-ea"/>
                  </a:rPr>
                  <a:t>병뚜껑에 그릴 그림과 색을 스스로 판단해 작품을 완성할 수 있다</a:t>
                </a:r>
                <a:r>
                  <a:rPr lang="en-US" altLang="ko-KR" sz="2400" spc="-147" dirty="0">
                    <a:solidFill>
                      <a:schemeClr val="tx1">
                        <a:lumMod val="75000"/>
                        <a:lumOff val="25000"/>
                        <a:alpha val="99000"/>
                      </a:schemeClr>
                    </a:solidFill>
                    <a:latin typeface="+mn-ea"/>
                  </a:rPr>
                  <a:t>.</a:t>
                </a:r>
              </a:p>
            </p:txBody>
          </p:sp>
        </p:grpSp>
        <p:grpSp>
          <p:nvGrpSpPr>
            <p:cNvPr id="14" name="그룹 13"/>
            <p:cNvGrpSpPr/>
            <p:nvPr/>
          </p:nvGrpSpPr>
          <p:grpSpPr>
            <a:xfrm>
              <a:off x="3017919" y="2270881"/>
              <a:ext cx="5334699" cy="213228"/>
              <a:chOff x="1397760" y="2714548"/>
              <a:chExt cx="6304745" cy="252000"/>
            </a:xfrm>
          </p:grpSpPr>
          <p:sp>
            <p:nvSpPr>
              <p:cNvPr id="61" name="타원 60"/>
              <p:cNvSpPr/>
              <p:nvPr/>
            </p:nvSpPr>
            <p:spPr>
              <a:xfrm>
                <a:off x="1397760" y="2714548"/>
                <a:ext cx="441594" cy="252000"/>
              </a:xfrm>
              <a:prstGeom prst="ellipse">
                <a:avLst/>
              </a:prstGeom>
              <a:solidFill>
                <a:srgbClr val="F6877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lvl="0" algn="ctr">
                  <a:defRPr/>
                </a:pPr>
                <a:r>
                  <a:rPr lang="en-US" altLang="ko-KR" sz="2400">
                    <a:solidFill>
                      <a:schemeClr val="bg1"/>
                    </a:solidFill>
                    <a:latin typeface="+mn-ea"/>
                  </a:rPr>
                  <a:t>2</a:t>
                </a:r>
                <a:endParaRPr lang="ko-KR" altLang="en-US" sz="2400">
                  <a:solidFill>
                    <a:schemeClr val="bg1"/>
                  </a:solidFill>
                  <a:latin typeface="+mn-ea"/>
                </a:endParaRPr>
              </a:p>
            </p:txBody>
          </p:sp>
          <p:sp>
            <p:nvSpPr>
              <p:cNvPr id="62" name="직사각형 61"/>
              <p:cNvSpPr/>
              <p:nvPr/>
            </p:nvSpPr>
            <p:spPr>
              <a:xfrm>
                <a:off x="1912953" y="2745060"/>
                <a:ext cx="5789551" cy="196403"/>
              </a:xfrm>
              <a:prstGeom prst="rect">
                <a:avLst/>
              </a:prstGeom>
            </p:spPr>
            <p:txBody>
              <a:bodyPr wrap="square" anchor="ctr" anchorCtr="0">
                <a:spAutoFit/>
              </a:bodyPr>
              <a:lstStyle/>
              <a:p>
                <a:pPr lvl="0">
                  <a:defRPr/>
                </a:pPr>
                <a:r>
                  <a:rPr lang="ko-KR" altLang="en-US" sz="2400" spc="-147">
                    <a:solidFill>
                      <a:schemeClr val="tx1">
                        <a:lumMod val="75000"/>
                        <a:lumOff val="25000"/>
                        <a:alpha val="99000"/>
                      </a:schemeClr>
                    </a:solidFill>
                    <a:latin typeface="+mn-ea"/>
                  </a:rPr>
                  <a:t>완성한 작품에 담긴 의미를 친구와 나눌 수 있다</a:t>
                </a:r>
                <a:r>
                  <a:rPr lang="en-US" altLang="ko-KR" sz="2400" spc="-147">
                    <a:solidFill>
                      <a:schemeClr val="tx1">
                        <a:lumMod val="75000"/>
                        <a:lumOff val="25000"/>
                        <a:alpha val="99000"/>
                      </a:schemeClr>
                    </a:solidFill>
                    <a:latin typeface="+mn-ea"/>
                  </a:rPr>
                  <a:t>.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8283569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BF7BA5-B205-3FC0-71E2-F1C0A76DDE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>
            <a:extLst>
              <a:ext uri="{FF2B5EF4-FFF2-40B4-BE49-F238E27FC236}">
                <a16:creationId xmlns:a16="http://schemas.microsoft.com/office/drawing/2014/main" id="{2198D0E7-553D-1FFF-9875-D9000B4425A6}"/>
              </a:ext>
            </a:extLst>
          </p:cNvPr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CB48F43-E51D-2ED4-1BB9-8693FDD329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3</a:t>
            </a:fld>
            <a:endParaRPr 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99F4F1C8-2678-65A7-DADF-E82A3C344B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놀이로 만난 병뚜껑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81E74447-BD54-C00D-9DB1-3FA9D4BA9DED}"/>
              </a:ext>
            </a:extLst>
          </p:cNvPr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강의</a:t>
            </a:r>
          </a:p>
        </p:txBody>
      </p:sp>
      <p:pic>
        <p:nvPicPr>
          <p:cNvPr id="6" name="그림 5" descr="The image shows a simple plastic bottle with a bold, Korean-language message encouraging creativity and judgment.&#10;&#10;AI 생성 콘텐츠는 정확하지 않을 수 있습니다.">
            <a:extLst>
              <a:ext uri="{FF2B5EF4-FFF2-40B4-BE49-F238E27FC236}">
                <a16:creationId xmlns:a16="http://schemas.microsoft.com/office/drawing/2014/main" id="{E3335DC7-CC58-DEEE-15A6-839ADD269A3F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lum/>
          </a:blip>
          <a:stretch>
            <a:fillRect/>
          </a:stretch>
        </p:blipFill>
        <p:spPr>
          <a:xfrm>
            <a:off x="0" y="1144023"/>
            <a:ext cx="12192000" cy="540765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실행 단추: 앞으로 또는 다음 18">
            <a:hlinkClick r:id="rId4"/>
            <a:extLst>
              <a:ext uri="{FF2B5EF4-FFF2-40B4-BE49-F238E27FC236}">
                <a16:creationId xmlns:a16="http://schemas.microsoft.com/office/drawing/2014/main" id="{271BEFDE-C50E-6B6E-2967-10A8598078C9}"/>
              </a:ext>
            </a:extLst>
          </p:cNvPr>
          <p:cNvSpPr/>
          <p:nvPr/>
        </p:nvSpPr>
        <p:spPr>
          <a:xfrm>
            <a:off x="4194133" y="452670"/>
            <a:ext cx="613190" cy="564815"/>
          </a:xfrm>
          <a:prstGeom prst="actionButtonForwardNext">
            <a:avLst/>
          </a:prstGeom>
          <a:solidFill>
            <a:srgbClr val="FFE7D8"/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971785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그림 12"/>
          <p:cNvPicPr>
            <a:picLocks noChangeAspect="1"/>
          </p:cNvPicPr>
          <p:nvPr/>
        </p:nvPicPr>
        <p:blipFill rotWithShape="1">
          <a:blip r:embed="rId3">
            <a:lum/>
          </a:blip>
          <a:stretch>
            <a:fillRect/>
          </a:stretch>
        </p:blipFill>
        <p:spPr>
          <a:xfrm>
            <a:off x="0" y="1134816"/>
            <a:ext cx="12167550" cy="5365005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4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tx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예술가의 비밀 무기</a:t>
            </a:r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52B8AC7B-2DF0-282D-A2C7-4AF33B7083A0}"/>
              </a:ext>
            </a:extLst>
          </p:cNvPr>
          <p:cNvGrpSpPr/>
          <p:nvPr/>
        </p:nvGrpSpPr>
        <p:grpSpPr>
          <a:xfrm>
            <a:off x="1147483" y="3331143"/>
            <a:ext cx="5933909" cy="2700824"/>
            <a:chOff x="2589517" y="2870101"/>
            <a:chExt cx="2942985" cy="1965157"/>
          </a:xfrm>
        </p:grpSpPr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9776789A-3873-2CCC-DD61-633F9E904349}"/>
                </a:ext>
              </a:extLst>
            </p:cNvPr>
            <p:cNvSpPr/>
            <p:nvPr/>
          </p:nvSpPr>
          <p:spPr>
            <a:xfrm>
              <a:off x="2589517" y="2966037"/>
              <a:ext cx="2942985" cy="179038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3" name="그래픽 2" descr="휘갈겨 쓰다 윤곽선">
              <a:extLst>
                <a:ext uri="{FF2B5EF4-FFF2-40B4-BE49-F238E27FC236}">
                  <a16:creationId xmlns:a16="http://schemas.microsoft.com/office/drawing/2014/main" id="{3DDFA997-BEF9-22E7-5136-9627838E048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078432" y="2870101"/>
              <a:ext cx="1965157" cy="1965157"/>
            </a:xfrm>
            <a:prstGeom prst="rect">
              <a:avLst/>
            </a:prstGeom>
            <a:effectLst/>
          </p:spPr>
        </p:pic>
      </p:grpSp>
    </p:spTree>
    <p:extLst>
      <p:ext uri="{BB962C8B-B14F-4D97-AF65-F5344CB8AC3E}">
        <p14:creationId xmlns:p14="http://schemas.microsoft.com/office/powerpoint/2010/main" val="37565046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그림 14"/>
          <p:cNvPicPr>
            <a:picLocks noChangeAspect="1"/>
          </p:cNvPicPr>
          <p:nvPr/>
        </p:nvPicPr>
        <p:blipFill rotWithShape="1">
          <a:blip r:embed="rId3">
            <a:lum/>
          </a:blip>
          <a:stretch>
            <a:fillRect/>
          </a:stretch>
        </p:blipFill>
        <p:spPr>
          <a:xfrm>
            <a:off x="0" y="1134881"/>
            <a:ext cx="12192000" cy="5364940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5</a:t>
            </a:fld>
            <a:endParaRPr lang="en-US" altLang="ko-KR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AI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는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? 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나는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?</a:t>
            </a:r>
            <a:endParaRPr lang="ko-KR" altLang="en-US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19" name="실행 단추: 앞으로 또는 다음 18">
            <a:hlinkClick r:id="rId4" highlightClick="1"/>
          </p:cNvPr>
          <p:cNvSpPr/>
          <p:nvPr/>
        </p:nvSpPr>
        <p:spPr>
          <a:xfrm>
            <a:off x="2921422" y="452670"/>
            <a:ext cx="613190" cy="564815"/>
          </a:xfrm>
          <a:prstGeom prst="actionButtonForwardNext">
            <a:avLst/>
          </a:prstGeom>
          <a:solidFill>
            <a:srgbClr val="FFE7D8"/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11393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그림 12"/>
          <p:cNvPicPr>
            <a:picLocks noChangeAspect="1"/>
          </p:cNvPicPr>
          <p:nvPr/>
        </p:nvPicPr>
        <p:blipFill rotWithShape="1">
          <a:blip r:embed="rId3">
            <a:lum/>
          </a:blip>
          <a:stretch>
            <a:fillRect/>
          </a:stretch>
        </p:blipFill>
        <p:spPr>
          <a:xfrm>
            <a:off x="0" y="1153866"/>
            <a:ext cx="12167550" cy="5365005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6</a:t>
            </a:fld>
            <a:endParaRPr lang="en-US" altLang="ko-KR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안내</a:t>
            </a:r>
          </a:p>
        </p:txBody>
      </p:sp>
    </p:spTree>
    <p:extLst>
      <p:ext uri="{BB962C8B-B14F-4D97-AF65-F5344CB8AC3E}">
        <p14:creationId xmlns:p14="http://schemas.microsoft.com/office/powerpoint/2010/main" val="7804566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 descr="The image depicts a wall, on which an anonymous artist has painted, symbolizing Banksy's powerful use of graffiti to express resistance and voice.&#10;&#10;AI 생성 콘텐츠는 정확하지 않을 수 있습니다.">
            <a:extLst>
              <a:ext uri="{FF2B5EF4-FFF2-40B4-BE49-F238E27FC236}">
                <a16:creationId xmlns:a16="http://schemas.microsoft.com/office/drawing/2014/main" id="{111C2715-01FA-8887-8597-D725704C08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157994"/>
            <a:ext cx="12192000" cy="5417988"/>
          </a:xfrm>
          <a:prstGeom prst="rect">
            <a:avLst/>
          </a:prstGeom>
        </p:spPr>
      </p:pic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7</a:t>
            </a:fld>
            <a:endParaRPr lang="en-US" altLang="ko-KR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marL="0" lvl="0" indent="0" algn="l" defTabSz="1028836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kumimoji="0" lang="en-US" altLang="ko-KR" b="1" i="0" u="none" baseline="0">
                <a:solidFill>
                  <a:srgbClr val="ED7D31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질</a:t>
            </a:r>
            <a:r>
              <a:rPr kumimoji="0" lang="en-US" altLang="ko-KR" b="1" i="0" u="none" baseline="0">
                <a:solidFill>
                  <a:srgbClr val="404040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문하기 — 병뚜껑도 뱅크시의 </a:t>
            </a:r>
            <a:r>
              <a:rPr kumimoji="0" lang="en-US" altLang="ko-KR" b="1" i="0" u="none" baseline="0">
                <a:solidFill>
                  <a:srgbClr val="ED7D31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벽</a:t>
            </a:r>
            <a:r>
              <a:rPr kumimoji="0" lang="en-US" altLang="ko-KR" b="1" i="0" u="none" baseline="0">
                <a:solidFill>
                  <a:srgbClr val="404040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이 될 수 있을까?</a:t>
            </a:r>
            <a:endParaRPr lang="ko-KR" altLang="en-US" b="1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pic>
        <p:nvPicPr>
          <p:cNvPr id="15" name="그림 14">
            <a:hlinkClick r:id="" action="ppaction://noaction"/>
          </p:cNvPr>
          <p:cNvPicPr>
            <a:picLocks noChangeAspect="1"/>
          </p:cNvPicPr>
          <p:nvPr/>
        </p:nvPicPr>
        <p:blipFill rotWithShape="1">
          <a:blip r:embed="rId4">
            <a:lum/>
          </a:blip>
          <a:stretch>
            <a:fillRect/>
          </a:stretch>
        </p:blipFill>
        <p:spPr>
          <a:xfrm>
            <a:off x="966351" y="1533069"/>
            <a:ext cx="2581467" cy="2372858"/>
          </a:xfrm>
          <a:prstGeom prst="rect">
            <a:avLst/>
          </a:prstGeom>
          <a:noFill/>
          <a:ln>
            <a:noFill/>
          </a:ln>
          <a:effectLst>
            <a:outerShdw blurRad="127000" dist="127484" dir="2700000" algn="br">
              <a:srgbClr val="000000">
                <a:alpha val="40000"/>
              </a:srgbClr>
            </a:outerShdw>
          </a:effectLst>
        </p:spPr>
      </p:pic>
      <p:sp>
        <p:nvSpPr>
          <p:cNvPr id="16" name="실행 단추: 앞으로 또는 다음 15">
            <a:hlinkClick r:id="rId5" highlightClick="1"/>
          </p:cNvPr>
          <p:cNvSpPr/>
          <p:nvPr/>
        </p:nvSpPr>
        <p:spPr>
          <a:xfrm>
            <a:off x="9628986" y="452670"/>
            <a:ext cx="613190" cy="564815"/>
          </a:xfrm>
          <a:prstGeom prst="actionButtonForwardNext">
            <a:avLst/>
          </a:prstGeom>
          <a:solidFill>
            <a:srgbClr val="FFE7D8"/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2237388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/>
        </p:nvPicPr>
        <p:blipFill rotWithShape="1">
          <a:blip r:embed="rId3">
            <a:lum/>
          </a:blip>
          <a:stretch>
            <a:fillRect/>
          </a:stretch>
        </p:blipFill>
        <p:spPr>
          <a:xfrm>
            <a:off x="0" y="1134816"/>
            <a:ext cx="12167550" cy="5365005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8</a:t>
            </a:fld>
            <a:endParaRPr lang="en-US" altLang="ko-KR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marL="0" lvl="0" indent="0" algn="l" defTabSz="1028836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kumimoji="0" lang="ko-KR" altLang="en-US" b="1" i="0" u="none" baseline="0">
                <a:solidFill>
                  <a:srgbClr val="289B6E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판</a:t>
            </a:r>
            <a:r>
              <a:rPr kumimoji="0" lang="ko-KR" altLang="en-US" b="1" i="0" u="none" baseline="0">
                <a:solidFill>
                  <a:srgbClr val="404040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단하기 — 병뚜껑 팽이 만들기</a:t>
            </a:r>
            <a:endParaRPr lang="ko-KR" altLang="en-US" b="1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27726045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9</a:t>
            </a:fld>
            <a:endParaRPr lang="en-US" altLang="ko-KR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marL="0" lvl="0" indent="0" algn="l" defTabSz="1028836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kumimoji="0" lang="ko-KR" altLang="en-US" b="1" i="0" u="none" baseline="0">
                <a:solidFill>
                  <a:srgbClr val="9D5CBB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공</a:t>
            </a:r>
            <a:r>
              <a:rPr kumimoji="0" lang="ko-KR" altLang="en-US" b="1" i="0" u="none" baseline="0">
                <a:solidFill>
                  <a:srgbClr val="404040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감하기 — 서로의 팽이 살펴보기</a:t>
            </a:r>
            <a:endParaRPr lang="ko-KR" altLang="en-US" b="1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15" name="가로 글상자 14"/>
          <p:cNvSpPr txBox="1"/>
          <p:nvPr/>
        </p:nvSpPr>
        <p:spPr>
          <a:xfrm>
            <a:off x="4669582" y="2041135"/>
            <a:ext cx="6367886" cy="3487144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>
            <a:noAutofit/>
          </a:bodyPr>
          <a:lstStyle/>
          <a:p>
            <a:pPr marL="0" lvl="0" indent="0" algn="ctr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r>
              <a:rPr kumimoji="1" lang="ko-KR" altLang="en-US" sz="2800" b="0" i="0" u="none" baseline="0">
                <a:solidFill>
                  <a:schemeClr val="tx1"/>
                </a:solidFill>
                <a:latin typeface="Noto Sans KR Medium"/>
                <a:ea typeface="Noto Sans KR Medium"/>
              </a:rPr>
              <a:t>   모둠 안에서 완성한 팽이를 돌려보며, </a:t>
            </a:r>
          </a:p>
          <a:p>
            <a:pPr marL="0" lvl="0" indent="0" algn="ctr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r>
              <a:rPr kumimoji="1" lang="ko-KR" altLang="en-US" sz="2800" b="0" i="0" u="none" baseline="0">
                <a:solidFill>
                  <a:schemeClr val="tx1"/>
                </a:solidFill>
                <a:latin typeface="Noto Sans KR Medium"/>
                <a:ea typeface="Noto Sans KR Medium"/>
              </a:rPr>
              <a:t>친구가 고른 그림과 색에 담긴 의미를 </a:t>
            </a:r>
          </a:p>
          <a:p>
            <a:pPr marL="0" lvl="0" indent="0" algn="ctr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r>
              <a:rPr kumimoji="1" lang="ko-KR" altLang="en-US" sz="2800" b="0" i="0" u="none" baseline="0">
                <a:solidFill>
                  <a:schemeClr val="tx1"/>
                </a:solidFill>
                <a:latin typeface="Noto Sans KR Medium"/>
                <a:ea typeface="Noto Sans KR Medium"/>
              </a:rPr>
              <a:t>헤아려 봅시다.</a:t>
            </a:r>
            <a:endParaRPr kumimoji="1" lang="ko-KR" altLang="en-US" sz="2800" b="0" i="0" u="none" baseline="0">
              <a:solidFill>
                <a:srgbClr val="FFFFFF">
                  <a:alpha val="100000"/>
                </a:srgbClr>
              </a:solidFill>
              <a:latin typeface="Noto Sans KR Medium"/>
              <a:ea typeface="Noto Sans KR Medium"/>
            </a:endParaRPr>
          </a:p>
          <a:p>
            <a:pPr marL="220691" lvl="0" indent="-220691" algn="l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Clr>
                <a:srgbClr val="2C2C2A">
                  <a:alpha val="100000"/>
                </a:srgbClr>
              </a:buClr>
              <a:buSzPct val="100000"/>
              <a:buFont typeface="Calibri"/>
              <a:buChar char="•"/>
              <a:defRPr/>
            </a:pPr>
            <a:endParaRPr kumimoji="1" lang="ko-KR" altLang="en-US" sz="2800" b="0" i="0" u="none" baseline="0">
              <a:solidFill>
                <a:srgbClr val="2C2C2A">
                  <a:alpha val="100000"/>
                </a:srgbClr>
              </a:solidFill>
              <a:latin typeface="Noto Sans KR Medium"/>
              <a:ea typeface="Noto Sans KR Medium"/>
            </a:endParaRPr>
          </a:p>
          <a:p>
            <a:pPr marL="220691" lvl="0" indent="-220691" algn="l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Clr>
                <a:srgbClr val="2C2C2A">
                  <a:alpha val="100000"/>
                </a:srgbClr>
              </a:buClr>
              <a:buSzPct val="100000"/>
              <a:buFont typeface="Calibri"/>
              <a:buChar char="•"/>
              <a:defRPr/>
            </a:pPr>
            <a:r>
              <a:rPr kumimoji="1" lang="ko-KR" altLang="en-US" sz="28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교사용 유의점(삭제) - 유의점:</a:t>
            </a:r>
          </a:p>
          <a:p>
            <a:pPr marL="0" lvl="0" indent="0" algn="l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r>
              <a:rPr kumimoji="1" lang="ko-KR" altLang="en-US" sz="28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  <a:sym typeface="Wingdings"/>
              </a:rPr>
              <a:t> </a:t>
            </a:r>
            <a:r>
              <a:rPr kumimoji="1" lang="ko-KR" altLang="en-US" sz="28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"왜 이렇게 만들었을까?"를 추측</a:t>
            </a:r>
          </a:p>
          <a:p>
            <a:pPr marL="0" lvl="0" indent="0" algn="l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r>
              <a:rPr kumimoji="1" lang="ko-KR" altLang="en-US" sz="28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  <a:sym typeface="Wingdings"/>
              </a:rPr>
              <a:t> </a:t>
            </a:r>
            <a:r>
              <a:rPr kumimoji="1" lang="ko-KR" altLang="en-US" sz="28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친구가 만든 의도와 내 생각 비교</a:t>
            </a:r>
          </a:p>
        </p:txBody>
      </p:sp>
      <p:pic>
        <p:nvPicPr>
          <p:cNvPr id="16" name="그림 15"/>
          <p:cNvPicPr>
            <a:picLocks noChangeAspect="1"/>
          </p:cNvPicPr>
          <p:nvPr/>
        </p:nvPicPr>
        <p:blipFill rotWithShape="1">
          <a:blip r:embed="rId3">
            <a:lum/>
          </a:blip>
          <a:stretch>
            <a:fillRect/>
          </a:stretch>
        </p:blipFill>
        <p:spPr>
          <a:xfrm>
            <a:off x="519761" y="1819739"/>
            <a:ext cx="3937605" cy="3929935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타원 16"/>
          <p:cNvSpPr/>
          <p:nvPr/>
        </p:nvSpPr>
        <p:spPr>
          <a:xfrm>
            <a:off x="4677755" y="1601040"/>
            <a:ext cx="6835588" cy="2318216"/>
          </a:xfrm>
          <a:prstGeom prst="ellipse">
            <a:avLst/>
          </a:prstGeom>
          <a:noFill/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0E88AA7A-8823-1468-3300-99722A481C5A}"/>
              </a:ext>
            </a:extLst>
          </p:cNvPr>
          <p:cNvSpPr/>
          <p:nvPr/>
        </p:nvSpPr>
        <p:spPr>
          <a:xfrm>
            <a:off x="1483141" y="6153940"/>
            <a:ext cx="2010843" cy="246221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lvl="0" algn="l">
              <a:defRPr/>
            </a:pPr>
            <a:r>
              <a:rPr lang="ko-KR" altLang="en-US"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출처</a:t>
            </a:r>
            <a:r>
              <a:rPr lang="en-US" altLang="ko-KR"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:</a:t>
            </a:r>
            <a:r>
              <a:rPr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 </a:t>
            </a:r>
            <a:r>
              <a:rPr lang="ko-KR" altLang="en-US"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직접 </a:t>
            </a:r>
            <a:r>
              <a:rPr sz="1000" b="0" i="0" strike="noStrike" dirty="0" err="1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촬영</a:t>
            </a:r>
            <a:r>
              <a:rPr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 (</a:t>
            </a:r>
            <a:r>
              <a:rPr lang="ko-KR" altLang="en-US" sz="1000" b="0" i="0" strike="noStrike" dirty="0" err="1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캔바</a:t>
            </a:r>
            <a:r>
              <a:rPr lang="ko-KR" altLang="en-US"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 </a:t>
            </a:r>
            <a:r>
              <a:rPr lang="en-US" altLang="ko-KR"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2</a:t>
            </a:r>
            <a:r>
              <a:rPr lang="ko-KR" altLang="en-US"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차 가공</a:t>
            </a:r>
            <a:r>
              <a:rPr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2252476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10</a:t>
            </a:fld>
            <a:endParaRPr lang="en-US" altLang="ko-KR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marL="0" lvl="0" indent="0" algn="l" defTabSz="1028836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kumimoji="0" lang="ko-KR" altLang="en-US" b="1" i="0" u="none" baseline="0">
                <a:solidFill>
                  <a:srgbClr val="4472C4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의</a:t>
            </a:r>
            <a:r>
              <a:rPr kumimoji="0" lang="ko-KR" altLang="en-US" b="1" i="0" u="none" baseline="0">
                <a:solidFill>
                  <a:srgbClr val="404040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미 만들기 — 뱅크시 벽(무기) 선언하기</a:t>
            </a:r>
            <a:endParaRPr lang="ko-KR" altLang="en-US" b="1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15" name="가로 글상자 14"/>
          <p:cNvSpPr txBox="1"/>
          <p:nvPr/>
        </p:nvSpPr>
        <p:spPr>
          <a:xfrm>
            <a:off x="4620351" y="2061787"/>
            <a:ext cx="6729807" cy="3866424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>
            <a:normAutofit lnSpcReduction="10000"/>
          </a:bodyPr>
          <a:lstStyle/>
          <a:p>
            <a:pPr marL="0" lvl="0" indent="0" algn="ctr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r>
              <a:rPr kumimoji="1" lang="ko-KR" altLang="en-US" sz="2800" b="0" i="0" u="none" baseline="0">
                <a:solidFill>
                  <a:srgbClr val="FFFFFF">
                    <a:alpha val="100000"/>
                  </a:srgbClr>
                </a:solidFill>
                <a:latin typeface="Noto Sans KR Medium"/>
                <a:ea typeface="Noto Sans KR Medium"/>
              </a:rPr>
              <a:t>   </a:t>
            </a:r>
            <a:r>
              <a:rPr kumimoji="1" lang="ko-KR" altLang="en-US" sz="2800" b="0" i="0" u="none" baseline="0">
                <a:solidFill>
                  <a:schemeClr val="tx1"/>
                </a:solidFill>
                <a:latin typeface="Noto Sans KR Medium"/>
                <a:ea typeface="Noto Sans KR Medium"/>
              </a:rPr>
              <a:t>완성한 팽이 옆에 선언 카드</a:t>
            </a:r>
          </a:p>
          <a:p>
            <a:pPr marL="0" lvl="0" indent="0" algn="ctr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r>
              <a:rPr kumimoji="1" lang="ko-KR" altLang="en-US" sz="2800" b="0" i="0" u="none" baseline="0">
                <a:solidFill>
                  <a:schemeClr val="tx1"/>
                </a:solidFill>
                <a:latin typeface="Noto Sans KR Medium"/>
                <a:ea typeface="Noto Sans KR Medium"/>
              </a:rPr>
              <a:t>(왜 이렇게 만들었는지, 무엇을 표현했는지)</a:t>
            </a:r>
          </a:p>
          <a:p>
            <a:pPr marL="0" lvl="0" indent="0" algn="ctr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r>
              <a:rPr kumimoji="1" lang="ko-KR" altLang="en-US" sz="2800" b="0" i="0" u="none" baseline="0">
                <a:solidFill>
                  <a:schemeClr val="tx1"/>
                </a:solidFill>
                <a:latin typeface="Noto Sans KR Medium"/>
                <a:ea typeface="Noto Sans KR Medium"/>
              </a:rPr>
              <a:t>적어 게시해봅시다.</a:t>
            </a:r>
            <a:endParaRPr kumimoji="1" lang="ko-KR" altLang="en-US" sz="2800" b="0" i="0" u="none" baseline="0">
              <a:solidFill>
                <a:srgbClr val="FFFFFF">
                  <a:alpha val="100000"/>
                </a:srgbClr>
              </a:solidFill>
              <a:latin typeface="Noto Sans KR Medium"/>
              <a:ea typeface="Noto Sans KR Medium"/>
            </a:endParaRPr>
          </a:p>
          <a:p>
            <a:pPr marL="0" lvl="0" indent="0" algn="l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endParaRPr kumimoji="1" lang="ko-KR" altLang="en-US" sz="2800" b="0" i="0" u="none" baseline="0">
              <a:solidFill>
                <a:srgbClr val="FFFFFF">
                  <a:alpha val="100000"/>
                </a:srgbClr>
              </a:solidFill>
              <a:latin typeface="Noto Sans KR Medium"/>
              <a:ea typeface="Noto Sans KR Medium"/>
            </a:endParaRPr>
          </a:p>
          <a:p>
            <a:pPr marL="220691" lvl="0" indent="-220691" algn="l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Clr>
                <a:srgbClr val="2C2C2A">
                  <a:alpha val="100000"/>
                </a:srgbClr>
              </a:buClr>
              <a:buSzPct val="100000"/>
              <a:buFont typeface="Calibri"/>
              <a:buChar char="•"/>
              <a:defRPr/>
            </a:pPr>
            <a:r>
              <a:rPr kumimoji="1" lang="ko-KR" altLang="en-US" sz="28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교사용 유의점(삭제) - 유의점:</a:t>
            </a:r>
          </a:p>
          <a:p>
            <a:pPr marL="0" lvl="0" indent="0" algn="l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r>
              <a:rPr kumimoji="1" lang="ko-KR" altLang="en-US" sz="28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  <a:sym typeface="Wingdings"/>
              </a:rPr>
              <a:t> </a:t>
            </a:r>
            <a:r>
              <a:rPr kumimoji="1" lang="ko-KR" altLang="en-US" sz="28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관찰평가</a:t>
            </a:r>
          </a:p>
          <a:p>
            <a:pPr marL="0" lvl="0" indent="0" algn="l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r>
              <a:rPr kumimoji="1" lang="ko-KR" altLang="en-US" sz="28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재료 탐색과 자기 의도 반영 정도를 관찰</a:t>
            </a:r>
          </a:p>
        </p:txBody>
      </p:sp>
      <p:pic>
        <p:nvPicPr>
          <p:cNvPr id="17" name="그림 16"/>
          <p:cNvPicPr>
            <a:picLocks noChangeAspect="1"/>
          </p:cNvPicPr>
          <p:nvPr/>
        </p:nvPicPr>
        <p:blipFill rotWithShape="1">
          <a:blip r:embed="rId3"/>
          <a:srcRect b="28290"/>
          <a:stretch>
            <a:fillRect/>
          </a:stretch>
        </p:blipFill>
        <p:spPr>
          <a:xfrm>
            <a:off x="455733" y="1312334"/>
            <a:ext cx="3861614" cy="4917981"/>
          </a:xfrm>
          <a:prstGeom prst="rect">
            <a:avLst/>
          </a:prstGeom>
        </p:spPr>
      </p:pic>
      <p:sp>
        <p:nvSpPr>
          <p:cNvPr id="18" name="타원 17"/>
          <p:cNvSpPr/>
          <p:nvPr/>
        </p:nvSpPr>
        <p:spPr>
          <a:xfrm>
            <a:off x="4677755" y="1601040"/>
            <a:ext cx="6835588" cy="2318216"/>
          </a:xfrm>
          <a:prstGeom prst="ellipse">
            <a:avLst/>
          </a:prstGeom>
          <a:noFill/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9" name="직사각형 18"/>
          <p:cNvSpPr/>
          <p:nvPr/>
        </p:nvSpPr>
        <p:spPr>
          <a:xfrm>
            <a:off x="455733" y="6246507"/>
            <a:ext cx="4621531" cy="246221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lvl="0" algn="l">
              <a:defRPr/>
            </a:pPr>
            <a:r>
              <a:rPr lang="ko-KR" altLang="en-US"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출처</a:t>
            </a:r>
            <a:r>
              <a:rPr lang="en-US" altLang="ko-KR"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:</a:t>
            </a:r>
            <a:r>
              <a:rPr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 </a:t>
            </a:r>
            <a:r>
              <a:rPr lang="ko-KR" altLang="en-US"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직접 </a:t>
            </a:r>
            <a:r>
              <a:rPr sz="1000" b="0" i="0" strike="noStrike" dirty="0" err="1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촬영</a:t>
            </a:r>
            <a:r>
              <a:rPr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 (</a:t>
            </a:r>
            <a:r>
              <a:rPr sz="1000" b="0" i="0" strike="noStrike" dirty="0" err="1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뱅크시전</a:t>
            </a:r>
            <a:r>
              <a:rPr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, </a:t>
            </a:r>
            <a:r>
              <a:rPr sz="1000" b="0" i="0" strike="noStrike" dirty="0" err="1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더현대</a:t>
            </a:r>
            <a:r>
              <a:rPr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 </a:t>
            </a:r>
            <a:r>
              <a:rPr sz="1000" b="0" i="0" strike="noStrike" dirty="0" err="1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서울</a:t>
            </a:r>
            <a:r>
              <a:rPr lang="en-US" altLang="ko-KR"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, 2026</a:t>
            </a:r>
            <a:r>
              <a:rPr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42374774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11</a:t>
            </a:fld>
            <a:endParaRPr lang="en-US" dirty="0"/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정리하기</a:t>
            </a:r>
          </a:p>
        </p:txBody>
      </p:sp>
      <p:pic>
        <p:nvPicPr>
          <p:cNvPr id="11" name="그림 10"/>
          <p:cNvPicPr>
            <a:picLocks noChangeAspect="1"/>
          </p:cNvPicPr>
          <p:nvPr/>
        </p:nvPicPr>
        <p:blipFill rotWithShape="1">
          <a:blip r:embed="rId3">
            <a:lum/>
          </a:blip>
          <a:stretch>
            <a:fillRect/>
          </a:stretch>
        </p:blipFill>
        <p:spPr>
          <a:xfrm>
            <a:off x="8045593" y="1966563"/>
            <a:ext cx="3233118" cy="3593420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가로 글상자 11"/>
          <p:cNvSpPr txBox="1"/>
          <p:nvPr/>
        </p:nvSpPr>
        <p:spPr>
          <a:xfrm>
            <a:off x="892019" y="1991960"/>
            <a:ext cx="7245564" cy="3659336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>
            <a:noAutofit/>
          </a:bodyPr>
          <a:lstStyle/>
          <a:p>
            <a:pPr marL="0" lvl="0" indent="0" algn="l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r>
              <a:rPr kumimoji="1" lang="ko-KR" altLang="en-US" sz="2500" b="0" i="0" u="none" baseline="0" dirty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  <a:sym typeface="Wingdings"/>
              </a:rPr>
              <a:t> </a:t>
            </a:r>
            <a:r>
              <a:rPr kumimoji="1" lang="ko-KR" altLang="en-US" sz="2500" b="0" i="0" u="none" baseline="0" dirty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평범한 병뚜껑에 내 의도를 담아 나만의 팽이를 주체적으로 완성</a:t>
            </a:r>
          </a:p>
          <a:p>
            <a:pPr marL="0" lvl="0" indent="0" algn="l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endParaRPr kumimoji="1" lang="ko-KR" altLang="en-US" sz="2500" b="0" i="0" u="none" baseline="0" dirty="0">
              <a:solidFill>
                <a:srgbClr val="2C2C2A">
                  <a:alpha val="100000"/>
                </a:srgbClr>
              </a:solidFill>
              <a:latin typeface="Noto Sans KR Medium"/>
              <a:ea typeface="Noto Sans KR Medium"/>
            </a:endParaRPr>
          </a:p>
          <a:p>
            <a:pPr marL="0" lvl="0" indent="0" algn="l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r>
              <a:rPr kumimoji="1" lang="ko-KR" altLang="en-US" sz="2500" b="0" i="0" u="none" baseline="0" dirty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  <a:sym typeface="Wingdings"/>
              </a:rPr>
              <a:t> </a:t>
            </a:r>
            <a:r>
              <a:rPr kumimoji="1" lang="ko-KR" altLang="en-US" sz="2500" b="0" i="0" u="none" baseline="0" dirty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뱅크시처럼 아무도 신경 쓰지 않던 것을 나만의 표현 도구로 바꿈</a:t>
            </a:r>
          </a:p>
          <a:p>
            <a:pPr marL="0" lvl="0" indent="0" algn="l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endParaRPr kumimoji="1" lang="ko-KR" altLang="en-US" sz="2500" b="0" i="0" u="none" baseline="0" dirty="0">
              <a:solidFill>
                <a:srgbClr val="2C2C2A">
                  <a:alpha val="100000"/>
                </a:srgbClr>
              </a:solidFill>
              <a:latin typeface="Noto Sans KR Medium"/>
              <a:ea typeface="Noto Sans KR Medium"/>
              <a:sym typeface="Wingdings"/>
            </a:endParaRPr>
          </a:p>
          <a:p>
            <a:pPr marL="0" lvl="0" indent="0" algn="l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r>
              <a:rPr kumimoji="1" lang="ko-KR" altLang="en-US" sz="2500" b="0" i="0" u="none" baseline="0" dirty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□ 다음 시간 예고: 자연과 만난 병뚜껑</a:t>
            </a:r>
          </a:p>
          <a:p>
            <a:pPr marL="0" lvl="0" indent="0" algn="l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r>
              <a:rPr kumimoji="1" lang="ko-KR" altLang="en-US" sz="2500" b="0" i="0" u="none" baseline="0" dirty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준비물: 병뚜껑</a:t>
            </a:r>
            <a:r>
              <a:rPr kumimoji="1" lang="en-US" altLang="ko-KR" sz="2500" b="0" i="0" u="none" baseline="0" dirty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,</a:t>
            </a:r>
            <a:r>
              <a:rPr kumimoji="1" lang="ko-KR" altLang="en-US" sz="2500" b="0" i="0" u="none" baseline="0" dirty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 지점토, </a:t>
            </a:r>
            <a:r>
              <a:rPr kumimoji="1" lang="ko-KR" altLang="en-US" sz="2500" b="0" i="0" u="none" baseline="0" dirty="0" err="1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색한지</a:t>
            </a:r>
            <a:r>
              <a:rPr kumimoji="1" lang="ko-KR" altLang="en-US" sz="2500" b="0" i="0" u="none" baseline="0" dirty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, 가위, 테이프, 이쑤시개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C5DFBBB8-28D9-896D-8372-0DB418B61EFF}"/>
              </a:ext>
            </a:extLst>
          </p:cNvPr>
          <p:cNvSpPr/>
          <p:nvPr/>
        </p:nvSpPr>
        <p:spPr>
          <a:xfrm>
            <a:off x="9008062" y="5783680"/>
            <a:ext cx="2640933" cy="246221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>
              <a:defRPr/>
            </a:pPr>
            <a:r>
              <a:rPr lang="ko-KR" altLang="en-US"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출처</a:t>
            </a:r>
            <a:r>
              <a:rPr lang="en-US" altLang="ko-KR"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: AI(Google Gemini)</a:t>
            </a:r>
            <a:r>
              <a:rPr lang="ko-KR" altLang="en-US"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로</a:t>
            </a:r>
            <a:r>
              <a:rPr lang="en-US" altLang="ko-KR"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 </a:t>
            </a:r>
            <a:r>
              <a:rPr lang="ko-KR" altLang="en-US"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생성한 이미지</a:t>
            </a:r>
            <a:endParaRPr lang="ko-KR" altLang="ko-KR" dirty="0"/>
          </a:p>
        </p:txBody>
      </p:sp>
    </p:spTree>
    <p:extLst>
      <p:ext uri="{BB962C8B-B14F-4D97-AF65-F5344CB8AC3E}">
        <p14:creationId xmlns:p14="http://schemas.microsoft.com/office/powerpoint/2010/main" val="397436379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/>
          <p:cNvSpPr/>
          <p:nvPr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26610221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사용자 지정 10">
      <a:majorFont>
        <a:latin typeface="에스코어 드림 8 Heavy"/>
        <a:ea typeface="에스코어 드림 8 Heavy"/>
        <a:cs typeface=""/>
      </a:majorFont>
      <a:minorFont>
        <a:latin typeface="Noto Sans KR Medium"/>
        <a:ea typeface="Noto Sans KR Medium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127</TotalTime>
  <Words>838</Words>
  <Application>Microsoft Office PowerPoint</Application>
  <PresentationFormat>와이드스크린</PresentationFormat>
  <Paragraphs>107</Paragraphs>
  <Slides>12</Slides>
  <Notes>12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12</vt:i4>
      </vt:variant>
    </vt:vector>
  </HeadingPairs>
  <TitlesOfParts>
    <vt:vector size="22" baseType="lpstr">
      <vt:lpstr>Noto Sans KR Black</vt:lpstr>
      <vt:lpstr>Noto Sans KR Medium</vt:lpstr>
      <vt:lpstr>고양덕양 EB</vt:lpstr>
      <vt:lpstr>나눔바른고딕</vt:lpstr>
      <vt:lpstr>나눔스퀘어 ExtraBold</vt:lpstr>
      <vt:lpstr>땅스부대찌개 Bold</vt:lpstr>
      <vt:lpstr>에스코어 드림 8 Heavy</vt:lpstr>
      <vt:lpstr>Arial</vt:lpstr>
      <vt:lpstr>Calibri</vt:lpstr>
      <vt:lpstr>Office Theme</vt:lpstr>
      <vt:lpstr>PowerPoint 프레젠테이션</vt:lpstr>
      <vt:lpstr>PowerPoint 프레젠테이션</vt:lpstr>
      <vt:lpstr>놀이로 만난 병뚜껑</vt:lpstr>
      <vt:lpstr>예술가의 비밀 무기</vt:lpstr>
      <vt:lpstr>AI는? 나는?</vt:lpstr>
      <vt:lpstr>활동 안내</vt:lpstr>
      <vt:lpstr>질문하기 — 병뚜껑도 뱅크시의 벽이 될 수 있을까?</vt:lpstr>
      <vt:lpstr>판단하기 — 병뚜껑 팽이 만들기</vt:lpstr>
      <vt:lpstr>공감하기 — 서로의 팽이 살펴보기</vt:lpstr>
      <vt:lpstr>의미 만들기 — 뱅크시 벽(무기) 선언하기</vt:lpstr>
      <vt:lpstr>정리하기</vt:lpstr>
      <vt:lpstr>PowerPoint 프레젠테이션</vt:lpstr>
    </vt:vector>
  </TitlesOfParts>
  <Manager/>
  <Company>PptxGenJS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장 혜림</cp:lastModifiedBy>
  <cp:revision>78</cp:revision>
  <dcterms:created xsi:type="dcterms:W3CDTF">2026-07-09T22:35:37Z</dcterms:created>
  <dcterms:modified xsi:type="dcterms:W3CDTF">2026-10-18T08:55:02Z</dcterms:modified>
  <cp:version/>
</cp:coreProperties>
</file>