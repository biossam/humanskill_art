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6" r:id="rId2"/>
  </p:sldMasterIdLst>
  <p:notesMasterIdLst>
    <p:notesMasterId r:id="rId13"/>
  </p:notesMasterIdLst>
  <p:sldIdLst>
    <p:sldId id="256" r:id="rId3"/>
    <p:sldId id="265" r:id="rId4"/>
    <p:sldId id="277" r:id="rId5"/>
    <p:sldId id="278" r:id="rId6"/>
    <p:sldId id="266" r:id="rId7"/>
    <p:sldId id="279" r:id="rId8"/>
    <p:sldId id="268" r:id="rId9"/>
    <p:sldId id="273" r:id="rId10"/>
    <p:sldId id="269" r:id="rId11"/>
    <p:sldId id="270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99"/>
    <a:srgbClr val="FFD966"/>
    <a:srgbClr val="ED7D31"/>
    <a:srgbClr val="FEFEFE"/>
    <a:srgbClr val="F6877E"/>
    <a:srgbClr val="0732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6" d="100"/>
          <a:sy n="106" d="100"/>
        </p:scale>
        <p:origin x="756" y="9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3498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899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5128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92000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963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32871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image" Target="../media/image6.jpeg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8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7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2025463"/>
            <a:ext cx="5445266" cy="21250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따뜻한 느낌의 색</a:t>
            </a:r>
            <a:r>
              <a:rPr lang="en-US" altLang="ko-KR" sz="4403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,</a:t>
            </a:r>
            <a:r>
              <a:rPr lang="ko-KR" altLang="en-US" sz="4403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 </a:t>
            </a:r>
            <a:r>
              <a:rPr lang="ko-KR" altLang="en-US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차가운 느낌의 색으로 표현하기 </a:t>
            </a:r>
            <a:r>
              <a:rPr lang="en-US" altLang="ko-KR" sz="4403" dirty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(1)</a:t>
            </a:r>
          </a:p>
        </p:txBody>
      </p:sp>
      <p:sp>
        <p:nvSpPr>
          <p:cNvPr id="8197" name="AutoShape 5">
            <a:extLst>
              <a:ext uri="{FF2B5EF4-FFF2-40B4-BE49-F238E27FC236}">
                <a16:creationId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37</a:t>
            </a:r>
            <a:r>
              <a:rPr lang="ko-KR" altLang="en-US" sz="3703" dirty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859414" y="3187573"/>
            <a:ext cx="6684202" cy="923330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                      ) 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느낌의 색과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(                      )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느낌의 색을 </a:t>
            </a:r>
            <a:endParaRPr lang="en-US" altLang="ko-KR" sz="27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활용하여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대상을 표현할 수 있다</a:t>
            </a:r>
            <a:r>
              <a:rPr lang="en-US" altLang="ko-KR" sz="27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 fontScale="90000"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따뜻한 느낌의 색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,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차가운 느낌의 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8722260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화이트보드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색상환에서 따뜻한 느낌이 드는 색을 골라 보세요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77BEAF22-BB96-726E-C296-C7ABF6DC540C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5ABEFEFF-183F-2C81-A80C-5900C7D85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6206" y="3130443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따뜻한 느낌이 드는 색은 무엇인가요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70681CB-6704-A797-B1D2-BE9C463FC5CA}"/>
              </a:ext>
            </a:extLst>
          </p:cNvPr>
          <p:cNvCxnSpPr>
            <a:cxnSpLocks/>
          </p:cNvCxnSpPr>
          <p:nvPr/>
        </p:nvCxnSpPr>
        <p:spPr>
          <a:xfrm>
            <a:off x="6228784" y="4691088"/>
            <a:ext cx="467158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023063-0B63-AC22-26E8-335A42CFA9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23" name="Rectangle 14">
            <a:extLst>
              <a:ext uri="{FF2B5EF4-FFF2-40B4-BE49-F238E27FC236}">
                <a16:creationId xmlns:a16="http://schemas.microsoft.com/office/drawing/2014/main" id="{7393F386-93AE-0A32-26FF-196EEA3F9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7F5083E8-AA5C-AE62-D04A-E30B81AD3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34F67053-CA26-A607-A9E2-29C9C5ED3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476C12E9-9910-CEEC-0E95-2E56049EA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7C4C4730-89BD-C73F-54DA-5CC68835D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2A206E71-ED34-AA5E-08EF-7A5CD8FB1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9E30865B-5F1C-A5F7-56C1-6D1F030B1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C497C685-B77F-11B4-5951-E5BF8486D0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FCD102D0-E511-C1A0-51E3-D76493905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Rectangle 14">
            <a:extLst>
              <a:ext uri="{FF2B5EF4-FFF2-40B4-BE49-F238E27FC236}">
                <a16:creationId xmlns:a16="http://schemas.microsoft.com/office/drawing/2014/main" id="{F0631910-AC06-F6E9-9D20-7D23398B8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6664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4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 fontScale="90000"/>
          </a:bodyPr>
          <a:lstStyle/>
          <a:p>
            <a:r>
              <a:rPr lang="ko-KR" altLang="en-US" sz="3400" b="1" spc="0" dirty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 dirty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따뜻한 느낌의 색</a:t>
            </a:r>
            <a:r>
              <a:rPr kumimoji="0" lang="en-US" altLang="ko-KR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,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차가운 느낌의 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B5E2357-40D2-8C3A-E2F0-20B71089E6C8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5" name="모서리가 둥근 직사각형 41">
              <a:extLst>
                <a:ext uri="{FF2B5EF4-FFF2-40B4-BE49-F238E27FC236}">
                  <a16:creationId xmlns:a16="http://schemas.microsoft.com/office/drawing/2014/main" id="{B5CD1855-E762-360A-66D2-BD6E074052A6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EC7A525-71D5-27FC-79F2-D60EDEE080DA}"/>
              </a:ext>
            </a:extLst>
          </p:cNvPr>
          <p:cNvSpPr txBox="1"/>
          <p:nvPr/>
        </p:nvSpPr>
        <p:spPr>
          <a:xfrm>
            <a:off x="986705" y="1422855"/>
            <a:ext cx="8799204" cy="379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[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화이트보드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]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기능을 활용하여 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10 </a:t>
            </a:r>
            <a:r>
              <a: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색상환에서 차가운 느낌이 드는 색을 골라 보세요</a:t>
            </a:r>
            <a:r>
              <a: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867" dirty="0">
              <a:solidFill>
                <a:schemeClr val="tx1"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" name="사각형: 잘린 대각선 방향 모서리 1">
            <a:extLst>
              <a:ext uri="{FF2B5EF4-FFF2-40B4-BE49-F238E27FC236}">
                <a16:creationId xmlns:a16="http://schemas.microsoft.com/office/drawing/2014/main" id="{77BEAF22-BB96-726E-C296-C7ABF6DC540C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5ABEFEFF-183F-2C81-A80C-5900C7D85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6206" y="3130443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차가운 느낌이 드는 색은 무엇인가요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70681CB-6704-A797-B1D2-BE9C463FC5CA}"/>
              </a:ext>
            </a:extLst>
          </p:cNvPr>
          <p:cNvCxnSpPr>
            <a:cxnSpLocks/>
          </p:cNvCxnSpPr>
          <p:nvPr/>
        </p:nvCxnSpPr>
        <p:spPr>
          <a:xfrm>
            <a:off x="6228784" y="4691088"/>
            <a:ext cx="4671588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Rectangle 14">
            <a:extLst>
              <a:ext uri="{FF2B5EF4-FFF2-40B4-BE49-F238E27FC236}">
                <a16:creationId xmlns:a16="http://schemas.microsoft.com/office/drawing/2014/main" id="{58C9AFEB-CB58-0F15-1FB6-0D6259A0E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0647" y="4921677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20023063-0B63-AC22-26E8-335A42CFA9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23" name="Rectangle 14">
            <a:extLst>
              <a:ext uri="{FF2B5EF4-FFF2-40B4-BE49-F238E27FC236}">
                <a16:creationId xmlns:a16="http://schemas.microsoft.com/office/drawing/2014/main" id="{7393F386-93AE-0A32-26FF-196EEA3F9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4" name="Rectangle 14">
            <a:extLst>
              <a:ext uri="{FF2B5EF4-FFF2-40B4-BE49-F238E27FC236}">
                <a16:creationId xmlns:a16="http://schemas.microsoft.com/office/drawing/2014/main" id="{7F5083E8-AA5C-AE62-D04A-E30B81AD36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34F67053-CA26-A607-A9E2-29C9C5ED3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6" name="Rectangle 14">
            <a:extLst>
              <a:ext uri="{FF2B5EF4-FFF2-40B4-BE49-F238E27FC236}">
                <a16:creationId xmlns:a16="http://schemas.microsoft.com/office/drawing/2014/main" id="{476C12E9-9910-CEEC-0E95-2E56049EA4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7C4C4730-89BD-C73F-54DA-5CC68835DB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2A206E71-ED34-AA5E-08EF-7A5CD8FB1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Rectangle 14">
            <a:extLst>
              <a:ext uri="{FF2B5EF4-FFF2-40B4-BE49-F238E27FC236}">
                <a16:creationId xmlns:a16="http://schemas.microsoft.com/office/drawing/2014/main" id="{9E30865B-5F1C-A5F7-56C1-6D1F030B12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C497C685-B77F-11B4-5951-E5BF8486D0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1" name="Rectangle 14">
            <a:extLst>
              <a:ext uri="{FF2B5EF4-FFF2-40B4-BE49-F238E27FC236}">
                <a16:creationId xmlns:a16="http://schemas.microsoft.com/office/drawing/2014/main" id="{FCD102D0-E511-C1A0-51E3-D764939053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32" name="Rectangle 14">
            <a:extLst>
              <a:ext uri="{FF2B5EF4-FFF2-40B4-BE49-F238E27FC236}">
                <a16:creationId xmlns:a16="http://schemas.microsoft.com/office/drawing/2014/main" id="{F0631910-AC06-F6E9-9D20-7D23398B8C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897236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5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1C6380-ED4B-D0C2-9910-568D3B04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10" name="Rectangle 14">
            <a:extLst>
              <a:ext uri="{FF2B5EF4-FFF2-40B4-BE49-F238E27FC236}">
                <a16:creationId xmlns:a16="http://schemas.microsoft.com/office/drawing/2014/main" id="{EA5CC574-CC06-D6D9-EA3E-026DF14B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1723CCC4-9B7C-BBEA-BF46-519E95E24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5213D8E-0294-1087-9B1E-ECD59BBE7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D3DD4A4E-863A-70CC-9939-851DC6168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3D5E574-0026-0E81-1E73-DA48D712F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C803-D5B1-5C62-8B9C-C363CAF0A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81822DA-898E-8B46-7044-DE0057B48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33A7C503-0FB8-7D28-091F-7BB45C5A7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E46ECBC7-E6BE-7F4C-DB54-92ECB4BC6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6EF4E160-B9B7-464E-D50E-37FAF9420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" name="사각형: 잘린 대각선 방향 모서리 5">
            <a:extLst>
              <a:ext uri="{FF2B5EF4-FFF2-40B4-BE49-F238E27FC236}">
                <a16:creationId xmlns:a16="http://schemas.microsoft.com/office/drawing/2014/main" id="{05A58E5D-C63C-0079-6A9A-96F441AD0163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14" y="2923185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10 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색상환에서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r>
              <a:rPr lang="ko-KR" altLang="en-US" sz="28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은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3600" b="1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따뜻한 느낌의 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입니다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A8B7060F-912A-E6BB-3B97-4BE9D35BB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742" y="4552309"/>
            <a:ext cx="45971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노랑이 따뜻한 느낌을 주는 이유는 무엇일까요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A3B2A9ED-5F04-8F91-DD4D-8336FE660DE2}"/>
              </a:ext>
            </a:extLst>
          </p:cNvPr>
          <p:cNvSpPr/>
          <p:nvPr/>
        </p:nvSpPr>
        <p:spPr>
          <a:xfrm>
            <a:off x="5387340" y="4528234"/>
            <a:ext cx="141732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34470549-5587-73C4-B846-CA136CD0F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2723" y="4590651"/>
            <a:ext cx="1004538" cy="267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solidFill>
                  <a:srgbClr val="FF999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생각해보기</a:t>
            </a:r>
            <a:endParaRPr lang="en-US" altLang="ko-KR" sz="1400" dirty="0">
              <a:solidFill>
                <a:srgbClr val="FF999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 fontScale="90000"/>
          </a:bodyPr>
          <a:lstStyle/>
          <a:p>
            <a:r>
              <a:rPr lang="ko-KR" altLang="en-US" sz="3400" b="1" spc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따뜻한 느낌의 색</a:t>
            </a:r>
            <a:r>
              <a:rPr kumimoji="0" lang="en-US" altLang="ko-KR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, 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차가운 느낌의 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1E19B00-CFE1-7AA2-2F9B-7EE758AAB1AB}"/>
              </a:ext>
            </a:extLst>
          </p:cNvPr>
          <p:cNvSpPr/>
          <p:nvPr/>
        </p:nvSpPr>
        <p:spPr>
          <a:xfrm>
            <a:off x="2412134" y="2017489"/>
            <a:ext cx="2598345" cy="2154887"/>
          </a:xfrm>
          <a:prstGeom prst="rect">
            <a:avLst/>
          </a:prstGeom>
          <a:noFill/>
          <a:ln w="57150">
            <a:solidFill>
              <a:srgbClr val="FF9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6</a:t>
            </a:fld>
            <a:endParaRPr lang="en-US" dirty="0"/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1C6380-ED4B-D0C2-9910-568D3B0470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325" t="8142" r="8946" b="12440"/>
          <a:stretch/>
        </p:blipFill>
        <p:spPr>
          <a:xfrm>
            <a:off x="798748" y="2022133"/>
            <a:ext cx="4365524" cy="4383197"/>
          </a:xfrm>
          <a:prstGeom prst="rect">
            <a:avLst/>
          </a:prstGeom>
        </p:spPr>
      </p:pic>
      <p:sp>
        <p:nvSpPr>
          <p:cNvPr id="10" name="Rectangle 14">
            <a:extLst>
              <a:ext uri="{FF2B5EF4-FFF2-40B4-BE49-F238E27FC236}">
                <a16:creationId xmlns:a16="http://schemas.microsoft.com/office/drawing/2014/main" id="{EA5CC574-CC06-D6D9-EA3E-026DF14B63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4" y="286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빨강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1" name="Rectangle 14">
            <a:extLst>
              <a:ext uri="{FF2B5EF4-FFF2-40B4-BE49-F238E27FC236}">
                <a16:creationId xmlns:a16="http://schemas.microsoft.com/office/drawing/2014/main" id="{1723CCC4-9B7C-BBEA-BF46-519E95E248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9992" y="30949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주황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2" name="Rectangle 14">
            <a:extLst>
              <a:ext uri="{FF2B5EF4-FFF2-40B4-BE49-F238E27FC236}">
                <a16:creationId xmlns:a16="http://schemas.microsoft.com/office/drawing/2014/main" id="{75213D8E-0294-1087-9B1E-ECD59BBE7C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7" y="3718666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노랑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3" name="Rectangle 14">
            <a:extLst>
              <a:ext uri="{FF2B5EF4-FFF2-40B4-BE49-F238E27FC236}">
                <a16:creationId xmlns:a16="http://schemas.microsoft.com/office/drawing/2014/main" id="{D3DD4A4E-863A-70CC-9939-851DC6168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606666" y="4363662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연두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4" name="Rectangle 14">
            <a:extLst>
              <a:ext uri="{FF2B5EF4-FFF2-40B4-BE49-F238E27FC236}">
                <a16:creationId xmlns:a16="http://schemas.microsoft.com/office/drawing/2014/main" id="{03D5E574-0026-0E81-1E73-DA48D712FB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53983" y="487995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초록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EAC803-D5B1-5C62-8B9C-C363CAF0A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4833" y="511943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81822DA-898E-8B46-7044-DE0057B48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7319" y="4944055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7" name="Rectangle 14">
            <a:extLst>
              <a:ext uri="{FF2B5EF4-FFF2-40B4-BE49-F238E27FC236}">
                <a16:creationId xmlns:a16="http://schemas.microsoft.com/office/drawing/2014/main" id="{33A7C503-0FB8-7D28-091F-7BB45C5A71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4380949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8" name="Rectangle 14">
            <a:extLst>
              <a:ext uri="{FF2B5EF4-FFF2-40B4-BE49-F238E27FC236}">
                <a16:creationId xmlns:a16="http://schemas.microsoft.com/office/drawing/2014/main" id="{E46ECBC7-E6BE-7F4C-DB54-92ECB4BC6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0643" y="3672193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보라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9" name="Rectangle 14">
            <a:extLst>
              <a:ext uri="{FF2B5EF4-FFF2-40B4-BE49-F238E27FC236}">
                <a16:creationId xmlns:a16="http://schemas.microsoft.com/office/drawing/2014/main" id="{6EF4E160-B9B7-464E-D50E-37FAF9420A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59003" y="3099694"/>
            <a:ext cx="753351" cy="3434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자주</a:t>
            </a:r>
            <a:endParaRPr lang="en-US" altLang="ko-KR" sz="14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6" name="사각형: 잘린 대각선 방향 모서리 5">
            <a:extLst>
              <a:ext uri="{FF2B5EF4-FFF2-40B4-BE49-F238E27FC236}">
                <a16:creationId xmlns:a16="http://schemas.microsoft.com/office/drawing/2014/main" id="{05A58E5D-C63C-0079-6A9A-96F441AD0163}"/>
              </a:ext>
            </a:extLst>
          </p:cNvPr>
          <p:cNvSpPr/>
          <p:nvPr/>
        </p:nvSpPr>
        <p:spPr>
          <a:xfrm>
            <a:off x="5242753" y="2151207"/>
            <a:ext cx="6614467" cy="3829868"/>
          </a:xfrm>
          <a:prstGeom prst="snip2DiagRect">
            <a:avLst/>
          </a:prstGeom>
          <a:solidFill>
            <a:srgbClr val="FF9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Rectangle 14">
            <a:extLst>
              <a:ext uri="{FF2B5EF4-FFF2-40B4-BE49-F238E27FC236}">
                <a16:creationId xmlns:a16="http://schemas.microsoft.com/office/drawing/2014/main" id="{1D4359AE-DFDE-6D8F-D2A7-06239DC49E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14" y="2923185"/>
            <a:ext cx="7596743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10 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색상환에서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r>
              <a:rPr lang="en-US" altLang="ko-KR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800" b="1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</a:t>
            </a:r>
            <a:r>
              <a:rPr lang="ko-KR" altLang="en-US" sz="28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은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endParaRPr lang="en-US" altLang="ko-KR" sz="28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 eaLnBrk="1" latinLnBrk="0" hangingPunct="1">
              <a:spcBef>
                <a:spcPts val="1600"/>
              </a:spcBef>
            </a:pPr>
            <a:r>
              <a:rPr lang="ko-KR" altLang="en-US" sz="3600" b="1" dirty="0">
                <a:solidFill>
                  <a:srgbClr val="FFFF00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차가운 느낌의 색</a:t>
            </a: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입니다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.</a:t>
            </a:r>
          </a:p>
        </p:txBody>
      </p:sp>
      <p:sp>
        <p:nvSpPr>
          <p:cNvPr id="25" name="Rectangle 14">
            <a:extLst>
              <a:ext uri="{FF2B5EF4-FFF2-40B4-BE49-F238E27FC236}">
                <a16:creationId xmlns:a16="http://schemas.microsoft.com/office/drawing/2014/main" id="{A8B7060F-912A-E6BB-3B97-4BE9D35BBC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742" y="4552309"/>
            <a:ext cx="45971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남색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파랑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, </a:t>
            </a:r>
            <a:r>
              <a:rPr lang="ko-KR" altLang="en-US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청록이 차가운 느낌을 주는 이유는 무엇일까요</a:t>
            </a:r>
            <a:r>
              <a:rPr lang="en-US" altLang="ko-KR" sz="2000" dirty="0">
                <a:solidFill>
                  <a:schemeClr val="bg1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  <p:sp>
        <p:nvSpPr>
          <p:cNvPr id="26" name="Shape 17">
            <a:extLst>
              <a:ext uri="{FF2B5EF4-FFF2-40B4-BE49-F238E27FC236}">
                <a16:creationId xmlns:a16="http://schemas.microsoft.com/office/drawing/2014/main" id="{A3B2A9ED-5F04-8F91-DD4D-8336FE660DE2}"/>
              </a:ext>
            </a:extLst>
          </p:cNvPr>
          <p:cNvSpPr/>
          <p:nvPr/>
        </p:nvSpPr>
        <p:spPr>
          <a:xfrm>
            <a:off x="5387340" y="4528234"/>
            <a:ext cx="1417320" cy="347472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/>
        </p:spPr>
      </p:sp>
      <p:sp>
        <p:nvSpPr>
          <p:cNvPr id="27" name="Rectangle 14">
            <a:extLst>
              <a:ext uri="{FF2B5EF4-FFF2-40B4-BE49-F238E27FC236}">
                <a16:creationId xmlns:a16="http://schemas.microsoft.com/office/drawing/2014/main" id="{34470549-5587-73C4-B846-CA136CD0FD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42723" y="4590651"/>
            <a:ext cx="1004538" cy="267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1400" dirty="0">
                <a:solidFill>
                  <a:srgbClr val="FF9999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생각해보기</a:t>
            </a:r>
            <a:endParaRPr lang="en-US" altLang="ko-KR" sz="1400" dirty="0">
              <a:solidFill>
                <a:srgbClr val="FF9999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1" name="제목 1">
            <a:extLst>
              <a:ext uri="{FF2B5EF4-FFF2-40B4-BE49-F238E27FC236}">
                <a16:creationId xmlns:a16="http://schemas.microsoft.com/office/drawing/2014/main" id="{43496D17-0B57-1D91-9627-76AB7548B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760" y="452670"/>
            <a:ext cx="9918885" cy="641085"/>
          </a:xfrm>
        </p:spPr>
        <p:txBody>
          <a:bodyPr>
            <a:normAutofit fontScale="90000"/>
          </a:bodyPr>
          <a:lstStyle/>
          <a:p>
            <a:r>
              <a:rPr lang="ko-KR" altLang="en-US" sz="3400" b="1" spc="0">
                <a:solidFill>
                  <a:schemeClr val="accent2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탐</a:t>
            </a:r>
            <a:r>
              <a:rPr lang="ko-KR" altLang="en-US" sz="3400" b="1" spc="0">
                <a:solidFill>
                  <a:srgbClr val="404040"/>
                </a:solidFill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색하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Calibri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기 — 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따뜻한 느낌의 색</a:t>
            </a:r>
            <a:r>
              <a:rPr kumimoji="0" lang="en-US" altLang="ko-KR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, </a:t>
            </a:r>
            <a:r>
              <a:rPr kumimoji="0" lang="ko-KR" altLang="en-US" sz="3400" b="1" i="0" u="none" strike="noStrike" kern="1200" cap="none" spc="0" normalizeH="0" baseline="0" noProof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차가운 느낌의 색 탐구하기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1C11B0E-D7CE-C6CE-185F-60B6CFE14CC5}"/>
              </a:ext>
            </a:extLst>
          </p:cNvPr>
          <p:cNvSpPr/>
          <p:nvPr/>
        </p:nvSpPr>
        <p:spPr>
          <a:xfrm>
            <a:off x="798748" y="4244692"/>
            <a:ext cx="2598345" cy="2154887"/>
          </a:xfrm>
          <a:prstGeom prst="rect">
            <a:avLst/>
          </a:prstGeom>
          <a:noFill/>
          <a:ln w="57150">
            <a:solidFill>
              <a:srgbClr val="FF999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71883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964152" cy="641085"/>
          </a:xfrm>
        </p:spPr>
        <p:txBody>
          <a:bodyPr>
            <a:no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작하기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나만의 방 꾸미기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2EF72766-5A73-62D8-065A-C65ADB4FA48F}"/>
              </a:ext>
            </a:extLst>
          </p:cNvPr>
          <p:cNvGrpSpPr/>
          <p:nvPr/>
        </p:nvGrpSpPr>
        <p:grpSpPr>
          <a:xfrm>
            <a:off x="643901" y="1422855"/>
            <a:ext cx="6670177" cy="379656"/>
            <a:chOff x="643901" y="1422855"/>
            <a:chExt cx="6670177" cy="379656"/>
          </a:xfrm>
        </p:grpSpPr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1B5E2357-40D2-8C3A-E2F0-20B71089E6C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5"/>
              <a:chOff x="853872" y="1465627"/>
              <a:chExt cx="318649" cy="316075"/>
            </a:xfrm>
          </p:grpSpPr>
          <p:sp>
            <p:nvSpPr>
              <p:cNvPr id="5" name="모서리가 둥근 직사각형 41">
                <a:extLst>
                  <a:ext uri="{FF2B5EF4-FFF2-40B4-BE49-F238E27FC236}">
                    <a16:creationId xmlns:a16="http://schemas.microsoft.com/office/drawing/2014/main" id="{B5CD1855-E762-360A-66D2-BD6E074052A6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413DECA-CF8C-D3B1-16CD-A534C99466D8}"/>
                  </a:ext>
                </a:extLst>
              </p:cNvPr>
              <p:cNvSpPr txBox="1"/>
              <p:nvPr/>
            </p:nvSpPr>
            <p:spPr>
              <a:xfrm>
                <a:off x="893859" y="1465627"/>
                <a:ext cx="278662" cy="3160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1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986705" y="1422855"/>
              <a:ext cx="6327373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따뜻한 느낌의 방과 차가운 느낌의 방 중 하나를 선택합니다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121C8395-E8A4-3ADD-1F20-DDC763B88F65}"/>
              </a:ext>
            </a:extLst>
          </p:cNvPr>
          <p:cNvGrpSpPr/>
          <p:nvPr/>
        </p:nvGrpSpPr>
        <p:grpSpPr>
          <a:xfrm>
            <a:off x="643901" y="2020648"/>
            <a:ext cx="5376554" cy="666977"/>
            <a:chOff x="643901" y="1422855"/>
            <a:chExt cx="5376554" cy="666977"/>
          </a:xfrm>
        </p:grpSpPr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210DC8C-6981-7EA5-EAC4-8421A3A43383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25" name="모서리가 둥근 직사각형 41">
                <a:extLst>
                  <a:ext uri="{FF2B5EF4-FFF2-40B4-BE49-F238E27FC236}">
                    <a16:creationId xmlns:a16="http://schemas.microsoft.com/office/drawing/2014/main" id="{C8735C08-0D3B-2A20-5DE1-5492A499CDD2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0C87544-36B8-90FB-A7B5-E7CF91C0D1E4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2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AF3CC98-BC82-9FB8-D1D5-865F6E994233}"/>
                </a:ext>
              </a:extLst>
            </p:cNvPr>
            <p:cNvSpPr txBox="1"/>
            <p:nvPr/>
          </p:nvSpPr>
          <p:spPr>
            <a:xfrm>
              <a:off x="986705" y="1422855"/>
              <a:ext cx="5033750" cy="6669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따뜻한 느낌 혹은 차가운 느낌의 색을 활용하여 </a:t>
              </a:r>
              <a:endParaRPr lang="en-US" altLang="ko-KR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가구를 꾸미고 벽을 채색합니다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C431B0-EE5D-51BA-0F0C-6DC1D4C9FCCB}"/>
              </a:ext>
            </a:extLst>
          </p:cNvPr>
          <p:cNvGrpSpPr/>
          <p:nvPr/>
        </p:nvGrpSpPr>
        <p:grpSpPr>
          <a:xfrm>
            <a:off x="643901" y="2670989"/>
            <a:ext cx="7498930" cy="379656"/>
            <a:chOff x="643901" y="1422855"/>
            <a:chExt cx="7498930" cy="379656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9EB2551C-98DB-DDA2-7014-7C95C23B0258}"/>
                </a:ext>
              </a:extLst>
            </p:cNvPr>
            <p:cNvGrpSpPr/>
            <p:nvPr/>
          </p:nvGrpSpPr>
          <p:grpSpPr>
            <a:xfrm>
              <a:off x="643901" y="1446540"/>
              <a:ext cx="341311" cy="338554"/>
              <a:chOff x="853872" y="1465627"/>
              <a:chExt cx="318649" cy="316074"/>
            </a:xfrm>
          </p:grpSpPr>
          <p:sp>
            <p:nvSpPr>
              <p:cNvPr id="30" name="모서리가 둥근 직사각형 41">
                <a:extLst>
                  <a:ext uri="{FF2B5EF4-FFF2-40B4-BE49-F238E27FC236}">
                    <a16:creationId xmlns:a16="http://schemas.microsoft.com/office/drawing/2014/main" id="{E2400EA7-2380-902A-5A0E-3D04E029F2C0}"/>
                  </a:ext>
                </a:extLst>
              </p:cNvPr>
              <p:cNvSpPr/>
              <p:nvPr/>
            </p:nvSpPr>
            <p:spPr>
              <a:xfrm>
                <a:off x="853872" y="1487438"/>
                <a:ext cx="289128" cy="289128"/>
              </a:xfrm>
              <a:prstGeom prst="roundRect">
                <a:avLst/>
              </a:prstGeom>
              <a:solidFill>
                <a:srgbClr val="FFD966"/>
              </a:solidFill>
              <a:ln w="12700">
                <a:solidFill>
                  <a:schemeClr val="tx1"/>
                </a:solidFill>
              </a:ln>
              <a:effectLst>
                <a:outerShdw dist="38100" dir="2700000" algn="tl" rotWithShape="0">
                  <a:prstClr val="black">
                    <a:alpha val="1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867" dirty="0">
                  <a:latin typeface="+mj-ea"/>
                  <a:ea typeface="+mj-ea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402549F-718E-4D63-6A95-869CE2D54B8A}"/>
                  </a:ext>
                </a:extLst>
              </p:cNvPr>
              <p:cNvSpPr txBox="1"/>
              <p:nvPr/>
            </p:nvSpPr>
            <p:spPr>
              <a:xfrm>
                <a:off x="877397" y="1465627"/>
                <a:ext cx="295124" cy="31607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r"/>
                <a:r>
                  <a:rPr lang="en-US" altLang="ko-KR" sz="1600" dirty="0">
                    <a:latin typeface="+mj-ea"/>
                    <a:ea typeface="+mj-ea"/>
                  </a:rPr>
                  <a:t>3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03369B-DFE4-9E96-9620-AA858E6F5DB9}"/>
                </a:ext>
              </a:extLst>
            </p:cNvPr>
            <p:cNvSpPr txBox="1"/>
            <p:nvPr/>
          </p:nvSpPr>
          <p:spPr>
            <a:xfrm>
              <a:off x="986705" y="1422855"/>
              <a:ext cx="7156126" cy="3796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자르는 선을 기준으로 자른 뒤 풀칠하는 곳에 풀을 바른 후 겹칩니다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7" name="그림 6">
            <a:extLst>
              <a:ext uri="{FF2B5EF4-FFF2-40B4-BE49-F238E27FC236}">
                <a16:creationId xmlns:a16="http://schemas.microsoft.com/office/drawing/2014/main" id="{C099F54D-A7F1-DA82-A7C1-B618421176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7037" y="3234888"/>
            <a:ext cx="2119637" cy="299783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1A019FC4-291E-3057-BFD0-84F2A5028355}"/>
              </a:ext>
            </a:extLst>
          </p:cNvPr>
          <p:cNvSpPr/>
          <p:nvPr/>
        </p:nvSpPr>
        <p:spPr>
          <a:xfrm>
            <a:off x="5915471" y="4225338"/>
            <a:ext cx="1499857" cy="805082"/>
          </a:xfrm>
          <a:prstGeom prst="right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467A57C0-B354-BF8C-3F0C-3FD4680DBC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6183" y="3033228"/>
            <a:ext cx="2245591" cy="317605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A33C494-0C41-8B31-41E2-51A740780335}"/>
              </a:ext>
            </a:extLst>
          </p:cNvPr>
          <p:cNvSpPr txBox="1"/>
          <p:nvPr/>
        </p:nvSpPr>
        <p:spPr>
          <a:xfrm>
            <a:off x="7876183" y="6258485"/>
            <a:ext cx="330451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900" dirty="0"/>
              <a:t>AI(Google Gemini)</a:t>
            </a:r>
            <a:r>
              <a:rPr lang="ko-KR" altLang="en-US" sz="900" dirty="0"/>
              <a:t>로 생성한 이미지입니다</a:t>
            </a:r>
            <a:r>
              <a:rPr lang="en-US" altLang="ko-KR" sz="900" dirty="0"/>
              <a:t>.</a:t>
            </a:r>
            <a:endParaRPr lang="ko-KR" altLang="en-US" sz="900" dirty="0"/>
          </a:p>
        </p:txBody>
      </p:sp>
    </p:spTree>
    <p:extLst>
      <p:ext uri="{BB962C8B-B14F-4D97-AF65-F5344CB8AC3E}">
        <p14:creationId xmlns:p14="http://schemas.microsoft.com/office/powerpoint/2010/main" val="37565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823452" cy="641085"/>
          </a:xfrm>
        </p:spPr>
        <p:txBody>
          <a:bodyPr>
            <a:normAutofit/>
          </a:bodyPr>
          <a:lstStyle/>
          <a:p>
            <a:r>
              <a:rPr lang="ko-KR" altLang="en-US" sz="3400" b="1" dirty="0">
                <a:solidFill>
                  <a:srgbClr val="00B050">
                    <a:alpha val="99000"/>
                  </a:srgbClr>
                </a:solidFill>
                <a:latin typeface="+mj-lt"/>
                <a:ea typeface="+mj-ea"/>
              </a:rPr>
              <a:t>제</a:t>
            </a:r>
            <a:r>
              <a:rPr lang="ko-KR" altLang="en-US" sz="3400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+mj-ea"/>
              </a:rPr>
              <a:t>작하기 </a:t>
            </a:r>
            <a:r>
              <a:rPr kumimoji="0" lang="ko-KR" alt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404040"/>
                </a:solidFill>
                <a:effectLst/>
                <a:uLnTx/>
                <a:uFillTx/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—</a:t>
            </a:r>
            <a:r>
              <a:rPr lang="ko-KR" altLang="en-US" sz="3400" b="1" spc="0" dirty="0">
                <a:solidFill>
                  <a:srgbClr val="404040"/>
                </a:solidFill>
                <a:latin typeface="+mj-lt"/>
                <a:ea typeface="에스코어 드림 8 Heavy" panose="020B0903030302020204" pitchFamily="34" charset="-127"/>
                <a:cs typeface="Calibri"/>
                <a:sym typeface="Calibri" panose="020F0502020204030204" pitchFamily="34" charset="0"/>
              </a:rPr>
              <a:t>나만의 방 꾸미기</a:t>
            </a:r>
            <a:endParaRPr lang="ko-KR" altLang="en-US" sz="34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lt"/>
              <a:ea typeface="+mj-ea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D95F18C2-2DAB-D329-CE07-781CBFCAF47D}"/>
              </a:ext>
            </a:extLst>
          </p:cNvPr>
          <p:cNvGrpSpPr/>
          <p:nvPr/>
        </p:nvGrpSpPr>
        <p:grpSpPr>
          <a:xfrm>
            <a:off x="686731" y="1422855"/>
            <a:ext cx="8095695" cy="379656"/>
            <a:chOff x="914427" y="1470196"/>
            <a:chExt cx="6071781" cy="284742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413DECA-CF8C-D3B1-16CD-A534C99466D8}"/>
                </a:ext>
              </a:extLst>
            </p:cNvPr>
            <p:cNvSpPr txBox="1"/>
            <p:nvPr/>
          </p:nvSpPr>
          <p:spPr>
            <a:xfrm>
              <a:off x="914427" y="1487959"/>
              <a:ext cx="223861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EC7A525-71D5-27FC-79F2-D60EDEE080DA}"/>
                </a:ext>
              </a:extLst>
            </p:cNvPr>
            <p:cNvSpPr txBox="1"/>
            <p:nvPr/>
          </p:nvSpPr>
          <p:spPr>
            <a:xfrm>
              <a:off x="1139406" y="1470196"/>
              <a:ext cx="5846802" cy="2847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[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모둠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/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발표 수업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] </a:t>
              </a:r>
              <a:r>
                <a:rPr lang="ko-KR" altLang="en-US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기능을 활용하여 작품을 공유하고 이야기 나누어 봅시다</a:t>
              </a:r>
              <a:r>
                <a:rPr lang="en-US" altLang="ko-KR" sz="1867" dirty="0">
                  <a:solidFill>
                    <a:schemeClr val="tx1">
                      <a:alpha val="99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867" dirty="0">
                <a:solidFill>
                  <a:schemeClr val="tx1">
                    <a:alpha val="99000"/>
                  </a:schemeClr>
                </a:solidFill>
                <a:latin typeface="+mj-ea"/>
                <a:ea typeface="+mj-ea"/>
              </a:endParaRPr>
            </a:p>
          </p:txBody>
        </p:sp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32E1C425-D429-6D6D-F6B5-CB2E420AD99C}"/>
              </a:ext>
            </a:extLst>
          </p:cNvPr>
          <p:cNvGrpSpPr/>
          <p:nvPr/>
        </p:nvGrpSpPr>
        <p:grpSpPr>
          <a:xfrm>
            <a:off x="643901" y="1446540"/>
            <a:ext cx="341311" cy="338555"/>
            <a:chOff x="853872" y="1465627"/>
            <a:chExt cx="318649" cy="316075"/>
          </a:xfrm>
        </p:grpSpPr>
        <p:sp>
          <p:nvSpPr>
            <p:cNvPr id="15" name="모서리가 둥근 직사각형 41">
              <a:extLst>
                <a:ext uri="{FF2B5EF4-FFF2-40B4-BE49-F238E27FC236}">
                  <a16:creationId xmlns:a16="http://schemas.microsoft.com/office/drawing/2014/main" id="{397B7C0B-AF8A-2A09-1C27-F89FBDECB02D}"/>
                </a:ext>
              </a:extLst>
            </p:cNvPr>
            <p:cNvSpPr/>
            <p:nvPr/>
          </p:nvSpPr>
          <p:spPr>
            <a:xfrm>
              <a:off x="853872" y="1487438"/>
              <a:ext cx="289128" cy="289128"/>
            </a:xfrm>
            <a:prstGeom prst="roundRect">
              <a:avLst/>
            </a:prstGeom>
            <a:solidFill>
              <a:srgbClr val="FFD966"/>
            </a:solidFill>
            <a:ln w="12700">
              <a:solidFill>
                <a:schemeClr val="tx1"/>
              </a:solidFill>
            </a:ln>
            <a:effectLst>
              <a:outerShdw dist="38100" dir="2700000" algn="tl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867" dirty="0">
                <a:latin typeface="+mj-ea"/>
                <a:ea typeface="+mj-ea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AD5CEBD-B114-DC0D-7AD0-8C988EEE8157}"/>
                </a:ext>
              </a:extLst>
            </p:cNvPr>
            <p:cNvSpPr txBox="1"/>
            <p:nvPr/>
          </p:nvSpPr>
          <p:spPr>
            <a:xfrm>
              <a:off x="893859" y="1465627"/>
              <a:ext cx="278662" cy="3160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altLang="ko-KR" sz="1600" dirty="0">
                  <a:latin typeface="+mj-ea"/>
                  <a:ea typeface="+mj-ea"/>
                </a:rPr>
                <a:t>1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</p:grpSp>
      <p:sp>
        <p:nvSpPr>
          <p:cNvPr id="28" name="Rectangle 9">
            <a:extLst>
              <a:ext uri="{FF2B5EF4-FFF2-40B4-BE49-F238E27FC236}">
                <a16:creationId xmlns:a16="http://schemas.microsoft.com/office/drawing/2014/main" id="{04836553-D1B8-352A-5B71-F1716630A4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9881" y="4659714"/>
            <a:ext cx="8490296" cy="10030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eaLnBrk="1" latinLnBrk="0" hangingPunct="1">
              <a:spcBef>
                <a:spcPts val="1400"/>
              </a:spcBef>
              <a:buClr>
                <a:srgbClr val="2C2C2A"/>
              </a:buClr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〮 </a:t>
            </a: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유의점</a:t>
            </a:r>
            <a:r>
              <a:rPr lang="en-US" altLang="ko-KR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8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 게시물 평가</a:t>
            </a:r>
            <a:endParaRPr lang="ko-KR" altLang="en-US" sz="28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29" name="사각형: 잘린 대각선 방향 모서리 28">
            <a:extLst>
              <a:ext uri="{FF2B5EF4-FFF2-40B4-BE49-F238E27FC236}">
                <a16:creationId xmlns:a16="http://schemas.microsoft.com/office/drawing/2014/main" id="{17FED4DC-F943-786B-56AE-22593AFFE10A}"/>
              </a:ext>
            </a:extLst>
          </p:cNvPr>
          <p:cNvSpPr/>
          <p:nvPr/>
        </p:nvSpPr>
        <p:spPr>
          <a:xfrm>
            <a:off x="1089881" y="2596348"/>
            <a:ext cx="10169267" cy="1665304"/>
          </a:xfrm>
          <a:prstGeom prst="snip2DiagRect">
            <a:avLst/>
          </a:prstGeom>
          <a:solidFill>
            <a:srgbClr val="FFD9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Rectangle 14">
            <a:extLst>
              <a:ext uri="{FF2B5EF4-FFF2-40B4-BE49-F238E27FC236}">
                <a16:creationId xmlns:a16="http://schemas.microsoft.com/office/drawing/2014/main" id="{15164AF1-02F8-9742-4A02-088CB9F3CF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94" y="3229335"/>
            <a:ext cx="10012239" cy="96722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eaLnBrk="1" latinLnBrk="0" hangingPunct="1">
              <a:spcBef>
                <a:spcPts val="1600"/>
              </a:spcBef>
            </a:pPr>
            <a:r>
              <a:rPr lang="ko-KR" altLang="en-US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색에 따라 방의 분위기가 어떻게 달라지나요</a:t>
            </a:r>
            <a:r>
              <a:rPr lang="en-US" altLang="ko-KR" sz="28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1629872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9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783C79BC-9644-B814-24DC-B572CAABBB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6937" y="1997075"/>
            <a:ext cx="10030893" cy="3754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빨강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주황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노랑은 따뜻한 느낌을 준다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남색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파랑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초록은 차가운 느낌을 준다</a:t>
            </a: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  <a:sym typeface="Wingdings" panose="05000000000000000000" pitchFamily="2" charset="2"/>
              </a:rPr>
              <a:t>.</a:t>
            </a:r>
          </a:p>
          <a:p>
            <a:pPr marL="457200" indent="-457200" eaLnBrk="1" latinLnBrk="0" hangingPunct="1">
              <a:spcBef>
                <a:spcPts val="1400"/>
              </a:spcBef>
              <a:buFont typeface="Wingdings" panose="05000000000000000000" pitchFamily="2" charset="2"/>
              <a:buChar char="þ"/>
            </a:pP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  <a:sym typeface="Wingdings" panose="05000000000000000000" pitchFamily="2" charset="2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□ 다음 시간 예고: 따뜻한 느낌의 색과 차가운 느낌의 색을 활용하여 </a:t>
            </a:r>
            <a:endParaRPr lang="en-US" altLang="ko-KR" sz="2600" dirty="0">
              <a:solidFill>
                <a:srgbClr val="2C2C2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eaLnBrk="1" latinLnBrk="0" hangingPunct="1">
              <a:spcBef>
                <a:spcPts val="1400"/>
              </a:spcBef>
            </a:pPr>
            <a:r>
              <a:rPr lang="en-US" altLang="ko-KR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                                  </a:t>
            </a:r>
            <a:r>
              <a:rPr lang="ko-KR" altLang="en-US" sz="2600" dirty="0">
                <a:solidFill>
                  <a:srgbClr val="2C2C2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감정 표현하기</a:t>
            </a:r>
          </a:p>
        </p:txBody>
      </p:sp>
    </p:spTree>
    <p:extLst>
      <p:ext uri="{BB962C8B-B14F-4D97-AF65-F5344CB8AC3E}">
        <p14:creationId xmlns:p14="http://schemas.microsoft.com/office/powerpoint/2010/main" val="39743637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Calibri" panose="020F0502020204030204" pitchFamily="34" charset="0"/>
            <a:cs typeface="Calibri" panose="020F0502020204030204" pitchFamily="34" charset="0"/>
          </a:defRPr>
        </a:defPPr>
      </a:lstStyle>
    </a:lnDef>
  </a:objectDefaults>
  <a:extraClrSchemeLst>
    <a:extraClrScheme>
      <a:clrScheme name="내용 4개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내용 4개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내용 4개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412</TotalTime>
  <Words>339</Words>
  <Application>Microsoft Office PowerPoint</Application>
  <PresentationFormat>와이드스크린</PresentationFormat>
  <Paragraphs>106</Paragraphs>
  <Slides>10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20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Calibri</vt:lpstr>
      <vt:lpstr>Wingdings</vt:lpstr>
      <vt:lpstr>Office Theme</vt:lpstr>
      <vt:lpstr>내용 4개</vt:lpstr>
      <vt:lpstr>PowerPoint 프레젠테이션</vt:lpstr>
      <vt:lpstr>PowerPoint 프레젠테이션</vt:lpstr>
      <vt:lpstr>탐색하기 — 따뜻한 느낌의 색, 차가운 느낌의 색 탐구하기</vt:lpstr>
      <vt:lpstr>탐색하기 — 따뜻한 느낌의 색, 차가운 느낌의 색 탐구하기</vt:lpstr>
      <vt:lpstr>탐색하기 — 따뜻한 느낌의 색, 차가운 느낌의 색 탐구하기</vt:lpstr>
      <vt:lpstr>탐색하기 — 따뜻한 느낌의 색, 차가운 느낌의 색 탐구하기</vt:lpstr>
      <vt:lpstr>제작하기 —나만의 방 꾸미기</vt:lpstr>
      <vt:lpstr>제작하기 —나만의 방 꾸미기</vt:lpstr>
      <vt:lpstr>정리하기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예나 김</cp:lastModifiedBy>
  <cp:revision>21</cp:revision>
  <dcterms:created xsi:type="dcterms:W3CDTF">2026-07-09T22:35:37Z</dcterms:created>
  <dcterms:modified xsi:type="dcterms:W3CDTF">2026-10-22T06:16:03Z</dcterms:modified>
</cp:coreProperties>
</file>