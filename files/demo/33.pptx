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76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모서리가 둥근 직사각형 10"/>
          <p:cNvSpPr/>
          <p:nvPr userDrawn="1"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/>
        </p:blipFill>
        <p:spPr>
          <a:xfrm>
            <a:off x="4938523" y="5907625"/>
            <a:ext cx="2314953" cy="764099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409943" y="2042583"/>
            <a:ext cx="6753997" cy="2387600"/>
          </a:xfrm>
        </p:spPr>
        <p:txBody>
          <a:bodyPr anchor="b">
            <a:normAutofit/>
          </a:bodyPr>
          <a:lstStyle>
            <a:lvl1pPr algn="l">
              <a:defRPr sz="64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3" name="Google Shape;23;p37"/>
          <p:cNvSpPr/>
          <p:nvPr/>
        </p:nvSpPr>
        <p:spPr>
          <a:xfrm>
            <a:off x="335361" y="488138"/>
            <a:ext cx="3834759" cy="72171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8493" y="0"/>
                </a:moveTo>
                <a:lnTo>
                  <a:pt x="3107" y="0"/>
                </a:lnTo>
                <a:cubicBezTo>
                  <a:pt x="2222" y="0"/>
                  <a:pt x="1691" y="0"/>
                  <a:pt x="1337" y="651"/>
                </a:cubicBezTo>
                <a:cubicBezTo>
                  <a:pt x="773" y="1743"/>
                  <a:pt x="328" y="4106"/>
                  <a:pt x="123" y="7106"/>
                </a:cubicBezTo>
                <a:cubicBezTo>
                  <a:pt x="41" y="8290"/>
                  <a:pt x="0" y="9540"/>
                  <a:pt x="0" y="10800"/>
                </a:cubicBezTo>
                <a:cubicBezTo>
                  <a:pt x="0" y="12060"/>
                  <a:pt x="41" y="13310"/>
                  <a:pt x="123" y="14494"/>
                </a:cubicBezTo>
                <a:cubicBezTo>
                  <a:pt x="328" y="17494"/>
                  <a:pt x="773" y="19857"/>
                  <a:pt x="1337" y="20949"/>
                </a:cubicBezTo>
                <a:cubicBezTo>
                  <a:pt x="1691" y="21600"/>
                  <a:pt x="2222" y="21600"/>
                  <a:pt x="3107" y="21600"/>
                </a:cubicBezTo>
                <a:lnTo>
                  <a:pt x="18493" y="21600"/>
                </a:lnTo>
                <a:cubicBezTo>
                  <a:pt x="19378" y="21600"/>
                  <a:pt x="19909" y="21600"/>
                  <a:pt x="20263" y="20949"/>
                </a:cubicBezTo>
                <a:cubicBezTo>
                  <a:pt x="20827" y="19857"/>
                  <a:pt x="21272" y="17494"/>
                  <a:pt x="21477" y="14494"/>
                </a:cubicBezTo>
                <a:cubicBezTo>
                  <a:pt x="21559" y="13310"/>
                  <a:pt x="21600" y="12060"/>
                  <a:pt x="21600" y="10800"/>
                </a:cubicBezTo>
                <a:cubicBezTo>
                  <a:pt x="21600" y="9540"/>
                  <a:pt x="21559" y="8290"/>
                  <a:pt x="21477" y="7106"/>
                </a:cubicBezTo>
                <a:cubicBezTo>
                  <a:pt x="21272" y="4106"/>
                  <a:pt x="20827" y="1743"/>
                  <a:pt x="20263" y="651"/>
                </a:cubicBezTo>
                <a:cubicBezTo>
                  <a:pt x="19909" y="0"/>
                  <a:pt x="19378" y="0"/>
                  <a:pt x="18493" y="0"/>
                </a:cubicBezTo>
                <a:close/>
              </a:path>
            </a:pathLst>
          </a:custGeom>
          <a:solidFill>
            <a:srgbClr val="F6877E"/>
          </a:solidFill>
          <a:ln>
            <a:noFill/>
          </a:ln>
        </p:spPr>
        <p:txBody>
          <a:bodyPr spcFirstLastPara="1" wrap="square" lIns="60933" tIns="60933" rIns="60933" bIns="60933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176" y="1690809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60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512135" y="2972782"/>
            <a:ext cx="7718219" cy="1077218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우리 반 렌즈</a:t>
            </a:r>
            <a:endParaRPr lang="ko-KR" altLang="en-US" sz="5867" b="1" spc="-200" dirty="0">
              <a:solidFill>
                <a:srgbClr val="F6877E"/>
              </a:solidFill>
              <a:latin typeface="+mj-ea"/>
              <a:ea typeface="+mj-ea"/>
            </a:endParaRPr>
          </a:p>
          <a:p>
            <a:r>
              <a:rPr lang="ko-KR" altLang="en-US" sz="3200" b="1" spc="-200" dirty="0" err="1">
                <a:solidFill>
                  <a:srgbClr val="F6877E"/>
                </a:solidFill>
                <a:latin typeface="+mj-ea"/>
                <a:ea typeface="+mj-ea"/>
              </a:rPr>
              <a:t>미술관 개관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431371" y="4115329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5" name="제목 1"/>
          <p:cNvSpPr txBox="1">
            <a:spLocks/>
          </p:cNvSpPr>
          <p:nvPr/>
        </p:nvSpPr>
        <p:spPr>
          <a:xfrm>
            <a:off x="431319" y="577123"/>
            <a:ext cx="3552447" cy="547620"/>
          </a:xfrm>
          <a:prstGeom prst="rect">
            <a:avLst/>
          </a:prstGeom>
        </p:spPr>
        <p:txBody>
          <a:bodyPr vert="horz" lIns="121920" tIns="60960" rIns="121920" bIns="6096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2667" dirty="0">
                <a:solidFill>
                  <a:schemeClr val="bg1"/>
                </a:solidFill>
              </a:rPr>
              <a:t>초등 미술</a:t>
            </a:r>
          </a:p>
        </p:txBody>
      </p:sp>
      <p:pic>
        <p:nvPicPr>
          <p:cNvPr id="16" name="Google Shape;26;p37" descr="표지 차시 말풍선 그림"/>
          <p:cNvPicPr preferRelativeResize="0"/>
          <p:nvPr/>
        </p:nvPicPr>
        <p:blipFill rotWithShape="1">
          <a:blip r:embed="rId2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423925" y="1640745"/>
            <a:ext cx="2067867" cy="138523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31;p1"/>
          <p:cNvSpPr txBox="1">
            <a:spLocks/>
          </p:cNvSpPr>
          <p:nvPr/>
        </p:nvSpPr>
        <p:spPr>
          <a:xfrm>
            <a:off x="5185669" y="2018557"/>
            <a:ext cx="2542512" cy="64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buClr>
                <a:schemeClr val="lt1"/>
              </a:buClr>
              <a:buSzPts val="2800"/>
              <a:buNone/>
            </a:pPr>
            <a:r>
              <a:rPr lang="en-US" altLang="ko-KR" sz="3733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7차시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35722" y="4400000"/>
            <a:ext cx="5925788" cy="5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r"/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단원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: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같은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세상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, </a:t>
            </a:r>
            <a:r>
              <a:rPr sz="2800" b="1" u="none" dirty="0" err="1">
                <a:solidFill>
                  <a:srgbClr val="4472C4"/>
                </a:solidFill>
                <a:latin typeface="+mj-ea"/>
                <a:ea typeface="+mj-ea"/>
              </a:rPr>
              <a:t>다른</a:t>
            </a:r>
            <a:r>
              <a:rPr sz="2800" b="1" u="none" dirty="0">
                <a:solidFill>
                  <a:srgbClr val="4472C4"/>
                </a:solidFill>
                <a:latin typeface="+mj-ea"/>
                <a:ea typeface="+mj-ea"/>
              </a:rPr>
              <a:t> 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조형놀이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550000"/>
            <a:ext cx="7400000" cy="2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일곱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번의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시간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동안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배운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조형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단어로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빙고를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해요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빙고판에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단어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아홉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개를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마음대로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채우고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,</a:t>
            </a: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사진에서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보이는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단어가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나오면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지워요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ctr"/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한 줄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빙고가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나오면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endParaRPr lang="en-US" sz="2800" b="0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단어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세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개로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사진을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설명해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800" b="0" u="none" dirty="0" err="1">
                <a:solidFill>
                  <a:srgbClr val="404040"/>
                </a:solidFill>
                <a:latin typeface="+mn-ea"/>
                <a:ea typeface="+mn-ea"/>
              </a:rPr>
              <a:t>봐요</a:t>
            </a:r>
            <a:r>
              <a:rPr sz="28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조형놀이. 조형 단어 빙고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0000" y="1480000"/>
            <a:ext cx="92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활동지의 빙고판에 단어 창고의 아홉 단어를 마음대로 채워요.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000" y="20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50000" y="20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00000" y="20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0000" y="330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50000" y="330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400000" y="330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0000" y="45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50000" y="45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400000" y="4550000"/>
            <a:ext cx="1250000" cy="125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100000" y="2050000"/>
            <a:ext cx="62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단어 창고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00000" y="260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질감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000" y="260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대비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0000" y="260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프레임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00000" y="337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앵글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0000" y="337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구도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0000" y="337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강조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00000" y="414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관점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50000" y="414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의도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00000" y="4140000"/>
            <a:ext cx="1900000" cy="6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초점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0000" y="5950000"/>
            <a:ext cx="10400000" cy="48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한 사진에서 여러 단어가 나와도 모두 정답이에요!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이 사진에서 보이는 조형 단어는?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1789832-B5CF-AF13-56DA-DB806ACAE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978" y="2193918"/>
            <a:ext cx="4024385" cy="30182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이 사진에서 보이는 조형 단어는?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B0CA8B8-FAA1-BE5B-1FE9-D493596B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1300" y="2141737"/>
            <a:ext cx="408940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60" name="Rounded Rectangle 59"/>
          <p:cNvSpPr/>
          <p:nvPr/>
        </p:nvSpPr>
        <p:spPr>
          <a:xfrm>
            <a:off x="2900000" y="5330000"/>
            <a:ext cx="6400000" cy="5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이 사진에서 보이는 조형 단어는?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83C9BE-7BDF-5BA6-4920-8F6AC9AC6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768" y="2305535"/>
            <a:ext cx="3902832" cy="2927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번의 눈, 그중 오늘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매일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보던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우리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학교를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일곱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번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다르게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보는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사진가가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되어</a:t>
            </a:r>
            <a:r>
              <a:rPr sz="18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800" b="0" u="none" dirty="0" err="1">
                <a:solidFill>
                  <a:srgbClr val="404040"/>
                </a:solidFill>
                <a:latin typeface="+mn-ea"/>
                <a:ea typeface="+mn-ea"/>
              </a:rPr>
              <a:t>봐요</a:t>
            </a:r>
            <a:endParaRPr sz="18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cxnSp>
        <p:nvCxnSpPr>
          <p:cNvPr id="99" name="Connector 98"/>
          <p:cNvCxnSpPr/>
          <p:nvPr/>
        </p:nvCxnSpPr>
        <p:spPr>
          <a:xfrm>
            <a:off x="1325000" y="3075000"/>
            <a:ext cx="9600000" cy="0"/>
          </a:xfrm>
          <a:prstGeom prst="line">
            <a:avLst/>
          </a:prstGeom>
          <a:ln w="38100">
            <a:solidFill>
              <a:srgbClr val="F687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1차시</a:t>
            </a:r>
          </a:p>
        </p:txBody>
      </p:sp>
      <p:sp>
        <p:nvSpPr>
          <p:cNvPr id="102" name="Oval 101"/>
          <p:cNvSpPr/>
          <p:nvPr/>
        </p:nvSpPr>
        <p:spPr>
          <a:xfrm>
            <a:off x="23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관점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2차시</a:t>
            </a:r>
          </a:p>
        </p:txBody>
      </p:sp>
      <p:sp>
        <p:nvSpPr>
          <p:cNvPr id="104" name="Oval 103"/>
          <p:cNvSpPr/>
          <p:nvPr/>
        </p:nvSpPr>
        <p:spPr>
          <a:xfrm>
            <a:off x="39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준비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7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3차시</a:t>
            </a:r>
          </a:p>
        </p:txBody>
      </p:sp>
      <p:sp>
        <p:nvSpPr>
          <p:cNvPr id="106" name="Oval 105"/>
          <p:cNvSpPr/>
          <p:nvPr/>
        </p:nvSpPr>
        <p:spPr>
          <a:xfrm>
            <a:off x="55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시선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3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4차시</a:t>
            </a:r>
          </a:p>
        </p:txBody>
      </p:sp>
      <p:sp>
        <p:nvSpPr>
          <p:cNvPr id="108" name="Oval 107"/>
          <p:cNvSpPr/>
          <p:nvPr/>
        </p:nvSpPr>
        <p:spPr>
          <a:xfrm>
            <a:off x="71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구도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9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5차시</a:t>
            </a:r>
          </a:p>
        </p:txBody>
      </p:sp>
      <p:sp>
        <p:nvSpPr>
          <p:cNvPr id="110" name="Oval 109"/>
          <p:cNvSpPr/>
          <p:nvPr/>
        </p:nvSpPr>
        <p:spPr>
          <a:xfrm>
            <a:off x="8700000" y="2450000"/>
            <a:ext cx="1250000" cy="1250000"/>
          </a:xfrm>
          <a:prstGeom prst="ellipse">
            <a:avLst/>
          </a:prstGeom>
          <a:solidFill>
            <a:srgbClr val="FDECE9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j-ea"/>
                <a:ea typeface="+mj-ea"/>
              </a:rPr>
              <a:t>의도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0" u="none">
                <a:solidFill>
                  <a:srgbClr val="808080"/>
                </a:solidFill>
                <a:latin typeface="+mn-ea"/>
                <a:ea typeface="+mn-ea"/>
              </a:rPr>
              <a:t>6차시</a:t>
            </a:r>
          </a:p>
        </p:txBody>
      </p:sp>
      <p:sp>
        <p:nvSpPr>
          <p:cNvPr id="112" name="Oval 111"/>
          <p:cNvSpPr/>
          <p:nvPr/>
        </p:nvSpPr>
        <p:spPr>
          <a:xfrm>
            <a:off x="10300000" y="2450000"/>
            <a:ext cx="1250000" cy="1250000"/>
          </a:xfrm>
          <a:prstGeom prst="ellipse">
            <a:avLst/>
          </a:prstGeom>
          <a:solidFill>
            <a:srgbClr val="D9534A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소통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3760000"/>
            <a:ext cx="1550000" cy="4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D9534A"/>
                </a:solidFill>
                <a:latin typeface="+mn-ea"/>
                <a:ea typeface="+mn-ea"/>
              </a:rPr>
              <a:t>7차시 (오늘)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300000" y="4950000"/>
            <a:ext cx="9600000" cy="7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번의 눈이 모두 켜졌어요. 오늘은 우리 반 렌즈 미술관이 문을 열어요.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869897" y="2900000"/>
            <a:ext cx="8794678" cy="1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친구의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보고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조형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단어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로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느낌과</a:t>
            </a:r>
            <a:r>
              <a:rPr sz="2700" b="1" u="sng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700" b="1" u="sng" dirty="0" err="1">
                <a:solidFill>
                  <a:srgbClr val="404040"/>
                </a:solidFill>
                <a:latin typeface="+mn-ea"/>
                <a:ea typeface="+mn-ea"/>
              </a:rPr>
              <a:t>생각</a:t>
            </a:r>
            <a:r>
              <a:rPr sz="2700" b="0" u="none" dirty="0" err="1">
                <a:solidFill>
                  <a:srgbClr val="404040"/>
                </a:solidFill>
                <a:latin typeface="+mn-ea"/>
                <a:ea typeface="+mn-ea"/>
              </a:rPr>
              <a:t>을</a:t>
            </a:r>
            <a:r>
              <a:rPr sz="27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lang="ko-KR" altLang="en-US" sz="2700" b="0" u="none" dirty="0">
                <a:solidFill>
                  <a:srgbClr val="404040"/>
                </a:solidFill>
                <a:latin typeface="+mn-ea"/>
                <a:ea typeface="+mn-ea"/>
              </a:rPr>
              <a:t>나눠 봅시다</a:t>
            </a:r>
            <a:r>
              <a:rPr lang="en-US" altLang="ko-KR" sz="27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  <a:endParaRPr sz="2700" b="0" u="none" dirty="0">
              <a:solidFill>
                <a:srgbClr val="40404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조형 단어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우리 반 사진들을 한눈에 떠올려 보세요.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996000" y="2000000"/>
            <a:ext cx="4200000" cy="115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400" b="1" u="none">
                <a:solidFill>
                  <a:srgbClr val="FFFFFF"/>
                </a:solidFill>
                <a:latin typeface="+mj-ea"/>
                <a:ea typeface="+mj-ea"/>
              </a:rPr>
              <a:t>통일과 변화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0000" y="3250000"/>
            <a:ext cx="10400000" cy="7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모두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우리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학교를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찍었다는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점은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같고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(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통일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),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사진가마다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보는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눈은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달라요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(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변화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). </a:t>
            </a:r>
            <a:endParaRPr lang="en-US" sz="2000" b="1" u="none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/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이것이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바로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'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세상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다른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000" b="1" u="none" dirty="0" err="1">
                <a:solidFill>
                  <a:srgbClr val="404040"/>
                </a:solidFill>
                <a:latin typeface="+mn-ea"/>
                <a:ea typeface="+mn-ea"/>
              </a:rPr>
              <a:t>눈'이에요</a:t>
            </a:r>
            <a:r>
              <a:rPr sz="2000" b="1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671000" y="3950000"/>
            <a:ext cx="43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통일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같은 세상 · 모두 우리 학교를 찍었어요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21000" y="3950000"/>
            <a:ext cx="4300000" cy="9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1" u="none">
                <a:solidFill>
                  <a:srgbClr val="D9534A"/>
                </a:solidFill>
                <a:latin typeface="+mn-ea"/>
                <a:ea typeface="+mn-ea"/>
              </a:rPr>
              <a:t>변화</a:t>
            </a:r>
          </a:p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다른 눈 · 사진가마다 보는 눈이 달라요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1300000" y="5050000"/>
            <a:ext cx="9600000" cy="650000"/>
          </a:xfrm>
          <a:prstGeom prst="roundRect">
            <a:avLst/>
          </a:prstGeom>
          <a:solidFill>
            <a:srgbClr val="FFF8F3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생각해 보기: '같은 세상, 다른 눈'을 가장 잘 보여 주는 두 작품은?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빈칸에 들어갈 말을 추측해 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260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00000" y="285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작품에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담긴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느낌과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생각을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나누며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>
                <a:solidFill>
                  <a:srgbClr val="808080"/>
                </a:solidFill>
                <a:latin typeface="+mj-ea"/>
                <a:ea typeface="+mj-ea"/>
              </a:rPr>
              <a:t>  ?  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할 수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오늘의 핵심 문장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오늘의 핵심 문장을 함께 읽어 봅시다.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0000" y="1880000"/>
            <a:ext cx="104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4차시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시선의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높이와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거리를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바꾸어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대상을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다르게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표현할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5차시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구도를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골라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화면을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짜임새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있게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만들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6차시 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사진가는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의도를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담아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나만의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사진을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완성할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 수 </a:t>
            </a:r>
            <a:r>
              <a:rPr sz="1400" b="0" u="none" dirty="0" err="1">
                <a:solidFill>
                  <a:srgbClr val="808080"/>
                </a:solidFill>
                <a:latin typeface="+mn-ea"/>
                <a:ea typeface="+mn-ea"/>
              </a:rPr>
              <a:t>있다</a:t>
            </a:r>
            <a:r>
              <a:rPr sz="1400" b="0" u="none" dirty="0">
                <a:solidFill>
                  <a:srgbClr val="80808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2930000"/>
            <a:ext cx="10400000" cy="1750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00000" y="3180000"/>
            <a:ext cx="10000000" cy="12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사진가는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작품에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담긴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느낌과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생각을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나누며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</a:t>
            </a:r>
            <a:r>
              <a:rPr sz="2400" b="1" u="sng" dirty="0" err="1">
                <a:solidFill>
                  <a:srgbClr val="D9534A"/>
                </a:solidFill>
                <a:latin typeface="+mj-ea"/>
                <a:ea typeface="+mj-ea"/>
              </a:rPr>
              <a:t>소통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할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 수 </a:t>
            </a:r>
            <a:r>
              <a:rPr sz="2400" b="1" u="none" dirty="0" err="1">
                <a:solidFill>
                  <a:srgbClr val="404040"/>
                </a:solidFill>
                <a:latin typeface="+mj-ea"/>
                <a:ea typeface="+mj-ea"/>
              </a:rPr>
              <a:t>있다</a:t>
            </a:r>
            <a:r>
              <a:rPr sz="2400" b="1" u="none" dirty="0">
                <a:solidFill>
                  <a:srgbClr val="404040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300000" y="4880000"/>
            <a:ext cx="9600000" cy="5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일곱 차시 동안 일곱 문장을 모아, 7차시에 함께 읽어요.</a:t>
            </a:r>
          </a:p>
        </p:txBody>
      </p:sp>
      <p:sp>
        <p:nvSpPr>
          <p:cNvPr id="103" name="Oval 102"/>
          <p:cNvSpPr/>
          <p:nvPr/>
        </p:nvSpPr>
        <p:spPr>
          <a:xfrm>
            <a:off x="42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04" name="Oval 103"/>
          <p:cNvSpPr/>
          <p:nvPr/>
        </p:nvSpPr>
        <p:spPr>
          <a:xfrm>
            <a:off x="478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05" name="Oval 104"/>
          <p:cNvSpPr/>
          <p:nvPr/>
        </p:nvSpPr>
        <p:spPr>
          <a:xfrm>
            <a:off x="534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06" name="Oval 105"/>
          <p:cNvSpPr/>
          <p:nvPr/>
        </p:nvSpPr>
        <p:spPr>
          <a:xfrm>
            <a:off x="590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107" name="Oval 106"/>
          <p:cNvSpPr/>
          <p:nvPr/>
        </p:nvSpPr>
        <p:spPr>
          <a:xfrm>
            <a:off x="646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5</a:t>
            </a:r>
          </a:p>
        </p:txBody>
      </p:sp>
      <p:sp>
        <p:nvSpPr>
          <p:cNvPr id="108" name="Oval 107"/>
          <p:cNvSpPr/>
          <p:nvPr/>
        </p:nvSpPr>
        <p:spPr>
          <a:xfrm>
            <a:off x="702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6</a:t>
            </a:r>
          </a:p>
        </p:txBody>
      </p:sp>
      <p:sp>
        <p:nvSpPr>
          <p:cNvPr id="109" name="Oval 108"/>
          <p:cNvSpPr/>
          <p:nvPr/>
        </p:nvSpPr>
        <p:spPr>
          <a:xfrm>
            <a:off x="7586000" y="5480000"/>
            <a:ext cx="380000" cy="380000"/>
          </a:xfrm>
          <a:prstGeom prst="ellipse">
            <a:avLst/>
          </a:prstGeom>
          <a:solidFill>
            <a:srgbClr val="D9534A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u="none">
                <a:solidFill>
                  <a:srgbClr val="FFFFFF"/>
                </a:solidFill>
                <a:latin typeface="+mn-ea"/>
                <a:ea typeface="+mn-ea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일곱 문장 함께 읽기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일곱 차시 동안 모은 핵심 문장을 함께 소리 내어 읽어요.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00000" y="1950000"/>
            <a:ext cx="10400000" cy="335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1차시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온몸의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감각으로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세상을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관찰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할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2차시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같은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세상을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나만의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관점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으로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볼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3차시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도구를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바르게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다루어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표현을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준비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할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4차시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시선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의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높이와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거리를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바꾸어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대상을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다르게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표현할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5차시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구도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골라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화면을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짜임새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있게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만들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6차시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</a:t>
            </a:r>
            <a:r>
              <a:rPr lang="ko-KR" altLang="en-US" sz="2100" b="0" u="none" dirty="0">
                <a:solidFill>
                  <a:srgbClr val="404040"/>
                </a:solidFill>
                <a:latin typeface="+mn-ea"/>
                <a:ea typeface="+mn-ea"/>
              </a:rPr>
              <a:t>가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는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의도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담아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나만의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완성할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  <a:p>
            <a:pPr algn="l"/>
            <a:r>
              <a:rPr sz="1500" b="0" u="none" dirty="0">
                <a:solidFill>
                  <a:srgbClr val="808080"/>
                </a:solidFill>
                <a:latin typeface="+mn-ea"/>
                <a:ea typeface="+mn-ea"/>
              </a:rPr>
              <a:t>7차시 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사진가는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작품에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담긴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느낌과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생각을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나누며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2100" b="1" u="none" dirty="0" err="1">
                <a:solidFill>
                  <a:srgbClr val="D9534A"/>
                </a:solidFill>
                <a:latin typeface="+mn-ea"/>
                <a:ea typeface="+mn-ea"/>
              </a:rPr>
              <a:t>소통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할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 수 </a:t>
            </a:r>
            <a:r>
              <a:rPr sz="2100" b="0" u="none" dirty="0" err="1">
                <a:solidFill>
                  <a:srgbClr val="404040"/>
                </a:solidFill>
                <a:latin typeface="+mn-ea"/>
                <a:ea typeface="+mn-ea"/>
              </a:rPr>
              <a:t>있다</a:t>
            </a:r>
            <a:r>
              <a:rPr sz="2100" b="0" u="none" dirty="0">
                <a:solidFill>
                  <a:srgbClr val="40404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00000" y="550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우리는 이제 관찰하고, 관점을 갖고, 준비하고, 시선을 바꾸고, 구도를 짜고, 의도를 담아, 소통하는 사진가입니다.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13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AI는? 나는?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같은 대상을 만날 때, AI와 나는 어떻게 다를까요?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0000" y="2050000"/>
            <a:ext cx="4900000" cy="620000"/>
          </a:xfrm>
          <a:prstGeom prst="roundRect">
            <a:avLst/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AI는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10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사진에 '좋아요'가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몇 개 달릴지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예측해요.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300000" y="2050000"/>
            <a:ext cx="4900000" cy="62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FFFFFF"/>
                </a:solidFill>
                <a:latin typeface="+mj-ea"/>
                <a:ea typeface="+mj-ea"/>
              </a:rPr>
              <a:t>나는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00000" y="2750000"/>
            <a:ext cx="4900000" cy="2100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친구의 사진 앞에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멈춰 서서</a:t>
            </a:r>
          </a:p>
          <a:p>
            <a:pPr algn="ctr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그 친구의 마음을 읽어요.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00000" y="5250000"/>
            <a:ext cx="10400000" cy="56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FFFFFF"/>
                </a:solidFill>
                <a:latin typeface="+mn-ea"/>
                <a:ea typeface="+mn-ea"/>
              </a:rPr>
              <a:t>감상은 숫자보다 친구의 마음을 읽는 거예요.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렌즈 미술관 개관식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  <a:endParaRPr lang="ko-KR" altLang="en-US" sz="2400" spc="-147" dirty="0">
              <a:solidFill>
                <a:schemeClr val="bg1">
                  <a:alpha val="99000"/>
                </a:schemeClr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650000" y="1480000"/>
            <a:ext cx="290000" cy="29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10000" y="1400000"/>
            <a:ext cx="8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800" b="0" u="none">
                <a:solidFill>
                  <a:srgbClr val="404040"/>
                </a:solidFill>
                <a:latin typeface="+mn-ea"/>
                <a:ea typeface="+mn-ea"/>
              </a:rPr>
              <a:t>선생님이 도슨트(작품을 소개해 주는 사람)가 되어 볼게요.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496000" y="2000000"/>
            <a:ext cx="7200000" cy="405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6877E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ctr"/>
            <a:endParaRPr/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차시 영상 「도슨트가 되어 볼까요」 (1분 10초 내외)</a:t>
            </a:r>
          </a:p>
          <a:p>
            <a:pPr algn="ctr"/>
            <a:r>
              <a:rPr sz="1800" b="0" u="none">
                <a:solidFill>
                  <a:srgbClr val="808080"/>
                </a:solidFill>
                <a:latin typeface="+mn-ea"/>
                <a:ea typeface="+mn-ea"/>
              </a:rPr>
              <a:t>통합학습창 [함께 보기]로 재생</a:t>
            </a:r>
          </a:p>
        </p:txBody>
      </p:sp>
      <p:sp>
        <p:nvSpPr>
          <p:cNvPr id="100" name="Isosceles Triangle 99"/>
          <p:cNvSpPr/>
          <p:nvPr/>
        </p:nvSpPr>
        <p:spPr>
          <a:xfrm rot="5400000">
            <a:off x="5766000" y="2900000"/>
            <a:ext cx="660000" cy="620000"/>
          </a:xfrm>
          <a:prstGeom prst="triangle">
            <a:avLst/>
          </a:prstGeom>
          <a:solidFill>
            <a:srgbClr val="F68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7차시_영상">
            <a:hlinkClick r:id="" action="ppaction://media"/>
            <a:extLst>
              <a:ext uri="{FF2B5EF4-FFF2-40B4-BE49-F238E27FC236}">
                <a16:creationId xmlns:a16="http://schemas.microsoft.com/office/drawing/2014/main" id="{05BEA2DF-A55F-DB72-0DED-A60CAFCE731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16459" y="1878227"/>
            <a:ext cx="7893541" cy="44401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81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관람 예절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렌즈 미술관 개관식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도슨트 소개 세 가지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제목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보여 주고 싶었던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사용한 도구(앵글·거리·구도)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1850000"/>
            <a:ext cx="5100000" cy="6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u="none">
                <a:solidFill>
                  <a:srgbClr val="FFFFFF"/>
                </a:solidFill>
                <a:latin typeface="+mj-ea"/>
                <a:ea typeface="+mj-ea"/>
              </a:rPr>
              <a:t>관람 예절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0000" y="260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1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작품 앞에서는 천천히, 조용히 봐요.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000" y="342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2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다르게 찍은 사진을 흉보지 않아요.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0000" y="4240000"/>
            <a:ext cx="5100000" cy="70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900" b="1" u="none">
                <a:solidFill>
                  <a:srgbClr val="D9534A"/>
                </a:solidFill>
                <a:latin typeface="+mn-ea"/>
                <a:ea typeface="+mn-ea"/>
              </a:rPr>
              <a:t>3  </a:t>
            </a:r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'좋아요'만 누르지 말고 말로 나눠요.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렌즈 미술관 개관식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클래스보드의 '나의 호기심 사진첩'이 오늘부터 '우리 반 렌즈 미술관'이 돼요.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자유롭게 관람해요.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모둠 안에서 도슨트(작품을 소개해 주는 사람)처럼 내 작품을 30초 동안 소개해요.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예) 제 작품 「복도에 내린 햇살」을 소개합니다. 매일 지나치던 복도의 햇빛을 보여 주고 싶었어요. 그래서 개미의 눈과 대각선 구도로 찍었어요.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도슨트 소개는 6차시에 쓴 작가의 말을 그대로 써도 돼요.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활동지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렌즈 미술관 개관식_활동지, 활동 예시</a:t>
            </a:r>
          </a:p>
        </p:txBody>
      </p:sp>
      <p:pic>
        <p:nvPicPr>
          <p:cNvPr id="13" name="Picture 12" descr="7차시 활동지: 우리 반 렌즈 미술관 개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예시 작품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1. 렌즈 미술관 개관식_활동지, 활동 예시</a:t>
            </a:r>
          </a:p>
        </p:txBody>
      </p:sp>
      <p:pic>
        <p:nvPicPr>
          <p:cNvPr id="13" name="Picture 12" descr="7차시 활동 예시 작품: 우리 반 렌즈 미술관 개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00" y="1780000"/>
            <a:ext cx="8533000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2. 감상 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친구 작품 2점을 골라요. 댓글이 없는 작품부터 먼저.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감상 문장틀로 댓글을 써요.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9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50000" y="29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내 작품에 달린 댓글 하나에 답글을 달아요.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50000" y="3700000"/>
            <a:ext cx="9500000" cy="700000"/>
          </a:xfrm>
          <a:prstGeom prst="roundRect">
            <a:avLst/>
          </a:prstGeom>
          <a:solidFill>
            <a:srgbClr val="FDECE9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u="none">
                <a:solidFill>
                  <a:srgbClr val="404040"/>
                </a:solidFill>
                <a:latin typeface="+mn-ea"/>
                <a:ea typeface="+mn-ea"/>
              </a:rPr>
              <a:t>이 작품은 (조형 단어)이/가 돋보이고, 나는 (느낌)이 들었다. 왜냐하면 ~.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'잘 찍었다', '예쁘다'로 끝내지 않아요. 무엇이 왜 좋은지까지 써요.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 방법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3. 미술관 마무리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0" y="167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0000" y="161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클래스보드 선호도 조사로 '다시 보고 싶은 작품'에 투표해요.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" y="23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50000" y="2260000"/>
            <a:ext cx="90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나는 나만의 눈으로 세상을 담는 사진가가 되었나요?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1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아니다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8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2</a:t>
            </a:r>
          </a:p>
          <a:p>
            <a:pPr algn="ctr"/>
            <a:endParaRPr sz="2000" b="1" u="none">
              <a:solidFill>
                <a:srgbClr val="D9534A"/>
              </a:solidFill>
              <a:latin typeface="+mn-ea"/>
              <a:ea typeface="+mn-ea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26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3</a:t>
            </a:r>
          </a:p>
          <a:p>
            <a:pPr algn="ctr"/>
            <a:endParaRPr sz="2000" b="1" u="none">
              <a:solidFill>
                <a:srgbClr val="D9534A"/>
              </a:solidFill>
              <a:latin typeface="+mn-ea"/>
              <a:ea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94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4</a:t>
            </a:r>
          </a:p>
          <a:p>
            <a:pPr algn="ctr"/>
            <a:endParaRPr sz="2000" b="1" u="none">
              <a:solidFill>
                <a:srgbClr val="D9534A"/>
              </a:solidFill>
              <a:latin typeface="+mn-ea"/>
              <a:ea typeface="+mn-ea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62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5</a:t>
            </a:r>
          </a:p>
          <a:p>
            <a:pPr algn="ctr"/>
            <a:endParaRPr sz="2000" b="1" u="none">
              <a:solidFill>
                <a:srgbClr val="D9534A"/>
              </a:solidFill>
              <a:latin typeface="+mn-ea"/>
              <a:ea typeface="+mn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300000" y="2820000"/>
            <a:ext cx="1500000" cy="105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D9534A"/>
                </a:solidFill>
                <a:latin typeface="+mn-ea"/>
                <a:ea typeface="+mn-ea"/>
              </a:rPr>
              <a:t>6</a:t>
            </a:r>
          </a:p>
          <a:p>
            <a:pPr algn="ctr"/>
            <a:r>
              <a:rPr sz="1700" b="0" u="none">
                <a:solidFill>
                  <a:srgbClr val="404040"/>
                </a:solidFill>
                <a:latin typeface="+mn-ea"/>
                <a:ea typeface="+mn-ea"/>
              </a:rPr>
              <a:t>그렇다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000" y="4120000"/>
            <a:ext cx="330000" cy="33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u="none">
                <a:solidFill>
                  <a:srgbClr val="FFFFFF"/>
                </a:solidFill>
                <a:latin typeface="+mn-ea"/>
                <a:ea typeface="+mn-ea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50000" y="4060000"/>
            <a:ext cx="9900000" cy="4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100" b="0" u="none">
                <a:solidFill>
                  <a:srgbClr val="404040"/>
                </a:solidFill>
                <a:latin typeface="+mn-ea"/>
                <a:ea typeface="+mn-ea"/>
              </a:rPr>
              <a:t>그렇게 답한 까닭을 한 줄 써요.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" y="5750000"/>
            <a:ext cx="10400000" cy="560000"/>
          </a:xfrm>
          <a:prstGeom prst="round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 u="none">
                <a:solidFill>
                  <a:srgbClr val="404040"/>
                </a:solidFill>
                <a:latin typeface="+mn-ea"/>
                <a:ea typeface="+mn-ea"/>
              </a:rPr>
              <a:t>투표는 순위가 아니라 다시 보고 싶은 작품을 고르는 애정 투표예요.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00" y="20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오늘의 조형 단어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0000" y="20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1" u="none">
                <a:solidFill>
                  <a:srgbClr val="D9534A"/>
                </a:solidFill>
                <a:latin typeface="+mn-ea"/>
                <a:ea typeface="+mn-ea"/>
              </a:rPr>
              <a:t>통일과 변화</a:t>
            </a:r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  하나로 어울리면서도 서로 다른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0" y="34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오늘 한 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0000" y="34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우리 반 렌즈 미술관을 열고, 조형 단어로 친구 작품과 이야기를 나눴어요.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00" y="4850000"/>
            <a:ext cx="2300000" cy="900000"/>
          </a:xfrm>
          <a:prstGeom prst="roundRect">
            <a:avLst/>
          </a:prstGeom>
          <a:solidFill>
            <a:srgbClr val="D95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u="none">
                <a:solidFill>
                  <a:srgbClr val="FFFFFF"/>
                </a:solidFill>
                <a:latin typeface="+mn-ea"/>
                <a:ea typeface="+mn-ea"/>
              </a:rPr>
              <a:t>핵심 문장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0000" y="4850000"/>
            <a:ext cx="77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사진가(나)는 작품에 담긴 느낌과 생각을 나누며 소통할 수 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2400000" y="2600000"/>
            <a:ext cx="7400000" cy="2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오늘 배운 내용을 확인해 볼까요?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모두 3문제가 준비되어 있습니다.</a:t>
            </a:r>
          </a:p>
          <a:p>
            <a:pPr algn="ctr"/>
            <a:r>
              <a:rPr sz="2800" b="0" u="none">
                <a:solidFill>
                  <a:srgbClr val="404040"/>
                </a:solidFill>
                <a:latin typeface="+mn-ea"/>
                <a:ea typeface="+mn-ea"/>
              </a:rPr>
              <a:t>하이러닝 형성평가에서 답을 골라 보세요.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1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친구 작품을 감상하는 말로 가장 알맞은 것은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개미의 눈으로 찍어서 신발이 거인처럼 보여 재미있어.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잘 찍었어.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③ 나라면 다르게 찍었을 거야.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친구 작품을 감상하는 말로 가장 알맞은 것은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① 개미의 눈으로 찍어서 신발이 거인처럼 보여 재미있어.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2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친구 작품을 감상하는 바른 태도는 무엇인가요?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① 내 것과 다르면 틀렸다고 한다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② 댓글이 많은 작품에만 댓글을 단다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>
                <a:solidFill>
                  <a:srgbClr val="404040"/>
                </a:solidFill>
                <a:latin typeface="+mn-ea"/>
                <a:ea typeface="+mn-ea"/>
              </a:rPr>
              <a:t>③ 내 관점과 달라도 존중한다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친구 작품을 감상하는 바른 태도는 무엇인가요?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u="none">
                <a:solidFill>
                  <a:srgbClr val="D9534A"/>
                </a:solidFill>
                <a:latin typeface="+mj-ea"/>
                <a:ea typeface="+mj-ea"/>
              </a:rPr>
              <a:t>③ 내 관점과 달라도 존중한다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3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250000"/>
            <a:ext cx="8800000" cy="9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 u="none">
                <a:solidFill>
                  <a:srgbClr val="404040"/>
                </a:solidFill>
                <a:latin typeface="+mn-ea"/>
                <a:ea typeface="+mn-ea"/>
              </a:rPr>
              <a:t>모두 우리 학교를 찍었지만 사진가마다 다르게 보이는 것처럼, 하나로 어울리면서도 서로 다른 것을 무엇이라고 하나요?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① 강조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② 통일과 변화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46000" y="3450000"/>
            <a:ext cx="2700000" cy="11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404040"/>
                </a:solidFill>
                <a:latin typeface="+mn-ea"/>
                <a:ea typeface="+mn-ea"/>
              </a:rPr>
              <a:t>③ 대비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Rectangle 58"/>
          <p:cNvSpPr/>
          <p:nvPr/>
        </p:nvSpPr>
        <p:spPr>
          <a:xfrm>
            <a:off x="1700000" y="2350000"/>
            <a:ext cx="8800000" cy="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0" u="none">
                <a:solidFill>
                  <a:srgbClr val="808080"/>
                </a:solidFill>
                <a:latin typeface="+mn-ea"/>
                <a:ea typeface="+mn-ea"/>
              </a:rPr>
              <a:t>모두 우리 학교를 찍었지만 사진가마다 다르게 보이는 것처럼, 하나로 어울리면서도 서로 다른 것을 무엇이라고 하나요?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00000" y="31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 u="none">
                <a:solidFill>
                  <a:srgbClr val="D9534A"/>
                </a:solidFill>
                <a:latin typeface="+mj-ea"/>
                <a:ea typeface="+mj-ea"/>
              </a:rPr>
              <a:t>② 통일과 변화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00000" y="4250000"/>
            <a:ext cx="8200000" cy="8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0" u="none">
                <a:solidFill>
                  <a:srgbClr val="404040"/>
                </a:solidFill>
                <a:latin typeface="+mn-ea"/>
                <a:ea typeface="+mn-ea"/>
              </a:rPr>
              <a:t>같은 세상(통일), 다른 눈(변화).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단원 마무리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마무리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0000" y="1600000"/>
            <a:ext cx="7400000" cy="17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400" b="0" u="none">
                <a:solidFill>
                  <a:srgbClr val="404040"/>
                </a:solidFill>
                <a:latin typeface="+mn-ea"/>
                <a:ea typeface="+mn-ea"/>
              </a:rPr>
              <a:t>일곱 번의 시간을 모두 마쳤어요. 우리 반 렌즈 미술관은 계속 열려 있어요.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0000" y="3500000"/>
            <a:ext cx="7200000" cy="10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2200" b="0" u="none">
                <a:solidFill>
                  <a:srgbClr val="404040"/>
                </a:solidFill>
                <a:latin typeface="+mn-ea"/>
                <a:ea typeface="+mn-ea"/>
              </a:rPr>
              <a:t>일곱 번의 시간을 함께한 사진가 여러분, 고맙습니다.</a:t>
            </a:r>
          </a:p>
        </p:txBody>
      </p:sp>
      <p:sp>
        <p:nvSpPr>
          <p:cNvPr id="100" name="Oval Callout 99"/>
          <p:cNvSpPr/>
          <p:nvPr/>
        </p:nvSpPr>
        <p:spPr>
          <a:xfrm>
            <a:off x="7600000" y="5100000"/>
            <a:ext cx="2100000" cy="900000"/>
          </a:xfrm>
          <a:prstGeom prst="wedgeEllipseCallout">
            <a:avLst/>
          </a:prstGeom>
          <a:solidFill>
            <a:srgbClr val="FFFFFF"/>
          </a:solidFill>
          <a:ln w="19050">
            <a:solidFill>
              <a:srgbClr val="F687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나만의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눈으로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계속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찍어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 </a:t>
            </a:r>
            <a:r>
              <a:rPr sz="1600" b="0" u="none" dirty="0" err="1">
                <a:solidFill>
                  <a:srgbClr val="404040"/>
                </a:solidFill>
                <a:latin typeface="+mn-ea"/>
                <a:ea typeface="+mn-ea"/>
              </a:rPr>
              <a:t>볼까</a:t>
            </a:r>
            <a:r>
              <a:rPr sz="1600" b="0" u="none" dirty="0">
                <a:solidFill>
                  <a:srgbClr val="404040"/>
                </a:solidFill>
                <a:latin typeface="+mn-ea"/>
                <a:ea typeface="+mn-ea"/>
              </a:rPr>
              <a:t>?</a:t>
            </a:r>
          </a:p>
        </p:txBody>
      </p:sp>
      <p:pic>
        <p:nvPicPr>
          <p:cNvPr id="101" name="Picture 100" descr="경기도공공미술교육연구회 로고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111" y="5335203"/>
            <a:ext cx="1093755" cy="10937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1110</Words>
  <Application>Microsoft Office PowerPoint</Application>
  <PresentationFormat>와이드스크린</PresentationFormat>
  <Paragraphs>227</Paragraphs>
  <Slides>30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7" baseType="lpstr">
      <vt:lpstr>Noto Sans KR Black</vt:lpstr>
      <vt:lpstr>Noto Sans KR Medium</vt:lpstr>
      <vt:lpstr>나눔스퀘어 ExtraBold</vt:lpstr>
      <vt:lpstr>땅스부대찌개 Bold</vt:lpstr>
      <vt:lpstr>에스코어 드림 8 Heavy</vt:lpstr>
      <vt:lpstr>Arial</vt:lpstr>
      <vt:lpstr>Office Theme</vt:lpstr>
      <vt:lpstr>PowerPoint 프레젠테이션</vt:lpstr>
      <vt:lpstr>PowerPoint 프레젠테이션</vt:lpstr>
      <vt:lpstr>조형놀이. 조형 단어 빙고</vt:lpstr>
      <vt:lpstr>PowerPoint 프레젠테이션</vt:lpstr>
      <vt:lpstr>PowerPoint 프레젠테이션</vt:lpstr>
      <vt:lpstr>PowerPoint 프레젠테이션</vt:lpstr>
      <vt:lpstr>일곱 번의 눈, 그중 오늘</vt:lpstr>
      <vt:lpstr>PowerPoint 프레젠테이션</vt:lpstr>
      <vt:lpstr>오늘의 조형 단어</vt:lpstr>
      <vt:lpstr>오늘의 핵심 문장</vt:lpstr>
      <vt:lpstr>오늘의 핵심 문장</vt:lpstr>
      <vt:lpstr>일곱 문장 함께 읽기</vt:lpstr>
      <vt:lpstr>AI는? 나는?</vt:lpstr>
      <vt:lpstr>활동 1. 렌즈 미술관 개관식</vt:lpstr>
      <vt:lpstr>활동 1. 렌즈 미술관 개관식</vt:lpstr>
      <vt:lpstr>활동 1. 렌즈 미술관 개관식</vt:lpstr>
      <vt:lpstr>활동 1. 렌즈 미술관 개관식_활동지, 활동 예시</vt:lpstr>
      <vt:lpstr>활동 1. 렌즈 미술관 개관식_활동지, 활동 예시</vt:lpstr>
      <vt:lpstr>활동 2. 감상 대화</vt:lpstr>
      <vt:lpstr>활동 3. 미술관 마무리</vt:lpstr>
      <vt:lpstr>정리하기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단원 마무리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기현 노</cp:lastModifiedBy>
  <cp:revision>14</cp:revision>
  <dcterms:created xsi:type="dcterms:W3CDTF">2026-07-09T22:35:37Z</dcterms:created>
  <dcterms:modified xsi:type="dcterms:W3CDTF">2026-09-28T03:03:29Z</dcterms:modified>
</cp:coreProperties>
</file>