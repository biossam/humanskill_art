
<file path=[Content_Types].xml><?xml version="1.0" encoding="utf-8"?>
<Types xmlns="http://schemas.openxmlformats.org/package/2006/content-types"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Default Extension="jpeg" ContentType="image/jpeg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72" r:id="rId2"/>
    <p:sldId id="273" r:id="rId3"/>
    <p:sldId id="274" r:id="rId4"/>
    <p:sldId id="275" r:id="rId5"/>
    <p:sldId id="276" r:id="rId6"/>
    <p:sldId id="277" r:id="rId7"/>
    <p:sldId id="278" r:id="rId8"/>
    <p:sldId id="279" r:id="rId9"/>
    <p:sldId id="280" r:id="rId10"/>
    <p:sldId id="281" r:id="rId11"/>
    <p:sldId id="282" r:id="rId12"/>
    <p:sldId id="283" r:id="rId13"/>
    <p:sldId id="284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92" r:id="rId22"/>
    <p:sldId id="293" r:id="rId23"/>
    <p:sldId id="294" r:id="rId24"/>
    <p:sldId id="295" r:id="rId25"/>
    <p:sldId id="296" r:id="rId26"/>
    <p:sldId id="297" r:id="rId27"/>
    <p:sldId id="298" r:id="rId28"/>
    <p:sldId id="299" r:id="rId29"/>
    <p:sldId id="300" r:id="rId30"/>
    <p:sldId id="301" r:id="rId31"/>
    <p:sldId id="302" r:id="rId3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66" d="100"/>
          <a:sy n="66" d="100"/>
        </p:scale>
        <p:origin x="2274" y="966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1" name="모서리가 둥근 직사각형 10"/>
          <p:cNvSpPr/>
          <p:nvPr userDrawn="1"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8" name="그림 17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80"/>
          <a:stretch/>
        </p:blipFill>
        <p:spPr>
          <a:xfrm>
            <a:off x="4938523" y="5907625"/>
            <a:ext cx="2314953" cy="764099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409943" y="2042583"/>
            <a:ext cx="6753997" cy="2387600"/>
          </a:xfrm>
        </p:spPr>
        <p:txBody>
          <a:bodyPr anchor="b">
            <a:normAutofit/>
          </a:bodyPr>
          <a:lstStyle>
            <a:lvl1pPr algn="l">
              <a:defRPr sz="6400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3" name="Google Shape;23;p37"/>
          <p:cNvSpPr/>
          <p:nvPr/>
        </p:nvSpPr>
        <p:spPr>
          <a:xfrm>
            <a:off x="335361" y="488138"/>
            <a:ext cx="3834759" cy="721713"/>
          </a:xfrm>
          <a:custGeom>
            <a:avLst/>
            <a:gdLst/>
            <a:ahLst/>
            <a:cxnLst/>
            <a:rect l="l" t="t" r="r" b="b"/>
            <a:pathLst>
              <a:path w="21600" h="21600" extrusionOk="0">
                <a:moveTo>
                  <a:pt x="18493" y="0"/>
                </a:moveTo>
                <a:lnTo>
                  <a:pt x="3107" y="0"/>
                </a:lnTo>
                <a:cubicBezTo>
                  <a:pt x="2222" y="0"/>
                  <a:pt x="1691" y="0"/>
                  <a:pt x="1337" y="651"/>
                </a:cubicBezTo>
                <a:cubicBezTo>
                  <a:pt x="773" y="1743"/>
                  <a:pt x="328" y="4106"/>
                  <a:pt x="123" y="7106"/>
                </a:cubicBezTo>
                <a:cubicBezTo>
                  <a:pt x="41" y="8290"/>
                  <a:pt x="0" y="9540"/>
                  <a:pt x="0" y="10800"/>
                </a:cubicBezTo>
                <a:cubicBezTo>
                  <a:pt x="0" y="12060"/>
                  <a:pt x="41" y="13310"/>
                  <a:pt x="123" y="14494"/>
                </a:cubicBezTo>
                <a:cubicBezTo>
                  <a:pt x="328" y="17494"/>
                  <a:pt x="773" y="19857"/>
                  <a:pt x="1337" y="20949"/>
                </a:cubicBezTo>
                <a:cubicBezTo>
                  <a:pt x="1691" y="21600"/>
                  <a:pt x="2222" y="21600"/>
                  <a:pt x="3107" y="21600"/>
                </a:cubicBezTo>
                <a:lnTo>
                  <a:pt x="18493" y="21600"/>
                </a:lnTo>
                <a:cubicBezTo>
                  <a:pt x="19378" y="21600"/>
                  <a:pt x="19909" y="21600"/>
                  <a:pt x="20263" y="20949"/>
                </a:cubicBezTo>
                <a:cubicBezTo>
                  <a:pt x="20827" y="19857"/>
                  <a:pt x="21272" y="17494"/>
                  <a:pt x="21477" y="14494"/>
                </a:cubicBezTo>
                <a:cubicBezTo>
                  <a:pt x="21559" y="13310"/>
                  <a:pt x="21600" y="12060"/>
                  <a:pt x="21600" y="10800"/>
                </a:cubicBezTo>
                <a:cubicBezTo>
                  <a:pt x="21600" y="9540"/>
                  <a:pt x="21559" y="8290"/>
                  <a:pt x="21477" y="7106"/>
                </a:cubicBezTo>
                <a:cubicBezTo>
                  <a:pt x="21272" y="4106"/>
                  <a:pt x="20827" y="1743"/>
                  <a:pt x="20263" y="651"/>
                </a:cubicBezTo>
                <a:cubicBezTo>
                  <a:pt x="19909" y="0"/>
                  <a:pt x="19378" y="0"/>
                  <a:pt x="18493" y="0"/>
                </a:cubicBezTo>
                <a:close/>
              </a:path>
            </a:pathLst>
          </a:custGeom>
          <a:solidFill>
            <a:srgbClr val="F6877E"/>
          </a:solidFill>
          <a:ln>
            <a:noFill/>
          </a:ln>
        </p:spPr>
        <p:txBody>
          <a:bodyPr spcFirstLastPara="1" wrap="square" lIns="60933" tIns="60933" rIns="60933" bIns="60933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>
              <a:solidFill>
                <a:schemeClr val="dk1"/>
              </a:solidFill>
              <a:latin typeface="나눔스퀘어 ExtraBold" panose="020B0600000101010101" pitchFamily="50" charset="-127"/>
              <a:ea typeface="나눔스퀘어 ExtraBold" panose="020B0600000101010101" pitchFamily="50" charset="-127"/>
              <a:cs typeface="Arial"/>
              <a:sym typeface="Arial"/>
            </a:endParaRPr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4176" y="1690809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0060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8189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모서리가 둥근 직사각형 2"/>
          <p:cNvSpPr/>
          <p:nvPr userDrawn="1"/>
        </p:nvSpPr>
        <p:spPr>
          <a:xfrm>
            <a:off x="519762" y="1412776"/>
            <a:ext cx="11144857" cy="4896544"/>
          </a:xfrm>
          <a:prstGeom prst="roundRect">
            <a:avLst>
              <a:gd name="adj" fmla="val 11065"/>
            </a:avLst>
          </a:prstGeom>
          <a:solidFill>
            <a:schemeClr val="bg1"/>
          </a:solidFill>
          <a:ln w="57150">
            <a:solidFill>
              <a:srgbClr val="F6877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8" name="그림 7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55653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9.jpe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직사각형 31"/>
          <p:cNvSpPr/>
          <p:nvPr/>
        </p:nvSpPr>
        <p:spPr>
          <a:xfrm>
            <a:off x="512135" y="2972782"/>
            <a:ext cx="7718219" cy="1077218"/>
          </a:xfrm>
          <a:prstGeom prst="rect">
            <a:avLst/>
          </a:prstGeom>
        </p:spPr>
        <p:txBody>
          <a:bodyPr wrap="square" anchor="b">
            <a:spAutoFit/>
          </a:bodyPr>
          <a:lstStyle/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사진가의</a:t>
            </a:r>
            <a:endParaRPr lang="ko-KR" altLang="en-US" sz="5867" b="1" spc="-200" dirty="0">
              <a:solidFill>
                <a:srgbClr val="F6877E"/>
              </a:solidFill>
              <a:latin typeface="+mj-ea"/>
              <a:ea typeface="+mj-ea"/>
            </a:endParaRPr>
          </a:p>
          <a:p>
            <a:r>
              <a:rPr lang="ko-KR" altLang="en-US" sz="3200" b="1" spc="-200" dirty="0" err="1">
                <a:solidFill>
                  <a:srgbClr val="F6877E"/>
                </a:solidFill>
                <a:latin typeface="+mj-ea"/>
                <a:ea typeface="+mj-ea"/>
              </a:rPr>
              <a:t>첫걸음</a:t>
            </a:r>
          </a:p>
        </p:txBody>
      </p:sp>
      <p:sp>
        <p:nvSpPr>
          <p:cNvPr id="2" name="모서리가 둥근 직사각형 1"/>
          <p:cNvSpPr/>
          <p:nvPr/>
        </p:nvSpPr>
        <p:spPr>
          <a:xfrm>
            <a:off x="431371" y="4115329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5" name="제목 1"/>
          <p:cNvSpPr txBox="1">
            <a:spLocks/>
          </p:cNvSpPr>
          <p:nvPr/>
        </p:nvSpPr>
        <p:spPr>
          <a:xfrm>
            <a:off x="431319" y="577123"/>
            <a:ext cx="3552447" cy="547620"/>
          </a:xfrm>
          <a:prstGeom prst="rect">
            <a:avLst/>
          </a:prstGeom>
        </p:spPr>
        <p:txBody>
          <a:bodyPr vert="horz" lIns="121920" tIns="60960" rIns="121920" bIns="60960" rtlCol="0" anchor="b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ko-KR" altLang="en-US" sz="2667" dirty="0">
                <a:solidFill>
                  <a:schemeClr val="bg1"/>
                </a:solidFill>
              </a:rPr>
              <a:t>초등 미술</a:t>
            </a:r>
          </a:p>
        </p:txBody>
      </p:sp>
      <p:pic>
        <p:nvPicPr>
          <p:cNvPr id="16" name="Google Shape;26;p37" descr="표지 차시 말풍선 그림"/>
          <p:cNvPicPr preferRelativeResize="0"/>
          <p:nvPr/>
        </p:nvPicPr>
        <p:blipFill rotWithShape="1">
          <a:blip r:embed="rId2">
            <a:alphaModFix/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/>
        </p:blipFill>
        <p:spPr>
          <a:xfrm>
            <a:off x="5423925" y="1640745"/>
            <a:ext cx="2067867" cy="1385235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31;p1"/>
          <p:cNvSpPr txBox="1">
            <a:spLocks/>
          </p:cNvSpPr>
          <p:nvPr/>
        </p:nvSpPr>
        <p:spPr>
          <a:xfrm>
            <a:off x="5185669" y="2018557"/>
            <a:ext cx="2542512" cy="6423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spcBef>
                <a:spcPts val="0"/>
              </a:spcBef>
              <a:buClr>
                <a:schemeClr val="lt1"/>
              </a:buClr>
              <a:buSzPts val="2800"/>
              <a:buNone/>
            </a:pPr>
            <a:r>
              <a:rPr lang="en-US" altLang="ko-KR" sz="3733" dirty="0">
                <a:solidFill>
                  <a:schemeClr val="bg1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3차시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35722" y="4400000"/>
            <a:ext cx="5925788" cy="56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r"/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단원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: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같은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세상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, </a:t>
            </a:r>
            <a:r>
              <a:rPr sz="2800" b="1" u="none" dirty="0" err="1">
                <a:solidFill>
                  <a:srgbClr val="4472C4"/>
                </a:solidFill>
                <a:latin typeface="+mj-ea"/>
                <a:ea typeface="+mj-ea"/>
              </a:rPr>
              <a:t>다른</a:t>
            </a:r>
            <a:r>
              <a:rPr sz="2800" b="1" u="none" dirty="0">
                <a:solidFill>
                  <a:srgbClr val="4472C4"/>
                </a:solidFill>
                <a:latin typeface="+mj-ea"/>
                <a:ea typeface="+mj-ea"/>
              </a:rPr>
              <a:t> 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조형놀이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550000"/>
            <a:ext cx="7400000" cy="2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손가락으로 네모 액자를 만들어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교실에서 마음에 드는 한 장면만 잘라 보고,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짝에게 무엇을 담았는지 말해요.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그다음, 선생님이 잘라 온 장면 2개를 맞혀 봐요.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조형놀이. 손가락 액자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50000" y="1590000"/>
            <a:ext cx="6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두 손의 엄지와 검지를 쭉 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245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50000" y="2370000"/>
            <a:ext cx="6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두 손을 맞대어 네모 액자를 만들어요.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0000" y="323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50000" y="3150000"/>
            <a:ext cx="6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액자를 멀리, 가까이 움직이며 한 장면만 잘라 봐요.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000" y="401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50000" y="3930000"/>
            <a:ext cx="6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짝에게 액자 속에 무엇을 담았는지 말해요.</a:t>
            </a:r>
          </a:p>
        </p:txBody>
      </p:sp>
      <p:pic>
        <p:nvPicPr>
          <p:cNvPr id="21" name="Picture 20" descr="손가락 액자 만드는 모습 그림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0000" y="2122977"/>
            <a:ext cx="3599999" cy="2754046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틀 밖의 모습은 사진에 담기지 않아요.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교실의 어디일까요? 화이트보드에 표시해요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97C8CFE-C533-CF4F-3E88-C85F137B7A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4271" t="22639" r="30009" b="68770"/>
          <a:stretch>
            <a:fillRect/>
          </a:stretch>
        </p:blipFill>
        <p:spPr>
          <a:xfrm>
            <a:off x="3709915" y="2298324"/>
            <a:ext cx="4939926" cy="2631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여기였어요!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네모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틀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밖의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모습은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endParaRPr lang="en-US" sz="19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사진에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담기지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1900" b="0" u="none" dirty="0" err="1">
                <a:solidFill>
                  <a:srgbClr val="404040"/>
                </a:solidFill>
                <a:latin typeface="+mn-ea"/>
                <a:ea typeface="+mn-ea"/>
              </a:rPr>
              <a:t>않아요</a:t>
            </a:r>
            <a:r>
              <a:rPr sz="19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B3B7FCC-05E3-6AEA-9C02-91502C3D50B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2234" t="7284" r="17856" b="51180"/>
          <a:stretch>
            <a:fillRect/>
          </a:stretch>
        </p:blipFill>
        <p:spPr>
          <a:xfrm>
            <a:off x="5290881" y="2499999"/>
            <a:ext cx="3925690" cy="245023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60" name="Rounded Rectangle 59"/>
          <p:cNvSpPr/>
          <p:nvPr/>
        </p:nvSpPr>
        <p:spPr>
          <a:xfrm>
            <a:off x="2900000" y="5330000"/>
            <a:ext cx="6400000" cy="5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1" u="none">
                <a:solidFill>
                  <a:srgbClr val="FFFFFF"/>
                </a:solidFill>
                <a:latin typeface="+mn-ea"/>
                <a:ea typeface="+mn-ea"/>
              </a:rPr>
              <a:t>교실의 어디일까요? 화이트보드에 표시해요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D4148BF-5963-7304-687C-F4076F6752E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7029" t="71546" r="56549" b="23532"/>
          <a:stretch>
            <a:fillRect/>
          </a:stretch>
        </p:blipFill>
        <p:spPr>
          <a:xfrm>
            <a:off x="4167464" y="2595114"/>
            <a:ext cx="3857072" cy="2217161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600000" y="2500000"/>
            <a:ext cx="36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n-ea"/>
                <a:ea typeface="+mn-ea"/>
              </a:rPr>
              <a:t>여기였어요!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600000" y="3450000"/>
            <a:ext cx="3600000" cy="11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같은 교실도 어디를 자르느냐에 따라 전혀 다른 사진이 돼요.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85D559D9-FF30-1780-31AA-2A9EAE67F19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1298" t="63292" r="45453" b="8557"/>
          <a:stretch>
            <a:fillRect/>
          </a:stretch>
        </p:blipFill>
        <p:spPr>
          <a:xfrm>
            <a:off x="5901622" y="2613449"/>
            <a:ext cx="3140777" cy="285225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8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일곱 번의 눈, 그중 오늘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매일 보던 우리 학교를 일곱 번 다르게 보는 사진가(나)가 되어 봐요</a:t>
            </a:r>
          </a:p>
        </p:txBody>
      </p:sp>
      <p:cxnSp>
        <p:nvCxnSpPr>
          <p:cNvPr id="99" name="Connector 98"/>
          <p:cNvCxnSpPr/>
          <p:nvPr/>
        </p:nvCxnSpPr>
        <p:spPr>
          <a:xfrm>
            <a:off x="1325000" y="3075000"/>
            <a:ext cx="9600000" cy="0"/>
          </a:xfrm>
          <a:prstGeom prst="line">
            <a:avLst/>
          </a:prstGeom>
          <a:ln w="38100">
            <a:solidFill>
              <a:srgbClr val="F6877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Oval 99"/>
          <p:cNvSpPr/>
          <p:nvPr/>
        </p:nvSpPr>
        <p:spPr>
          <a:xfrm>
            <a:off x="7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관찰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1차시</a:t>
            </a:r>
          </a:p>
        </p:txBody>
      </p:sp>
      <p:sp>
        <p:nvSpPr>
          <p:cNvPr id="102" name="Oval 101"/>
          <p:cNvSpPr/>
          <p:nvPr/>
        </p:nvSpPr>
        <p:spPr>
          <a:xfrm>
            <a:off x="2300000" y="2450000"/>
            <a:ext cx="1250000" cy="1250000"/>
          </a:xfrm>
          <a:prstGeom prst="ellipse">
            <a:avLst/>
          </a:prstGeom>
          <a:solidFill>
            <a:srgbClr val="FDECE9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관점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2차시</a:t>
            </a:r>
          </a:p>
        </p:txBody>
      </p:sp>
      <p:sp>
        <p:nvSpPr>
          <p:cNvPr id="104" name="Oval 103"/>
          <p:cNvSpPr/>
          <p:nvPr/>
        </p:nvSpPr>
        <p:spPr>
          <a:xfrm>
            <a:off x="3900000" y="2450000"/>
            <a:ext cx="1250000" cy="1250000"/>
          </a:xfrm>
          <a:prstGeom prst="ellipse">
            <a:avLst/>
          </a:prstGeom>
          <a:solidFill>
            <a:srgbClr val="D9534A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준비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7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D9534A"/>
                </a:solidFill>
                <a:latin typeface="+mn-ea"/>
                <a:ea typeface="+mn-ea"/>
              </a:rPr>
              <a:t>3차시 (오늘)</a:t>
            </a:r>
          </a:p>
        </p:txBody>
      </p:sp>
      <p:sp>
        <p:nvSpPr>
          <p:cNvPr id="106" name="Oval 105"/>
          <p:cNvSpPr/>
          <p:nvPr/>
        </p:nvSpPr>
        <p:spPr>
          <a:xfrm>
            <a:off x="55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시선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53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4차시</a:t>
            </a:r>
          </a:p>
        </p:txBody>
      </p:sp>
      <p:sp>
        <p:nvSpPr>
          <p:cNvPr id="108" name="Oval 107"/>
          <p:cNvSpPr/>
          <p:nvPr/>
        </p:nvSpPr>
        <p:spPr>
          <a:xfrm>
            <a:off x="71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구도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69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5차시</a:t>
            </a:r>
          </a:p>
        </p:txBody>
      </p:sp>
      <p:sp>
        <p:nvSpPr>
          <p:cNvPr id="110" name="Oval 109"/>
          <p:cNvSpPr/>
          <p:nvPr/>
        </p:nvSpPr>
        <p:spPr>
          <a:xfrm>
            <a:off x="87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의도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85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6차시</a:t>
            </a:r>
          </a:p>
        </p:txBody>
      </p:sp>
      <p:sp>
        <p:nvSpPr>
          <p:cNvPr id="112" name="Oval 111"/>
          <p:cNvSpPr/>
          <p:nvPr/>
        </p:nvSpPr>
        <p:spPr>
          <a:xfrm>
            <a:off x="10300000" y="2450000"/>
            <a:ext cx="1250000" cy="125000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j-ea"/>
                <a:ea typeface="+mj-ea"/>
              </a:rPr>
              <a:t>소통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0000" y="3760000"/>
            <a:ext cx="1550000" cy="42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0" u="none">
                <a:solidFill>
                  <a:srgbClr val="808080"/>
                </a:solidFill>
                <a:latin typeface="+mn-ea"/>
                <a:ea typeface="+mn-ea"/>
              </a:rPr>
              <a:t>7차시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1300000" y="4950000"/>
            <a:ext cx="9600000" cy="7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지난 시간에는 나만의 '관점'을 찾았어요. 오늘은 사진가의 도구를 '준비'해요.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869897" y="2900000"/>
            <a:ext cx="8794678" cy="13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카메라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기능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익히고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, </a:t>
            </a:r>
            <a:endParaRPr lang="en-US" sz="2700" b="0" u="none" dirty="0">
              <a:solidFill>
                <a:srgbClr val="404040"/>
              </a:solidFill>
              <a:latin typeface="+mn-ea"/>
              <a:ea typeface="+mn-ea"/>
            </a:endParaRPr>
          </a:p>
          <a:p>
            <a:pPr algn="ctr"/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바른</a:t>
            </a:r>
            <a:r>
              <a:rPr sz="2700" b="1" u="sng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1" u="sng" dirty="0" err="1">
                <a:solidFill>
                  <a:srgbClr val="404040"/>
                </a:solidFill>
                <a:latin typeface="+mn-ea"/>
                <a:ea typeface="+mn-ea"/>
              </a:rPr>
              <a:t>자세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로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흔들리지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않는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</a:t>
            </a:r>
            <a:r>
              <a:rPr sz="2700" b="0" u="none" dirty="0" err="1">
                <a:solidFill>
                  <a:srgbClr val="404040"/>
                </a:solidFill>
                <a:latin typeface="+mn-ea"/>
                <a:ea typeface="+mn-ea"/>
              </a:rPr>
              <a:t>사진을</a:t>
            </a:r>
            <a:r>
              <a:rPr sz="2700" b="0" u="none" dirty="0">
                <a:solidFill>
                  <a:srgbClr val="404040"/>
                </a:solidFill>
                <a:latin typeface="+mn-ea"/>
                <a:ea typeface="+mn-ea"/>
              </a:rPr>
              <a:t> 찍</a:t>
            </a:r>
            <a:r>
              <a:rPr lang="ko-KR" altLang="en-US" sz="2700" b="0" u="none" dirty="0">
                <a:solidFill>
                  <a:srgbClr val="404040"/>
                </a:solidFill>
                <a:latin typeface="+mn-ea"/>
                <a:ea typeface="+mn-ea"/>
              </a:rPr>
              <a:t>어 봅시다</a:t>
            </a:r>
            <a:r>
              <a:rPr lang="en-US" altLang="ko-KR" sz="2700" b="0" u="none" dirty="0">
                <a:solidFill>
                  <a:srgbClr val="404040"/>
                </a:solidFill>
                <a:latin typeface="+mn-ea"/>
                <a:ea typeface="+mn-ea"/>
              </a:rPr>
              <a:t>.</a:t>
            </a:r>
            <a:endParaRPr sz="2700" b="0" u="none" dirty="0">
              <a:solidFill>
                <a:srgbClr val="404040"/>
              </a:solidFill>
              <a:latin typeface="+mn-ea"/>
              <a:ea typeface="+mn-ea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조형 단어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손가락 액자 놀이를 떠올려 보세요.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596000" y="2000000"/>
            <a:ext cx="3000000" cy="115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5400" b="1" u="none">
                <a:solidFill>
                  <a:srgbClr val="FFFFFF"/>
                </a:solidFill>
                <a:latin typeface="+mj-ea"/>
                <a:ea typeface="+mj-ea"/>
              </a:rPr>
              <a:t>프레임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900000" y="3250000"/>
            <a:ext cx="10400000" cy="7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404040"/>
                </a:solidFill>
                <a:latin typeface="+mn-ea"/>
                <a:ea typeface="+mn-ea"/>
              </a:rPr>
              <a:t>세상을 잘라 담는 네모 틀을 프레임이라고 해요. 프레임 안에 무엇을 넣고 무엇을 뺄지 정하는 것이 사진의 시작이에요.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17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넣을 것 고르기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9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뺄 것 고르기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622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가로 프레임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471000" y="4100000"/>
            <a:ext cx="2000000" cy="56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D9534A"/>
                </a:solidFill>
                <a:latin typeface="+mn-ea"/>
                <a:ea typeface="+mn-ea"/>
              </a:rPr>
              <a:t>세로 프레임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1300000" y="5050000"/>
            <a:ext cx="9600000" cy="650000"/>
          </a:xfrm>
          <a:prstGeom prst="roundRect">
            <a:avLst/>
          </a:prstGeom>
          <a:solidFill>
            <a:srgbClr val="FFF8F3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생각해 보기: 내 책상을 가로 프레임과 세로 프레임으로 담으면 무엇이 달라질까요?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11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빈칸에 들어갈 말을 추측해 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900000" y="260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0" name="Rectangle 99"/>
          <p:cNvSpPr/>
          <p:nvPr/>
        </p:nvSpPr>
        <p:spPr>
          <a:xfrm>
            <a:off x="1100000" y="285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도구를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바르게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다루어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표현을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>
                <a:solidFill>
                  <a:srgbClr val="808080"/>
                </a:solidFill>
                <a:latin typeface="+mj-ea"/>
                <a:ea typeface="+mj-ea"/>
              </a:rPr>
              <a:t>  ?  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할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12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오늘의 핵심 문장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오늘의 핵심 문장을 함께 읽어 봅시다.</a:t>
            </a:r>
          </a:p>
        </p:txBody>
      </p:sp>
      <p:sp>
        <p:nvSpPr>
          <p:cNvPr id="99" name="Rectangle 98"/>
          <p:cNvSpPr/>
          <p:nvPr/>
        </p:nvSpPr>
        <p:spPr>
          <a:xfrm>
            <a:off x="900000" y="1880000"/>
            <a:ext cx="10400000" cy="6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1차시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온몸의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감각으로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관찰할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  <a:p>
            <a:pPr algn="l"/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2차시 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사진가는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같은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세상을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나만의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관점으로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 볼 수 </a:t>
            </a:r>
            <a:r>
              <a:rPr sz="1400" b="0" u="none" dirty="0" err="1">
                <a:solidFill>
                  <a:srgbClr val="808080"/>
                </a:solidFill>
                <a:latin typeface="+mn-ea"/>
                <a:ea typeface="+mn-ea"/>
              </a:rPr>
              <a:t>있다</a:t>
            </a:r>
            <a:r>
              <a:rPr sz="1400" b="0" u="none" dirty="0">
                <a:solidFill>
                  <a:srgbClr val="808080"/>
                </a:solidFill>
                <a:latin typeface="+mn-ea"/>
                <a:ea typeface="+mn-ea"/>
              </a:rPr>
              <a:t>.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900000" y="2630000"/>
            <a:ext cx="10400000" cy="17500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1100000" y="2880000"/>
            <a:ext cx="10000000" cy="12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사진가는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도구를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바르게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다루어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표현을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</a:t>
            </a:r>
            <a:r>
              <a:rPr sz="2800" b="1" u="sng" dirty="0" err="1">
                <a:solidFill>
                  <a:srgbClr val="D9534A"/>
                </a:solidFill>
                <a:latin typeface="+mj-ea"/>
                <a:ea typeface="+mj-ea"/>
              </a:rPr>
              <a:t>준비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할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 수 </a:t>
            </a:r>
            <a:r>
              <a:rPr sz="2800" b="1" u="none" dirty="0" err="1">
                <a:solidFill>
                  <a:srgbClr val="404040"/>
                </a:solidFill>
                <a:latin typeface="+mj-ea"/>
                <a:ea typeface="+mj-ea"/>
              </a:rPr>
              <a:t>있다</a:t>
            </a:r>
            <a:r>
              <a:rPr sz="2800" b="1" u="none" dirty="0">
                <a:solidFill>
                  <a:srgbClr val="404040"/>
                </a:solidFill>
                <a:latin typeface="+mj-ea"/>
                <a:ea typeface="+mj-ea"/>
              </a:rPr>
              <a:t>.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1300000" y="4580000"/>
            <a:ext cx="96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일곱 차시 동안 일곱 문장을 모아, 7차시에 함께 읽어요.</a:t>
            </a:r>
          </a:p>
        </p:txBody>
      </p:sp>
      <p:sp>
        <p:nvSpPr>
          <p:cNvPr id="103" name="Oval 102"/>
          <p:cNvSpPr/>
          <p:nvPr/>
        </p:nvSpPr>
        <p:spPr>
          <a:xfrm>
            <a:off x="4226000" y="51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04" name="Oval 103"/>
          <p:cNvSpPr/>
          <p:nvPr/>
        </p:nvSpPr>
        <p:spPr>
          <a:xfrm>
            <a:off x="4786000" y="51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05" name="Oval 104"/>
          <p:cNvSpPr/>
          <p:nvPr/>
        </p:nvSpPr>
        <p:spPr>
          <a:xfrm>
            <a:off x="5346000" y="5180000"/>
            <a:ext cx="380000" cy="380000"/>
          </a:xfrm>
          <a:prstGeom prst="ellipse">
            <a:avLst/>
          </a:prstGeom>
          <a:solidFill>
            <a:srgbClr val="D9534A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06" name="Oval 105"/>
          <p:cNvSpPr/>
          <p:nvPr/>
        </p:nvSpPr>
        <p:spPr>
          <a:xfrm>
            <a:off x="5906000" y="51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4</a:t>
            </a:r>
          </a:p>
        </p:txBody>
      </p:sp>
      <p:sp>
        <p:nvSpPr>
          <p:cNvPr id="107" name="Oval 106"/>
          <p:cNvSpPr/>
          <p:nvPr/>
        </p:nvSpPr>
        <p:spPr>
          <a:xfrm>
            <a:off x="6466000" y="51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5</a:t>
            </a:r>
          </a:p>
        </p:txBody>
      </p:sp>
      <p:sp>
        <p:nvSpPr>
          <p:cNvPr id="108" name="Oval 107"/>
          <p:cNvSpPr/>
          <p:nvPr/>
        </p:nvSpPr>
        <p:spPr>
          <a:xfrm>
            <a:off x="7026000" y="51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6</a:t>
            </a:r>
          </a:p>
        </p:txBody>
      </p:sp>
      <p:sp>
        <p:nvSpPr>
          <p:cNvPr id="109" name="Oval 108"/>
          <p:cNvSpPr/>
          <p:nvPr/>
        </p:nvSpPr>
        <p:spPr>
          <a:xfrm>
            <a:off x="7586000" y="5180000"/>
            <a:ext cx="380000" cy="380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 u="none">
                <a:solidFill>
                  <a:srgbClr val="D9534A"/>
                </a:solidFill>
                <a:latin typeface="+mn-ea"/>
                <a:ea typeface="+mn-ea"/>
              </a:rPr>
              <a:t>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13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AI는? 나는?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강의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같은 대상을 만날 때, AI와 나는 어떻게 다를까요?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000000" y="2050000"/>
            <a:ext cx="4900000" cy="620000"/>
          </a:xfrm>
          <a:prstGeom prst="roundRect">
            <a:avLst/>
          </a:prstGeom>
          <a:solidFill>
            <a:srgbClr val="5B6B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AI는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10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5B6B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흔들린 사진을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나중에 선명하게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고쳐 줘요.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6300000" y="2050000"/>
            <a:ext cx="4900000" cy="62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FFFFFF"/>
                </a:solidFill>
                <a:latin typeface="+mj-ea"/>
                <a:ea typeface="+mj-ea"/>
              </a:rPr>
              <a:t>나는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300000" y="2750000"/>
            <a:ext cx="4900000" cy="21000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처음부터 바른 자세로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원하는 장면을</a:t>
            </a:r>
          </a:p>
          <a:p>
            <a:pPr algn="ctr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또렷하게 담아요.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900000" y="5250000"/>
            <a:ext cx="10400000" cy="56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FFFFFF"/>
                </a:solidFill>
                <a:latin typeface="+mn-ea"/>
                <a:ea typeface="+mn-ea"/>
              </a:rPr>
              <a:t>나중에 고치는 것보다 처음부터 바르게 찍는 것이 먼저예요.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카메라 기능 탐험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650000" y="1480000"/>
            <a:ext cx="290000" cy="29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98" name="Rectangle 97"/>
          <p:cNvSpPr/>
          <p:nvPr/>
        </p:nvSpPr>
        <p:spPr>
          <a:xfrm>
            <a:off x="1010000" y="1400000"/>
            <a:ext cx="8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800" b="0" u="none">
                <a:solidFill>
                  <a:srgbClr val="404040"/>
                </a:solidFill>
                <a:latin typeface="+mn-ea"/>
                <a:ea typeface="+mn-ea"/>
              </a:rPr>
              <a:t>태블릿 카메라의 세 가지 기능을 살펴봐요.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496000" y="2000000"/>
            <a:ext cx="7200000" cy="40500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  <a:p>
            <a:pPr algn="ctr"/>
            <a:endParaRPr/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차시 영상 「카메라 기능 탐험」 (1분 15초 내외)</a:t>
            </a:r>
          </a:p>
          <a:p>
            <a:pPr algn="ctr"/>
            <a:r>
              <a:rPr sz="1800" b="0" u="none">
                <a:solidFill>
                  <a:srgbClr val="808080"/>
                </a:solidFill>
                <a:latin typeface="+mn-ea"/>
                <a:ea typeface="+mn-ea"/>
              </a:rPr>
              <a:t>통합학습창 [함께 보기]로 재생</a:t>
            </a:r>
          </a:p>
        </p:txBody>
      </p:sp>
      <p:sp>
        <p:nvSpPr>
          <p:cNvPr id="100" name="Isosceles Triangle 99"/>
          <p:cNvSpPr/>
          <p:nvPr/>
        </p:nvSpPr>
        <p:spPr>
          <a:xfrm rot="5400000">
            <a:off x="5766000" y="2900000"/>
            <a:ext cx="660000" cy="620000"/>
          </a:xfrm>
          <a:prstGeom prst="triangle">
            <a:avLst/>
          </a:prstGeom>
          <a:solidFill>
            <a:srgbClr val="F687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3차시_영상(같은 세상 다른 눈)">
            <a:hlinkClick r:id="" action="ppaction://media"/>
            <a:extLst>
              <a:ext uri="{FF2B5EF4-FFF2-40B4-BE49-F238E27FC236}">
                <a16:creationId xmlns:a16="http://schemas.microsoft.com/office/drawing/2014/main" id="{C05C7161-DE29-EEE4-4358-35AFA4F04DB0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976572" y="1811360"/>
            <a:ext cx="8270514" cy="465216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5557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카메라 기능 탐험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영상을 보며 세 가지 기능을 익혀요.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0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태블릿 카메라로 세 가지 미션에 도전해요.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5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미션 ㉠ 초점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찍고 싶은 곳을 톡.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8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미션 ㉡ 확대·축소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두 손가락을 벌렸다 오므렸다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10000" y="2820000"/>
            <a:ext cx="3150000" cy="105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D9534A"/>
                </a:solidFill>
                <a:latin typeface="+mn-ea"/>
                <a:ea typeface="+mn-ea"/>
              </a:rPr>
              <a:t>미션 ㉢ 안내선</a:t>
            </a:r>
          </a:p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설정(톱니바퀴) → 수직/수평 안내선 켜기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41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50000" y="40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성공한 미션은 활동지에 체크해요.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타이머 5분. 안내선은 켜 두기만 하고, 쓰는 방법은 5차시에 배워요.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카메라 기능 탐험_활동지, 활동 예시</a:t>
            </a:r>
          </a:p>
        </p:txBody>
      </p:sp>
      <p:pic>
        <p:nvPicPr>
          <p:cNvPr id="13" name="Picture 12" descr="3차시 활동지: 사진가의 첫걸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1. 카메라 기능 탐험_활동지, 활동 예시</a:t>
            </a:r>
          </a:p>
        </p:txBody>
      </p:sp>
      <p:pic>
        <p:nvPicPr>
          <p:cNvPr id="13" name="Picture 12" descr="3차시 활동 예시 작품: 사진가의 첫걸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0000" y="1780000"/>
            <a:ext cx="8533000" cy="480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18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촬영 약속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흔들림 제로 챌린지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바른 자세 세 가지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두 손으로 잡기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팔꿈치를 몸에 붙이기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찍는 순간 숨 멈추기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00000" y="1850000"/>
            <a:ext cx="5100000" cy="6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FFFFFF"/>
                </a:solidFill>
                <a:latin typeface="+mj-ea"/>
                <a:ea typeface="+mj-ea"/>
              </a:rPr>
              <a:t>우리의 촬영 약속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0000" y="260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1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이번 단원에서는 사물과 공간만 찍어요.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00000" y="342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2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걸어가면서 찍지 않아요.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0000" y="424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900" b="1" u="none">
                <a:solidFill>
                  <a:srgbClr val="D9534A"/>
                </a:solidFill>
                <a:latin typeface="+mn-ea"/>
                <a:ea typeface="+mn-ea"/>
              </a:rPr>
              <a:t>3  </a:t>
            </a:r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태블릿은 두 손으로 들고 다녀요.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0000" y="5060000"/>
            <a:ext cx="5100000" cy="7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600" b="1" u="none">
                <a:solidFill>
                  <a:srgbClr val="D9534A"/>
                </a:solidFill>
                <a:latin typeface="+mn-ea"/>
                <a:ea typeface="+mn-ea"/>
              </a:rPr>
              <a:t>4  </a:t>
            </a:r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친구 얼굴이나 이름이 찍히면 바로 지워요.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19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사진 비교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흔들림 제로 챌린지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0000" y="1480000"/>
            <a:ext cx="9300000" cy="5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1" u="none">
                <a:solidFill>
                  <a:srgbClr val="404040"/>
                </a:solidFill>
                <a:latin typeface="+mn-ea"/>
                <a:ea typeface="+mn-ea"/>
              </a:rPr>
              <a:t>선생님이 같은 필통을 두 번 찍었어요. 무엇이 다를까요?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0000" y="5520000"/>
            <a:ext cx="50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흔들린 사진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5520000"/>
            <a:ext cx="5000000" cy="48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선명한 사진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AABF61F-3DD0-EDB8-CB5A-87FD2726BF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0914" y="2184768"/>
            <a:ext cx="4399257" cy="329944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9F556D97-7CCE-31D5-75B1-2DCB5F05E8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1829" y="2199372"/>
            <a:ext cx="4238171" cy="3178628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20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2. 흔들림 제로 챌린지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내 필통을 일부러 흔들리게 1장 찍어요.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바른 자세로 1장 더 찍어요.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두 사진을 확대해서 비교하고, 느낀 점을 활동지에 적어요.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촬영 약속에 서명한 사진가만 촬영을 시작할 수 있어요.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촬영은 자리에서만. 태블릿은 두 손으로 들어요.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21</a:t>
            </a:fld>
            <a:endParaRPr lang="en-US" dirty="0"/>
          </a:p>
        </p:txBody>
      </p:sp>
      <p:sp>
        <p:nvSpPr>
          <p:cNvPr id="10" name="양쪽 모서리가 둥근 사각형 9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2" name="TextBox 11"/>
          <p:cNvSpPr txBox="1"/>
          <p:nvPr/>
        </p:nvSpPr>
        <p:spPr>
          <a:xfrm>
            <a:off x="10045136" y="1223282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tx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방법</a:t>
            </a:r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3. 나의 첫 작품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0000" y="16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50000" y="16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오늘 배운 초점과 프레임을 살려 교실 속 사물 1장을 정성껏 찍어요.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000" y="232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50000" y="226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제목을 한 줄 붙여 클래스보드 '나의 첫 작품' 칸에 올려요.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0000" y="2970000"/>
            <a:ext cx="330000" cy="33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500" b="1" u="none">
                <a:solidFill>
                  <a:srgbClr val="FFFFFF"/>
                </a:solidFill>
                <a:latin typeface="+mn-ea"/>
                <a:ea typeface="+mn-e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50000" y="2910000"/>
            <a:ext cx="9900000" cy="45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100" b="0" u="none">
                <a:solidFill>
                  <a:srgbClr val="404040"/>
                </a:solidFill>
                <a:latin typeface="+mn-ea"/>
                <a:ea typeface="+mn-ea"/>
              </a:rPr>
              <a:t>친구 작품에 공감을 눌러요.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350000" y="3700000"/>
            <a:ext cx="9500000" cy="700000"/>
          </a:xfrm>
          <a:prstGeom prst="roundRect">
            <a:avLst/>
          </a:prstGeom>
          <a:solidFill>
            <a:srgbClr val="FDECE9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 u="none">
                <a:solidFill>
                  <a:srgbClr val="404040"/>
                </a:solidFill>
                <a:latin typeface="+mn-ea"/>
                <a:ea typeface="+mn-ea"/>
              </a:rPr>
              <a:t>올리기 전 확인. 친구 얼굴이나 이름표가 찍히지 않았나요?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000" y="5750000"/>
            <a:ext cx="10400000" cy="560000"/>
          </a:xfrm>
          <a:prstGeom prst="roundRect">
            <a:avLst/>
          </a:prstGeom>
          <a:solidFill>
            <a:srgbClr val="F2A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 u="none">
                <a:solidFill>
                  <a:srgbClr val="404040"/>
                </a:solidFill>
                <a:latin typeface="+mn-ea"/>
                <a:ea typeface="+mn-ea"/>
              </a:rPr>
              <a:t>우리 반 사진첩에 올라가는 첫 사진이에요.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22</a:t>
            </a:fld>
            <a:endParaRPr lang="en-US" dirty="0"/>
          </a:p>
        </p:txBody>
      </p:sp>
      <p:sp>
        <p:nvSpPr>
          <p:cNvPr id="8" name="제목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정리하기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0000" y="20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오늘의 조형 단어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00000" y="20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1" u="none">
                <a:solidFill>
                  <a:srgbClr val="D9534A"/>
                </a:solidFill>
                <a:latin typeface="+mn-ea"/>
                <a:ea typeface="+mn-ea"/>
              </a:rPr>
              <a:t>프레임</a:t>
            </a:r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  세상을 잘라 담는 네모 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0000" y="34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오늘 한 일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00000" y="34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카메라 기능 세 가지를 익히고, 바른 자세로 나의 첫 작품을 찍었어요.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0000" y="4850000"/>
            <a:ext cx="2300000" cy="900000"/>
          </a:xfrm>
          <a:prstGeom prst="roundRect">
            <a:avLst/>
          </a:prstGeom>
          <a:solidFill>
            <a:srgbClr val="D95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 u="none">
                <a:solidFill>
                  <a:srgbClr val="FFFFFF"/>
                </a:solidFill>
                <a:latin typeface="+mn-ea"/>
                <a:ea typeface="+mn-ea"/>
              </a:rPr>
              <a:t>핵심 문장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00000" y="4850000"/>
            <a:ext cx="77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사진가(나)는 도구를 바르게 다루어 표현을 준비할 수 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형성평가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2400000" y="2600000"/>
            <a:ext cx="7400000" cy="2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오늘 배운 내용을 확인해 볼까요?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모두 3문제가 준비되어 있습니다.</a:t>
            </a:r>
          </a:p>
          <a:p>
            <a:pPr algn="ctr"/>
            <a:r>
              <a:rPr sz="2800" b="0" u="none">
                <a:solidFill>
                  <a:srgbClr val="404040"/>
                </a:solidFill>
                <a:latin typeface="+mn-ea"/>
                <a:ea typeface="+mn-ea"/>
              </a:rPr>
              <a:t>하이러닝 형성평가에서 답을 골라 보세요.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1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사진에서 세상을 잘라 담는 네모 틀을 무엇이라고 하나요?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① 대비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② 관점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프레임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사진에서 세상을 잘라 담는 네모 틀을 무엇이라고 하나요?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3000" b="1" u="none">
                <a:solidFill>
                  <a:srgbClr val="D9534A"/>
                </a:solidFill>
                <a:latin typeface="+mj-ea"/>
                <a:ea typeface="+mj-ea"/>
              </a:rPr>
              <a:t>③ 프레임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2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흔들리지 않게 찍는 바른 자세로 알맞은 것은 무엇인가요?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한 손으로 잡고 빠르게 누른다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② 두 손으로 잡고 팔꿈치를 몸에 붙인다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③ 팔을 쭉 뻗어 멀리 든다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흔들리지 않게 찍는 바른 자세로 알맞은 것은 무엇인가요?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② 두 손으로 잡고 팔꿈치를 몸에 붙인다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문제 3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250000"/>
            <a:ext cx="8800000" cy="9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600" b="1" u="none">
                <a:solidFill>
                  <a:srgbClr val="404040"/>
                </a:solidFill>
                <a:latin typeface="+mn-ea"/>
                <a:ea typeface="+mn-ea"/>
              </a:rPr>
              <a:t>찍고 싶은 곳을 또렷하게 하려면 어떻게 해야 하나요?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5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① 찍고 싶은 곳을 톡 누른다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4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700" b="0" u="none">
                <a:solidFill>
                  <a:srgbClr val="404040"/>
                </a:solidFill>
                <a:latin typeface="+mn-ea"/>
                <a:ea typeface="+mn-ea"/>
              </a:rPr>
              <a:t>② 두 손가락을 벌린다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46000" y="3450000"/>
            <a:ext cx="2700000" cy="110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404040"/>
                </a:solidFill>
                <a:latin typeface="+mn-ea"/>
                <a:ea typeface="+mn-ea"/>
              </a:rPr>
              <a:t>③ 안내선을 켠다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정답</a:t>
              </a:r>
            </a:p>
          </p:txBody>
        </p:sp>
      </p:grpSp>
      <p:sp>
        <p:nvSpPr>
          <p:cNvPr id="59" name="Rectangle 58"/>
          <p:cNvSpPr/>
          <p:nvPr/>
        </p:nvSpPr>
        <p:spPr>
          <a:xfrm>
            <a:off x="1700000" y="2350000"/>
            <a:ext cx="8800000" cy="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0" u="none">
                <a:solidFill>
                  <a:srgbClr val="808080"/>
                </a:solidFill>
                <a:latin typeface="+mn-ea"/>
                <a:ea typeface="+mn-ea"/>
              </a:rPr>
              <a:t>찍고 싶은 곳을 또렷하게 하려면 어떻게 해야 하나요?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200000" y="31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400" b="1" u="none">
                <a:solidFill>
                  <a:srgbClr val="D9534A"/>
                </a:solidFill>
                <a:latin typeface="+mj-ea"/>
                <a:ea typeface="+mj-ea"/>
              </a:rPr>
              <a:t>① 찍고 싶은 곳을 톡 누른다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900000" y="4250000"/>
            <a:ext cx="8200000" cy="8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900" b="0" u="none">
                <a:solidFill>
                  <a:srgbClr val="404040"/>
                </a:solidFill>
                <a:latin typeface="+mn-ea"/>
                <a:ea typeface="+mn-ea"/>
              </a:rPr>
              <a:t>찍고 싶은 곳을 톡 누르면 그곳이 또렷해져요.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30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b="1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000" spc="-147" dirty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97" name="Rectangle 96"/>
          <p:cNvSpPr/>
          <p:nvPr/>
        </p:nvSpPr>
        <p:spPr>
          <a:xfrm>
            <a:off x="520000" y="1600000"/>
            <a:ext cx="7400000" cy="17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400" b="0" u="none">
                <a:solidFill>
                  <a:srgbClr val="404040"/>
                </a:solidFill>
                <a:latin typeface="+mn-ea"/>
                <a:ea typeface="+mn-ea"/>
              </a:rPr>
              <a:t>다음 시간에는 &lt;같은 세상, 다른 눈&gt; 단원의 네 번째 시간으로 '개미의 눈, 새의 눈'을 주제로 수업을 진행합니다.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520000" y="3500000"/>
            <a:ext cx="7200000" cy="1000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t"/>
          <a:lstStyle/>
          <a:p>
            <a:pPr algn="l"/>
            <a:r>
              <a:rPr sz="2200" b="0" u="none">
                <a:solidFill>
                  <a:srgbClr val="404040"/>
                </a:solidFill>
                <a:latin typeface="+mn-ea"/>
                <a:ea typeface="+mn-ea"/>
              </a:rPr>
              <a:t>편안한 마음으로, 열린 자세로 수업에 참여해 주세요. 다음 시간에 만나요!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8250000" y="2350000"/>
            <a:ext cx="2800000" cy="21000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6877E"/>
            </a:solidFill>
            <a:prstDash val="lg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808080"/>
                </a:solidFill>
                <a:latin typeface="+mn-ea"/>
                <a:ea typeface="+mn-ea"/>
              </a:rPr>
              <a:t>교사 촬영 사진 삽입</a:t>
            </a:r>
          </a:p>
          <a:p>
            <a:pPr algn="ctr"/>
            <a:r>
              <a:rPr sz="1600" b="0" u="none">
                <a:solidFill>
                  <a:srgbClr val="808080"/>
                </a:solidFill>
                <a:latin typeface="+mn-ea"/>
                <a:ea typeface="+mn-ea"/>
              </a:rPr>
              <a:t>(4차시 미리보기: 같은 실내화를 아래에서 올려 찍은 사진)</a:t>
            </a:r>
          </a:p>
        </p:txBody>
      </p:sp>
      <p:sp>
        <p:nvSpPr>
          <p:cNvPr id="100" name="Oval Callout 99"/>
          <p:cNvSpPr/>
          <p:nvPr/>
        </p:nvSpPr>
        <p:spPr>
          <a:xfrm>
            <a:off x="7600000" y="5100000"/>
            <a:ext cx="2100000" cy="90000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F687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0" u="none">
                <a:solidFill>
                  <a:srgbClr val="404040"/>
                </a:solidFill>
                <a:latin typeface="+mn-ea"/>
                <a:ea typeface="+mn-ea"/>
              </a:rPr>
              <a:t>개미의 눈일까, 새의 눈일까?</a:t>
            </a:r>
          </a:p>
        </p:txBody>
      </p:sp>
      <p:pic>
        <p:nvPicPr>
          <p:cNvPr id="101" name="Picture 100" descr="경기도공공미술교육연구회 로고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79111" y="5335203"/>
            <a:ext cx="1093755" cy="109375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980</Words>
  <Application>Microsoft Office PowerPoint</Application>
  <PresentationFormat>와이드스크린</PresentationFormat>
  <Paragraphs>220</Paragraphs>
  <Slides>31</Slides>
  <Notes>0</Notes>
  <HiddenSlides>0</HiddenSlides>
  <MMClips>1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31</vt:i4>
      </vt:variant>
    </vt:vector>
  </HeadingPairs>
  <TitlesOfParts>
    <vt:vector size="38" baseType="lpstr">
      <vt:lpstr>Noto Sans KR Black</vt:lpstr>
      <vt:lpstr>Noto Sans KR Medium</vt:lpstr>
      <vt:lpstr>나눔스퀘어 ExtraBold</vt:lpstr>
      <vt:lpstr>땅스부대찌개 Bold</vt:lpstr>
      <vt:lpstr>에스코어 드림 8 Heavy</vt:lpstr>
      <vt:lpstr>Arial</vt:lpstr>
      <vt:lpstr>Office Theme</vt:lpstr>
      <vt:lpstr>PowerPoint 프레젠테이션</vt:lpstr>
      <vt:lpstr>PowerPoint 프레젠테이션</vt:lpstr>
      <vt:lpstr>조형놀이. 손가락 액자</vt:lpstr>
      <vt:lpstr>PowerPoint 프레젠테이션</vt:lpstr>
      <vt:lpstr>PowerPoint 프레젠테이션</vt:lpstr>
      <vt:lpstr>PowerPoint 프레젠테이션</vt:lpstr>
      <vt:lpstr>PowerPoint 프레젠테이션</vt:lpstr>
      <vt:lpstr>일곱 번의 눈, 그중 오늘</vt:lpstr>
      <vt:lpstr>PowerPoint 프레젠테이션</vt:lpstr>
      <vt:lpstr>오늘의 조형 단어</vt:lpstr>
      <vt:lpstr>오늘의 핵심 문장</vt:lpstr>
      <vt:lpstr>오늘의 핵심 문장</vt:lpstr>
      <vt:lpstr>AI는? 나는?</vt:lpstr>
      <vt:lpstr>활동 1. 카메라 기능 탐험</vt:lpstr>
      <vt:lpstr>활동 1. 카메라 기능 탐험</vt:lpstr>
      <vt:lpstr>활동 1. 카메라 기능 탐험_활동지, 활동 예시</vt:lpstr>
      <vt:lpstr>활동 1. 카메라 기능 탐험_활동지, 활동 예시</vt:lpstr>
      <vt:lpstr>활동 2. 흔들림 제로 챌린지</vt:lpstr>
      <vt:lpstr>활동 2. 흔들림 제로 챌린지</vt:lpstr>
      <vt:lpstr>활동 2. 흔들림 제로 챌린지</vt:lpstr>
      <vt:lpstr>활동 3. 나의 첫 작품</vt:lpstr>
      <vt:lpstr>정리하기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다음 수업 안내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기현 노</cp:lastModifiedBy>
  <cp:revision>14</cp:revision>
  <dcterms:created xsi:type="dcterms:W3CDTF">2026-07-09T22:35:37Z</dcterms:created>
  <dcterms:modified xsi:type="dcterms:W3CDTF">2026-09-28T02:39:39Z</dcterms:modified>
</cp:coreProperties>
</file>