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</p:sldIdLst>
  <p:sldSz cx="12192000" cy="6858000"/>
  <p:notesSz cx="6858000" cy="12192000"/>
  <p:embeddedFontLst>
    <p:embeddedFont>
      <p:font typeface="Noto Sans KR Black" panose="020B0200000000000000" pitchFamily="50" charset="-127"/>
      <p:bold r:id="rId34"/>
    </p:embeddedFont>
    <p:embeddedFont>
      <p:font typeface="Noto Sans KR Medium" panose="020B0200000000000000" pitchFamily="50" charset="-127"/>
      <p:regular r:id="rId35"/>
    </p:embeddedFont>
    <p:embeddedFont>
      <p:font typeface="나눔스퀘어 ExtraBold" panose="020B0600000101010101" pitchFamily="50" charset="-127"/>
      <p:bold r:id="rId36"/>
    </p:embeddedFont>
    <p:embeddedFont>
      <p:font typeface="땅스부대찌개 Bold" panose="02020603020101020101" pitchFamily="18" charset="-127"/>
      <p:bold r:id="rId37"/>
    </p:embeddedFont>
    <p:embeddedFont>
      <p:font typeface="에스코어 드림 8 Heavy" panose="020B0903030302020204" pitchFamily="34" charset="-127"/>
      <p:bold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972782"/>
            <a:ext cx="7718219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사진가의</a:t>
            </a:r>
            <a:endParaRPr lang="ko-KR" altLang="en-US" sz="5867" b="1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첫걸음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표지 차시 말풍선 그림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3차시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5722" y="4400000"/>
            <a:ext cx="5925788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단원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: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같은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세상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,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다른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 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조형놀이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550000"/>
            <a:ext cx="7400000" cy="2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손가락으로 네모 액자를 만들어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교실에서 마음에 드는 한 장면만 잘라 보고,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짝에게 무엇을 담았는지 말해요.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그다음, 선생님이 잘라 온 장면 2개를 맞혀 봐요.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조형놀이. 손가락 액자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0000" y="1590000"/>
            <a:ext cx="63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두 손의 엄지와 검지를 쭉 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245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0000" y="2370000"/>
            <a:ext cx="63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두 손을 맞대어 네모 액자를 만들어요.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323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0000" y="3150000"/>
            <a:ext cx="63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액자를 멀리, 가까이 움직이며 한 장면만 잘라 봐요.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000" y="401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0000" y="3930000"/>
            <a:ext cx="63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짝에게 액자 속에 무엇을 담았는지 말해요.</a:t>
            </a:r>
          </a:p>
        </p:txBody>
      </p:sp>
      <p:pic>
        <p:nvPicPr>
          <p:cNvPr id="21" name="Picture 20" descr="손가락 액자 만드는 모습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00" y="2122977"/>
            <a:ext cx="3599999" cy="275404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틀 밖의 모습은 사진에 담기지 않아요.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u="none">
                <a:solidFill>
                  <a:srgbClr val="FFFFFF"/>
                </a:solidFill>
                <a:latin typeface="+mn-ea"/>
                <a:ea typeface="+mn-ea"/>
              </a:rPr>
              <a:t>교실의 어디일까요? 화이트보드에 표시해요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7C8CFE-C533-CF4F-3E88-C85F137B7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1" t="22639" r="30009" b="68770"/>
          <a:stretch>
            <a:fillRect/>
          </a:stretch>
        </p:blipFill>
        <p:spPr>
          <a:xfrm>
            <a:off x="3709915" y="2298324"/>
            <a:ext cx="4939926" cy="2631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n-ea"/>
                <a:ea typeface="+mn-ea"/>
              </a:rPr>
              <a:t>여기였어요!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네모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틀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밖의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모습은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19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사진에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담기지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않아요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3B7FCC-05E3-6AEA-9C02-91502C3D50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34" t="7284" r="17856" b="51180"/>
          <a:stretch>
            <a:fillRect/>
          </a:stretch>
        </p:blipFill>
        <p:spPr>
          <a:xfrm>
            <a:off x="5290881" y="2499999"/>
            <a:ext cx="3925690" cy="24502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u="none">
                <a:solidFill>
                  <a:srgbClr val="FFFFFF"/>
                </a:solidFill>
                <a:latin typeface="+mn-ea"/>
                <a:ea typeface="+mn-ea"/>
              </a:rPr>
              <a:t>교실의 어디일까요? 화이트보드에 표시해요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4148BF-5963-7304-687C-F4076F67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29" t="71546" r="56549" b="23532"/>
          <a:stretch>
            <a:fillRect/>
          </a:stretch>
        </p:blipFill>
        <p:spPr>
          <a:xfrm>
            <a:off x="4167464" y="2595114"/>
            <a:ext cx="3857072" cy="22171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n-ea"/>
                <a:ea typeface="+mn-ea"/>
              </a:rPr>
              <a:t>여기였어요!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같은 교실도 어디를 자르느냐에 따라 전혀 다른 사진이 돼요.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D559D9-FF30-1780-31AA-2A9EAE67F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98" t="63292" r="45453" b="8557"/>
          <a:stretch>
            <a:fillRect/>
          </a:stretch>
        </p:blipFill>
        <p:spPr>
          <a:xfrm>
            <a:off x="5901622" y="2613449"/>
            <a:ext cx="3140777" cy="2852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번의 눈, 그중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매일 보던 우리 학교를 일곱 번 다르게 보는 사진가(나)가 되어 봐요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25000" y="3075000"/>
            <a:ext cx="9600000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1차시</a:t>
            </a:r>
          </a:p>
        </p:txBody>
      </p:sp>
      <p:sp>
        <p:nvSpPr>
          <p:cNvPr id="102" name="Oval 101"/>
          <p:cNvSpPr/>
          <p:nvPr/>
        </p:nvSpPr>
        <p:spPr>
          <a:xfrm>
            <a:off x="23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2차시</a:t>
            </a:r>
          </a:p>
        </p:txBody>
      </p:sp>
      <p:sp>
        <p:nvSpPr>
          <p:cNvPr id="104" name="Oval 103"/>
          <p:cNvSpPr/>
          <p:nvPr/>
        </p:nvSpPr>
        <p:spPr>
          <a:xfrm>
            <a:off x="3900000" y="2450000"/>
            <a:ext cx="1250000" cy="1250000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준비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D9534A"/>
                </a:solidFill>
                <a:latin typeface="+mn-ea"/>
                <a:ea typeface="+mn-ea"/>
              </a:rPr>
              <a:t>3차시 (오늘)</a:t>
            </a:r>
          </a:p>
        </p:txBody>
      </p:sp>
      <p:sp>
        <p:nvSpPr>
          <p:cNvPr id="106" name="Oval 105"/>
          <p:cNvSpPr/>
          <p:nvPr/>
        </p:nvSpPr>
        <p:spPr>
          <a:xfrm>
            <a:off x="55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시선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4차시</a:t>
            </a:r>
          </a:p>
        </p:txBody>
      </p:sp>
      <p:sp>
        <p:nvSpPr>
          <p:cNvPr id="108" name="Oval 107"/>
          <p:cNvSpPr/>
          <p:nvPr/>
        </p:nvSpPr>
        <p:spPr>
          <a:xfrm>
            <a:off x="71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5차시</a:t>
            </a:r>
          </a:p>
        </p:txBody>
      </p:sp>
      <p:sp>
        <p:nvSpPr>
          <p:cNvPr id="110" name="Oval 109"/>
          <p:cNvSpPr/>
          <p:nvPr/>
        </p:nvSpPr>
        <p:spPr>
          <a:xfrm>
            <a:off x="87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의도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6차시</a:t>
            </a:r>
          </a:p>
        </p:txBody>
      </p:sp>
      <p:sp>
        <p:nvSpPr>
          <p:cNvPr id="112" name="Oval 111"/>
          <p:cNvSpPr/>
          <p:nvPr/>
        </p:nvSpPr>
        <p:spPr>
          <a:xfrm>
            <a:off x="103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소통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7차시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0000" y="4950000"/>
            <a:ext cx="9600000" cy="7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지난 시간에는 나만의 '관점'을 찾았어요. 오늘은 사진가의 도구를 '준비'해요.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869897" y="2900000"/>
            <a:ext cx="8794678" cy="1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카메라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기능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익히고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endParaRPr lang="en-US" sz="27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바른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자세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로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흔들리지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않는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사진을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찍</a:t>
            </a:r>
            <a:r>
              <a:rPr lang="ko-KR" altLang="en-US" sz="2700" b="0" u="none" dirty="0">
                <a:solidFill>
                  <a:srgbClr val="404040"/>
                </a:solidFill>
                <a:latin typeface="+mn-ea"/>
                <a:ea typeface="+mn-ea"/>
              </a:rPr>
              <a:t>어 봅시다</a:t>
            </a:r>
            <a:r>
              <a:rPr lang="en-US" altLang="ko-KR" sz="27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  <a:endParaRPr sz="2700" b="0" u="none" dirty="0">
              <a:solidFill>
                <a:srgbClr val="40404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조형 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손가락 액자 놀이를 떠올려 보세요.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96000" y="2000000"/>
            <a:ext cx="3000000" cy="115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 u="none">
                <a:solidFill>
                  <a:srgbClr val="FFFFFF"/>
                </a:solidFill>
                <a:latin typeface="+mj-ea"/>
                <a:ea typeface="+mj-ea"/>
              </a:rPr>
              <a:t>프레임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0000" y="3250000"/>
            <a:ext cx="10400000" cy="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404040"/>
                </a:solidFill>
                <a:latin typeface="+mn-ea"/>
                <a:ea typeface="+mn-ea"/>
              </a:rPr>
              <a:t>세상을 잘라 담는 네모 틀을 프레임이라고 해요. 프레임 안에 무엇을 넣고 무엇을 뺄지 정하는 것이 사진의 시작이에요.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72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넣을 것 고르기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97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뺄 것 고르기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22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가로 프레임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7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세로 프레임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300000" y="5050000"/>
            <a:ext cx="9600000" cy="6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생각해 보기: 내 책상을 가로 프레임과 세로 프레임으로 담으면 무엇이 달라질까요?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빈칸에 들어갈 말을 추측해 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도구를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바르게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다루어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표현을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>
                <a:solidFill>
                  <a:srgbClr val="808080"/>
                </a:solidFill>
                <a:latin typeface="+mj-ea"/>
                <a:ea typeface="+mj-ea"/>
              </a:rPr>
              <a:t>  ?  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할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오늘의 핵심 문장을 함께 읽어 봅시다.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000" y="1880000"/>
            <a:ext cx="10400000" cy="6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1차시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온몸의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감각으로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세상을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관찰할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2차시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같은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세상을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나만의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관점으로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볼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000" y="263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0000" y="288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도구를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바르게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다루어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표현을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sng" dirty="0" err="1">
                <a:solidFill>
                  <a:srgbClr val="D9534A"/>
                </a:solidFill>
                <a:latin typeface="+mj-ea"/>
                <a:ea typeface="+mj-ea"/>
              </a:rPr>
              <a:t>준비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할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00000" y="4580000"/>
            <a:ext cx="96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차시 동안 일곱 문장을 모아, 7차시에 함께 읽어요.</a:t>
            </a:r>
          </a:p>
        </p:txBody>
      </p:sp>
      <p:sp>
        <p:nvSpPr>
          <p:cNvPr id="103" name="Oval 102"/>
          <p:cNvSpPr/>
          <p:nvPr/>
        </p:nvSpPr>
        <p:spPr>
          <a:xfrm>
            <a:off x="4226000" y="51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4786000" y="51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5346000" y="51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906000" y="51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7" name="Oval 106"/>
          <p:cNvSpPr/>
          <p:nvPr/>
        </p:nvSpPr>
        <p:spPr>
          <a:xfrm>
            <a:off x="6466000" y="51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08" name="Oval 107"/>
          <p:cNvSpPr/>
          <p:nvPr/>
        </p:nvSpPr>
        <p:spPr>
          <a:xfrm>
            <a:off x="7026000" y="51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9" name="Oval 108"/>
          <p:cNvSpPr/>
          <p:nvPr/>
        </p:nvSpPr>
        <p:spPr>
          <a:xfrm>
            <a:off x="7586000" y="51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AI는? 나는?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대상을 만날 때, AI와 나는 어떻게 다를까요?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0000" y="2050000"/>
            <a:ext cx="4900000" cy="620000"/>
          </a:xfrm>
          <a:prstGeom prst="round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AI는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흔들린 사진을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나중에 선명하게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고쳐 줘요.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0000" y="2050000"/>
            <a:ext cx="4900000" cy="6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나는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처음부터 바른 자세로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원하는 장면을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또렷하게 담아요.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0000" y="525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+mn-ea"/>
                <a:ea typeface="+mn-ea"/>
              </a:rPr>
              <a:t>나중에 고치는 것보다 처음부터 바르게 찍는 것이 먼저예요.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카메라 기능 탐험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태블릿 카메라의 세 가지 기능을 살펴봐요.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496000" y="2000000"/>
            <a:ext cx="7200000" cy="40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/>
            <a:endParaRPr/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차시 영상 「카메라 기능 탐험」 (1분 15초 내외)</a:t>
            </a:r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통합학습창 [함께 보기]로 재생</a:t>
            </a:r>
          </a:p>
        </p:txBody>
      </p:sp>
      <p:sp>
        <p:nvSpPr>
          <p:cNvPr id="100" name="Isosceles Triangle 99"/>
          <p:cNvSpPr/>
          <p:nvPr/>
        </p:nvSpPr>
        <p:spPr>
          <a:xfrm rot="5400000">
            <a:off x="5766000" y="2900000"/>
            <a:ext cx="660000" cy="620000"/>
          </a:xfrm>
          <a:prstGeom prst="triangl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3차시_영상(같은 세상 다른 눈)">
            <a:hlinkClick r:id="" action="ppaction://media"/>
            <a:extLst>
              <a:ext uri="{FF2B5EF4-FFF2-40B4-BE49-F238E27FC236}">
                <a16:creationId xmlns:a16="http://schemas.microsoft.com/office/drawing/2014/main" id="{C05C7161-DE29-EEE4-4358-35AFA4F04D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76572" y="1811360"/>
            <a:ext cx="8270514" cy="46521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55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카메라 기능 탐험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영상을 보며 세 가지 기능을 익혀요.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0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태블릿 카메라로 세 가지 미션에 도전해요.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2820000"/>
            <a:ext cx="315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미션 ㉠ 초점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찍고 싶은 곳을 톡.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0000" y="2820000"/>
            <a:ext cx="315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미션 ㉡ 확대·축소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두 손가락을 벌렸다 오므렸다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000" y="2820000"/>
            <a:ext cx="315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미션 ㉢ 안내선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설정(톱니바퀴) → 수직/수평 안내선 켜기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41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0000" y="40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성공한 미션은 활동지에 체크해요.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타이머 5분. 안내선은 켜 두기만 하고, 쓰는 방법은 5차시에 배워요.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카메라 기능 탐험_활동지, 활동 예시</a:t>
            </a:r>
          </a:p>
        </p:txBody>
      </p:sp>
      <p:pic>
        <p:nvPicPr>
          <p:cNvPr id="13" name="Picture 12" descr="3차시 활동지: 사진가의 첫걸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카메라 기능 탐험_활동지, 활동 예시</a:t>
            </a:r>
          </a:p>
        </p:txBody>
      </p:sp>
      <p:pic>
        <p:nvPicPr>
          <p:cNvPr id="13" name="Picture 12" descr="3차시 활동 예시 작품: 사진가의 첫걸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촬영 약속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흔들림 제로 챌린지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1850000"/>
            <a:ext cx="5100000" cy="6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바른 자세 세 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260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1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두 손으로 잡기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342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2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팔꿈치를 몸에 붙이기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000" y="424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3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찍는 순간 숨 멈추기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0" y="1850000"/>
            <a:ext cx="5100000" cy="6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우리의 촬영 약속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0" y="260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1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이번 단원에서는 사물과 공간만 찍어요.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0" y="342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2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걸어가면서 찍지 않아요.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000" y="424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3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태블릿은 두 손으로 들고 다녀요.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0" y="506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u="none">
                <a:solidFill>
                  <a:srgbClr val="D9534A"/>
                </a:solidFill>
                <a:latin typeface="+mn-ea"/>
                <a:ea typeface="+mn-ea"/>
              </a:rPr>
              <a:t>4  </a:t>
            </a:r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친구 얼굴이나 이름이 찍히면 바로 지워요.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비교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흔들림 제로 챌린지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1480000"/>
            <a:ext cx="93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1" u="none">
                <a:solidFill>
                  <a:srgbClr val="404040"/>
                </a:solidFill>
                <a:latin typeface="+mn-ea"/>
                <a:ea typeface="+mn-ea"/>
              </a:rPr>
              <a:t>선생님이 같은 필통을 두 번 찍었어요. 무엇이 다를까요?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5520000"/>
            <a:ext cx="5000000" cy="4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흔들린 사진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5520000"/>
            <a:ext cx="5000000" cy="4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선명한 사진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ABF61F-3DD0-EDB8-CB5A-87FD2726B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914" y="2184768"/>
            <a:ext cx="4399257" cy="32994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F556D97-7CCE-31D5-75B1-2DCB5F05E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29" y="2199372"/>
            <a:ext cx="4238171" cy="31786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흔들림 제로 챌린지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내 필통을 일부러 흔들리게 1장 찍어요.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바른 자세로 1장 더 찍어요.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두 사진을 확대해서 비교하고, 느낀 점을 활동지에 적어요.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촬영 약속에 서명한 사진가만 촬영을 시작할 수 있어요.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촬영은 자리에서만. 태블릿은 두 손으로 들어요.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3. 나의 첫 작품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오늘 배운 초점과 프레임을 살려 교실 속 사물 1장을 정성껏 찍어요.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제목을 한 줄 붙여 클래스보드 '나의 첫 작품' 칸에 올려요.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친구 작품에 공감을 눌러요.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올리기 전 확인. 친구 얼굴이나 이름표가 찍히지 않았나요?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우리 반 사진첩에 올라가는 첫 사진이에요.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00" y="20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오늘의 조형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20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프레임</a:t>
            </a:r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  세상을 잘라 담는 네모 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0" y="34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 한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0" y="34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카메라 기능 세 가지를 익히고, 바른 자세로 나의 첫 작품을 찍었어요.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00" y="48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핵심 문장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8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사진가(나)는 도구를 바르게 다루어 표현을 준비할 수 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600000"/>
            <a:ext cx="7400000" cy="2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오늘 배운 내용을 확인해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3문제가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하이러닝 형성평가에서 답을 골라 보세요.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사진에서 세상을 잘라 담는 네모 틀을 무엇이라고 하나요?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대비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관점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프레임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사진에서 세상을 잘라 담는 네모 틀을 무엇이라고 하나요?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③ 프레임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흔들리지 않게 찍는 바른 자세로 알맞은 것은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① 한 손으로 잡고 빠르게 누른다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② 두 손으로 잡고 팔꿈치를 몸에 붙인다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③ 팔을 쭉 뻗어 멀리 든다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흔들리지 않게 찍는 바른 자세로 알맞은 것은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② 두 손으로 잡고 팔꿈치를 몸에 붙인다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찍고 싶은 곳을 또렷하게 하려면 어떻게 해야 하나요?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① 찍고 싶은 곳을 톡 누른다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② 두 손가락을 벌린다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안내선을 켠다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찍고 싶은 곳을 또렷하게 하려면 어떻게 해야 하나요?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① 찍고 싶은 곳을 톡 누른다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00000" y="4250000"/>
            <a:ext cx="8200000" cy="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찍고 싶은 곳을 톡 누르면 그곳이 또렷해져요.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20000" y="1600000"/>
            <a:ext cx="7400000" cy="1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400" b="0" u="none">
                <a:solidFill>
                  <a:srgbClr val="404040"/>
                </a:solidFill>
                <a:latin typeface="+mn-ea"/>
                <a:ea typeface="+mn-ea"/>
              </a:rPr>
              <a:t>다음 시간에는 &lt;같은 세상, 다른 눈&gt; 단원의 네 번째 시간으로 '개미의 눈, 새의 눈'을 주제로 수업을 진행합니다.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000" y="35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편안한 마음으로, 열린 자세로 수업에 참여해 주세요. 다음 시간에 만나요!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250000" y="2350000"/>
            <a:ext cx="2800000" cy="21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808080"/>
                </a:solidFill>
                <a:latin typeface="+mn-ea"/>
                <a:ea typeface="+mn-ea"/>
              </a:rPr>
              <a:t>교사 촬영 사진 삽입</a:t>
            </a:r>
          </a:p>
          <a:p>
            <a:pPr algn="ctr"/>
            <a:r>
              <a:rPr sz="1600" b="0" u="none">
                <a:solidFill>
                  <a:srgbClr val="808080"/>
                </a:solidFill>
                <a:latin typeface="+mn-ea"/>
                <a:ea typeface="+mn-ea"/>
              </a:rPr>
              <a:t>(4차시 미리보기: 같은 실내화를 아래에서 올려 찍은 사진)</a:t>
            </a:r>
          </a:p>
        </p:txBody>
      </p:sp>
      <p:sp>
        <p:nvSpPr>
          <p:cNvPr id="100" name="Oval Callout 99"/>
          <p:cNvSpPr/>
          <p:nvPr/>
        </p:nvSpPr>
        <p:spPr>
          <a:xfrm>
            <a:off x="7600000" y="5100000"/>
            <a:ext cx="2100000" cy="90000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개미의 눈일까, 새의 눈일까?</a:t>
            </a:r>
          </a:p>
        </p:txBody>
      </p:sp>
      <p:pic>
        <p:nvPicPr>
          <p:cNvPr id="101" name="Picture 100" descr="경기도공공미술교육연구회 로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980</Words>
  <Application>Microsoft Office PowerPoint</Application>
  <PresentationFormat>와이드스크린</PresentationFormat>
  <Paragraphs>220</Paragraphs>
  <Slides>31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Office Theme</vt:lpstr>
      <vt:lpstr>PowerPoint 프레젠테이션</vt:lpstr>
      <vt:lpstr>PowerPoint 프레젠테이션</vt:lpstr>
      <vt:lpstr>조형놀이. 손가락 액자</vt:lpstr>
      <vt:lpstr>PowerPoint 프레젠테이션</vt:lpstr>
      <vt:lpstr>PowerPoint 프레젠테이션</vt:lpstr>
      <vt:lpstr>PowerPoint 프레젠테이션</vt:lpstr>
      <vt:lpstr>PowerPoint 프레젠테이션</vt:lpstr>
      <vt:lpstr>일곱 번의 눈, 그중 오늘</vt:lpstr>
      <vt:lpstr>PowerPoint 프레젠테이션</vt:lpstr>
      <vt:lpstr>오늘의 조형 단어</vt:lpstr>
      <vt:lpstr>오늘의 핵심 문장</vt:lpstr>
      <vt:lpstr>오늘의 핵심 문장</vt:lpstr>
      <vt:lpstr>AI는? 나는?</vt:lpstr>
      <vt:lpstr>활동 1. 카메라 기능 탐험</vt:lpstr>
      <vt:lpstr>활동 1. 카메라 기능 탐험</vt:lpstr>
      <vt:lpstr>활동 1. 카메라 기능 탐험_활동지, 활동 예시</vt:lpstr>
      <vt:lpstr>활동 1. 카메라 기능 탐험_활동지, 활동 예시</vt:lpstr>
      <vt:lpstr>활동 2. 흔들림 제로 챌린지</vt:lpstr>
      <vt:lpstr>활동 2. 흔들림 제로 챌린지</vt:lpstr>
      <vt:lpstr>활동 2. 흔들림 제로 챌린지</vt:lpstr>
      <vt:lpstr>활동 3. 나의 첫 작품</vt:lpstr>
      <vt:lpstr>정리하기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15</cp:revision>
  <dcterms:created xsi:type="dcterms:W3CDTF">2026-07-09T22:35:37Z</dcterms:created>
  <dcterms:modified xsi:type="dcterms:W3CDTF">2026-10-27T16:06:39Z</dcterms:modified>
</cp:coreProperties>
</file>