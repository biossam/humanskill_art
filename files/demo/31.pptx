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2274" y="9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2972782"/>
            <a:ext cx="7718219" cy="107721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화면을</a:t>
            </a:r>
            <a:endParaRPr lang="ko-KR" altLang="en-US" sz="5867" b="1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짜는 힘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b="1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표지 차시 말풍선 그림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5차시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5722" y="4400000"/>
            <a:ext cx="5925788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2800" b="1" u="none">
                <a:solidFill>
                  <a:srgbClr val="4472C4"/>
                </a:solidFill>
                <a:latin typeface="+mj-ea"/>
                <a:ea typeface="+mj-ea"/>
              </a:rPr>
              <a:t>단원: 같은 세상, 다른 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조형놀이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550000"/>
            <a:ext cx="7400000" cy="2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화이트보드에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선이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그어진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빈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화면이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나옵니다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화면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아무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곳에나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스티커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(점)를 </a:t>
            </a:r>
            <a:endParaRPr lang="en-US" sz="28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하나씩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붙여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보세요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ctr"/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다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붙이면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어느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점이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가장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먼저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눈에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들어오는지</a:t>
            </a:r>
            <a:endParaRPr sz="28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함께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투표해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봐요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화이트보드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조형놀이. 스티커 어디에 붙일까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6000" y="1650000"/>
            <a:ext cx="8000000" cy="45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4762666" y="1650000"/>
            <a:ext cx="0" cy="4500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96000" y="3150000"/>
            <a:ext cx="80000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9333" y="1650000"/>
            <a:ext cx="0" cy="4500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96000" y="4650000"/>
            <a:ext cx="80000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스티커 놀이, 무엇을 발견했나요?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어디에 붙은 점이 가장 먼저 눈에 들어왔나요?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96000" y="1950000"/>
            <a:ext cx="7000000" cy="39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0" name="Connector 99"/>
          <p:cNvCxnSpPr/>
          <p:nvPr/>
        </p:nvCxnSpPr>
        <p:spPr>
          <a:xfrm>
            <a:off x="4929333" y="1950000"/>
            <a:ext cx="0" cy="3940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596000" y="3263333"/>
            <a:ext cx="70000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262666" y="1950000"/>
            <a:ext cx="0" cy="3940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596000" y="4576666"/>
            <a:ext cx="70000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4739333" y="3073333"/>
            <a:ext cx="380000" cy="380000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4739333" y="4386666"/>
            <a:ext cx="380000" cy="380000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072666" y="3073333"/>
            <a:ext cx="380000" cy="380000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7072666" y="4386666"/>
            <a:ext cx="380000" cy="380000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00000" y="6000000"/>
            <a:ext cx="104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u="none">
                <a:solidFill>
                  <a:srgbClr val="404040"/>
                </a:solidFill>
                <a:latin typeface="+mn-ea"/>
                <a:ea typeface="+mn-ea"/>
              </a:rPr>
              <a:t>선이 만나는 네 곳 근처의 점이 먼저 눈에 들어왔나요?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번의 눈, 그중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매일 보던 우리 학교를 일곱 번 다르게 보는 사진가(나)가 되어 봐요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325000" y="3075000"/>
            <a:ext cx="9600000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1차시</a:t>
            </a:r>
          </a:p>
        </p:txBody>
      </p:sp>
      <p:sp>
        <p:nvSpPr>
          <p:cNvPr id="102" name="Oval 101"/>
          <p:cNvSpPr/>
          <p:nvPr/>
        </p:nvSpPr>
        <p:spPr>
          <a:xfrm>
            <a:off x="23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2차시</a:t>
            </a:r>
          </a:p>
        </p:txBody>
      </p:sp>
      <p:sp>
        <p:nvSpPr>
          <p:cNvPr id="104" name="Oval 103"/>
          <p:cNvSpPr/>
          <p:nvPr/>
        </p:nvSpPr>
        <p:spPr>
          <a:xfrm>
            <a:off x="39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준비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3차시</a:t>
            </a:r>
          </a:p>
        </p:txBody>
      </p:sp>
      <p:sp>
        <p:nvSpPr>
          <p:cNvPr id="106" name="Oval 105"/>
          <p:cNvSpPr/>
          <p:nvPr/>
        </p:nvSpPr>
        <p:spPr>
          <a:xfrm>
            <a:off x="55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시선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4차시</a:t>
            </a:r>
          </a:p>
        </p:txBody>
      </p:sp>
      <p:sp>
        <p:nvSpPr>
          <p:cNvPr id="108" name="Oval 107"/>
          <p:cNvSpPr/>
          <p:nvPr/>
        </p:nvSpPr>
        <p:spPr>
          <a:xfrm>
            <a:off x="7100000" y="2450000"/>
            <a:ext cx="1250000" cy="1250000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구도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D9534A"/>
                </a:solidFill>
                <a:latin typeface="+mn-ea"/>
                <a:ea typeface="+mn-ea"/>
              </a:rPr>
              <a:t>5차시 (오늘)</a:t>
            </a:r>
          </a:p>
        </p:txBody>
      </p:sp>
      <p:sp>
        <p:nvSpPr>
          <p:cNvPr id="110" name="Oval 109"/>
          <p:cNvSpPr/>
          <p:nvPr/>
        </p:nvSpPr>
        <p:spPr>
          <a:xfrm>
            <a:off x="87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의도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6차시</a:t>
            </a:r>
          </a:p>
        </p:txBody>
      </p:sp>
      <p:sp>
        <p:nvSpPr>
          <p:cNvPr id="112" name="Oval 111"/>
          <p:cNvSpPr/>
          <p:nvPr/>
        </p:nvSpPr>
        <p:spPr>
          <a:xfrm>
            <a:off x="103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소통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7차시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00000" y="4950000"/>
            <a:ext cx="9600000" cy="7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지난 시간에는 눈높이를 바꿔 '시선'을 찾았어요. 오늘은 화면을 짜는 '구도'를 배워요.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869897" y="2900000"/>
            <a:ext cx="8794678" cy="1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세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가지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구도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를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알고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endParaRPr lang="en-US" sz="27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안내선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이용해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구도를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골라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lang="ko-KR" altLang="en-US" sz="2700" b="0" u="none" dirty="0">
                <a:solidFill>
                  <a:srgbClr val="404040"/>
                </a:solidFill>
                <a:latin typeface="+mn-ea"/>
                <a:ea typeface="+mn-ea"/>
              </a:rPr>
              <a:t>찍어 봅시다</a:t>
            </a:r>
            <a:r>
              <a:rPr lang="en-US" altLang="ko-KR" sz="27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  <a:endParaRPr sz="2700" b="0" u="none" dirty="0">
              <a:solidFill>
                <a:srgbClr val="40404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조형 단어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스티커 놀이를 떠올려 보세요.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96000" y="2000000"/>
            <a:ext cx="3000000" cy="115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400" b="1" u="none">
                <a:solidFill>
                  <a:srgbClr val="FFFFFF"/>
                </a:solidFill>
                <a:latin typeface="+mj-ea"/>
                <a:ea typeface="+mj-ea"/>
              </a:rPr>
              <a:t>구도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0000" y="3250000"/>
            <a:ext cx="10400000" cy="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404040"/>
                </a:solidFill>
                <a:latin typeface="+mn-ea"/>
                <a:ea typeface="+mn-ea"/>
              </a:rPr>
              <a:t>화면 안에 무엇을 어디에 놓을지 정하는 설계도를 구도라고 해요.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196000" y="3950000"/>
            <a:ext cx="31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가운데 구도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주인공을 한가운데 · 모이고 당당하게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546000" y="3950000"/>
            <a:ext cx="31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삼분할 구도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선이 만나는 곳에 주인공 · 안정되고 여유 있게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896000" y="3950000"/>
            <a:ext cx="31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대각선 구도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비스듬한 선 · 움직임이 느껴지게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300000" y="5050000"/>
            <a:ext cx="9600000" cy="6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생각해 보기: 내 책상을 찍는다면 세 구도 중 무엇을 고를까요?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빈칸에 들어갈 말을 추측해 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000" y="260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00000" y="285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>
                <a:solidFill>
                  <a:srgbClr val="808080"/>
                </a:solidFill>
                <a:latin typeface="+mj-ea"/>
                <a:ea typeface="+mj-ea"/>
              </a:rPr>
              <a:t>  ?  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를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골라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화면을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짜임새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있게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만들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오늘의 핵심 문장을 함께 읽어 봅시다.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000" y="1880000"/>
            <a:ext cx="104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2차시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같은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세상을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나만의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관점으로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볼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3차시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도구를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바르게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다루어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표현을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준비할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4차시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시선의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높이와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거리를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바꾸어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대상을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다르게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표현할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0000" y="293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0000" y="318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sng" dirty="0" err="1">
                <a:solidFill>
                  <a:srgbClr val="D9534A"/>
                </a:solidFill>
                <a:latin typeface="+mj-ea"/>
                <a:ea typeface="+mj-ea"/>
              </a:rPr>
              <a:t>구도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를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골라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화면을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짜임새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있게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만들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00000" y="4880000"/>
            <a:ext cx="96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일곱 차시 동안 일곱 문장을 모아, 7차시에 함께 읽어요.</a:t>
            </a:r>
          </a:p>
        </p:txBody>
      </p:sp>
      <p:sp>
        <p:nvSpPr>
          <p:cNvPr id="103" name="Oval 102"/>
          <p:cNvSpPr/>
          <p:nvPr/>
        </p:nvSpPr>
        <p:spPr>
          <a:xfrm>
            <a:off x="422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04" name="Oval 103"/>
          <p:cNvSpPr/>
          <p:nvPr/>
        </p:nvSpPr>
        <p:spPr>
          <a:xfrm>
            <a:off x="478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534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90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107" name="Oval 106"/>
          <p:cNvSpPr/>
          <p:nvPr/>
        </p:nvSpPr>
        <p:spPr>
          <a:xfrm>
            <a:off x="646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108" name="Oval 107"/>
          <p:cNvSpPr/>
          <p:nvPr/>
        </p:nvSpPr>
        <p:spPr>
          <a:xfrm>
            <a:off x="7026000" y="54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09" name="Oval 108"/>
          <p:cNvSpPr/>
          <p:nvPr/>
        </p:nvSpPr>
        <p:spPr>
          <a:xfrm>
            <a:off x="7586000" y="54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AI는? 나는?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같은 대상을 만날 때, AI와 나는 어떻게 다를까요?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0000" y="2050000"/>
            <a:ext cx="4900000" cy="620000"/>
          </a:xfrm>
          <a:prstGeom prst="round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AI는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'좋은 구도'의 규칙을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많은 사진에서 배워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알고 있어요.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00000" y="2050000"/>
            <a:ext cx="4900000" cy="6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나는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규칙을 알고,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필요하면 일부러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깨기도 해요.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00000" y="5250000"/>
            <a:ext cx="10400000" cy="56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+mn-ea"/>
                <a:ea typeface="+mn-ea"/>
              </a:rPr>
              <a:t>규칙을 알고 쓰되, 까닭이 있으면 다르게 찍어도 괜찮아요.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안내선 켜고 삼분할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같은 화분을 세 가지 구도로 찍어 봤어요.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496000" y="2000000"/>
            <a:ext cx="7200000" cy="40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6877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/>
            <a:endParaRPr/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차시 영상 「세 가지 구도」 (1분 5초 내외)</a:t>
            </a:r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통합학습창 [함께 보기]로 재생</a:t>
            </a:r>
          </a:p>
        </p:txBody>
      </p:sp>
      <p:sp>
        <p:nvSpPr>
          <p:cNvPr id="100" name="Isosceles Triangle 99"/>
          <p:cNvSpPr/>
          <p:nvPr/>
        </p:nvSpPr>
        <p:spPr>
          <a:xfrm rot="5400000">
            <a:off x="5766000" y="2900000"/>
            <a:ext cx="660000" cy="620000"/>
          </a:xfrm>
          <a:prstGeom prst="triangl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5차시_영상">
            <a:hlinkClick r:id="" action="ppaction://media"/>
            <a:extLst>
              <a:ext uri="{FF2B5EF4-FFF2-40B4-BE49-F238E27FC236}">
                <a16:creationId xmlns:a16="http://schemas.microsoft.com/office/drawing/2014/main" id="{B767EBEC-7378-9971-EF4C-CEF7EE1B82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82000" y="1872579"/>
            <a:ext cx="7866123" cy="44246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0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안내선 켜고 삼분할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태블릿 카메라의 수직/수평 안내선이 켜져 있는지 확인해요.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0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교실 속 사물 1개를 두 가지 구도로 찍어요.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0000" y="2820000"/>
            <a:ext cx="24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가운데 구도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주인공을 화면 한가운데에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0000" y="2820000"/>
            <a:ext cx="24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삼분할 구도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주인공을 선이 만나는 곳에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000" y="41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50000" y="40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두 사진을 나란히 보고 느낌이 어떻게 다른지 활동지에 적어요.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타이머 5분. 안내선이 꺼져 있으면 카메라 설정에서 다시 켜요.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활동지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안내선 켜고 삼분할_활동지, 활동 예시</a:t>
            </a:r>
          </a:p>
        </p:txBody>
      </p:sp>
      <p:pic>
        <p:nvPicPr>
          <p:cNvPr id="13" name="Picture 12" descr="5차시 활동지: 화면을 짜는 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작품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안내선 켜고 삼분할_활동지, 활동 예시</a:t>
            </a:r>
          </a:p>
        </p:txBody>
      </p:sp>
      <p:pic>
        <p:nvPicPr>
          <p:cNvPr id="13" name="Picture 12" descr="5차시 활동 예시 작품: 화면을 짜는 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비교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대각선을 찾아라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000" y="1480000"/>
            <a:ext cx="93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1" u="none">
                <a:solidFill>
                  <a:srgbClr val="404040"/>
                </a:solidFill>
                <a:latin typeface="+mn-ea"/>
                <a:ea typeface="+mn-ea"/>
              </a:rPr>
              <a:t>선생님이 같은 화분을 세 가지 구도로 찍었어요. 안내선을 떠올리며 비교해 봐요.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5520000"/>
            <a:ext cx="3200000" cy="4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가운데 구도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0000" y="5520000"/>
            <a:ext cx="3200000" cy="4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삼분할 구도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0000" y="5520000"/>
            <a:ext cx="3200000" cy="4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대각선 구도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A7128F-73B8-61F3-21B6-05CF89D1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38" y="2600000"/>
            <a:ext cx="3344523" cy="25083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16540A-E33F-80AA-6332-7393273C3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29" y="2550000"/>
            <a:ext cx="3411189" cy="2558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3119AB-0852-C4AE-124F-6D7B8E39A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171" y="2550000"/>
            <a:ext cx="3411191" cy="25583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대각선을 찾아라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교실에서 비스듬한 선을 찾아요. (책상 줄, 창틀, 늘어놓은 연필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대각선 구도로 1장 찍어요.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오늘 찍은 세 구도 사진 중 가장 마음에 드는 1장을 고르고, 까닭을 활동지에 적어요.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대각선이 안 보이면? 연필이나 자를 비스듬히 놓아 만들어 봐요.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촬영은 교실 안에서만. 3차시 촬영 약속을 지켜요.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3. 나만의 관점 상자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화이트보드 개인 캔버스에 다섯 칸 상자를 만들어요.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0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칸마다 '나만의 사용법'을 한 줄씩 써요.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820000"/>
            <a:ext cx="1836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관찰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1차시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6000" y="2820000"/>
            <a:ext cx="1836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관점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2차시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2000" y="2820000"/>
            <a:ext cx="1836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프레임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3차시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8000" y="2820000"/>
            <a:ext cx="1836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앵글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4차시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4000" y="2820000"/>
            <a:ext cx="1836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구도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5차시(오늘)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000" y="41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0000" y="40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클래스보드에 올리고 친구의 사용법에 공감을 눌러요.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0000" y="485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예) 앵글: 나는 개미의 눈으로 내 실내화를 거인으로 만들 수 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관점 상자는 다음 시간 촬영 계획서의 재료가 돼요.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000" y="20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오늘의 조형 단어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0" y="20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구도</a:t>
            </a:r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  화면 안에 무엇을 어디에 놓을지 정하는 설계도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000" y="34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 한 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0" y="34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안내선을 켜고 세 가지 구도로 찍어 보고, 나만의 관점 상자를 만들었어요.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00" y="48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핵심 문장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0" y="48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사진가(나)는 구도를 골라 화면을 짜임새 있게 만들 수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형성평가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600000"/>
            <a:ext cx="7400000" cy="2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오늘 배운 내용을 확인해 볼까요?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모두 3문제가 준비되어 있습니다.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하이러닝 형성평가에서 답을 골라 보세요.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안내선이 만나는 곳에 주인공을 놓는 구도는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가운데 구도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대각선 구도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삼분할 구도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안내선이 만나는 곳에 주인공을 놓는 구도는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③ 삼분할 구도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달리는 것처럼 움직임이 느껴지는 사진을 찍고 싶을 때 알맞은 구도는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대각선 구도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가운데 구도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삼분할 구도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달리는 것처럼 움직임이 느껴지는 사진을 찍고 싶을 때 알맞은 구도는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① 대각선 구도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3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화면 안에 무엇을 어디에 놓을지 정하는 설계도를 무엇이라고 하나요?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구도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초점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앵글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화면 안에 무엇을 어디에 놓을지 정하는 설계도를 무엇이라고 하나요?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① 구도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00000" y="4250000"/>
            <a:ext cx="8200000" cy="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구도는 사진의 설계도예요.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 예고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20000" y="1600000"/>
            <a:ext cx="7400000" cy="1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시간에는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&lt;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세상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다른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눈&gt; </a:t>
            </a:r>
            <a:endParaRPr lang="en-US" sz="24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단원의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여섯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번째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시간으로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24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'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의도를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담은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한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장'을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주제로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수업을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진행합니다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000" y="35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편안한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마음으로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열린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자세로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수업에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참여해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주세요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. </a:t>
            </a:r>
            <a:endParaRPr lang="en-US" sz="22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만나요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!</a:t>
            </a:r>
          </a:p>
        </p:txBody>
      </p:sp>
      <p:sp>
        <p:nvSpPr>
          <p:cNvPr id="100" name="Oval Callout 99"/>
          <p:cNvSpPr/>
          <p:nvPr/>
        </p:nvSpPr>
        <p:spPr>
          <a:xfrm>
            <a:off x="7599999" y="5100000"/>
            <a:ext cx="2844800" cy="900000"/>
          </a:xfrm>
          <a:prstGeom prst="wedgeEllipseCallou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나는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무엇을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16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보여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주고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싶을까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?</a:t>
            </a:r>
          </a:p>
        </p:txBody>
      </p:sp>
      <p:pic>
        <p:nvPicPr>
          <p:cNvPr id="101" name="Picture 100" descr="경기도공공미술교육연구회 로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111" y="5335203"/>
            <a:ext cx="1093755" cy="10937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ECCE59-F295-B5FE-AAD8-A509789D6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0" y="1854689"/>
            <a:ext cx="3906864" cy="29301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895</Words>
  <Application>Microsoft Office PowerPoint</Application>
  <PresentationFormat>와이드스크린</PresentationFormat>
  <Paragraphs>209</Paragraphs>
  <Slides>27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Noto Sans KR Black</vt:lpstr>
      <vt:lpstr>Noto Sans KR Medium</vt:lpstr>
      <vt:lpstr>나눔스퀘어 ExtraBold</vt:lpstr>
      <vt:lpstr>땅스부대찌개 Bold</vt:lpstr>
      <vt:lpstr>에스코어 드림 8 Heavy</vt:lpstr>
      <vt:lpstr>Arial</vt:lpstr>
      <vt:lpstr>Office Theme</vt:lpstr>
      <vt:lpstr>PowerPoint 프레젠테이션</vt:lpstr>
      <vt:lpstr>PowerPoint 프레젠테이션</vt:lpstr>
      <vt:lpstr>조형놀이. 스티커 어디에 붙일까</vt:lpstr>
      <vt:lpstr>스티커 놀이, 무엇을 발견했나요?</vt:lpstr>
      <vt:lpstr>일곱 번의 눈, 그중 오늘</vt:lpstr>
      <vt:lpstr>PowerPoint 프레젠테이션</vt:lpstr>
      <vt:lpstr>오늘의 조형 단어</vt:lpstr>
      <vt:lpstr>오늘의 핵심 문장</vt:lpstr>
      <vt:lpstr>오늘의 핵심 문장</vt:lpstr>
      <vt:lpstr>AI는? 나는?</vt:lpstr>
      <vt:lpstr>활동 1. 안내선 켜고 삼분할</vt:lpstr>
      <vt:lpstr>활동 1. 안내선 켜고 삼분할</vt:lpstr>
      <vt:lpstr>활동 1. 안내선 켜고 삼분할_활동지, 활동 예시</vt:lpstr>
      <vt:lpstr>활동 1. 안내선 켜고 삼분할_활동지, 활동 예시</vt:lpstr>
      <vt:lpstr>활동 2. 대각선을 찾아라</vt:lpstr>
      <vt:lpstr>활동 2. 대각선을 찾아라</vt:lpstr>
      <vt:lpstr>활동 3. 나만의 관점 상자</vt:lpstr>
      <vt:lpstr>정리하기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기현 노</cp:lastModifiedBy>
  <cp:revision>14</cp:revision>
  <dcterms:created xsi:type="dcterms:W3CDTF">2026-07-09T22:35:37Z</dcterms:created>
  <dcterms:modified xsi:type="dcterms:W3CDTF">2026-09-28T02:49:54Z</dcterms:modified>
</cp:coreProperties>
</file>