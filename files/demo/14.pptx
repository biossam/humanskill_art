
<file path=[Content_Types].xml><?xml version="1.0" encoding="utf-8"?>
<Types xmlns="http://schemas.openxmlformats.org/package/2006/content-types">
  <Default Extension="png" ContentType="image/png"/>
  <Default Extension="jpeg" ContentType="image/jpeg"/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3"/>
  </p:notesMasterIdLst>
  <p:sldIdLst>
    <p:sldId id="256" r:id="rId4"/>
    <p:sldId id="265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8" r:id="rId13"/>
    <p:sldId id="286" r:id="rId14"/>
    <p:sldId id="289" r:id="rId15"/>
    <p:sldId id="278" r:id="rId16"/>
    <p:sldId id="266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27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-1232" y="-42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slideMaster" Target="slideMasters/slideMaster2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notesMaster" Target="notesMasters/notesMaster1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theme" Target="theme/theme1.xml"  /><Relationship Id="rId33" Type="http://schemas.openxmlformats.org/officeDocument/2006/relationships/tableStyles" Target="tableStyles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5.pn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47515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theme" Target="../theme/theme1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10" Type="http://schemas.openxmlformats.org/officeDocument/2006/relationships/slideLayout" Target="../slideLayouts/slideLayout14.xml"  /><Relationship Id="rId11" Type="http://schemas.openxmlformats.org/officeDocument/2006/relationships/slideLayout" Target="../slideLayouts/slideLayout15.xml"  /><Relationship Id="rId12" Type="http://schemas.openxmlformats.org/officeDocument/2006/relationships/slideLayout" Target="../slideLayouts/slideLayout16.xml"  /><Relationship Id="rId13" Type="http://schemas.openxmlformats.org/officeDocument/2006/relationships/theme" Target="../theme/theme2.xml"  /><Relationship Id="rId14" Type="http://schemas.openxmlformats.org/officeDocument/2006/relationships/image" Target="../media/image6.jpeg"  /><Relationship Id="rId15" Type="http://schemas.openxmlformats.org/officeDocument/2006/relationships/image" Target="../media/image7.png"  /><Relationship Id="rId16" Type="http://schemas.openxmlformats.org/officeDocument/2006/relationships/image" Target="../media/image8.png"  /><Relationship Id="rId2" Type="http://schemas.openxmlformats.org/officeDocument/2006/relationships/slideLayout" Target="../slideLayouts/slideLayout6.xml"  /><Relationship Id="rId3" Type="http://schemas.openxmlformats.org/officeDocument/2006/relationships/slideLayout" Target="../slideLayouts/slideLayout7.xml"  /><Relationship Id="rId4" Type="http://schemas.openxmlformats.org/officeDocument/2006/relationships/slideLayout" Target="../slideLayouts/slideLayout8.xml"  /><Relationship Id="rId5" Type="http://schemas.openxmlformats.org/officeDocument/2006/relationships/slideLayout" Target="../slideLayouts/slideLayout9.xml"  /><Relationship Id="rId6" Type="http://schemas.openxmlformats.org/officeDocument/2006/relationships/slideLayout" Target="../slideLayouts/slideLayout10.xml"  /><Relationship Id="rId7" Type="http://schemas.openxmlformats.org/officeDocument/2006/relationships/slideLayout" Target="../slideLayouts/slideLayout11.xml"  /><Relationship Id="rId8" Type="http://schemas.openxmlformats.org/officeDocument/2006/relationships/slideLayout" Target="../slideLayouts/slideLayout12.xml"  /><Relationship Id="rId9" Type="http://schemas.openxmlformats.org/officeDocument/2006/relationships/slideLayout" Target="../slideLayouts/slideLayout13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=""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=""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=""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=""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=""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=""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=""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=""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=""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=""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=""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=""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image" Target="../media/image9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Relationship Id="rId2" Type="http://schemas.openxmlformats.org/officeDocument/2006/relationships/image" Target="../media/image13.jpe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Relationship Id="rId2" Type="http://schemas.openxmlformats.org/officeDocument/2006/relationships/image" Target="../media/image14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Relationship Id="rId2" Type="http://schemas.openxmlformats.org/officeDocument/2006/relationships/image" Target="../media/image15.jpe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6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6.jpe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17.jpe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8.jpe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jpe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jpe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jpe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22.jpeg"  /><Relationship Id="rId4" Type="http://schemas.openxmlformats.org/officeDocument/2006/relationships/image" Target="../media/image23.jpe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=""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46" y="3028834"/>
            <a:ext cx="890214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나무가 예술이네</a:t>
            </a:r>
            <a:r>
              <a:rPr lang="en-US" altLang="ko-KR" sz="3200" b="1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!</a:t>
            </a: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 동네에는 어떤 나무들이 있을까요</a:t>
            </a:r>
            <a:r>
              <a:rPr lang="en-US" altLang="ko-KR" sz="2800" dirty="0" smtClean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  <a:endParaRPr lang="en-US" altLang="ko-KR" sz="2800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=""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=""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 dirty="0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=""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=""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14</a:t>
            </a:r>
            <a:r>
              <a:rPr lang="ko-KR" altLang="en-US" sz="3703" dirty="0" err="1" smtClean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ko-KR" altLang="en-US" sz="3703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Quiz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697725" y="2956740"/>
            <a:ext cx="8609088" cy="138499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다음에 나오는 나뭇잎 그림을 보고 어떤 나무인지  맞혀 보세요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5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 준비되어 있습니다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참여해주세요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9" name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46204" y="2251209"/>
            <a:ext cx="2843528" cy="351259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직사각형 11"/>
          <p:cNvSpPr/>
          <p:nvPr/>
        </p:nvSpPr>
        <p:spPr>
          <a:xfrm>
            <a:off x="6344324" y="5440637"/>
            <a:ext cx="2525949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327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434003" y="2633574"/>
            <a:ext cx="7323993" cy="1015663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주목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보통 원추형 모양이고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30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선홍빛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열매가 달려있다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.)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037" y="3940190"/>
            <a:ext cx="1192916" cy="1491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27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34680" y="2240242"/>
            <a:ext cx="4231302" cy="34311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직사각형 8"/>
          <p:cNvSpPr/>
          <p:nvPr/>
        </p:nvSpPr>
        <p:spPr>
          <a:xfrm>
            <a:off x="6344324" y="5440637"/>
            <a:ext cx="2525949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317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393862" y="2512195"/>
            <a:ext cx="9404275" cy="193899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30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양버즘나</a:t>
            </a:r>
            <a:r>
              <a:rPr lang="ko-KR" altLang="en-US" sz="30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무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(‘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플라타너스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’ 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나무라고 부르기도 하는데 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정식 명칭은 </a:t>
            </a:r>
            <a:r>
              <a:rPr lang="ko-KR" altLang="en-US" sz="3000" spc="-147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양버즘나무이다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 </a:t>
            </a:r>
          </a:p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공해에 강하고 오염 물질 흡수 능력이 뛰어나다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.)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891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4011" y="2435450"/>
            <a:ext cx="3623977" cy="333322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직사각형 8"/>
          <p:cNvSpPr/>
          <p:nvPr/>
        </p:nvSpPr>
        <p:spPr>
          <a:xfrm>
            <a:off x="3709915" y="5445507"/>
            <a:ext cx="2525949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0349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923703" y="3141406"/>
            <a:ext cx="6157135" cy="1015663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상수리나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무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참나무의 일종으로 도토리가 열린다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)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184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9" name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09915" y="2147775"/>
            <a:ext cx="4217707" cy="350301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직사각형 11"/>
          <p:cNvSpPr/>
          <p:nvPr/>
        </p:nvSpPr>
        <p:spPr>
          <a:xfrm>
            <a:off x="6344324" y="5440637"/>
            <a:ext cx="2525949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7268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975180" y="2910574"/>
            <a:ext cx="8054193" cy="147732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버드나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무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능수버들은 가지가 치렁치렁 늘어지지만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버드나무는 보통의 나무처럼 곧은 형태로 자란다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)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682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9" name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89097" y="2188869"/>
            <a:ext cx="4797768" cy="324486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직사각형 11"/>
          <p:cNvSpPr/>
          <p:nvPr/>
        </p:nvSpPr>
        <p:spPr>
          <a:xfrm>
            <a:off x="6344324" y="5440637"/>
            <a:ext cx="2525949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7268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836519" y="2910574"/>
            <a:ext cx="8331513" cy="147732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사과나무</a:t>
            </a:r>
            <a:endParaRPr lang="en-US" altLang="ko-KR" sz="30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사과나무는 주로 과수원에서 전문적으로 키우지만</a:t>
            </a:r>
            <a:endParaRPr lang="en-US" altLang="ko-KR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가끔 동네에서 미니사과나무를 발견할 수 있다</a:t>
            </a:r>
            <a:r>
              <a:rPr lang="en-US" altLang="ko-KR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.)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6829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399522" y="2910170"/>
            <a:ext cx="9392956" cy="92333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</a:t>
            </a:r>
            <a:r>
              <a:rPr lang="ko-KR" altLang="en-US" sz="2700" u="sng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나무의 종류와 특징을 탐색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하여 </a:t>
            </a:r>
            <a:r>
              <a:rPr lang="ko-KR" altLang="en-US" sz="2700" u="sng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자연에 대한 관심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높이고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관찰한 내용을 그림과 글로 표현할 수 있다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920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‘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나무가 예술이네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!’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지도 탐색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9" t="6601" r="5543" b="8315"/>
          <a:stretch/>
        </p:blipFill>
        <p:spPr>
          <a:xfrm>
            <a:off x="380144" y="1359869"/>
            <a:ext cx="6976154" cy="4927913"/>
          </a:xfrm>
          <a:prstGeom prst="rect">
            <a:avLst/>
          </a:prstGeom>
        </p:spPr>
      </p:pic>
      <p:sp>
        <p:nvSpPr>
          <p:cNvPr id="33" name="직사각형 32"/>
          <p:cNvSpPr/>
          <p:nvPr/>
        </p:nvSpPr>
        <p:spPr>
          <a:xfrm>
            <a:off x="8009026" y="2433027"/>
            <a:ext cx="3597286" cy="175432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동영상 시청 후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‘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나무가 예술이네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!’ </a:t>
            </a:r>
            <a:r>
              <a:rPr lang="ko-KR" altLang="en-US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지도에서 본 나무 중 기억나는 나무를 발표해볼까요</a:t>
            </a:r>
            <a:r>
              <a:rPr lang="en-US" altLang="ko-KR" sz="27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386245" y="5964617"/>
            <a:ext cx="2525949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나무 관찰 및 표현하기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</a:t>
            </a:r>
            <a:r>
              <a:rPr lang="en-US" altLang="ko-KR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방법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9758" y="2230843"/>
            <a:ext cx="9117399" cy="304698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교실 밖으로 나가 학교에 있는 나무를 천천히 관찰합니다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마음에 드는 나무를 골라 사진으로 촬영합니다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촬영한 사진 중 한 장을 선택하여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디지털 도구를 활용해 사진 위에 자유롭게 덧그리기를 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덧그리기 작업을 마친 후에는 나무의 특징과 나무에게 하고 싶은 말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앞으로 나무를 어떻게 돌볼지에 대한 다짐을 글로 작성합니다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완성한 작품을 친구들과 서로 공유하고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친구들의 작품을 함께 감상하며 의견을 나눕니다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9011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나무 관찰 및 표현하기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_</a:t>
            </a:r>
            <a:r>
              <a:rPr lang="ko-KR" altLang="en-US" sz="2700" b="1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활동지</a:t>
            </a:r>
            <a:r>
              <a:rPr lang="en-US" altLang="ko-KR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예시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err="1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052" name="Picture 4" descr="D:\공공미술교육연구회\2026하이러닝\경기형 AI 교수학습 플랫폼 수업 콘텐츠 개발 템플릿\1차시 활동지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60" y="1424228"/>
            <a:ext cx="8891367" cy="500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17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나무 관찰 및 표현하기</a:t>
            </a:r>
            <a:r>
              <a:rPr lang="en-US" altLang="ko-KR" sz="38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_</a:t>
            </a:r>
            <a:r>
              <a:rPr lang="ko-KR" altLang="en-US" sz="2700" b="1" dirty="0" err="1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활동지</a:t>
            </a:r>
            <a:r>
              <a:rPr lang="en-US" altLang="ko-KR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예시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074" name="Picture 2" descr="C:\Users\user\Downloads\1차시 (1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90" y="1398326"/>
            <a:ext cx="9069326" cy="510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185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형성평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가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697727" y="2956740"/>
            <a:ext cx="8609088" cy="138499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다음에 나오는 식물의 사진을 보고 어떤 식물인지  맞혀 보세요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3</a:t>
            </a:r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 준비되어 있습니다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참여해주세요</a:t>
            </a:r>
            <a:r>
              <a:rPr lang="en-US" altLang="ko-KR" sz="28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148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4098" name="Picture 2" descr="C:\Users\user\Downloads\20260913_11295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5"/>
          <a:stretch/>
        </p:blipFill>
        <p:spPr bwMode="auto">
          <a:xfrm rot="5400000">
            <a:off x="4251427" y="1984144"/>
            <a:ext cx="3689144" cy="39876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891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330653" y="3464706"/>
            <a:ext cx="1526316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은행나무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5754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6146" name="Picture 2" descr="C:\Users\user\Downloads\20260913_112319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r="11508"/>
          <a:stretch/>
        </p:blipFill>
        <p:spPr bwMode="auto">
          <a:xfrm rot="5400000">
            <a:off x="4329316" y="1975587"/>
            <a:ext cx="3533367" cy="426720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778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666065" y="3464706"/>
            <a:ext cx="855492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수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국</a:t>
            </a:r>
          </a:p>
        </p:txBody>
      </p:sp>
    </p:spTree>
    <p:extLst>
      <p:ext uri="{BB962C8B-B14F-4D97-AF65-F5344CB8AC3E}">
        <p14:creationId xmlns:p14="http://schemas.microsoft.com/office/powerpoint/2010/main" val="530242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8194" name="Picture 2" descr="C:\Users\user\Downloads\20260913_112001 (1)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0" b="15557"/>
          <a:stretch/>
        </p:blipFill>
        <p:spPr bwMode="auto">
          <a:xfrm>
            <a:off x="3853150" y="2157572"/>
            <a:ext cx="4485700" cy="36473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110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 smtClean="0">
                  <a:solidFill>
                    <a:schemeClr val="bg1"/>
                  </a:solidFill>
                  <a:latin typeface="+mj-ea"/>
                  <a:ea typeface="+mj-ea"/>
                </a:rPr>
                <a:t>정</a:t>
              </a:r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330654" y="3464706"/>
            <a:ext cx="1526316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30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단풍나무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8481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  <a:endParaRPr lang="ko-KR" altLang="en-US" sz="27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err="1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ko-KR" altLang="en-US" sz="2400" spc="-147" dirty="0" smtClean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9757" y="1696749"/>
            <a:ext cx="9117399" cy="193899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just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시간에는 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&lt;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미술 여행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공공미술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&gt;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두 번째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시간으로 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‘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동네  식물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우리에게 어떤 이야기를 들려줄까요</a:t>
            </a:r>
            <a:r>
              <a:rPr lang="en-US" altLang="ko-KR" sz="2400" spc="-147" dirty="0" smtClean="0">
                <a:solidFill>
                  <a:srgbClr val="FF0000">
                    <a:alpha val="99000"/>
                  </a:srgbClr>
                </a:solidFill>
                <a:latin typeface="+mn-ea"/>
              </a:rPr>
              <a:t>?’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를 주제로 수업을 진행합니다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just"/>
            <a:endParaRPr lang="en-US" altLang="ko-KR" sz="2400" spc="-147" dirty="0" smtClean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just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편안한 마음으로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열린 자세로 수업에 참여해 주세요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just"/>
            <a:r>
              <a:rPr lang="ko-KR" altLang="en-US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 만나요</a:t>
            </a:r>
            <a:r>
              <a:rPr lang="en-US" altLang="ko-KR" sz="24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10242" name="Picture 2" descr="C:\Users\user\Downloads\20260913_121106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6" t="7398" r="22360" b="7519"/>
          <a:stretch/>
        </p:blipFill>
        <p:spPr bwMode="auto">
          <a:xfrm rot="5400000">
            <a:off x="8147593" y="2804656"/>
            <a:ext cx="3458406" cy="298617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915" y="5377797"/>
            <a:ext cx="1072793" cy="107279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837827" y="6129254"/>
            <a:ext cx="2077941" cy="32316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 </a:t>
            </a:r>
            <a:r>
              <a:rPr lang="en-US" altLang="ko-KR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500" spc="-147" dirty="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안도연 작가 제공</a:t>
            </a:r>
            <a:endParaRPr lang="ko-KR" altLang="en-US" sz="1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8994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lnDef>
    <a:txDef>
      <a:spPr/>
      <a:bodyPr/>
      <a:lstStyle/>
    </a:txDef>
  </a:objectDefaul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380</ep:Words>
  <ep:PresentationFormat>사용자 지정</ep:PresentationFormat>
  <ep:Paragraphs>85</ep:Paragraphs>
  <ep:Slides>26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26</vt:i4>
      </vt:variant>
    </vt:vector>
  </ep:HeadingPairs>
  <ep:TitlesOfParts>
    <vt:vector size="28" baseType="lpstr">
      <vt:lpstr>Office Theme</vt:lpstr>
      <vt:lpstr>내용 4개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활동 1. ‘나무가 예술이네!’ 지도 탐색</vt:lpstr>
      <vt:lpstr>활동 2. 나무 관찰 및 표현하기</vt:lpstr>
      <vt:lpstr>활동 2. 나무 관찰 및 표현하기_활동지, 활동 예시</vt:lpstr>
      <vt:lpstr>활동 2. 나무 관찰 및 표현하기_활동지, 활동 예시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2026-07-09T22:35:37.000</dcterms:created>
  <dc:creator/>
  <cp:lastModifiedBy/>
  <dcterms:modified xsi:type="dcterms:W3CDTF">2026-10-20T02:54:38.909</dcterms:modified>
  <cp:revision>31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