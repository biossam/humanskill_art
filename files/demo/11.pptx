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64" r:id="rId2"/>
    <p:sldId id="266" r:id="rId3"/>
    <p:sldId id="287" r:id="rId4"/>
    <p:sldId id="265" r:id="rId5"/>
    <p:sldId id="279" r:id="rId6"/>
    <p:sldId id="275" r:id="rId7"/>
    <p:sldId id="276" r:id="rId8"/>
    <p:sldId id="281" r:id="rId9"/>
    <p:sldId id="277" r:id="rId10"/>
    <p:sldId id="283" r:id="rId11"/>
    <p:sldId id="278" r:id="rId12"/>
    <p:sldId id="286" r:id="rId13"/>
    <p:sldId id="285" r:id="rId14"/>
    <p:sldId id="284" r:id="rId15"/>
    <p:sldId id="269" r:id="rId16"/>
    <p:sldId id="270" r:id="rId17"/>
  </p:sldIdLst>
  <p:sldSz cx="12192000" cy="6858000"/>
  <p:notesSz cx="6858000" cy="12192000"/>
  <p:embeddedFontLst>
    <p:embeddedFont>
      <p:font typeface="Noto Sans KR" panose="020B0200000000000000" pitchFamily="50" charset="-127"/>
      <p:regular r:id="rId19"/>
      <p:bold r:id="rId20"/>
    </p:embeddedFont>
    <p:embeddedFont>
      <p:font typeface="Noto Sans KR Black" panose="020B0200000000000000" pitchFamily="50" charset="-127"/>
      <p:bold r:id="rId21"/>
    </p:embeddedFont>
    <p:embeddedFont>
      <p:font typeface="Noto Sans KR Medium" panose="020B0200000000000000" pitchFamily="50" charset="-127"/>
      <p:regular r:id="rId22"/>
    </p:embeddedFont>
    <p:embeddedFont>
      <p:font typeface="고양덕양 B" pitchFamily="2" charset="-127"/>
      <p:regular r:id="rId23"/>
    </p:embeddedFont>
    <p:embeddedFont>
      <p:font typeface="나눔바른고딕 Light" panose="020B0603020101020101" pitchFamily="50" charset="-127"/>
      <p:regular r:id="rId24"/>
    </p:embeddedFont>
    <p:embeddedFont>
      <p:font typeface="나눔스퀘어 ExtraBold" panose="020B0600000101010101" pitchFamily="50" charset="-127"/>
      <p:bold r:id="rId25"/>
    </p:embeddedFont>
    <p:embeddedFont>
      <p:font typeface="땅스부대찌개 Bold" panose="02020603020101020101" pitchFamily="18" charset="-127"/>
      <p:bold r:id="rId26"/>
    </p:embeddedFont>
    <p:embeddedFont>
      <p:font typeface="에스코어 드림 8 Heavy" panose="020B0903030302020204" pitchFamily="34" charset="-127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15초면 충분합니다. 여섯 걸음 중 어디에 있는지만 확인합니다.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60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6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420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236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316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499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평가 장면입니다. 반드시 시간을 확보합니다.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useum.go.kr/detail?cateClass=&amp;cateListFlag=&amp;keyword=%EC%8B%A0%EC%82%AC%EC%9E%84%EB%8B%B9&amp;pageNum=1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headerSearch&amp;selectMakerGroup=0&amp;radioSearchCheck=unifiedSearch&amp;headerPs01Lv1=&amp;headerPs01Lv2=&amp;headerPs01Lv3=" TargetMode="External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hyperlink" Target="https://www.emuseum.go.kr/main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hyperlink" Target="https://www.emuseum.go.kr/detail?cateClass=&amp;cateListFlag=&amp;keyword=%EB%B3%80%EC%83%81%EB%B2%BD&amp;pageNum=4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%EB%B3%80%EC%83%81%EB%B2%BD&amp;showSearchOption=&amp;intrstMuseumCode=&amp;returnUrl=%2FheaderSearch&amp;selectMakerGroup=0&amp;radioSearchCheck=unifiedSearch&amp;headerPs01Lv1=&amp;headerPs01Lv2=&amp;headerPs01Lv3=" TargetMode="External"/><Relationship Id="rId7" Type="http://schemas.openxmlformats.org/officeDocument/2006/relationships/hyperlink" Target="https://www.emuseum.go.kr/detail?cateClass=&amp;cateListFlag=&amp;keyword=%EC%B4%88%EC%B6%A9%EB%8F%84&amp;pageNum=74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headerSearch&amp;selectMakerGroup=0&amp;radioSearchCheck=unifiedSearch&amp;headerPs01Lv1=&amp;headerPs01Lv2=&amp;headerPs01Lv3=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jpg"/><Relationship Id="rId5" Type="http://schemas.openxmlformats.org/officeDocument/2006/relationships/hyperlink" Target="https://www.emuseum.go.kr/detail?cateClass=&amp;cateListFlag=&amp;keyword=%EB%82%A8%EA%B3%84%EC%9A%B0&amp;pageNum=4&amp;rows=9&amp;reltRows=10&amp;sort=&amp;highQualityYn=&amp;isImgExistOp=&amp;mckoglsvOp=&amp;isIntrstMuseumOp=&amp;filedOp=&amp;detailFlag=&amp;dq=&amp;mcSeqNo=&amp;author=&amp;culturalHerNo=&amp;publicType=&amp;detailedDes=&amp;thema=&amp;storySeq=&amp;categoryLv=&amp;categoryCode=&amp;ps01Lv1=&amp;ps01Lv2=&amp;ps01Lv3=&amp;ps06Lv1=&amp;ps06Lv2=&amp;ps08Lv1=&amp;ps08Lv2=&amp;ps09Lv1=&amp;ps09Lv2=&amp;ps09Lv3=&amp;ps09Lv4=&amp;ps12Lv1=&amp;ps15Lv1=&amp;gl05Lv1=&amp;gl05Lv2=&amp;mobileFacetIng=&amp;location=&amp;facet1Lv1=&amp;facet1Lv2=&amp;facet1Lv3=&amp;facet2Lv1=&amp;facet3Lv1=&amp;facet3Lv2=&amp;facet4Lv1=&amp;facet4Lv2=&amp;facet5Lv1=&amp;facet5Lv2=&amp;facet5Lv3=&amp;facet5Lv4=&amp;facet6Lv1=&amp;facet6Lv2=&amp;facet7Lv1Selected=&amp;facet7Lv1=&amp;facet8Lv1=&amp;facet1Lv1Nm=&amp;facet1Lv2Nm=&amp;facet1Lv3Nm=&amp;facet2Lv1Nm=&amp;facet3Lv1Nm=&amp;facet3Lv2Nm=&amp;facet4Lv1Nm=&amp;facet4Lv2Nm=&amp;facet5Lv1Nm=&amp;facet5Lv2Nm=&amp;facet5Lv3Nm=&amp;facet5Lv4Nm=&amp;facet6Lv1Nm=&amp;facet6Lv2Nm=&amp;facet7Lv1Nm=&amp;facet8Lv1Nm=&amp;mcgpyear1=&amp;mcgpyear2=&amp;mcginves=&amp;mcgchalj=&amp;mcgchams=&amp;facetGL27Lv1=&amp;facetGL27Lv2=&amp;facetGL27Lv3=&amp;facetGL27Lv4=&amp;facetGL28Lv1=&amp;facetGL28Lv2=&amp;facetGL29Lv1=&amp;facetGL30Lv1=&amp;facetGL27Lv1Nm=&amp;facetGL27Lv2Nm=&amp;facetGL27Lv3Nm=&amp;facetGL27Lv4Nm=&amp;facetGL28Lv1Nm=&amp;facetGL28Lv2Nm=&amp;facetGL29Lv1Nm=&amp;facetGL30Lv1Nm=&amp;mcgwonpn=&amp;keywordHistory=&amp;showSearchOption=&amp;intrstMuseumCode=&amp;returnUrl=%2FheaderSearch&amp;selectMakerGroup=0&amp;radioSearchCheck=unifiedSearch&amp;headerPs01Lv1=&amp;headerPs01Lv2=&amp;headerPs01Lv3=" TargetMode="External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2644072"/>
            <a:ext cx="771821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&lt;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동물화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/</a:t>
            </a: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식물화</a:t>
            </a:r>
            <a:r>
              <a:rPr lang="en-US" altLang="ko-KR" sz="4400" spc="-200" dirty="0">
                <a:solidFill>
                  <a:srgbClr val="F6877E"/>
                </a:solidFill>
                <a:latin typeface="+mj-ea"/>
                <a:ea typeface="+mj-ea"/>
              </a:rPr>
              <a:t>&gt;</a:t>
            </a:r>
          </a:p>
          <a:p>
            <a:pPr lvl="0">
              <a:defRPr/>
            </a:pPr>
            <a:r>
              <a:rPr lang="ko-KR" altLang="en-US" sz="4400" spc="-200" dirty="0">
                <a:solidFill>
                  <a:srgbClr val="F6877E"/>
                </a:solidFill>
                <a:latin typeface="+mj-ea"/>
                <a:ea typeface="+mj-ea"/>
              </a:rPr>
              <a:t>정교화 놀이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이미지"/>
          <p:cNvPicPr preferRelativeResize="0"/>
          <p:nvPr/>
        </p:nvPicPr>
        <p:blipFill rotWithShape="1"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11차시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6260" y="4366332"/>
            <a:ext cx="786384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r">
              <a:lnSpc>
                <a:spcPct val="90000"/>
              </a:lnSpc>
              <a:defRPr/>
            </a:pP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아트풀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 </a:t>
            </a:r>
            <a:r>
              <a:rPr lang="ko-KR" altLang="en-US" sz="2000" b="0" dirty="0" err="1">
                <a:solidFill>
                  <a:srgbClr val="8A8A8A"/>
                </a:solidFill>
                <a:latin typeface="Noto Sans KR Medium"/>
              </a:rPr>
              <a:t>씽킹</a:t>
            </a:r>
            <a:r>
              <a:rPr lang="en-US" altLang="ko-KR" sz="2000" b="0" dirty="0">
                <a:solidFill>
                  <a:srgbClr val="8A8A8A"/>
                </a:solidFill>
                <a:latin typeface="Noto Sans KR Medium"/>
              </a:rPr>
              <a:t>(Artful Thinking)</a:t>
            </a:r>
            <a:r>
              <a:rPr lang="ko-KR" altLang="en-US" sz="2000" b="0" dirty="0">
                <a:solidFill>
                  <a:srgbClr val="8A8A8A"/>
                </a:solidFill>
                <a:latin typeface="Noto Sans KR Medium"/>
              </a:rPr>
              <a:t>을 활용한 미술감상</a:t>
            </a:r>
            <a:endParaRPr lang="en-US" altLang="ko-KR" sz="2000" b="0" dirty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4617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</a:t>
            </a:r>
            <a:r>
              <a:rPr lang="ko-KR" altLang="en-US" sz="2222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의 생각, 그 중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grpSp>
        <p:nvGrpSpPr>
          <p:cNvPr id="35" name="그룹 34"/>
          <p:cNvGrpSpPr/>
          <p:nvPr/>
        </p:nvGrpSpPr>
        <p:grpSpPr>
          <a:xfrm>
            <a:off x="643904" y="1422857"/>
            <a:ext cx="6479418" cy="400110"/>
            <a:chOff x="882304" y="1470196"/>
            <a:chExt cx="4859563" cy="300082"/>
          </a:xfrm>
        </p:grpSpPr>
        <p:grpSp>
          <p:nvGrpSpPr>
            <p:cNvPr id="36" name="그룹 35"/>
            <p:cNvGrpSpPr/>
            <p:nvPr/>
          </p:nvGrpSpPr>
          <p:grpSpPr>
            <a:xfrm>
              <a:off x="882304" y="1487958"/>
              <a:ext cx="255983" cy="253915"/>
              <a:chOff x="853872" y="1465626"/>
              <a:chExt cx="318648" cy="316074"/>
            </a:xfrm>
          </p:grpSpPr>
          <p:sp>
            <p:nvSpPr>
              <p:cNvPr id="42" name="모서리가 둥근 직사각형 41"/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>
                  <a:gd name="adj" fmla="val 16667"/>
                </a:avLst>
              </a:prstGeom>
              <a:solidFill>
                <a:srgbClr val="F6877E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867">
                  <a:latin typeface="+mj-ea"/>
                  <a:ea typeface="+mj-ea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1000055" y="1465626"/>
                <a:ext cx="172465" cy="31607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 algn="r">
                  <a:defRPr/>
                </a:pP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1139405" y="1470196"/>
              <a:ext cx="4602462" cy="30008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우리 옛 그림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을 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아트풀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씽킹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12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방법을 활용하여</a:t>
              </a:r>
              <a:r>
                <a:rPr lang="ko-KR" altLang="en-US" sz="2000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감상해봅시다.</a:t>
              </a:r>
            </a:p>
          </p:txBody>
        </p:sp>
      </p:grpSp>
      <p:sp>
        <p:nvSpPr>
          <p:cNvPr id="97" name="Oval 96"/>
          <p:cNvSpPr/>
          <p:nvPr/>
        </p:nvSpPr>
        <p:spPr>
          <a:xfrm>
            <a:off x="7322898" y="3011898"/>
            <a:ext cx="1024128" cy="102412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sz="1800" b="1" dirty="0">
                <a:solidFill>
                  <a:schemeClr val="bg1"/>
                </a:solidFill>
                <a:latin typeface="고양덕양 B"/>
                <a:ea typeface="고양덕양 B"/>
              </a:rPr>
              <a:t>동물화식물화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22898" y="4109178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1" dirty="0">
                <a:solidFill>
                  <a:srgbClr val="F6877E"/>
                </a:solidFill>
                <a:latin typeface="고양덕양 B"/>
                <a:ea typeface="고양덕양 B"/>
              </a:rPr>
              <a:t>5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99" name="Oval 98"/>
          <p:cNvSpPr/>
          <p:nvPr/>
        </p:nvSpPr>
        <p:spPr>
          <a:xfrm>
            <a:off x="2220545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220545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2차시</a:t>
            </a:r>
          </a:p>
        </p:txBody>
      </p:sp>
      <p:sp>
        <p:nvSpPr>
          <p:cNvPr id="101" name="Oval 100"/>
          <p:cNvSpPr/>
          <p:nvPr/>
        </p:nvSpPr>
        <p:spPr>
          <a:xfrm>
            <a:off x="3921329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풍속화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921329" y="4100344"/>
            <a:ext cx="1024128" cy="271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 b="0">
                <a:solidFill>
                  <a:srgbClr val="8A8A8A"/>
                </a:solidFill>
                <a:latin typeface="고양덕양 B"/>
                <a:ea typeface="고양덕양 B"/>
              </a:rPr>
              <a:t>3차시</a:t>
            </a:r>
          </a:p>
        </p:txBody>
      </p:sp>
      <p:sp>
        <p:nvSpPr>
          <p:cNvPr id="105" name="Oval 104"/>
          <p:cNvSpPr/>
          <p:nvPr/>
        </p:nvSpPr>
        <p:spPr>
          <a:xfrm>
            <a:off x="798749" y="2984901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sz="1600" b="1" dirty="0">
                <a:solidFill>
                  <a:srgbClr val="8A8A8A"/>
                </a:solidFill>
                <a:latin typeface="고양덕양 B"/>
                <a:ea typeface="고양덕양 B"/>
              </a:rPr>
              <a:t>산수화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39000" y="4100344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0" dirty="0">
                <a:solidFill>
                  <a:srgbClr val="8A8A8A"/>
                </a:solidFill>
                <a:latin typeface="고양덕양 B"/>
                <a:ea typeface="고양덕양 B"/>
              </a:rPr>
              <a:t>1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7" name="Oval 106"/>
          <p:cNvSpPr/>
          <p:nvPr/>
        </p:nvSpPr>
        <p:spPr>
          <a:xfrm>
            <a:off x="5583936" y="2984901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인물화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583936" y="408218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4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904" y="497689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오늘의</a:t>
            </a:r>
            <a:r>
              <a:rPr sz="2000" b="1" dirty="0">
                <a:solidFill>
                  <a:srgbClr val="F6877E"/>
                </a:solidFill>
                <a:latin typeface="고양덕양 B"/>
                <a:ea typeface="고양덕양 B"/>
              </a:rPr>
              <a:t> </a:t>
            </a:r>
            <a:r>
              <a:rPr sz="2000" b="1" dirty="0" err="1">
                <a:solidFill>
                  <a:srgbClr val="F6877E"/>
                </a:solidFill>
                <a:latin typeface="고양덕양 B"/>
                <a:ea typeface="고양덕양 B"/>
              </a:rPr>
              <a:t>성취기준</a:t>
            </a:r>
            <a:endParaRPr sz="2000" b="1" dirty="0">
              <a:solidFill>
                <a:srgbClr val="F6877E"/>
              </a:solidFill>
              <a:latin typeface="고양덕양 B"/>
              <a:ea typeface="고양덕양 B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3904" y="5338242"/>
            <a:ext cx="108813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03-01]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작품을 작품이 만들어진 시대적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,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지역적 배경 등과 연결하여 이해할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                                         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03-02]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미술 작품의 내용과 형식을 분석하여 작품의 특징을 설명할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[6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미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03-04] 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다양한 방법을 활용하여 작품을 감상하며 작품에 관한 서로 다른 관점을 존중할 수 있다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98">
            <a:extLst>
              <a:ext uri="{FF2B5EF4-FFF2-40B4-BE49-F238E27FC236}">
                <a16:creationId xmlns:a16="http://schemas.microsoft.com/office/drawing/2014/main" id="{02F26344-5359-4AC2-BE12-32CE0D8638B4}"/>
              </a:ext>
            </a:extLst>
          </p:cNvPr>
          <p:cNvSpPr/>
          <p:nvPr/>
        </p:nvSpPr>
        <p:spPr>
          <a:xfrm>
            <a:off x="9137904" y="3003064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기록화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248A6-A714-DF93-F707-004EF684492B}"/>
              </a:ext>
            </a:extLst>
          </p:cNvPr>
          <p:cNvSpPr txBox="1"/>
          <p:nvPr/>
        </p:nvSpPr>
        <p:spPr>
          <a:xfrm>
            <a:off x="9137904" y="4122561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b="0" dirty="0">
                <a:solidFill>
                  <a:srgbClr val="8A8A8A"/>
                </a:solidFill>
                <a:latin typeface="고양덕양 B"/>
                <a:ea typeface="고양덕양 B"/>
              </a:rPr>
              <a:t>6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  <p:sp>
        <p:nvSpPr>
          <p:cNvPr id="6" name="Oval 98">
            <a:extLst>
              <a:ext uri="{FF2B5EF4-FFF2-40B4-BE49-F238E27FC236}">
                <a16:creationId xmlns:a16="http://schemas.microsoft.com/office/drawing/2014/main" id="{0A4ED983-2E68-3877-C49F-EFB2AE2ADEEC}"/>
              </a:ext>
            </a:extLst>
          </p:cNvPr>
          <p:cNvSpPr/>
          <p:nvPr/>
        </p:nvSpPr>
        <p:spPr>
          <a:xfrm>
            <a:off x="10800511" y="3002098"/>
            <a:ext cx="1024128" cy="1024128"/>
          </a:xfrm>
          <a:prstGeom prst="ellipse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ko-KR" altLang="en-US" b="1" dirty="0">
                <a:solidFill>
                  <a:srgbClr val="8A8A8A"/>
                </a:solidFill>
                <a:latin typeface="고양덕양 B"/>
                <a:ea typeface="고양덕양 B"/>
              </a:rPr>
              <a:t>마무리</a:t>
            </a:r>
            <a:endParaRPr b="1" dirty="0">
              <a:solidFill>
                <a:srgbClr val="8A8A8A"/>
              </a:solidFill>
              <a:latin typeface="고양덕양 B"/>
              <a:ea typeface="고양덕양 B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DC0B1F-03BB-D88E-7828-B3657EA91265}"/>
              </a:ext>
            </a:extLst>
          </p:cNvPr>
          <p:cNvSpPr txBox="1"/>
          <p:nvPr/>
        </p:nvSpPr>
        <p:spPr>
          <a:xfrm>
            <a:off x="10839387" y="4109178"/>
            <a:ext cx="10241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lang="en-US" sz="2000" dirty="0">
                <a:solidFill>
                  <a:srgbClr val="8A8A8A"/>
                </a:solidFill>
                <a:latin typeface="고양덕양 B"/>
                <a:ea typeface="고양덕양 B"/>
              </a:rPr>
              <a:t>7</a:t>
            </a:r>
            <a:r>
              <a:rPr sz="2000" b="0" dirty="0">
                <a:solidFill>
                  <a:srgbClr val="8A8A8A"/>
                </a:solidFill>
                <a:latin typeface="고양덕양 B"/>
                <a:ea typeface="고양덕양 B"/>
              </a:rPr>
              <a:t>차시</a:t>
            </a: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r>
              <a:rPr lang="en-US" altLang="ko-KR" b="1" dirty="0">
                <a:solidFill>
                  <a:schemeClr val="accent1">
                    <a:alpha val="99000"/>
                  </a:schemeClr>
                </a:solidFill>
                <a:latin typeface="+mj-ea"/>
                <a:ea typeface="+mj-ea"/>
              </a:rPr>
              <a:t>(Artful Thinking)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’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이란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BC19595-D9CD-BB7B-661A-6614856CAB6A}"/>
              </a:ext>
            </a:extLst>
          </p:cNvPr>
          <p:cNvSpPr/>
          <p:nvPr/>
        </p:nvSpPr>
        <p:spPr>
          <a:xfrm>
            <a:off x="3257005" y="3281030"/>
            <a:ext cx="5120640" cy="144539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3200" b="1" dirty="0" err="1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씽킹</a:t>
            </a:r>
            <a:endParaRPr lang="en-US" altLang="ko-KR" sz="3200" b="1" dirty="0">
              <a:solidFill>
                <a:schemeClr val="bg1">
                  <a:alpha val="99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200" b="1" dirty="0">
                <a:solidFill>
                  <a:schemeClr val="bg1">
                    <a:alpha val="99000"/>
                  </a:schemeClr>
                </a:solidFill>
                <a:latin typeface="+mj-ea"/>
                <a:ea typeface="+mj-ea"/>
              </a:rPr>
              <a:t>(Artful </a:t>
            </a:r>
            <a:r>
              <a:rPr lang="en-US" altLang="ko-KR" sz="3200" b="1" dirty="0">
                <a:solidFill>
                  <a:schemeClr val="bg1"/>
                </a:solidFill>
                <a:latin typeface="+mj-ea"/>
                <a:ea typeface="+mj-ea"/>
              </a:rPr>
              <a:t>Thinking)</a:t>
            </a:r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5DD6F91D-1A8B-DF64-F15C-7D53D4EE2DB9}"/>
              </a:ext>
            </a:extLst>
          </p:cNvPr>
          <p:cNvSpPr/>
          <p:nvPr/>
        </p:nvSpPr>
        <p:spPr>
          <a:xfrm>
            <a:off x="374469" y="1779457"/>
            <a:ext cx="3039291" cy="1887583"/>
          </a:xfrm>
          <a:prstGeom prst="flowChartAlternate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하버드 교육대학원</a:t>
            </a:r>
            <a:endParaRPr lang="en-US" altLang="ko-KR" dirty="0"/>
          </a:p>
          <a:p>
            <a:pPr algn="ctr"/>
            <a:r>
              <a:rPr lang="en-US" altLang="ko-KR" dirty="0"/>
              <a:t>Project Zero</a:t>
            </a:r>
            <a:r>
              <a:rPr lang="ko-KR" altLang="en-US" dirty="0"/>
              <a:t>에서</a:t>
            </a:r>
            <a:endParaRPr lang="en-US" altLang="ko-KR" dirty="0"/>
          </a:p>
          <a:p>
            <a:pPr algn="ctr"/>
            <a:r>
              <a:rPr lang="ko-KR" altLang="en-US" dirty="0"/>
              <a:t>개발한 미술감상교육 프로그램</a:t>
            </a:r>
            <a:endParaRPr lang="ko-KR" altLang="en-US" sz="1600" dirty="0"/>
          </a:p>
        </p:txBody>
      </p:sp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0CE3265F-C9DA-D5E4-1650-F7F647AE4869}"/>
              </a:ext>
            </a:extLst>
          </p:cNvPr>
          <p:cNvSpPr/>
          <p:nvPr/>
        </p:nvSpPr>
        <p:spPr>
          <a:xfrm>
            <a:off x="374469" y="4436880"/>
            <a:ext cx="3039291" cy="1887583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r>
              <a:rPr lang="ko-KR" altLang="en-US" dirty="0"/>
              <a:t>가지 유형으로 구성된 </a:t>
            </a:r>
            <a:endParaRPr lang="en-US" altLang="ko-KR" dirty="0"/>
          </a:p>
          <a:p>
            <a:pPr algn="ctr"/>
            <a:r>
              <a:rPr lang="ko-KR" altLang="en-US" dirty="0"/>
              <a:t>생각의 팔레트로</a:t>
            </a:r>
            <a:endParaRPr lang="en-US" altLang="ko-KR" dirty="0"/>
          </a:p>
          <a:p>
            <a:pPr algn="ctr"/>
            <a:r>
              <a:rPr lang="ko-KR" altLang="en-US" dirty="0"/>
              <a:t>사고의 깊이를 확장</a:t>
            </a:r>
            <a:endParaRPr lang="en-US" altLang="ko-KR" dirty="0"/>
          </a:p>
        </p:txBody>
      </p:sp>
      <p:sp>
        <p:nvSpPr>
          <p:cNvPr id="13" name="순서도: 대체 처리 12">
            <a:extLst>
              <a:ext uri="{FF2B5EF4-FFF2-40B4-BE49-F238E27FC236}">
                <a16:creationId xmlns:a16="http://schemas.microsoft.com/office/drawing/2014/main" id="{1F314941-B04B-76D2-C6D6-57FB186AA626}"/>
              </a:ext>
            </a:extLst>
          </p:cNvPr>
          <p:cNvSpPr/>
          <p:nvPr/>
        </p:nvSpPr>
        <p:spPr>
          <a:xfrm>
            <a:off x="8500437" y="1823334"/>
            <a:ext cx="3039291" cy="1887583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예술 작품을 </a:t>
            </a:r>
            <a:endParaRPr lang="en-US" altLang="ko-KR" dirty="0"/>
          </a:p>
          <a:p>
            <a:pPr algn="ctr"/>
            <a:r>
              <a:rPr lang="ko-KR" altLang="en-US" dirty="0"/>
              <a:t>효과적으로 활용하여 사고력과 학습능력을 증진 </a:t>
            </a: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6D981CF4-E11C-C858-DA25-18FC982743AB}"/>
              </a:ext>
            </a:extLst>
          </p:cNvPr>
          <p:cNvSpPr/>
          <p:nvPr/>
        </p:nvSpPr>
        <p:spPr>
          <a:xfrm>
            <a:off x="8494341" y="4359728"/>
            <a:ext cx="3039291" cy="1887583"/>
          </a:xfrm>
          <a:prstGeom prst="flowChartAlternateProcess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생각하는</a:t>
            </a:r>
            <a:r>
              <a:rPr lang="en-US" altLang="ko-KR" dirty="0"/>
              <a:t> </a:t>
            </a:r>
            <a:r>
              <a:rPr lang="ko-KR" altLang="en-US" dirty="0"/>
              <a:t>방법을 </a:t>
            </a:r>
            <a:endParaRPr lang="en-US" altLang="ko-KR" dirty="0"/>
          </a:p>
          <a:p>
            <a:pPr algn="ctr"/>
            <a:r>
              <a:rPr lang="ko-KR" altLang="en-US" dirty="0"/>
              <a:t>실제 수업에 적용하기 위한 사고 루틴 활용</a:t>
            </a:r>
          </a:p>
        </p:txBody>
      </p:sp>
    </p:spTree>
    <p:extLst>
      <p:ext uri="{BB962C8B-B14F-4D97-AF65-F5344CB8AC3E}">
        <p14:creationId xmlns:p14="http://schemas.microsoft.com/office/powerpoint/2010/main" val="30903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4189968" y="836713"/>
            <a:ext cx="3876013" cy="1209013"/>
            <a:chOff x="3059832" y="627534"/>
            <a:chExt cx="2907010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367074" y="748064"/>
              <a:ext cx="2244566" cy="7378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Oval 58"/>
          <p:cNvSpPr/>
          <p:nvPr/>
        </p:nvSpPr>
        <p:spPr>
          <a:xfrm>
            <a:off x="2395728" y="2414016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34843" y="25050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핵심 문장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7245" y="2490978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우리 옛 그림을 </a:t>
            </a:r>
            <a:r>
              <a:rPr lang="ko-KR" altLang="en-US" sz="1600" dirty="0" err="1">
                <a:solidFill>
                  <a:srgbClr val="3B3B3B"/>
                </a:solidFill>
              </a:rPr>
              <a:t>아트풀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r>
              <a:rPr lang="ko-KR" altLang="en-US" sz="1600" dirty="0" err="1">
                <a:solidFill>
                  <a:srgbClr val="3B3B3B"/>
                </a:solidFill>
              </a:rPr>
              <a:t>씽킹</a:t>
            </a:r>
            <a:r>
              <a:rPr lang="ko-KR" altLang="en-US" sz="1600" dirty="0">
                <a:solidFill>
                  <a:srgbClr val="3B3B3B"/>
                </a:solidFill>
              </a:rPr>
              <a:t> 방법으로 감상한다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395728" y="3200400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34843" y="3295650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지식·이해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7245" y="3277362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작품을 시대적 배경</a:t>
            </a:r>
            <a:r>
              <a:rPr lang="en-US" altLang="ko-KR" sz="1600" dirty="0">
                <a:solidFill>
                  <a:srgbClr val="3B3B3B"/>
                </a:solidFill>
              </a:rPr>
              <a:t>, </a:t>
            </a:r>
            <a:r>
              <a:rPr lang="ko-KR" altLang="en-US" sz="1600" dirty="0">
                <a:solidFill>
                  <a:srgbClr val="3B3B3B"/>
                </a:solidFill>
              </a:rPr>
              <a:t>지역적 배경과 연결하여 이해한다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r>
              <a:rPr lang="ko-KR" altLang="en-US" sz="1600" dirty="0">
                <a:solidFill>
                  <a:srgbClr val="3B3B3B"/>
                </a:solidFill>
              </a:rPr>
              <a:t> 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5" name="Oval 64"/>
          <p:cNvSpPr/>
          <p:nvPr/>
        </p:nvSpPr>
        <p:spPr>
          <a:xfrm>
            <a:off x="2395728" y="3986783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4843" y="408622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과정·기능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27245" y="4063746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작품의 내용과 형식을 분석하여 설명할 수 있다</a:t>
            </a:r>
            <a:r>
              <a:rPr lang="en-US" altLang="ko-KR" sz="1600" dirty="0">
                <a:solidFill>
                  <a:srgbClr val="3B3B3B"/>
                </a:solidFill>
              </a:rPr>
              <a:t>.</a:t>
            </a:r>
            <a:endParaRPr sz="1600" dirty="0">
              <a:solidFill>
                <a:srgbClr val="3B3B3B"/>
              </a:solidFill>
            </a:endParaRPr>
          </a:p>
        </p:txBody>
      </p:sp>
      <p:sp>
        <p:nvSpPr>
          <p:cNvPr id="68" name="Oval 67"/>
          <p:cNvSpPr/>
          <p:nvPr/>
        </p:nvSpPr>
        <p:spPr>
          <a:xfrm>
            <a:off x="2395728" y="4773168"/>
            <a:ext cx="384048" cy="384048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sz="1300">
                <a:solidFill>
                  <a:srgbClr val="FFFFFF"/>
                </a:solidFill>
                <a:latin typeface="Noto Sans KR Black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34843" y="4867275"/>
            <a:ext cx="1828800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sz="1600">
                <a:solidFill>
                  <a:srgbClr val="F6877E"/>
                </a:solidFill>
              </a:rPr>
              <a:t>가치·태도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27245" y="4850130"/>
            <a:ext cx="5486400" cy="233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5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</a:rPr>
              <a:t>작품에 관한 </a:t>
            </a:r>
            <a:r>
              <a:rPr sz="1600" dirty="0" err="1">
                <a:solidFill>
                  <a:srgbClr val="3B3B3B"/>
                </a:solidFill>
              </a:rPr>
              <a:t>다른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관점을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존중하는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태도를</a:t>
            </a:r>
            <a:r>
              <a:rPr sz="1600" dirty="0">
                <a:solidFill>
                  <a:srgbClr val="3B3B3B"/>
                </a:solidFill>
              </a:rPr>
              <a:t> </a:t>
            </a:r>
            <a:r>
              <a:rPr sz="1600" dirty="0" err="1">
                <a:solidFill>
                  <a:srgbClr val="3B3B3B"/>
                </a:solidFill>
              </a:rPr>
              <a:t>가진다</a:t>
            </a:r>
            <a:r>
              <a:rPr sz="1600" dirty="0">
                <a:solidFill>
                  <a:srgbClr val="3B3B3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ounded Rectangle 98"/>
          <p:cNvSpPr/>
          <p:nvPr/>
        </p:nvSpPr>
        <p:spPr>
          <a:xfrm>
            <a:off x="724952" y="2150498"/>
            <a:ext cx="10881360" cy="314540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/>
              <a:pPr lvl="0">
                <a:defRPr/>
              </a:pPr>
              <a:t>5</a:t>
            </a:fld>
            <a:endParaRPr lang="en-US" altLang="ko-KR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</a:t>
            </a:r>
            <a:r>
              <a:rPr lang="ko-KR" altLang="en-US" sz="2222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늘의</a:t>
            </a:r>
            <a:r>
              <a:rPr lang="ko-KR" altLang="en-US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핵심 </a:t>
            </a:r>
            <a:r>
              <a:rPr lang="ko-KR" altLang="en-US" b="1">
                <a:solidFill>
                  <a:srgbClr val="404040"/>
                </a:solidFill>
                <a:latin typeface="+mj-ea"/>
                <a:ea typeface="+mj-ea"/>
              </a:rPr>
              <a:t>문</a:t>
            </a:r>
            <a:r>
              <a:rPr lang="ko-KR" altLang="en-US" b="1">
                <a:solidFill>
                  <a:srgbClr val="289B6E"/>
                </a:solidFill>
                <a:latin typeface="+mj-ea"/>
                <a:ea typeface="+mj-ea"/>
              </a:rPr>
              <a:t>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강좌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4558" y="2631947"/>
            <a:ext cx="10881360" cy="2077107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>
                <a:solidFill>
                  <a:srgbClr val="FF843A"/>
                </a:solidFill>
                <a:latin typeface="고양덕양 B"/>
                <a:ea typeface="고양덕양 B"/>
              </a:rPr>
              <a:t>우리 옛 그림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아트풀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b="1" spc="500" dirty="0" err="1">
                <a:solidFill>
                  <a:srgbClr val="0070C0"/>
                </a:solidFill>
                <a:latin typeface="고양덕양 B"/>
                <a:ea typeface="고양덕양 B"/>
              </a:rPr>
              <a:t>씽킹</a:t>
            </a:r>
            <a:r>
              <a:rPr lang="ko-KR" altLang="en-US" sz="4000" b="1" spc="500" dirty="0">
                <a:solidFill>
                  <a:srgbClr val="0070C0"/>
                </a:solidFill>
                <a:latin typeface="고양덕양 B"/>
                <a:ea typeface="고양덕양 B"/>
              </a:rPr>
              <a:t> 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방법을 활용하여 </a:t>
            </a:r>
            <a:endParaRPr lang="en-US" altLang="ko-KR"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ctr">
              <a:lnSpc>
                <a:spcPct val="115000"/>
              </a:lnSpc>
              <a:defRPr/>
            </a:pPr>
            <a:r>
              <a:rPr lang="ko-KR" altLang="en-US" sz="4000" spc="500" dirty="0">
                <a:latin typeface="고양덕양 B"/>
                <a:ea typeface="고양덕양 B"/>
              </a:rPr>
              <a:t>감상해봅</a:t>
            </a:r>
            <a:r>
              <a:rPr lang="ko-KR" altLang="en-US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시다</a:t>
            </a:r>
            <a:r>
              <a:rPr lang="en-US" altLang="ko-KR" sz="4000" spc="5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4000" spc="50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2688" y="5133975"/>
            <a:ext cx="10332720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3803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6881" y="560515"/>
            <a:ext cx="10348537" cy="461665"/>
          </a:xfrm>
        </p:spPr>
        <p:txBody>
          <a:bodyPr>
            <a:no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&lt;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동물화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/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식물화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&gt;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를 알아봅시다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영상제목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동물화</a:t>
            </a:r>
            <a:r>
              <a:rPr lang="en-US" altLang="ko-KR" sz="32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,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3200" b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식물화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32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83680" y="2428875"/>
            <a:ext cx="46634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90000"/>
              </a:lnSpc>
              <a:defRPr/>
            </a:pPr>
            <a:r>
              <a:rPr sz="2000">
                <a:solidFill>
                  <a:srgbClr val="FFFFFF"/>
                </a:solidFill>
                <a:latin typeface="고양덕양 B"/>
                <a:ea typeface="고양덕양 B"/>
              </a:rPr>
              <a:t>나는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" y="5303520"/>
            <a:ext cx="10881360" cy="154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endParaRPr sz="1150" b="0">
              <a:solidFill>
                <a:srgbClr val="8A8A8A"/>
              </a:solidFill>
              <a:latin typeface="Noto Sans KR Medium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4F98B1-F77B-46B7-817C-150BB7F63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3" y="1227796"/>
            <a:ext cx="8897656" cy="50049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850236-1564-298B-2FCB-156059646D26}"/>
              </a:ext>
            </a:extLst>
          </p:cNvPr>
          <p:cNvSpPr txBox="1"/>
          <p:nvPr/>
        </p:nvSpPr>
        <p:spPr>
          <a:xfrm>
            <a:off x="58500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캔바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에듀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이미지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841248" y="3585019"/>
            <a:ext cx="10424160" cy="1665340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>
              <a:latin typeface="고양덕양 B"/>
              <a:ea typeface="고양덕양 B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2999" y="2541686"/>
            <a:ext cx="999526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&lt;</a:t>
            </a:r>
            <a:r>
              <a:rPr lang="ko-KR" altLang="en-US" sz="2000" b="1" dirty="0" err="1">
                <a:solidFill>
                  <a:srgbClr val="3B3B3B"/>
                </a:solidFill>
                <a:latin typeface="고양덕양 B"/>
                <a:ea typeface="고양덕양 B"/>
              </a:rPr>
              <a:t>초충도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&gt;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을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 함께 감상해 봅시다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98448" y="377952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작품의 첫인상은 </a:t>
            </a:r>
            <a:r>
              <a:rPr lang="ko-KR" altLang="en-US" sz="2000" dirty="0" err="1">
                <a:solidFill>
                  <a:srgbClr val="3B3B3B"/>
                </a:solidFill>
                <a:latin typeface="고양덕양 B"/>
                <a:ea typeface="고양덕양 B"/>
              </a:rPr>
              <a:t>어떤가요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  <a:endParaRPr lang="en-US" altLang="ko-KR"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98448" y="428244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작품 속에 무엇이 보이나요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21" name="Oval 20"/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98448" y="478535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무슨 이야기가 숨어 있을까요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1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옛 그림과 만나기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50D6A15-76B1-0CF5-9ABC-92B22CF4C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163682"/>
              </p:ext>
            </p:extLst>
          </p:nvPr>
        </p:nvGraphicFramePr>
        <p:xfrm>
          <a:off x="361159" y="1522578"/>
          <a:ext cx="9683978" cy="443887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19461">
                  <a:extLst>
                    <a:ext uri="{9D8B030D-6E8A-4147-A177-3AD203B41FA5}">
                      <a16:colId xmlns:a16="http://schemas.microsoft.com/office/drawing/2014/main" val="3511918884"/>
                    </a:ext>
                  </a:extLst>
                </a:gridCol>
                <a:gridCol w="5964517">
                  <a:extLst>
                    <a:ext uri="{9D8B030D-6E8A-4147-A177-3AD203B41FA5}">
                      <a16:colId xmlns:a16="http://schemas.microsoft.com/office/drawing/2014/main" val="1190672579"/>
                    </a:ext>
                  </a:extLst>
                </a:gridCol>
              </a:tblGrid>
              <a:tr h="4194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초충도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작품설명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455267"/>
                  </a:ext>
                </a:extLst>
              </a:tr>
              <a:tr h="40194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조선시대 신사임당의 </a:t>
                      </a:r>
                      <a:r>
                        <a:rPr lang="ko-KR" alt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초충도로</a:t>
                      </a:r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dirty="0"/>
                        <a:t>풀과 꽃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그리고 작은 벌레나 곤충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동물들을 세밀하게 표현한 그림이다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주변 뜰에서 흔히 볼 수 있는 식물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수박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가지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오이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원추리</a:t>
                      </a:r>
                      <a:r>
                        <a:rPr lang="ko-KR" altLang="en-US" dirty="0"/>
                        <a:t> 등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과 곤충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나비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메뚜기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패랭이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들쥐 등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놀라울 정도로 정밀하게 관찰하여 나타내었다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자손 번창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수박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가지의 많은 씨앗</a:t>
                      </a:r>
                      <a:r>
                        <a:rPr lang="en-US" altLang="ko-KR" dirty="0"/>
                        <a:t>), </a:t>
                      </a:r>
                      <a:r>
                        <a:rPr lang="ko-KR" altLang="en-US" dirty="0"/>
                        <a:t>장수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부귀 등의 의미가 담겨있다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지폐에서 신사임당의 모습과 작품을 확인할 수 있다</a:t>
                      </a:r>
                      <a:r>
                        <a:rPr lang="en-US" altLang="ko-KR" dirty="0"/>
                        <a:t>.</a:t>
                      </a:r>
                      <a:endParaRPr lang="en-US" altLang="ko-K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339957"/>
                  </a:ext>
                </a:extLst>
              </a:tr>
            </a:tbl>
          </a:graphicData>
        </a:graphic>
      </p:graphicFrame>
      <p:pic>
        <p:nvPicPr>
          <p:cNvPr id="3" name="그림 2">
            <a:hlinkClick r:id="rId3"/>
            <a:extLst>
              <a:ext uri="{FF2B5EF4-FFF2-40B4-BE49-F238E27FC236}">
                <a16:creationId xmlns:a16="http://schemas.microsoft.com/office/drawing/2014/main" id="{FE9DC248-5AB7-3B46-21C0-AD514946C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42" y="2116183"/>
            <a:ext cx="3104041" cy="365324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9A1E8C8-9BA0-11E1-A05B-E7EA1C0A4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454" y="5348349"/>
            <a:ext cx="3174521" cy="1041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F0DE910-2A86-8A8E-84BE-A5DD23086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566" y="5341146"/>
            <a:ext cx="3238091" cy="106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D1D3F-C700-3809-0ADA-32E0A11B67D2}"/>
              </a:ext>
            </a:extLst>
          </p:cNvPr>
          <p:cNvSpPr txBox="1"/>
          <p:nvPr/>
        </p:nvSpPr>
        <p:spPr>
          <a:xfrm>
            <a:off x="10530772" y="6246554"/>
            <a:ext cx="197273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한국은행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34577-34FD-3303-9AF8-945EF35581DC}"/>
              </a:ext>
            </a:extLst>
          </p:cNvPr>
          <p:cNvSpPr txBox="1"/>
          <p:nvPr/>
        </p:nvSpPr>
        <p:spPr>
          <a:xfrm>
            <a:off x="83864" y="6599812"/>
            <a:ext cx="6734186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출처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: e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국립중앙박물관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1200" dirty="0" err="1">
                <a:solidFill>
                  <a:srgbClr val="3B3B3B"/>
                </a:solidFill>
                <a:latin typeface="고양덕양 B"/>
                <a:ea typeface="고양덕양 B"/>
              </a:rPr>
              <a:t>누리집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12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altLang="ko-KR" sz="1200" dirty="0">
                <a:solidFill>
                  <a:srgbClr val="3B3B3B"/>
                </a:solidFill>
                <a:latin typeface="고양덕양 B"/>
                <a:ea typeface="고양덕양 B"/>
              </a:rPr>
              <a:t>/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신사임당필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초충도</a:t>
            </a:r>
            <a:endParaRPr sz="12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pic>
        <p:nvPicPr>
          <p:cNvPr id="6" name="Picture 2" descr="1유형">
            <a:extLst>
              <a:ext uri="{FF2B5EF4-FFF2-40B4-BE49-F238E27FC236}">
                <a16:creationId xmlns:a16="http://schemas.microsoft.com/office/drawing/2014/main" id="{D8E51DC2-9726-67BD-B16E-FB9CD8D34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17" y="6541484"/>
            <a:ext cx="739276" cy="28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27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798643" y="3029618"/>
            <a:ext cx="10424160" cy="373694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 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920" y="1826276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2963" y="2199656"/>
            <a:ext cx="987552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정교화 놀이</a:t>
            </a:r>
            <a:endParaRPr sz="2000" b="1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68773" y="6323362"/>
            <a:ext cx="10185544" cy="443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ko-KR" altLang="en-US" sz="1600" dirty="0">
                <a:solidFill>
                  <a:srgbClr val="3B3B3B"/>
                </a:solidFill>
                <a:latin typeface="고양덕양 B"/>
                <a:ea typeface="고양덕양 B"/>
              </a:rPr>
              <a:t>* 반드시 눈으로 관찰한 사실만을 말하며 작품에 대한 해석이나 의견은 이야기하지 않는다</a:t>
            </a:r>
            <a:r>
              <a:rPr lang="en-US" altLang="ko-KR" sz="16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lang="ko-KR" altLang="en-US" sz="1600" b="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l">
              <a:lnSpc>
                <a:spcPct val="90000"/>
              </a:lnSpc>
              <a:defRPr/>
            </a:pPr>
            <a:endParaRPr sz="16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43000" y="3317712"/>
            <a:ext cx="9966960" cy="3046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1.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 각자 작품을 조용히 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1</a:t>
            </a: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분간 관찰한다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lang="en-US" altLang="ko-KR" sz="20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>
              <a:lnSpc>
                <a:spcPct val="90000"/>
              </a:lnSpc>
              <a:defRPr/>
            </a:pPr>
            <a:endParaRPr lang="en-US" altLang="ko-KR" sz="20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2.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ko-KR" altLang="en-US" sz="2000" dirty="0" err="1">
                <a:solidFill>
                  <a:srgbClr val="3B3B3B"/>
                </a:solidFill>
                <a:latin typeface="고양덕양 B"/>
                <a:ea typeface="고양덕양 B"/>
              </a:rPr>
              <a:t>모둠원과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 함께 관찰할 작품과 설명 순서를 정한다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endParaRPr lang="en-US" altLang="ko-KR" sz="200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l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3.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첫 번째 학생은 작품의 특정 부분을 선택하여 해당 부분에서 관찰한 내용을 구체적으로 설명한다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endParaRPr lang="en-US" sz="2000" b="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l">
              <a:lnSpc>
                <a:spcPct val="90000"/>
              </a:lnSpc>
              <a:defRPr/>
            </a:pPr>
            <a:r>
              <a:rPr 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4.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두 번째 학생은 첫번째 학생의 관찰 내용에 세부사항을 덧붙여 설명한다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endParaRPr lang="en-US" sz="2000" b="0" dirty="0">
              <a:solidFill>
                <a:srgbClr val="3B3B3B"/>
              </a:solidFill>
              <a:latin typeface="고양덕양 B"/>
              <a:ea typeface="고양덕양 B"/>
            </a:endParaRPr>
          </a:p>
          <a:p>
            <a:pPr lvl="0" algn="l">
              <a:lnSpc>
                <a:spcPct val="90000"/>
              </a:lnSpc>
              <a:defRPr/>
            </a:pPr>
            <a:r>
              <a:rPr 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5.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세 번째 네번째 학생도 같은 방식으로 덧붙여 이야기한다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  <a:p>
            <a:pPr lvl="0" algn="l">
              <a:lnSpc>
                <a:spcPct val="90000"/>
              </a:lnSpc>
              <a:defRPr/>
            </a:pPr>
            <a:endParaRPr lang="en-US"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2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아트풀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씽킹으로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생각하기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A9CCF7A-BF13-7DC2-7227-408772CEA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050391"/>
              </p:ext>
            </p:extLst>
          </p:nvPr>
        </p:nvGraphicFramePr>
        <p:xfrm>
          <a:off x="415106" y="2059025"/>
          <a:ext cx="2888343" cy="419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3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</a:tblGrid>
              <a:tr h="5373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6543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70C4C33-8926-7809-302B-EB583947A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142692"/>
              </p:ext>
            </p:extLst>
          </p:nvPr>
        </p:nvGraphicFramePr>
        <p:xfrm>
          <a:off x="3407955" y="2059025"/>
          <a:ext cx="7878354" cy="419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9177">
                  <a:extLst>
                    <a:ext uri="{9D8B030D-6E8A-4147-A177-3AD203B41FA5}">
                      <a16:colId xmlns:a16="http://schemas.microsoft.com/office/drawing/2014/main" val="3388685008"/>
                    </a:ext>
                  </a:extLst>
                </a:gridCol>
                <a:gridCol w="3939177">
                  <a:extLst>
                    <a:ext uri="{9D8B030D-6E8A-4147-A177-3AD203B41FA5}">
                      <a16:colId xmlns:a16="http://schemas.microsoft.com/office/drawing/2014/main" val="1209160884"/>
                    </a:ext>
                  </a:extLst>
                </a:gridCol>
              </a:tblGrid>
              <a:tr h="20958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관찰한 부분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왼쪽 위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 내용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관찰한 부분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오른쪽 위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 내용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09861"/>
                  </a:ext>
                </a:extLst>
              </a:tr>
              <a:tr h="20958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관찰한 부분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왼쪽 아래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 내용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관찰한 부분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오른쪽 아래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 내용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566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28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2311F1A2-C57E-8C9B-5CA9-CEC91E942AA4}"/>
              </a:ext>
            </a:extLst>
          </p:cNvPr>
          <p:cNvSpPr/>
          <p:nvPr/>
        </p:nvSpPr>
        <p:spPr>
          <a:xfrm>
            <a:off x="798643" y="3557015"/>
            <a:ext cx="10424160" cy="1651331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51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176272"/>
            <a:ext cx="10424160" cy="1051560"/>
          </a:xfrm>
          <a:prstGeom prst="roundRect">
            <a:avLst>
              <a:gd name="adj" fmla="val 10000"/>
            </a:avLst>
          </a:prstGeom>
          <a:solidFill>
            <a:srgbClr val="FFF4E2"/>
          </a:solidFill>
          <a:ln w="15875">
            <a:solidFill>
              <a:srgbClr val="FBA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" name="Oval 16">
            <a:extLst>
              <a:ext uri="{FF2B5EF4-FFF2-40B4-BE49-F238E27FC236}">
                <a16:creationId xmlns:a16="http://schemas.microsoft.com/office/drawing/2014/main" id="{85629DCC-9E12-7248-ED30-C7F6ACAF46A0}"/>
              </a:ext>
            </a:extLst>
          </p:cNvPr>
          <p:cNvSpPr/>
          <p:nvPr/>
        </p:nvSpPr>
        <p:spPr>
          <a:xfrm>
            <a:off x="941832" y="378561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AB5DD-0815-3520-DA5A-441A8C7E09EA}"/>
              </a:ext>
            </a:extLst>
          </p:cNvPr>
          <p:cNvSpPr txBox="1"/>
          <p:nvPr/>
        </p:nvSpPr>
        <p:spPr>
          <a:xfrm>
            <a:off x="1298448" y="376047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’ 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누리집을 방문하여 작품들을 살펴본다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4" name="Oval 18">
            <a:extLst>
              <a:ext uri="{FF2B5EF4-FFF2-40B4-BE49-F238E27FC236}">
                <a16:creationId xmlns:a16="http://schemas.microsoft.com/office/drawing/2014/main" id="{2EA8DE01-85FB-A8AE-1F77-A5D98EEDA1FF}"/>
              </a:ext>
            </a:extLst>
          </p:cNvPr>
          <p:cNvSpPr/>
          <p:nvPr/>
        </p:nvSpPr>
        <p:spPr>
          <a:xfrm>
            <a:off x="941832" y="4288536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91CD8-7275-00EC-05AA-7E47289BECC4}"/>
              </a:ext>
            </a:extLst>
          </p:cNvPr>
          <p:cNvSpPr txBox="1"/>
          <p:nvPr/>
        </p:nvSpPr>
        <p:spPr>
          <a:xfrm>
            <a:off x="1298448" y="4263390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마음에 드는 작품을 골라 활동지를 작성한다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id="{439857FA-9AFC-2A91-2BE8-D848568C3F90}"/>
              </a:ext>
            </a:extLst>
          </p:cNvPr>
          <p:cNvSpPr/>
          <p:nvPr/>
        </p:nvSpPr>
        <p:spPr>
          <a:xfrm>
            <a:off x="941832" y="4791455"/>
            <a:ext cx="173736" cy="173736"/>
          </a:xfrm>
          <a:prstGeom prst="ellipse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AEBA5-8658-E5C6-F107-5A1D10CCE45C}"/>
              </a:ext>
            </a:extLst>
          </p:cNvPr>
          <p:cNvSpPr txBox="1"/>
          <p:nvPr/>
        </p:nvSpPr>
        <p:spPr>
          <a:xfrm>
            <a:off x="1298448" y="4766309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b="0" dirty="0">
                <a:solidFill>
                  <a:srgbClr val="3B3B3B"/>
                </a:solidFill>
                <a:latin typeface="고양덕양 B"/>
                <a:ea typeface="고양덕양 B"/>
              </a:rPr>
              <a:t>클래스 보드에 올리고 친구들과 공유한다</a:t>
            </a:r>
            <a:r>
              <a:rPr lang="en-US" altLang="ko-KR" sz="20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4D2FC-2480-8BE8-0128-368AD01200E9}"/>
              </a:ext>
            </a:extLst>
          </p:cNvPr>
          <p:cNvSpPr txBox="1"/>
          <p:nvPr/>
        </p:nvSpPr>
        <p:spPr>
          <a:xfrm>
            <a:off x="1143000" y="2541686"/>
            <a:ext cx="9875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ct val="100000"/>
              </a:lnSpc>
              <a:defRPr/>
            </a:pPr>
            <a:r>
              <a:rPr lang="ko-KR" altLang="en-US" sz="20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더 살펴보며 생각의 팔레트를 확장해 봅시다</a:t>
            </a:r>
            <a:r>
              <a:rPr lang="en-US" altLang="ko-KR" sz="20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  <a:endParaRPr sz="2000" b="0" dirty="0">
              <a:solidFill>
                <a:srgbClr val="3B3B3B"/>
              </a:solidFill>
              <a:latin typeface="고양덕양 B"/>
              <a:ea typeface="고양덕양 B"/>
            </a:endParaRPr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30818-5476-3FAC-3758-BAD397DA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  <a:ea typeface="+mj-ea"/>
              </a:rPr>
              <a:t>활동안내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632AC8-93AA-41DD-6D46-E9E08015A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886" y="1422559"/>
            <a:ext cx="3540093" cy="22572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E4EF2E-0B2A-A26C-7747-EF36B036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3" y="1263512"/>
            <a:ext cx="3331089" cy="11947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AB4B710-1DCE-436A-F53E-206CDD65A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000" y="2458222"/>
            <a:ext cx="3634731" cy="13100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502AA44-F190-4C0F-3066-E5062F041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629" y="1617218"/>
            <a:ext cx="4023317" cy="206262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95A5570-A064-3FFF-AB4F-65BA1D9D67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36" y="4082970"/>
            <a:ext cx="3842385" cy="230383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50955A9-739F-F5AA-75E4-CD36F4851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5887" y="4082970"/>
            <a:ext cx="3729476" cy="224245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DC3B78B-2913-FBA6-3AB0-56A0EDDD3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629" y="4021596"/>
            <a:ext cx="4023317" cy="23038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2DE9AB-4D0D-1070-10D1-613337C007C5}"/>
              </a:ext>
            </a:extLst>
          </p:cNvPr>
          <p:cNvSpPr txBox="1"/>
          <p:nvPr/>
        </p:nvSpPr>
        <p:spPr>
          <a:xfrm>
            <a:off x="2689759" y="640538"/>
            <a:ext cx="1934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9"/>
              </a:rPr>
              <a:t>▶</a:t>
            </a:r>
            <a:r>
              <a:rPr lang="en-US" altLang="ko-KR" dirty="0">
                <a:hlinkClick r:id="rId9"/>
              </a:rPr>
              <a:t> e</a:t>
            </a:r>
            <a:r>
              <a:rPr lang="ko-KR" altLang="en-US" dirty="0">
                <a:hlinkClick r:id="rId9"/>
              </a:rPr>
              <a:t>뮤지엄 </a:t>
            </a:r>
            <a:r>
              <a:rPr lang="ko-KR" altLang="en-US" dirty="0" err="1">
                <a:hlinkClick r:id="rId9"/>
              </a:rPr>
              <a:t>누리집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D618A6-0967-E86E-2349-227671D26567}"/>
              </a:ext>
            </a:extLst>
          </p:cNvPr>
          <p:cNvSpPr/>
          <p:nvPr/>
        </p:nvSpPr>
        <p:spPr>
          <a:xfrm>
            <a:off x="258000" y="1968137"/>
            <a:ext cx="1004743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9CC11A-EFA5-EE0B-7CE9-9847CEF4BE3D}"/>
              </a:ext>
            </a:extLst>
          </p:cNvPr>
          <p:cNvSpPr/>
          <p:nvPr/>
        </p:nvSpPr>
        <p:spPr>
          <a:xfrm>
            <a:off x="760371" y="3373678"/>
            <a:ext cx="2618555" cy="490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4DC684-384B-36F7-F9E5-754B7E8B366A}"/>
              </a:ext>
            </a:extLst>
          </p:cNvPr>
          <p:cNvSpPr/>
          <p:nvPr/>
        </p:nvSpPr>
        <p:spPr>
          <a:xfrm>
            <a:off x="8176563" y="2280139"/>
            <a:ext cx="1402866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F58DC5-1580-D372-AE4F-EAC79F433E87}"/>
              </a:ext>
            </a:extLst>
          </p:cNvPr>
          <p:cNvSpPr/>
          <p:nvPr/>
        </p:nvSpPr>
        <p:spPr>
          <a:xfrm>
            <a:off x="11133123" y="2322690"/>
            <a:ext cx="309940" cy="271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21248C-F2F4-A06B-459E-F9CA9A9872BB}"/>
              </a:ext>
            </a:extLst>
          </p:cNvPr>
          <p:cNvSpPr/>
          <p:nvPr/>
        </p:nvSpPr>
        <p:spPr>
          <a:xfrm>
            <a:off x="1109557" y="4897684"/>
            <a:ext cx="1050169" cy="14277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2356446-DB91-14EA-9A52-85223537973C}"/>
              </a:ext>
            </a:extLst>
          </p:cNvPr>
          <p:cNvSpPr/>
          <p:nvPr/>
        </p:nvSpPr>
        <p:spPr>
          <a:xfrm>
            <a:off x="7132320" y="4007698"/>
            <a:ext cx="826676" cy="1957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BFE4A1-7DCB-8C96-78B9-D4B95A4B30B9}"/>
              </a:ext>
            </a:extLst>
          </p:cNvPr>
          <p:cNvSpPr/>
          <p:nvPr/>
        </p:nvSpPr>
        <p:spPr>
          <a:xfrm>
            <a:off x="10554789" y="6048517"/>
            <a:ext cx="796834" cy="3557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733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8C8EE8-BC99-C68E-06DA-6A106E474F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587732"/>
              </p:ext>
            </p:extLst>
          </p:nvPr>
        </p:nvGraphicFramePr>
        <p:xfrm>
          <a:off x="406595" y="2129083"/>
          <a:ext cx="11219394" cy="399937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39798">
                  <a:extLst>
                    <a:ext uri="{9D8B030D-6E8A-4147-A177-3AD203B41FA5}">
                      <a16:colId xmlns:a16="http://schemas.microsoft.com/office/drawing/2014/main" val="1068825157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1128753635"/>
                    </a:ext>
                  </a:extLst>
                </a:gridCol>
                <a:gridCol w="3739798">
                  <a:extLst>
                    <a:ext uri="{9D8B030D-6E8A-4147-A177-3AD203B41FA5}">
                      <a16:colId xmlns:a16="http://schemas.microsoft.com/office/drawing/2014/main" val="454399094"/>
                    </a:ext>
                  </a:extLst>
                </a:gridCol>
              </a:tblGrid>
              <a:tr h="4399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 err="1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어미닭과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 병아리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호접도</a:t>
                      </a:r>
                      <a:endParaRPr lang="en-US" altLang="ko-KR" sz="1800" b="1" dirty="0">
                        <a:solidFill>
                          <a:srgbClr val="3B3B3B"/>
                        </a:solidFill>
                        <a:latin typeface="고양덕양 B"/>
                        <a:ea typeface="고양덕양 B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꽃과 풀벌레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31406"/>
                  </a:ext>
                </a:extLst>
              </a:tr>
              <a:tr h="355942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346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1A8104C-4B97-A06E-5052-E5D110559104}"/>
              </a:ext>
            </a:extLst>
          </p:cNvPr>
          <p:cNvSpPr txBox="1"/>
          <p:nvPr/>
        </p:nvSpPr>
        <p:spPr>
          <a:xfrm>
            <a:off x="406595" y="14208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아래 예시작품을 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‘e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뮤지엄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에서 검색해서 살펴보세요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 </a:t>
            </a:r>
          </a:p>
        </p:txBody>
      </p:sp>
      <p:pic>
        <p:nvPicPr>
          <p:cNvPr id="5" name="그림 4">
            <a:hlinkClick r:id="rId3"/>
            <a:extLst>
              <a:ext uri="{FF2B5EF4-FFF2-40B4-BE49-F238E27FC236}">
                <a16:creationId xmlns:a16="http://schemas.microsoft.com/office/drawing/2014/main" id="{DB9D526E-8CC1-6607-F280-116752734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677" y="2662370"/>
            <a:ext cx="1627905" cy="3355254"/>
          </a:xfrm>
          <a:prstGeom prst="rect">
            <a:avLst/>
          </a:prstGeom>
        </p:spPr>
      </p:pic>
      <p:pic>
        <p:nvPicPr>
          <p:cNvPr id="11" name="그림 10">
            <a:hlinkClick r:id="rId5"/>
            <a:extLst>
              <a:ext uri="{FF2B5EF4-FFF2-40B4-BE49-F238E27FC236}">
                <a16:creationId xmlns:a16="http://schemas.microsoft.com/office/drawing/2014/main" id="{E9CE5249-2BE6-0FAA-B297-3E9AF87BAB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2448" y="2662370"/>
            <a:ext cx="1458033" cy="3380868"/>
          </a:xfrm>
          <a:prstGeom prst="rect">
            <a:avLst/>
          </a:prstGeom>
        </p:spPr>
      </p:pic>
      <p:pic>
        <p:nvPicPr>
          <p:cNvPr id="16" name="그림 15">
            <a:hlinkClick r:id="rId7"/>
            <a:extLst>
              <a:ext uri="{FF2B5EF4-FFF2-40B4-BE49-F238E27FC236}">
                <a16:creationId xmlns:a16="http://schemas.microsoft.com/office/drawing/2014/main" id="{FABD4427-D03E-D2D5-11E5-FA7A2EAE3F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2347" y="2743879"/>
            <a:ext cx="1730850" cy="3235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6965F9-0D0D-9D07-B2C0-6E47F2AE7DE8}"/>
              </a:ext>
            </a:extLst>
          </p:cNvPr>
          <p:cNvSpPr txBox="1"/>
          <p:nvPr/>
        </p:nvSpPr>
        <p:spPr>
          <a:xfrm>
            <a:off x="0" y="6544412"/>
            <a:ext cx="117854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본 저작물은 공공누리 제1유형으로 개방한 작품을 이용하였으며, 해당 저작물은 '국립중앙박물관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e뮤지엄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 </a:t>
            </a:r>
            <a:r>
              <a:rPr lang="ko-KR" altLang="en-US" sz="1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누리집</a:t>
            </a:r>
            <a:r>
              <a:rPr lang="ko-KR" altLang="en-US" sz="10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(https://www.emuseum.go.kr)'에서 무료로 다운받으실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73295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활동 </a:t>
            </a:r>
            <a:r>
              <a:rPr lang="en-US" altLang="ko-KR" sz="2400" spc="-147" dirty="0">
                <a:solidFill>
                  <a:schemeClr val="tx1">
                    <a:alpha val="99000"/>
                  </a:schemeClr>
                </a:solidFill>
                <a:latin typeface="Noto Sans KR Black"/>
                <a:ea typeface="Noto Sans KR Black"/>
              </a:rPr>
              <a:t>3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7137300-59CF-4C19-1DA2-44E466D03448}"/>
              </a:ext>
            </a:extLst>
          </p:cNvPr>
          <p:cNvSpPr txBox="1">
            <a:spLocks/>
          </p:cNvSpPr>
          <p:nvPr/>
        </p:nvSpPr>
        <p:spPr>
          <a:xfrm>
            <a:off x="519760" y="440868"/>
            <a:ext cx="9525376" cy="64108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생각의 팔레트 확장하기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78A9F-1EAF-E6FC-1F07-E6E10019235D}"/>
              </a:ext>
            </a:extLst>
          </p:cNvPr>
          <p:cNvSpPr txBox="1"/>
          <p:nvPr/>
        </p:nvSpPr>
        <p:spPr>
          <a:xfrm>
            <a:off x="406595" y="1315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800" b="1" dirty="0">
                <a:solidFill>
                  <a:srgbClr val="3B3B3B"/>
                </a:solidFill>
                <a:latin typeface="고양덕양 B"/>
                <a:ea typeface="고양덕양 B"/>
              </a:rPr>
              <a:t>작품을 한 가지 선택하고 활동지를 작성해보세요</a:t>
            </a:r>
            <a:r>
              <a:rPr lang="en-US" altLang="ko-KR" sz="1800" b="1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D5CE458-490D-F119-FE46-2AD453FD2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72199"/>
              </p:ext>
            </p:extLst>
          </p:nvPr>
        </p:nvGraphicFramePr>
        <p:xfrm>
          <a:off x="415106" y="2059025"/>
          <a:ext cx="2888343" cy="419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343">
                  <a:extLst>
                    <a:ext uri="{9D8B030D-6E8A-4147-A177-3AD203B41FA5}">
                      <a16:colId xmlns:a16="http://schemas.microsoft.com/office/drawing/2014/main" val="714158368"/>
                    </a:ext>
                  </a:extLst>
                </a:gridCol>
              </a:tblGrid>
              <a:tr h="5373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&lt;</a:t>
                      </a:r>
                      <a:r>
                        <a:rPr lang="ko-KR" altLang="en-US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작품</a:t>
                      </a:r>
                      <a:r>
                        <a:rPr lang="en-US" altLang="ko-KR" sz="1800" b="1" dirty="0">
                          <a:solidFill>
                            <a:srgbClr val="3B3B3B"/>
                          </a:solidFill>
                          <a:latin typeface="고양덕양 B"/>
                          <a:ea typeface="고양덕양 B"/>
                        </a:rPr>
                        <a:t>&gt;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45496"/>
                  </a:ext>
                </a:extLst>
              </a:tr>
              <a:tr h="365433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21825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31B39C0-BD74-5538-57BA-45E991B58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314182"/>
              </p:ext>
            </p:extLst>
          </p:nvPr>
        </p:nvGraphicFramePr>
        <p:xfrm>
          <a:off x="3407955" y="2059025"/>
          <a:ext cx="7878354" cy="4191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9177">
                  <a:extLst>
                    <a:ext uri="{9D8B030D-6E8A-4147-A177-3AD203B41FA5}">
                      <a16:colId xmlns:a16="http://schemas.microsoft.com/office/drawing/2014/main" val="3388685008"/>
                    </a:ext>
                  </a:extLst>
                </a:gridCol>
                <a:gridCol w="3939177">
                  <a:extLst>
                    <a:ext uri="{9D8B030D-6E8A-4147-A177-3AD203B41FA5}">
                      <a16:colId xmlns:a16="http://schemas.microsoft.com/office/drawing/2014/main" val="1209160884"/>
                    </a:ext>
                  </a:extLst>
                </a:gridCol>
              </a:tblGrid>
              <a:tr h="20958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관찰한 부분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왼쪽 위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 내용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관찰한 부분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오른쪽 위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 내용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09861"/>
                  </a:ext>
                </a:extLst>
              </a:tr>
              <a:tr h="20958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관찰한 부분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왼쪽 아래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 내용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관찰한 부분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오른쪽 아래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관찰 내용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: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566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688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>
              <a:defRPr/>
            </a:pPr>
            <a:fld id="{A73DE1A5-A26C-4936-9EB7-341AE0E9F7ED}" type="slidenum">
              <a:rPr lang="en-US" altLang="ko-KR" b="0"/>
              <a:pPr lvl="0">
                <a:defRPr/>
              </a:pPr>
              <a:t>15</a:t>
            </a:fld>
            <a:endParaRPr lang="en-US" altLang="ko-KR" b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121180"/>
            <a:ext cx="10424160" cy="2933945"/>
          </a:xfrm>
          <a:prstGeom prst="roundRect">
            <a:avLst>
              <a:gd name="adj" fmla="val 10000"/>
            </a:avLst>
          </a:prstGeom>
          <a:solidFill>
            <a:srgbClr val="FDEEEC"/>
          </a:solidFill>
          <a:ln w="15875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Oval 12"/>
          <p:cNvSpPr/>
          <p:nvPr/>
        </p:nvSpPr>
        <p:spPr>
          <a:xfrm>
            <a:off x="1629809" y="2554089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86425" y="2538849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(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동물화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/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식물화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)</a:t>
            </a: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에 대해 설명할 수 있나요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5" name="Oval 14"/>
          <p:cNvSpPr/>
          <p:nvPr/>
        </p:nvSpPr>
        <p:spPr>
          <a:xfrm>
            <a:off x="1629809" y="3402624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86425" y="3387385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가장 기억에 남는 작품은 무엇인가요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  <p:sp>
        <p:nvSpPr>
          <p:cNvPr id="18" name="TextBox 3"/>
          <p:cNvSpPr txBox="1"/>
          <p:nvPr/>
        </p:nvSpPr>
        <p:spPr>
          <a:xfrm>
            <a:off x="1098804" y="5618228"/>
            <a:ext cx="9994392" cy="233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ct val="105000"/>
              </a:lnSpc>
              <a:defRPr/>
            </a:pP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다음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sz="1500" b="0" dirty="0" err="1">
                <a:solidFill>
                  <a:srgbClr val="3B3B3B"/>
                </a:solidFill>
                <a:latin typeface="고양덕양 B"/>
                <a:ea typeface="고양덕양 B"/>
              </a:rPr>
              <a:t>시간에는</a:t>
            </a:r>
            <a:r>
              <a:rPr sz="1500" b="0" dirty="0">
                <a:solidFill>
                  <a:srgbClr val="3B3B3B"/>
                </a:solidFill>
                <a:latin typeface="고양덕양 B"/>
                <a:ea typeface="고양덕양 B"/>
              </a:rPr>
              <a:t> </a:t>
            </a:r>
            <a:r>
              <a:rPr 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'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우리 옛 그림 기록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화</a:t>
            </a:r>
            <a:r>
              <a:rPr lang="en-US" altLang="ko-KR" sz="1500" dirty="0">
                <a:solidFill>
                  <a:srgbClr val="3B3B3B"/>
                </a:solidFill>
                <a:latin typeface="고양덕양 B"/>
                <a:ea typeface="고양덕양 B"/>
              </a:rPr>
              <a:t>’</a:t>
            </a:r>
            <a:r>
              <a:rPr lang="ko-KR" altLang="en-US" sz="1500" dirty="0">
                <a:solidFill>
                  <a:srgbClr val="3B3B3B"/>
                </a:solidFill>
                <a:latin typeface="고양덕양 B"/>
                <a:ea typeface="고양덕양 B"/>
              </a:rPr>
              <a:t>를 알아봅시</a:t>
            </a:r>
            <a:r>
              <a:rPr lang="ko-KR" altLang="en-US" sz="1500" b="0" dirty="0">
                <a:solidFill>
                  <a:srgbClr val="3B3B3B"/>
                </a:solidFill>
                <a:latin typeface="고양덕양 B"/>
                <a:ea typeface="고양덕양 B"/>
              </a:rPr>
              <a:t>다</a:t>
            </a:r>
            <a:r>
              <a:rPr lang="en-US" altLang="ko-KR" sz="1500" b="0" dirty="0">
                <a:solidFill>
                  <a:srgbClr val="3B3B3B"/>
                </a:solidFill>
                <a:latin typeface="고양덕양 B"/>
                <a:ea typeface="고양덕양 B"/>
              </a:rPr>
              <a:t>.</a:t>
            </a:r>
          </a:p>
        </p:txBody>
      </p:sp>
      <p:sp>
        <p:nvSpPr>
          <p:cNvPr id="2" name="Oval 14">
            <a:extLst>
              <a:ext uri="{FF2B5EF4-FFF2-40B4-BE49-F238E27FC236}">
                <a16:creationId xmlns:a16="http://schemas.microsoft.com/office/drawing/2014/main" id="{FF76A8CF-1727-CB58-0BDE-5A31B7CBC241}"/>
              </a:ext>
            </a:extLst>
          </p:cNvPr>
          <p:cNvSpPr/>
          <p:nvPr/>
        </p:nvSpPr>
        <p:spPr>
          <a:xfrm>
            <a:off x="1629809" y="4195140"/>
            <a:ext cx="173736" cy="173736"/>
          </a:xfrm>
          <a:prstGeom prst="ellips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endParaRPr lang="ko-KR" altLang="en-US" sz="1400">
              <a:solidFill>
                <a:srgbClr val="FFFFFF"/>
              </a:solidFill>
              <a:latin typeface="Noto Sans KR Blac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F519D-6CC9-CB11-9330-2650761E3889}"/>
              </a:ext>
            </a:extLst>
          </p:cNvPr>
          <p:cNvSpPr txBox="1"/>
          <p:nvPr/>
        </p:nvSpPr>
        <p:spPr>
          <a:xfrm>
            <a:off x="1986425" y="4179901"/>
            <a:ext cx="99669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3B3B3B"/>
                </a:solidFill>
                <a:latin typeface="고양덕양 B"/>
                <a:ea typeface="고양덕양 B"/>
              </a:rPr>
              <a:t>내 생각과 친구의 생각 중 어떤 점이 비슷하고 어떤 점이 달랐나요</a:t>
            </a:r>
            <a:r>
              <a:rPr lang="en-US" altLang="ko-KR" sz="2000" dirty="0">
                <a:solidFill>
                  <a:srgbClr val="3B3B3B"/>
                </a:solidFill>
                <a:latin typeface="고양덕양 B"/>
                <a:ea typeface="고양덕양 B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705</Words>
  <Application>Microsoft Office PowerPoint</Application>
  <PresentationFormat>와이드스크린</PresentationFormat>
  <Paragraphs>151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고양덕양 B</vt:lpstr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나눔바른고딕 Light</vt:lpstr>
      <vt:lpstr>Noto Sans KR</vt:lpstr>
      <vt:lpstr>Office Theme</vt:lpstr>
      <vt:lpstr>PowerPoint 프레젠테이션</vt:lpstr>
      <vt:lpstr>일곱 번의 생각, 그 중 오늘</vt:lpstr>
      <vt:lpstr>‘아트풀 씽킹(Artful Thinking)’ 이란?</vt:lpstr>
      <vt:lpstr>PowerPoint 프레젠테이션</vt:lpstr>
      <vt:lpstr>오늘의 핵심 문장</vt:lpstr>
      <vt:lpstr>&lt;동물화/식물화&gt;를 알아봅시다(영상제목: 동물화, 식물화)</vt:lpstr>
      <vt:lpstr>옛 그림과 만나기</vt:lpstr>
      <vt:lpstr>옛 그림과 만나기</vt:lpstr>
      <vt:lpstr>아트풀 씽킹으로 생각하기</vt:lpstr>
      <vt:lpstr>아트풀 씽킹으로 생각하기</vt:lpstr>
      <vt:lpstr>생각의 팔레트 확장하기</vt:lpstr>
      <vt:lpstr>활동안내</vt:lpstr>
      <vt:lpstr>PowerPoint 프레젠테이션</vt:lpstr>
      <vt:lpstr>PowerPoint 프레젠테이션</vt:lpstr>
      <vt:lpstr>정리하기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58</cp:revision>
  <dcterms:created xsi:type="dcterms:W3CDTF">2026-07-09T22:35:37Z</dcterms:created>
  <dcterms:modified xsi:type="dcterms:W3CDTF">2026-10-27T16:00:59Z</dcterms:modified>
  <cp:version/>
</cp:coreProperties>
</file>