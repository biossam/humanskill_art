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Medium" panose="020B0200000000000000" pitchFamily="50" charset="-127"/>
      <p:regular r:id="rId22"/>
    </p:embeddedFont>
    <p:embeddedFont>
      <p:font typeface="고양덕양 B" pitchFamily="2" charset="-127"/>
      <p:regular r:id="rId23"/>
    </p:embeddedFont>
    <p:embeddedFont>
      <p:font typeface="나눔바른고딕 Light" panose="020B0603020101020101" pitchFamily="50" charset="-127"/>
      <p:regular r:id="rId24"/>
    </p:embeddedFont>
    <p:embeddedFont>
      <p:font typeface="나눔스퀘어 ExtraBold" panose="020B0600000101010101" pitchFamily="50" charset="-127"/>
      <p:bold r:id="rId25"/>
    </p:embeddedFont>
    <p:embeddedFont>
      <p:font typeface="땅스부대찌개 Bold" panose="02020603020101020101" pitchFamily="18" charset="-127"/>
      <p:bold r:id="rId26"/>
    </p:embeddedFont>
    <p:embeddedFont>
      <p:font typeface="에스코어 드림 8 Heavy" panose="020B0903030302020204" pitchFamily="34" charset="-127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8B%A0%EC%82%AC%EC%9E%84%EB%8B%B9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g"/><Relationship Id="rId3" Type="http://schemas.openxmlformats.org/officeDocument/2006/relationships/hyperlink" Target="https://www.emuseum.go.kr/detail?cateClass=&amp;cateListFlag=&amp;keyword=%EB%B3%80%EC%83%81%EB%B2%BD&amp;pageNum=4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B3%80%EC%83%81%EB%B2%BD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C%B4%88%EC%B6%A9%EB%8F%84&amp;pageNum=74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jpg"/><Relationship Id="rId5" Type="http://schemas.openxmlformats.org/officeDocument/2006/relationships/hyperlink" Target="https://www.emuseum.go.kr/detail?cateClass=&amp;cateListFlag=&amp;keyword=%EB%82%A8%EA%B3%84%EC%9A%B0&amp;pageNum=4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9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644072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동물화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/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식물화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정교화 놀이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11차시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7322898" y="3011898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800" b="1" dirty="0">
                <a:solidFill>
                  <a:schemeClr val="bg1"/>
                </a:solidFill>
                <a:latin typeface="고양덕양 B"/>
                <a:ea typeface="고양덕양 B"/>
              </a:rPr>
              <a:t>동물화식물화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898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5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98749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9000" y="4100344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36881" y="560515"/>
            <a:ext cx="10348537" cy="461665"/>
          </a:xfrm>
        </p:spPr>
        <p:txBody>
          <a:bodyPr>
            <a:noAutofit/>
          </a:bodyPr>
          <a:lstStyle/>
          <a:p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동물화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/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식물화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동물화</a:t>
            </a:r>
            <a:r>
              <a:rPr lang="en-US" altLang="ko-KR" sz="32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식물화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B4F98B1-F77B-46B7-817C-150BB7F63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53" y="1227796"/>
            <a:ext cx="8897656" cy="50049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850236-1564-298B-2FCB-156059646D26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 err="1">
                <a:solidFill>
                  <a:srgbClr val="3B3B3B"/>
                </a:solidFill>
                <a:latin typeface="고양덕양 B"/>
                <a:ea typeface="고양덕양 B"/>
              </a:rPr>
              <a:t>초충도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8163682"/>
              </p:ext>
            </p:extLst>
          </p:nvPr>
        </p:nvGraphicFramePr>
        <p:xfrm>
          <a:off x="361159" y="1522578"/>
          <a:ext cx="9683978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19461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5964517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초충도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조선시대 신사임당의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초충도로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dirty="0"/>
                        <a:t>풀과 꽃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그리고 작은 벌레나 곤충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동물들을 세밀하게 표현한 그림이다</a:t>
                      </a:r>
                      <a:r>
                        <a:rPr lang="en-US" altLang="ko-KR" dirty="0"/>
                        <a:t>.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dirty="0"/>
                        <a:t>주변 뜰에서 흔히 볼 수 있는 식물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수박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가지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오이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원추리</a:t>
                      </a:r>
                      <a:r>
                        <a:rPr lang="ko-KR" altLang="en-US" dirty="0"/>
                        <a:t> 등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과 곤충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나비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메뚜기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패랭이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들쥐 등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을 놀라울 정도로 정밀하게 관찰하여 나타내었다</a:t>
                      </a:r>
                      <a:r>
                        <a:rPr lang="en-US" altLang="ko-KR" dirty="0"/>
                        <a:t>.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dirty="0"/>
                        <a:t>자손 번창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수박</a:t>
                      </a:r>
                      <a:r>
                        <a:rPr lang="en-US" altLang="ko-KR" dirty="0"/>
                        <a:t>·</a:t>
                      </a:r>
                      <a:r>
                        <a:rPr lang="ko-KR" altLang="en-US" dirty="0"/>
                        <a:t>가지의 많은 씨앗</a:t>
                      </a:r>
                      <a:r>
                        <a:rPr lang="en-US" altLang="ko-KR" dirty="0"/>
                        <a:t>), </a:t>
                      </a:r>
                      <a:r>
                        <a:rPr lang="ko-KR" altLang="en-US" dirty="0"/>
                        <a:t>장수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부귀 등의 의미가 담겨있다</a:t>
                      </a:r>
                      <a:r>
                        <a:rPr lang="en-US" altLang="ko-KR" dirty="0"/>
                        <a:t>.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dirty="0"/>
                        <a:t>지폐에서 신사임당의 모습과 작품을 확인할 수 있다</a:t>
                      </a:r>
                      <a:r>
                        <a:rPr lang="en-US" altLang="ko-KR" dirty="0"/>
                        <a:t>.</a:t>
                      </a: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FE9DC248-5AB7-3B46-21C0-AD514946C1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42" y="2116183"/>
            <a:ext cx="3104041" cy="36532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1E8C8-9BA0-11E1-A05B-E7EA1C0A4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3454" y="5348349"/>
            <a:ext cx="3174521" cy="1041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0DE910-2A86-8A8E-84BE-A5DD23086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2566" y="5341146"/>
            <a:ext cx="3238091" cy="1064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BD1D3F-C700-3809-0ADA-32E0A11B67D2}"/>
              </a:ext>
            </a:extLst>
          </p:cNvPr>
          <p:cNvSpPr txBox="1"/>
          <p:nvPr/>
        </p:nvSpPr>
        <p:spPr>
          <a:xfrm>
            <a:off x="10530772" y="6246554"/>
            <a:ext cx="1972738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한국은행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734577-34FD-3303-9AF8-945EF35581DC}"/>
              </a:ext>
            </a:extLst>
          </p:cNvPr>
          <p:cNvSpPr txBox="1"/>
          <p:nvPr/>
        </p:nvSpPr>
        <p:spPr>
          <a:xfrm>
            <a:off x="83864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신사임당필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초충도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6" name="Picture 2" descr="1유형">
            <a:extLst>
              <a:ext uri="{FF2B5EF4-FFF2-40B4-BE49-F238E27FC236}">
                <a16:creationId xmlns:a16="http://schemas.microsoft.com/office/drawing/2014/main" id="{D8E51DC2-9726-67BD-B16E-FB9CD8D34E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17" y="6541484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029618"/>
            <a:ext cx="10424160" cy="373694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3920" y="1826276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2963" y="2199656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정교화 놀이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68773" y="6323362"/>
            <a:ext cx="10185544" cy="443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  <a:latin typeface="고양덕양 B"/>
                <a:ea typeface="고양덕양 B"/>
              </a:rPr>
              <a:t>* 반드시 눈으로 관찰한 사실만을 말하며 작품에 대한 해석이나 의견은 이야기하지 않는다</a:t>
            </a:r>
            <a:r>
              <a:rPr lang="en-US" altLang="ko-KR" sz="16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lang="ko-KR" altLang="en-US" sz="1600" b="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l">
              <a:lnSpc>
                <a:spcPct val="90000"/>
              </a:lnSpc>
              <a:defRPr/>
            </a:pPr>
            <a:endParaRPr sz="16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43000" y="3317712"/>
            <a:ext cx="9966960" cy="30469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1.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각자 작품을 조용히 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1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분간 관찰한다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lang="en-US" altLang="ko-KR" sz="20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>
              <a:lnSpc>
                <a:spcPct val="90000"/>
              </a:lnSpc>
              <a:defRPr/>
            </a:pPr>
            <a:endParaRPr lang="en-US" altLang="ko-KR" sz="20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2.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모둠원과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 함께 관찰할 작품과 설명 순서를 정한다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endParaRPr lang="en-US" altLang="ko-KR" sz="20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3.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첫 번째 학생은 작품의 특정 부분을 선택하여 해당 부분에서 관찰한 내용을 구체적으로 설명한다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endParaRPr lang="en-US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l">
              <a:lnSpc>
                <a:spcPct val="90000"/>
              </a:lnSpc>
              <a:defRPr/>
            </a:pPr>
            <a:r>
              <a:rPr 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4.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두 번째 학생은 첫번째 학생의 관찰 내용에 세부사항을 덧붙여 설명한다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endParaRPr lang="en-US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l">
              <a:lnSpc>
                <a:spcPct val="90000"/>
              </a:lnSpc>
              <a:defRPr/>
            </a:pPr>
            <a:r>
              <a:rPr 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5.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세 번째 네번째 학생도 같은 방식으로 덧붙여 이야기한다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endParaRPr lang="en-US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0050391"/>
              </p:ext>
            </p:extLst>
          </p:nvPr>
        </p:nvGraphicFramePr>
        <p:xfrm>
          <a:off x="415106" y="2059025"/>
          <a:ext cx="2888343" cy="4191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</a:tblGrid>
              <a:tr h="5373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6543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70C4C33-8926-7809-302B-EB583947A8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142692"/>
              </p:ext>
            </p:extLst>
          </p:nvPr>
        </p:nvGraphicFramePr>
        <p:xfrm>
          <a:off x="3407955" y="2059025"/>
          <a:ext cx="7878354" cy="4191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177">
                  <a:extLst>
                    <a:ext uri="{9D8B030D-6E8A-4147-A177-3AD203B41FA5}">
                      <a16:colId xmlns:a16="http://schemas.microsoft.com/office/drawing/2014/main" val="3388685008"/>
                    </a:ext>
                  </a:extLst>
                </a:gridCol>
                <a:gridCol w="3939177">
                  <a:extLst>
                    <a:ext uri="{9D8B030D-6E8A-4147-A177-3AD203B41FA5}">
                      <a16:colId xmlns:a16="http://schemas.microsoft.com/office/drawing/2014/main" val="1209160884"/>
                    </a:ext>
                  </a:extLst>
                </a:gridCol>
              </a:tblGrid>
              <a:tr h="20958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왼쪽 위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오른쪽 위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4209861"/>
                  </a:ext>
                </a:extLst>
              </a:tr>
              <a:tr h="20958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왼쪽 아래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오른쪽 아래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4566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2587732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어미닭과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병아리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호접도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꽃과 풀벌레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5" name="그림 4">
            <a:hlinkClick r:id="rId3"/>
            <a:extLst>
              <a:ext uri="{FF2B5EF4-FFF2-40B4-BE49-F238E27FC236}">
                <a16:creationId xmlns:a16="http://schemas.microsoft.com/office/drawing/2014/main" id="{DB9D526E-8CC1-6607-F280-116752734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2677" y="2662370"/>
            <a:ext cx="1627905" cy="3355254"/>
          </a:xfrm>
          <a:prstGeom prst="rect">
            <a:avLst/>
          </a:prstGeom>
        </p:spPr>
      </p:pic>
      <p:pic>
        <p:nvPicPr>
          <p:cNvPr id="11" name="그림 10">
            <a:hlinkClick r:id="rId5"/>
            <a:extLst>
              <a:ext uri="{FF2B5EF4-FFF2-40B4-BE49-F238E27FC236}">
                <a16:creationId xmlns:a16="http://schemas.microsoft.com/office/drawing/2014/main" id="{E9CE5249-2BE6-0FAA-B297-3E9AF87BAB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2448" y="2662370"/>
            <a:ext cx="1458033" cy="3380868"/>
          </a:xfrm>
          <a:prstGeom prst="rect">
            <a:avLst/>
          </a:prstGeom>
        </p:spPr>
      </p:pic>
      <p:pic>
        <p:nvPicPr>
          <p:cNvPr id="16" name="그림 15">
            <a:hlinkClick r:id="rId7"/>
            <a:extLst>
              <a:ext uri="{FF2B5EF4-FFF2-40B4-BE49-F238E27FC236}">
                <a16:creationId xmlns:a16="http://schemas.microsoft.com/office/drawing/2014/main" id="{FABD4427-D03E-D2D5-11E5-FA7A2EAE3F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92347" y="2743879"/>
            <a:ext cx="1730850" cy="32352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6965F9-0D0D-9D07-B2C0-6E47F2AE7DE8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D5CE458-490D-F119-FE46-2AD453FD2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3872199"/>
              </p:ext>
            </p:extLst>
          </p:nvPr>
        </p:nvGraphicFramePr>
        <p:xfrm>
          <a:off x="415106" y="2059025"/>
          <a:ext cx="2888343" cy="4191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</a:tblGrid>
              <a:tr h="5373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6543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31B39C0-BD74-5538-57BA-45E991B58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314182"/>
              </p:ext>
            </p:extLst>
          </p:nvPr>
        </p:nvGraphicFramePr>
        <p:xfrm>
          <a:off x="3407955" y="2059025"/>
          <a:ext cx="7878354" cy="4191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177">
                  <a:extLst>
                    <a:ext uri="{9D8B030D-6E8A-4147-A177-3AD203B41FA5}">
                      <a16:colId xmlns:a16="http://schemas.microsoft.com/office/drawing/2014/main" val="3388685008"/>
                    </a:ext>
                  </a:extLst>
                </a:gridCol>
                <a:gridCol w="3939177">
                  <a:extLst>
                    <a:ext uri="{9D8B030D-6E8A-4147-A177-3AD203B41FA5}">
                      <a16:colId xmlns:a16="http://schemas.microsoft.com/office/drawing/2014/main" val="1209160884"/>
                    </a:ext>
                  </a:extLst>
                </a:gridCol>
              </a:tblGrid>
              <a:tr h="20958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왼쪽 위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오른쪽 위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4209861"/>
                  </a:ext>
                </a:extLst>
              </a:tr>
              <a:tr h="20958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왼쪽 아래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오른쪽 아래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4566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동물화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/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식물화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기록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705</Words>
  <Application>Microsoft Office PowerPoint</Application>
  <PresentationFormat>와이드스크린</PresentationFormat>
  <Paragraphs>151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6" baseType="lpstr">
      <vt:lpstr>고양덕양 B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나눔바른고딕 Light</vt:lpstr>
      <vt:lpstr>Noto Sans KR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&lt;동물화/식물화&gt;를 알아봅시다(영상제목: 동물화, 식물화)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58</cp:revision>
  <dcterms:created xsi:type="dcterms:W3CDTF">2026-07-09T22:35:37Z</dcterms:created>
  <dcterms:modified xsi:type="dcterms:W3CDTF">2026-10-27T16:00:59Z</dcterms:modified>
  <cp:version/>
</cp:coreProperties>
</file>