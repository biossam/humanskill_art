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18"/>
  </p:notesMasterIdLst>
  <p:sldIdLst>
    <p:sldId id="264" r:id="rId2"/>
    <p:sldId id="266" r:id="rId3"/>
    <p:sldId id="287" r:id="rId4"/>
    <p:sldId id="265" r:id="rId5"/>
    <p:sldId id="279" r:id="rId6"/>
    <p:sldId id="275" r:id="rId7"/>
    <p:sldId id="276" r:id="rId8"/>
    <p:sldId id="281" r:id="rId9"/>
    <p:sldId id="277" r:id="rId10"/>
    <p:sldId id="283" r:id="rId11"/>
    <p:sldId id="278" r:id="rId12"/>
    <p:sldId id="286" r:id="rId13"/>
    <p:sldId id="285" r:id="rId14"/>
    <p:sldId id="284" r:id="rId15"/>
    <p:sldId id="269" r:id="rId16"/>
    <p:sldId id="270" r:id="rId1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59">
          <p15:clr>
            <a:srgbClr val="A4A3A4"/>
          </p15:clr>
        </p15:guide>
        <p15:guide id="2" pos="3839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  <p:ext uri="ACF4677E-8BD2-47ae-8A1F-98590045965D">
      <hp:hncThemeShow xmlns:hp="http://schemas.haansoft.com/office/presentation/8.0" xmlns:dsp="http://schemas.microsoft.com/office/drawing/2008/diagram" xmlns:dgm="http://schemas.openxmlformats.org/drawingml/2006/diagram" xmlns:c="http://schemas.openxmlformats.org/drawingml/2006/chart" xmlns="" themeShowType="1" themeSkinType="1" themeTransitionType="1" useThemeTransition="1" byMouseClick="1" attrType="1" dur="200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0A15C55-8517-42AA-B614-E9B94910E393}" styleName="보통 스타일 2 - 강조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72" d="100"/>
          <a:sy n="72" d="100"/>
        </p:scale>
        <p:origin x="780" y="60"/>
      </p:cViewPr>
      <p:guideLst>
        <p:guide orient="horz" pos="2159"/>
        <p:guide pos="3839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61348126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15초면 충분합니다. 여섯 걸음 중 어디에 있는지만 확인합니다.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669DCDE-839F-45A5-BBBA-002CD9F8819F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2704296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676058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076109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9242069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5623604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5631638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5049902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평가 장면입니다. 반드시 시간을 확보합니다.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669DCDE-839F-45A5-BBBA-002CD9F8819F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3328716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1" name="모서리가 둥근 직사각형 10"/>
          <p:cNvSpPr/>
          <p:nvPr userDrawn="1"/>
        </p:nvSpPr>
        <p:spPr>
          <a:xfrm>
            <a:off x="431371" y="4115329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18" name="그림 17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980"/>
          <a:stretch/>
        </p:blipFill>
        <p:spPr>
          <a:xfrm>
            <a:off x="4938523" y="5907625"/>
            <a:ext cx="2314953" cy="764099"/>
          </a:xfrm>
          <a:prstGeom prst="rect">
            <a:avLst/>
          </a:prstGeom>
        </p:spPr>
      </p:pic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409943" y="2042583"/>
            <a:ext cx="6753997" cy="2387600"/>
          </a:xfrm>
        </p:spPr>
        <p:txBody>
          <a:bodyPr anchor="b">
            <a:normAutofit/>
          </a:bodyPr>
          <a:lstStyle>
            <a:lvl1pPr algn="l">
              <a:defRPr sz="6400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23" name="Google Shape;23;p37"/>
          <p:cNvSpPr/>
          <p:nvPr/>
        </p:nvSpPr>
        <p:spPr>
          <a:xfrm>
            <a:off x="335361" y="488138"/>
            <a:ext cx="3834759" cy="721713"/>
          </a:xfrm>
          <a:custGeom>
            <a:avLst/>
            <a:gdLst/>
            <a:ahLst/>
            <a:cxnLst/>
            <a:rect l="l" t="t" r="r" b="b"/>
            <a:pathLst>
              <a:path w="21600" h="21600" extrusionOk="0">
                <a:moveTo>
                  <a:pt x="18493" y="0"/>
                </a:moveTo>
                <a:lnTo>
                  <a:pt x="3107" y="0"/>
                </a:lnTo>
                <a:cubicBezTo>
                  <a:pt x="2222" y="0"/>
                  <a:pt x="1691" y="0"/>
                  <a:pt x="1337" y="651"/>
                </a:cubicBezTo>
                <a:cubicBezTo>
                  <a:pt x="773" y="1743"/>
                  <a:pt x="328" y="4106"/>
                  <a:pt x="123" y="7106"/>
                </a:cubicBezTo>
                <a:cubicBezTo>
                  <a:pt x="41" y="8290"/>
                  <a:pt x="0" y="9540"/>
                  <a:pt x="0" y="10800"/>
                </a:cubicBezTo>
                <a:cubicBezTo>
                  <a:pt x="0" y="12060"/>
                  <a:pt x="41" y="13310"/>
                  <a:pt x="123" y="14494"/>
                </a:cubicBezTo>
                <a:cubicBezTo>
                  <a:pt x="328" y="17494"/>
                  <a:pt x="773" y="19857"/>
                  <a:pt x="1337" y="20949"/>
                </a:cubicBezTo>
                <a:cubicBezTo>
                  <a:pt x="1691" y="21600"/>
                  <a:pt x="2222" y="21600"/>
                  <a:pt x="3107" y="21600"/>
                </a:cubicBezTo>
                <a:lnTo>
                  <a:pt x="18493" y="21600"/>
                </a:lnTo>
                <a:cubicBezTo>
                  <a:pt x="19378" y="21600"/>
                  <a:pt x="19909" y="21600"/>
                  <a:pt x="20263" y="20949"/>
                </a:cubicBezTo>
                <a:cubicBezTo>
                  <a:pt x="20827" y="19857"/>
                  <a:pt x="21272" y="17494"/>
                  <a:pt x="21477" y="14494"/>
                </a:cubicBezTo>
                <a:cubicBezTo>
                  <a:pt x="21559" y="13310"/>
                  <a:pt x="21600" y="12060"/>
                  <a:pt x="21600" y="10800"/>
                </a:cubicBezTo>
                <a:cubicBezTo>
                  <a:pt x="21600" y="9540"/>
                  <a:pt x="21559" y="8290"/>
                  <a:pt x="21477" y="7106"/>
                </a:cubicBezTo>
                <a:cubicBezTo>
                  <a:pt x="21272" y="4106"/>
                  <a:pt x="20827" y="1743"/>
                  <a:pt x="20263" y="651"/>
                </a:cubicBezTo>
                <a:cubicBezTo>
                  <a:pt x="19909" y="0"/>
                  <a:pt x="19378" y="0"/>
                  <a:pt x="18493" y="0"/>
                </a:cubicBezTo>
                <a:close/>
              </a:path>
            </a:pathLst>
          </a:custGeom>
          <a:solidFill>
            <a:srgbClr val="F6877E"/>
          </a:solidFill>
          <a:ln>
            <a:noFill/>
          </a:ln>
        </p:spPr>
        <p:txBody>
          <a:bodyPr spcFirstLastPara="1" wrap="square" lIns="60933" tIns="60933" rIns="60933" bIns="60933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 dirty="0">
              <a:solidFill>
                <a:schemeClr val="dk1"/>
              </a:solidFill>
              <a:latin typeface="나눔스퀘어 ExtraBold" panose="020B0600000101010101" pitchFamily="50" charset="-127"/>
              <a:ea typeface="나눔스퀘어 ExtraBold" panose="020B0600000101010101" pitchFamily="50" charset="-127"/>
              <a:cs typeface="Arial"/>
              <a:sym typeface="Arial"/>
            </a:endParaRPr>
          </a:p>
        </p:txBody>
      </p:sp>
      <p:pic>
        <p:nvPicPr>
          <p:cNvPr id="8" name="그림 7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94176" y="1690809"/>
            <a:ext cx="4500000" cy="25337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00605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9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타원 7"/>
          <p:cNvSpPr/>
          <p:nvPr userDrawn="1"/>
        </p:nvSpPr>
        <p:spPr>
          <a:xfrm>
            <a:off x="1314979" y="932723"/>
            <a:ext cx="9562043" cy="5195428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4" name="그림 3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3774"/>
          <a:stretch/>
        </p:blipFill>
        <p:spPr>
          <a:xfrm>
            <a:off x="5232685" y="6213310"/>
            <a:ext cx="1726629" cy="559532"/>
          </a:xfrm>
          <a:prstGeom prst="rect">
            <a:avLst/>
          </a:prstGeom>
        </p:spPr>
      </p:pic>
      <p:grpSp>
        <p:nvGrpSpPr>
          <p:cNvPr id="3" name="그룹 2"/>
          <p:cNvGrpSpPr/>
          <p:nvPr userDrawn="1"/>
        </p:nvGrpSpPr>
        <p:grpSpPr>
          <a:xfrm>
            <a:off x="8380207" y="4128700"/>
            <a:ext cx="3810915" cy="2740004"/>
            <a:chOff x="8380207" y="4128700"/>
            <a:chExt cx="3810915" cy="2740004"/>
          </a:xfrm>
        </p:grpSpPr>
        <p:pic>
          <p:nvPicPr>
            <p:cNvPr id="5" name="그림 4"/>
            <p:cNvPicPr>
              <a:picLocks noChangeAspect="1"/>
            </p:cNvPicPr>
            <p:nvPr userDrawn="1"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80207" y="4139458"/>
              <a:ext cx="3806750" cy="2729246"/>
            </a:xfrm>
            <a:prstGeom prst="rect">
              <a:avLst/>
            </a:prstGeom>
          </p:spPr>
        </p:pic>
        <p:pic>
          <p:nvPicPr>
            <p:cNvPr id="2" name="그림 1"/>
            <p:cNvPicPr>
              <a:picLocks noChangeAspect="1"/>
            </p:cNvPicPr>
            <p:nvPr userDrawn="1"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85922" y="4128700"/>
              <a:ext cx="3805200" cy="273185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6366167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1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/>
          <p:cNvSpPr/>
          <p:nvPr userDrawn="1"/>
        </p:nvSpPr>
        <p:spPr>
          <a:xfrm>
            <a:off x="0" y="1134884"/>
            <a:ext cx="12192000" cy="536645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2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9185109" y="6499821"/>
            <a:ext cx="2844800" cy="3661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r" defTabSz="1219170" rtl="0" eaLnBrk="1" latinLnBrk="1" hangingPunct="1">
              <a:defRPr lang="ko-KR" altLang="en-US" sz="1067" b="1" kern="120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  <a:ea typeface="G마켓 산스 TTF Medium" panose="02000000000000000000" pitchFamily="2" charset="-127"/>
                <a:cs typeface="+mn-cs"/>
              </a:defRPr>
            </a:lvl1pPr>
          </a:lstStyle>
          <a:p>
            <a:fld id="{A73DE1A5-A26C-4936-9EB7-341AE0E9F7ED}" type="slidenum">
              <a:rPr lang="en-US" altLang="ko-KR" smtClean="0"/>
              <a:pPr/>
              <a:t>‹#›</a:t>
            </a:fld>
            <a:endParaRPr 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/>
          </p:nvPr>
        </p:nvSpPr>
        <p:spPr>
          <a:xfrm>
            <a:off x="519761" y="409647"/>
            <a:ext cx="9525376" cy="641085"/>
          </a:xfrm>
          <a:prstGeom prst="rect">
            <a:avLst/>
          </a:prstGeom>
        </p:spPr>
        <p:txBody>
          <a:bodyPr anchor="ctr"/>
          <a:lstStyle>
            <a:lvl1pPr marL="0" algn="l" defTabSz="1219170" rtl="0" eaLnBrk="1" latinLnBrk="1" hangingPunct="1">
              <a:spcBef>
                <a:spcPct val="0"/>
              </a:spcBef>
              <a:buNone/>
              <a:defRPr lang="ko-KR" altLang="en-US" sz="3733" kern="1200" spc="-147" baseline="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땅스부대찌개 Bold" panose="02020603020101020101" pitchFamily="18" charset="-127"/>
                <a:ea typeface="땅스부대찌개 Bold" panose="02020603020101020101" pitchFamily="18" charset="-127"/>
                <a:cs typeface="+mn-cs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15" name="모서리가 둥근 직사각형 14"/>
          <p:cNvSpPr/>
          <p:nvPr userDrawn="1"/>
        </p:nvSpPr>
        <p:spPr>
          <a:xfrm>
            <a:off x="431371" y="1083243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11" name="그림 10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403"/>
          <a:stretch/>
        </p:blipFill>
        <p:spPr>
          <a:xfrm>
            <a:off x="10180896" y="468166"/>
            <a:ext cx="1579734" cy="516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49224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2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/>
          <p:cNvSpPr/>
          <p:nvPr userDrawn="1"/>
        </p:nvSpPr>
        <p:spPr>
          <a:xfrm>
            <a:off x="0" y="1134884"/>
            <a:ext cx="12192000" cy="536645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2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9185109" y="6499821"/>
            <a:ext cx="2844800" cy="3661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r" defTabSz="1219170" rtl="0" eaLnBrk="1" latinLnBrk="1" hangingPunct="1">
              <a:defRPr lang="ko-KR" altLang="en-US" sz="1067" b="1" kern="120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  <a:ea typeface="G마켓 산스 TTF Medium" panose="02000000000000000000" pitchFamily="2" charset="-127"/>
                <a:cs typeface="+mn-cs"/>
              </a:defRPr>
            </a:lvl1pPr>
          </a:lstStyle>
          <a:p>
            <a:fld id="{A73DE1A5-A26C-4936-9EB7-341AE0E9F7ED}" type="slidenum">
              <a:rPr lang="en-US" altLang="ko-KR" smtClean="0"/>
              <a:pPr/>
              <a:t>‹#›</a:t>
            </a:fld>
            <a:endParaRPr 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/>
          </p:nvPr>
        </p:nvSpPr>
        <p:spPr>
          <a:xfrm>
            <a:off x="519761" y="409647"/>
            <a:ext cx="9525376" cy="641085"/>
          </a:xfrm>
          <a:prstGeom prst="rect">
            <a:avLst/>
          </a:prstGeom>
        </p:spPr>
        <p:txBody>
          <a:bodyPr anchor="ctr"/>
          <a:lstStyle>
            <a:lvl1pPr marL="0" algn="l" defTabSz="1219170" rtl="0" eaLnBrk="1" latinLnBrk="1" hangingPunct="1">
              <a:spcBef>
                <a:spcPct val="0"/>
              </a:spcBef>
              <a:buNone/>
              <a:defRPr lang="ko-KR" altLang="en-US" sz="3733" kern="1200" spc="-147" baseline="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땅스부대찌개 Bold" panose="02020603020101020101" pitchFamily="18" charset="-127"/>
                <a:ea typeface="땅스부대찌개 Bold" panose="02020603020101020101" pitchFamily="18" charset="-127"/>
                <a:cs typeface="+mn-cs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15" name="모서리가 둥근 직사각형 14"/>
          <p:cNvSpPr/>
          <p:nvPr userDrawn="1"/>
        </p:nvSpPr>
        <p:spPr>
          <a:xfrm>
            <a:off x="431371" y="1083243"/>
            <a:ext cx="11329259" cy="101600"/>
          </a:xfrm>
          <a:prstGeom prst="roundRect">
            <a:avLst>
              <a:gd name="adj" fmla="val 5000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8" name="그림 7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403"/>
          <a:stretch/>
        </p:blipFill>
        <p:spPr>
          <a:xfrm>
            <a:off x="10180896" y="468166"/>
            <a:ext cx="1579734" cy="516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68189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3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9185109" y="6499821"/>
            <a:ext cx="2844800" cy="3661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r" defTabSz="1219170" rtl="0" eaLnBrk="1" latinLnBrk="1" hangingPunct="1">
              <a:defRPr lang="ko-KR" altLang="en-US" sz="1067" b="1" kern="120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  <a:ea typeface="G마켓 산스 TTF Medium" panose="02000000000000000000" pitchFamily="2" charset="-127"/>
                <a:cs typeface="+mn-cs"/>
              </a:defRPr>
            </a:lvl1pPr>
          </a:lstStyle>
          <a:p>
            <a:fld id="{A73DE1A5-A26C-4936-9EB7-341AE0E9F7ED}" type="slidenum">
              <a:rPr lang="en-US" altLang="ko-KR" smtClean="0"/>
              <a:pPr/>
              <a:t>‹#›</a:t>
            </a:fld>
            <a:endParaRPr 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/>
          </p:nvPr>
        </p:nvSpPr>
        <p:spPr>
          <a:xfrm>
            <a:off x="519761" y="409647"/>
            <a:ext cx="9525376" cy="641085"/>
          </a:xfrm>
          <a:prstGeom prst="rect">
            <a:avLst/>
          </a:prstGeom>
        </p:spPr>
        <p:txBody>
          <a:bodyPr anchor="ctr"/>
          <a:lstStyle>
            <a:lvl1pPr marL="0" algn="l" defTabSz="1219170" rtl="0" eaLnBrk="1" latinLnBrk="1" hangingPunct="1">
              <a:spcBef>
                <a:spcPct val="0"/>
              </a:spcBef>
              <a:buNone/>
              <a:defRPr lang="ko-KR" altLang="en-US" sz="3733" kern="1200" spc="-147" baseline="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땅스부대찌개 Bold" panose="02020603020101020101" pitchFamily="18" charset="-127"/>
                <a:ea typeface="땅스부대찌개 Bold" panose="02020603020101020101" pitchFamily="18" charset="-127"/>
                <a:cs typeface="+mn-cs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모서리가 둥근 직사각형 2"/>
          <p:cNvSpPr/>
          <p:nvPr userDrawn="1"/>
        </p:nvSpPr>
        <p:spPr>
          <a:xfrm>
            <a:off x="519762" y="1412776"/>
            <a:ext cx="11144857" cy="4896544"/>
          </a:xfrm>
          <a:prstGeom prst="roundRect">
            <a:avLst>
              <a:gd name="adj" fmla="val 11065"/>
            </a:avLst>
          </a:prstGeom>
          <a:solidFill>
            <a:schemeClr val="bg1"/>
          </a:solidFill>
          <a:ln w="57150">
            <a:solidFill>
              <a:srgbClr val="F6877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8" name="그림 7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403"/>
          <a:stretch/>
        </p:blipFill>
        <p:spPr>
          <a:xfrm>
            <a:off x="10180896" y="468166"/>
            <a:ext cx="1579734" cy="516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55653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pSp>
        <p:nvGrpSpPr>
          <p:cNvPr id="12" name="Google Shape;22;p37"/>
          <p:cNvGrpSpPr/>
          <p:nvPr userDrawn="1"/>
        </p:nvGrpSpPr>
        <p:grpSpPr>
          <a:xfrm>
            <a:off x="335361" y="487206"/>
            <a:ext cx="3834759" cy="722645"/>
            <a:chOff x="0" y="-699"/>
            <a:chExt cx="2876068" cy="541982"/>
          </a:xfrm>
        </p:grpSpPr>
        <p:sp>
          <p:nvSpPr>
            <p:cNvPr id="13" name="Google Shape;23;p37"/>
            <p:cNvSpPr/>
            <p:nvPr/>
          </p:nvSpPr>
          <p:spPr>
            <a:xfrm>
              <a:off x="0" y="0"/>
              <a:ext cx="2876068" cy="541283"/>
            </a:xfrm>
            <a:custGeom>
              <a:avLst/>
              <a:gdLst/>
              <a:ahLst/>
              <a:cxnLst/>
              <a:rect l="l" t="t" r="r" b="b"/>
              <a:pathLst>
                <a:path w="21600" h="21600" extrusionOk="0">
                  <a:moveTo>
                    <a:pt x="18493" y="0"/>
                  </a:moveTo>
                  <a:lnTo>
                    <a:pt x="3107" y="0"/>
                  </a:lnTo>
                  <a:cubicBezTo>
                    <a:pt x="2222" y="0"/>
                    <a:pt x="1691" y="0"/>
                    <a:pt x="1337" y="651"/>
                  </a:cubicBezTo>
                  <a:cubicBezTo>
                    <a:pt x="773" y="1743"/>
                    <a:pt x="328" y="4106"/>
                    <a:pt x="123" y="7106"/>
                  </a:cubicBezTo>
                  <a:cubicBezTo>
                    <a:pt x="41" y="8290"/>
                    <a:pt x="0" y="9540"/>
                    <a:pt x="0" y="10800"/>
                  </a:cubicBezTo>
                  <a:cubicBezTo>
                    <a:pt x="0" y="12060"/>
                    <a:pt x="41" y="13310"/>
                    <a:pt x="123" y="14494"/>
                  </a:cubicBezTo>
                  <a:cubicBezTo>
                    <a:pt x="328" y="17494"/>
                    <a:pt x="773" y="19857"/>
                    <a:pt x="1337" y="20949"/>
                  </a:cubicBezTo>
                  <a:cubicBezTo>
                    <a:pt x="1691" y="21600"/>
                    <a:pt x="2222" y="21600"/>
                    <a:pt x="3107" y="21600"/>
                  </a:cubicBezTo>
                  <a:lnTo>
                    <a:pt x="18493" y="21600"/>
                  </a:lnTo>
                  <a:cubicBezTo>
                    <a:pt x="19378" y="21600"/>
                    <a:pt x="19909" y="21600"/>
                    <a:pt x="20263" y="20949"/>
                  </a:cubicBezTo>
                  <a:cubicBezTo>
                    <a:pt x="20827" y="19857"/>
                    <a:pt x="21272" y="17494"/>
                    <a:pt x="21477" y="14494"/>
                  </a:cubicBezTo>
                  <a:cubicBezTo>
                    <a:pt x="21559" y="13310"/>
                    <a:pt x="21600" y="12060"/>
                    <a:pt x="21600" y="10800"/>
                  </a:cubicBezTo>
                  <a:cubicBezTo>
                    <a:pt x="21600" y="9540"/>
                    <a:pt x="21559" y="8290"/>
                    <a:pt x="21477" y="7106"/>
                  </a:cubicBezTo>
                  <a:cubicBezTo>
                    <a:pt x="21272" y="4106"/>
                    <a:pt x="20827" y="1743"/>
                    <a:pt x="20263" y="651"/>
                  </a:cubicBezTo>
                  <a:cubicBezTo>
                    <a:pt x="19909" y="0"/>
                    <a:pt x="19378" y="0"/>
                    <a:pt x="18493" y="0"/>
                  </a:cubicBezTo>
                  <a:close/>
                </a:path>
              </a:pathLst>
            </a:custGeom>
            <a:solidFill>
              <a:srgbClr val="F6877E"/>
            </a:solidFill>
            <a:ln>
              <a:noFill/>
            </a:ln>
          </p:spPr>
          <p:txBody>
            <a:bodyPr spcFirstLastPara="1" wrap="square" lIns="45700" tIns="45700" rIns="45700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 dirty="0">
                <a:solidFill>
                  <a:schemeClr val="dk1"/>
                </a:solidFill>
                <a:latin typeface="나눔스퀘어 ExtraBold" panose="020B0600000101010101" pitchFamily="50" charset="-127"/>
                <a:ea typeface="나눔스퀘어 ExtraBold" panose="020B0600000101010101" pitchFamily="50" charset="-127"/>
                <a:cs typeface="Arial"/>
                <a:sym typeface="Arial"/>
              </a:endParaRPr>
            </a:p>
          </p:txBody>
        </p:sp>
        <p:sp>
          <p:nvSpPr>
            <p:cNvPr id="14" name="Google Shape;24;p37"/>
            <p:cNvSpPr txBox="1"/>
            <p:nvPr/>
          </p:nvSpPr>
          <p:spPr>
            <a:xfrm>
              <a:off x="243287" y="-699"/>
              <a:ext cx="2389494" cy="53566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45700" tIns="45700" rIns="45700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altLang="en-US" sz="3333" b="1" dirty="0">
                  <a:solidFill>
                    <a:srgbClr val="FFFFFF"/>
                  </a:solidFill>
                  <a:latin typeface="+mj-ea"/>
                  <a:ea typeface="+mj-ea"/>
                  <a:cs typeface="Arial"/>
                  <a:sym typeface="Arial"/>
                </a:rPr>
                <a:t>초등 미술</a:t>
              </a:r>
              <a:endParaRPr sz="2400" dirty="0">
                <a:latin typeface="+mj-ea"/>
                <a:ea typeface="+mj-ea"/>
              </a:endParaRPr>
            </a:p>
          </p:txBody>
        </p:sp>
      </p:grpSp>
      <p:pic>
        <p:nvPicPr>
          <p:cNvPr id="15" name="그림 14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5158" r="34094" b="5158"/>
          <a:stretch/>
        </p:blipFill>
        <p:spPr>
          <a:xfrm>
            <a:off x="4804125" y="5883883"/>
            <a:ext cx="2346484" cy="764099"/>
          </a:xfrm>
          <a:prstGeom prst="rect">
            <a:avLst/>
          </a:prstGeom>
        </p:spPr>
      </p:pic>
      <p:sp>
        <p:nvSpPr>
          <p:cNvPr id="17" name="모서리가 둥근 직사각형 16"/>
          <p:cNvSpPr/>
          <p:nvPr userDrawn="1"/>
        </p:nvSpPr>
        <p:spPr>
          <a:xfrm>
            <a:off x="431371" y="3500604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8" name="Google Shape;125;p45"/>
          <p:cNvSpPr txBox="1"/>
          <p:nvPr userDrawn="1"/>
        </p:nvSpPr>
        <p:spPr>
          <a:xfrm>
            <a:off x="2927648" y="3591209"/>
            <a:ext cx="6387312" cy="32008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60933" rIns="121900" bIns="60933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0000" b="1" dirty="0">
                <a:latin typeface="+mj-ea"/>
                <a:ea typeface="+mj-ea"/>
                <a:cs typeface="Arial"/>
                <a:sym typeface="Arial"/>
              </a:rPr>
              <a:t>감사합니다</a:t>
            </a:r>
            <a:endParaRPr sz="10000" b="1" dirty="0">
              <a:latin typeface="+mj-ea"/>
              <a:ea typeface="+mj-ea"/>
              <a:cs typeface="Arial"/>
              <a:sym typeface="Arial"/>
            </a:endParaRPr>
          </a:p>
        </p:txBody>
      </p:sp>
      <p:pic>
        <p:nvPicPr>
          <p:cNvPr id="19" name="그림 18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56758" y="1079178"/>
            <a:ext cx="4500000" cy="25337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060020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emuseum.go.kr/detail?cateClass=&amp;cateListFlag=&amp;keyword=%EC%8B%A0%EC%82%AC%EC%9E%84%EB%8B%B9&amp;pageNum=1&amp;rows=9&amp;reltRows=10&amp;sort=&amp;highQualityYn=&amp;isImgExistOp=&amp;mckoglsvOp=&amp;isIntrstMuseumOp=&amp;filedOp=&amp;detailFlag=&amp;dq=&amp;mcSeqNo=&amp;author=&amp;culturalHerNo=&amp;publicType=&amp;detailedDes=&amp;thema=&amp;storySeq=&amp;categoryLv=&amp;categoryCode=&amp;ps01Lv1=&amp;ps01Lv2=&amp;ps01Lv3=&amp;ps06Lv1=&amp;ps06Lv2=&amp;ps08Lv1=&amp;ps08Lv2=&amp;ps09Lv1=&amp;ps09Lv2=&amp;ps09Lv3=&amp;ps09Lv4=&amp;ps12Lv1=&amp;ps15Lv1=&amp;gl05Lv1=&amp;gl05Lv2=&amp;mobileFacetIng=&amp;location=&amp;facet1Lv1=&amp;facet1Lv2=&amp;facet1Lv3=&amp;facet2Lv1=&amp;facet3Lv1=&amp;facet3Lv2=&amp;facet4Lv1=&amp;facet4Lv2=&amp;facet5Lv1=&amp;facet5Lv2=&amp;facet5Lv3=&amp;facet5Lv4=&amp;facet6Lv1=&amp;facet6Lv2=&amp;facet7Lv1Selected=&amp;facet7Lv1=&amp;facet8Lv1=&amp;facet1Lv1Nm=&amp;facet1Lv2Nm=&amp;facet1Lv3Nm=&amp;facet2Lv1Nm=&amp;facet3Lv1Nm=&amp;facet3Lv2Nm=&amp;facet4Lv1Nm=&amp;facet4Lv2Nm=&amp;facet5Lv1Nm=&amp;facet5Lv2Nm=&amp;facet5Lv3Nm=&amp;facet5Lv4Nm=&amp;facet6Lv1Nm=&amp;facet6Lv2Nm=&amp;facet7Lv1Nm=&amp;facet8Lv1Nm=&amp;mcgpyear1=&amp;mcgpyear2=&amp;mcginves=&amp;mcgchalj=&amp;mcgchams=&amp;facetGL27Lv1=&amp;facetGL27Lv2=&amp;facetGL27Lv3=&amp;facetGL27Lv4=&amp;facetGL28Lv1=&amp;facetGL28Lv2=&amp;facetGL29Lv1=&amp;facetGL30Lv1=&amp;facetGL27Lv1Nm=&amp;facetGL27Lv2Nm=&amp;facetGL27Lv3Nm=&amp;facetGL27Lv4Nm=&amp;facetGL28Lv1Nm=&amp;facetGL28Lv2Nm=&amp;facetGL29Lv1Nm=&amp;facetGL30Lv1Nm=&amp;mcgwonpn=&amp;keywordHistory=&amp;showSearchOption=&amp;intrstMuseumCode=&amp;returnUrl=%2FheaderSearch&amp;selectMakerGroup=0&amp;radioSearchCheck=unifiedSearch&amp;headerPs01Lv1=&amp;headerPs01Lv2=&amp;headerPs01Lv3=" TargetMode="External"/><Relationship Id="rId7" Type="http://schemas.openxmlformats.org/officeDocument/2006/relationships/image" Target="../media/image11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10.jpeg"/><Relationship Id="rId5" Type="http://schemas.openxmlformats.org/officeDocument/2006/relationships/image" Target="../media/image9.jpeg"/><Relationship Id="rId4" Type="http://schemas.openxmlformats.org/officeDocument/2006/relationships/image" Target="../media/image8.jp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jpeg"/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Relationship Id="rId9" Type="http://schemas.openxmlformats.org/officeDocument/2006/relationships/hyperlink" Target="https://www.emuseum.go.kr/main" TargetMode="Externa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jpg"/><Relationship Id="rId3" Type="http://schemas.openxmlformats.org/officeDocument/2006/relationships/hyperlink" Target="https://www.emuseum.go.kr/detail?cateClass=&amp;cateListFlag=&amp;keyword=%EB%B3%80%EC%83%81%EB%B2%BD&amp;pageNum=4&amp;rows=9&amp;reltRows=10&amp;sort=&amp;highQualityYn=&amp;isImgExistOp=&amp;mckoglsvOp=&amp;isIntrstMuseumOp=&amp;filedOp=&amp;detailFlag=&amp;dq=&amp;mcSeqNo=&amp;author=&amp;culturalHerNo=&amp;publicType=&amp;detailedDes=&amp;thema=&amp;storySeq=&amp;categoryLv=&amp;categoryCode=&amp;ps01Lv1=&amp;ps01Lv2=&amp;ps01Lv3=&amp;ps06Lv1=&amp;ps06Lv2=&amp;ps08Lv1=&amp;ps08Lv2=&amp;ps09Lv1=&amp;ps09Lv2=&amp;ps09Lv3=&amp;ps09Lv4=&amp;ps12Lv1=&amp;ps15Lv1=&amp;gl05Lv1=&amp;gl05Lv2=&amp;mobileFacetIng=&amp;location=&amp;facet1Lv1=&amp;facet1Lv2=&amp;facet1Lv3=&amp;facet2Lv1=&amp;facet3Lv1=&amp;facet3Lv2=&amp;facet4Lv1=&amp;facet4Lv2=&amp;facet5Lv1=&amp;facet5Lv2=&amp;facet5Lv3=&amp;facet5Lv4=&amp;facet6Lv1=&amp;facet6Lv2=&amp;facet7Lv1Selected=&amp;facet7Lv1=&amp;facet8Lv1=&amp;facet1Lv1Nm=&amp;facet1Lv2Nm=&amp;facet1Lv3Nm=&amp;facet2Lv1Nm=&amp;facet3Lv1Nm=&amp;facet3Lv2Nm=&amp;facet4Lv1Nm=&amp;facet4Lv2Nm=&amp;facet5Lv1Nm=&amp;facet5Lv2Nm=&amp;facet5Lv3Nm=&amp;facet5Lv4Nm=&amp;facet6Lv1Nm=&amp;facet6Lv2Nm=&amp;facet7Lv1Nm=&amp;facet8Lv1Nm=&amp;mcgpyear1=&amp;mcgpyear2=&amp;mcginves=&amp;mcgchalj=&amp;mcgchams=&amp;facetGL27Lv1=&amp;facetGL27Lv2=&amp;facetGL27Lv3=&amp;facetGL27Lv4=&amp;facetGL28Lv1=&amp;facetGL28Lv2=&amp;facetGL29Lv1=&amp;facetGL30Lv1=&amp;facetGL27Lv1Nm=&amp;facetGL27Lv2Nm=&amp;facetGL27Lv3Nm=&amp;facetGL27Lv4Nm=&amp;facetGL28Lv1Nm=&amp;facetGL28Lv2Nm=&amp;facetGL29Lv1Nm=&amp;facetGL30Lv1Nm=&amp;mcgwonpn=&amp;keywordHistory=%EB%B3%80%EC%83%81%EB%B2%BD&amp;showSearchOption=&amp;intrstMuseumCode=&amp;returnUrl=%2FheaderSearch&amp;selectMakerGroup=0&amp;radioSearchCheck=unifiedSearch&amp;headerPs01Lv1=&amp;headerPs01Lv2=&amp;headerPs01Lv3=" TargetMode="External"/><Relationship Id="rId7" Type="http://schemas.openxmlformats.org/officeDocument/2006/relationships/hyperlink" Target="https://www.emuseum.go.kr/detail?cateClass=&amp;cateListFlag=&amp;keyword=%EC%B4%88%EC%B6%A9%EB%8F%84&amp;pageNum=74&amp;rows=9&amp;reltRows=10&amp;sort=&amp;highQualityYn=&amp;isImgExistOp=&amp;mckoglsvOp=&amp;isIntrstMuseumOp=&amp;filedOp=&amp;detailFlag=&amp;dq=&amp;mcSeqNo=&amp;author=&amp;culturalHerNo=&amp;publicType=&amp;detailedDes=&amp;thema=&amp;storySeq=&amp;categoryLv=&amp;categoryCode=&amp;ps01Lv1=&amp;ps01Lv2=&amp;ps01Lv3=&amp;ps06Lv1=&amp;ps06Lv2=&amp;ps08Lv1=&amp;ps08Lv2=&amp;ps09Lv1=&amp;ps09Lv2=&amp;ps09Lv3=&amp;ps09Lv4=&amp;ps12Lv1=&amp;ps15Lv1=&amp;gl05Lv1=&amp;gl05Lv2=&amp;mobileFacetIng=&amp;location=&amp;facet1Lv1=&amp;facet1Lv2=&amp;facet1Lv3=&amp;facet2Lv1=&amp;facet3Lv1=&amp;facet3Lv2=&amp;facet4Lv1=&amp;facet4Lv2=&amp;facet5Lv1=&amp;facet5Lv2=&amp;facet5Lv3=&amp;facet5Lv4=&amp;facet6Lv1=&amp;facet6Lv2=&amp;facet7Lv1Selected=&amp;facet7Lv1=&amp;facet8Lv1=&amp;facet1Lv1Nm=&amp;facet1Lv2Nm=&amp;facet1Lv3Nm=&amp;facet2Lv1Nm=&amp;facet3Lv1Nm=&amp;facet3Lv2Nm=&amp;facet4Lv1Nm=&amp;facet4Lv2Nm=&amp;facet5Lv1Nm=&amp;facet5Lv2Nm=&amp;facet5Lv3Nm=&amp;facet5Lv4Nm=&amp;facet6Lv1Nm=&amp;facet6Lv2Nm=&amp;facet7Lv1Nm=&amp;facet8Lv1Nm=&amp;mcgpyear1=&amp;mcgpyear2=&amp;mcginves=&amp;mcgchalj=&amp;mcgchams=&amp;facetGL27Lv1=&amp;facetGL27Lv2=&amp;facetGL27Lv3=&amp;facetGL27Lv4=&amp;facetGL28Lv1=&amp;facetGL28Lv2=&amp;facetGL29Lv1=&amp;facetGL30Lv1=&amp;facetGL27Lv1Nm=&amp;facetGL27Lv2Nm=&amp;facetGL27Lv3Nm=&amp;facetGL27Lv4Nm=&amp;facetGL28Lv1Nm=&amp;facetGL28Lv2Nm=&amp;facetGL29Lv1Nm=&amp;facetGL30Lv1Nm=&amp;mcgwonpn=&amp;keywordHistory=&amp;showSearchOption=&amp;intrstMuseumCode=&amp;returnUrl=%2FheaderSearch&amp;selectMakerGroup=0&amp;radioSearchCheck=unifiedSearch&amp;headerPs01Lv1=&amp;headerPs01Lv2=&amp;headerPs01Lv3=" TargetMode="Externa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20.jpg"/><Relationship Id="rId5" Type="http://schemas.openxmlformats.org/officeDocument/2006/relationships/hyperlink" Target="https://www.emuseum.go.kr/detail?cateClass=&amp;cateListFlag=&amp;keyword=%EB%82%A8%EA%B3%84%EC%9A%B0&amp;pageNum=4&amp;rows=9&amp;reltRows=10&amp;sort=&amp;highQualityYn=&amp;isImgExistOp=&amp;mckoglsvOp=&amp;isIntrstMuseumOp=&amp;filedOp=&amp;detailFlag=&amp;dq=&amp;mcSeqNo=&amp;author=&amp;culturalHerNo=&amp;publicType=&amp;detailedDes=&amp;thema=&amp;storySeq=&amp;categoryLv=&amp;categoryCode=&amp;ps01Lv1=&amp;ps01Lv2=&amp;ps01Lv3=&amp;ps06Lv1=&amp;ps06Lv2=&amp;ps08Lv1=&amp;ps08Lv2=&amp;ps09Lv1=&amp;ps09Lv2=&amp;ps09Lv3=&amp;ps09Lv4=&amp;ps12Lv1=&amp;ps15Lv1=&amp;gl05Lv1=&amp;gl05Lv2=&amp;mobileFacetIng=&amp;location=&amp;facet1Lv1=&amp;facet1Lv2=&amp;facet1Lv3=&amp;facet2Lv1=&amp;facet3Lv1=&amp;facet3Lv2=&amp;facet4Lv1=&amp;facet4Lv2=&amp;facet5Lv1=&amp;facet5Lv2=&amp;facet5Lv3=&amp;facet5Lv4=&amp;facet6Lv1=&amp;facet6Lv2=&amp;facet7Lv1Selected=&amp;facet7Lv1=&amp;facet8Lv1=&amp;facet1Lv1Nm=&amp;facet1Lv2Nm=&amp;facet1Lv3Nm=&amp;facet2Lv1Nm=&amp;facet3Lv1Nm=&amp;facet3Lv2Nm=&amp;facet4Lv1Nm=&amp;facet4Lv2Nm=&amp;facet5Lv1Nm=&amp;facet5Lv2Nm=&amp;facet5Lv3Nm=&amp;facet5Lv4Nm=&amp;facet6Lv1Nm=&amp;facet6Lv2Nm=&amp;facet7Lv1Nm=&amp;facet8Lv1Nm=&amp;mcgpyear1=&amp;mcgpyear2=&amp;mcginves=&amp;mcgchalj=&amp;mcgchams=&amp;facetGL27Lv1=&amp;facetGL27Lv2=&amp;facetGL27Lv3=&amp;facetGL27Lv4=&amp;facetGL28Lv1=&amp;facetGL28Lv2=&amp;facetGL29Lv1=&amp;facetGL30Lv1=&amp;facetGL27Lv1Nm=&amp;facetGL27Lv2Nm=&amp;facetGL27Lv3Nm=&amp;facetGL27Lv4Nm=&amp;facetGL28Lv1Nm=&amp;facetGL28Lv2Nm=&amp;facetGL29Lv1Nm=&amp;facetGL30Lv1Nm=&amp;mcgwonpn=&amp;keywordHistory=&amp;showSearchOption=&amp;intrstMuseumCode=&amp;returnUrl=%2FheaderSearch&amp;selectMakerGroup=0&amp;radioSearchCheck=unifiedSearch&amp;headerPs01Lv1=&amp;headerPs01Lv2=&amp;headerPs01Lv3=" TargetMode="External"/><Relationship Id="rId4" Type="http://schemas.openxmlformats.org/officeDocument/2006/relationships/image" Target="../media/image19.jp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직사각형 31"/>
          <p:cNvSpPr/>
          <p:nvPr/>
        </p:nvSpPr>
        <p:spPr>
          <a:xfrm>
            <a:off x="512135" y="2644072"/>
            <a:ext cx="7718219" cy="144655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 sz="4400" spc="-200" dirty="0">
                <a:solidFill>
                  <a:srgbClr val="F6877E"/>
                </a:solidFill>
                <a:latin typeface="+mj-ea"/>
                <a:ea typeface="+mj-ea"/>
              </a:rPr>
              <a:t>&lt;</a:t>
            </a:r>
            <a:r>
              <a:rPr lang="ko-KR" altLang="en-US" sz="4400" spc="-200" dirty="0">
                <a:solidFill>
                  <a:srgbClr val="F6877E"/>
                </a:solidFill>
                <a:latin typeface="+mj-ea"/>
                <a:ea typeface="+mj-ea"/>
              </a:rPr>
              <a:t>동물화</a:t>
            </a:r>
            <a:r>
              <a:rPr lang="en-US" altLang="ko-KR" sz="4400" spc="-200" dirty="0">
                <a:solidFill>
                  <a:srgbClr val="F6877E"/>
                </a:solidFill>
                <a:latin typeface="+mj-ea"/>
                <a:ea typeface="+mj-ea"/>
              </a:rPr>
              <a:t>/</a:t>
            </a:r>
            <a:r>
              <a:rPr lang="ko-KR" altLang="en-US" sz="4400" spc="-200" dirty="0">
                <a:solidFill>
                  <a:srgbClr val="F6877E"/>
                </a:solidFill>
                <a:latin typeface="+mj-ea"/>
                <a:ea typeface="+mj-ea"/>
              </a:rPr>
              <a:t>식물화</a:t>
            </a:r>
            <a:r>
              <a:rPr lang="en-US" altLang="ko-KR" sz="4400" spc="-200" dirty="0">
                <a:solidFill>
                  <a:srgbClr val="F6877E"/>
                </a:solidFill>
                <a:latin typeface="+mj-ea"/>
                <a:ea typeface="+mj-ea"/>
              </a:rPr>
              <a:t>&gt;</a:t>
            </a:r>
          </a:p>
          <a:p>
            <a:pPr lvl="0">
              <a:defRPr/>
            </a:pPr>
            <a:r>
              <a:rPr lang="ko-KR" altLang="en-US" sz="4400" spc="-200" dirty="0">
                <a:solidFill>
                  <a:srgbClr val="F6877E"/>
                </a:solidFill>
                <a:latin typeface="+mj-ea"/>
                <a:ea typeface="+mj-ea"/>
              </a:rPr>
              <a:t>정교화 놀이</a:t>
            </a:r>
          </a:p>
        </p:txBody>
      </p:sp>
      <p:sp>
        <p:nvSpPr>
          <p:cNvPr id="2" name="모서리가 둥근 직사각형 1"/>
          <p:cNvSpPr/>
          <p:nvPr/>
        </p:nvSpPr>
        <p:spPr>
          <a:xfrm>
            <a:off x="431371" y="4115329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5" name="제목 1"/>
          <p:cNvSpPr txBox="1">
            <a:spLocks/>
          </p:cNvSpPr>
          <p:nvPr/>
        </p:nvSpPr>
        <p:spPr>
          <a:xfrm>
            <a:off x="431319" y="577123"/>
            <a:ext cx="3552447" cy="547620"/>
          </a:xfrm>
          <a:prstGeom prst="rect">
            <a:avLst/>
          </a:prstGeom>
        </p:spPr>
        <p:txBody>
          <a:bodyPr vert="horz" lIns="121920" tIns="60960" rIns="121920" bIns="60960" rtlCol="0" anchor="b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8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ko-KR" altLang="en-US" sz="2667" dirty="0">
                <a:solidFill>
                  <a:schemeClr val="bg1"/>
                </a:solidFill>
              </a:rPr>
              <a:t>초등 미술</a:t>
            </a:r>
          </a:p>
        </p:txBody>
      </p:sp>
      <p:pic>
        <p:nvPicPr>
          <p:cNvPr id="16" name="Google Shape;26;p37" descr="이미지"/>
          <p:cNvPicPr preferRelativeResize="0"/>
          <p:nvPr/>
        </p:nvPicPr>
        <p:blipFill rotWithShape="1">
          <a:blip r:embed="rId3">
            <a:alphaModFix/>
            <a:duotone>
              <a:schemeClr val="accent2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5423925" y="1640745"/>
            <a:ext cx="2067867" cy="1385235"/>
          </a:xfrm>
          <a:prstGeom prst="rect">
            <a:avLst/>
          </a:prstGeom>
          <a:noFill/>
          <a:ln>
            <a:noFill/>
          </a:ln>
        </p:spPr>
      </p:pic>
      <p:sp>
        <p:nvSpPr>
          <p:cNvPr id="17" name="Google Shape;131;p1"/>
          <p:cNvSpPr txBox="1">
            <a:spLocks/>
          </p:cNvSpPr>
          <p:nvPr/>
        </p:nvSpPr>
        <p:spPr>
          <a:xfrm>
            <a:off x="5185669" y="2018557"/>
            <a:ext cx="2542512" cy="6423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60933" rIns="121900" bIns="60933" anchor="t" anchorCtr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spcBef>
                <a:spcPts val="0"/>
              </a:spcBef>
              <a:buClr>
                <a:schemeClr val="lt1"/>
              </a:buClr>
              <a:buSzPts val="2800"/>
              <a:buNone/>
            </a:pPr>
            <a:r>
              <a:rPr lang="en-US" altLang="ko-KR" sz="3733" dirty="0">
                <a:solidFill>
                  <a:schemeClr val="bg1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11차시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796260" y="4366332"/>
            <a:ext cx="7863841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r">
              <a:lnSpc>
                <a:spcPct val="90000"/>
              </a:lnSpc>
              <a:defRPr/>
            </a:pPr>
            <a:r>
              <a:rPr lang="ko-KR" altLang="en-US" sz="2000" b="0" dirty="0" err="1">
                <a:solidFill>
                  <a:srgbClr val="8A8A8A"/>
                </a:solidFill>
                <a:latin typeface="Noto Sans KR Medium"/>
              </a:rPr>
              <a:t>아트풀</a:t>
            </a:r>
            <a:r>
              <a:rPr lang="ko-KR" altLang="en-US" sz="2000" b="0" dirty="0">
                <a:solidFill>
                  <a:srgbClr val="8A8A8A"/>
                </a:solidFill>
                <a:latin typeface="Noto Sans KR Medium"/>
              </a:rPr>
              <a:t> </a:t>
            </a:r>
            <a:r>
              <a:rPr lang="ko-KR" altLang="en-US" sz="2000" b="0" dirty="0" err="1">
                <a:solidFill>
                  <a:srgbClr val="8A8A8A"/>
                </a:solidFill>
                <a:latin typeface="Noto Sans KR Medium"/>
              </a:rPr>
              <a:t>씽킹</a:t>
            </a:r>
            <a:r>
              <a:rPr lang="en-US" altLang="ko-KR" sz="2000" b="0" dirty="0">
                <a:solidFill>
                  <a:srgbClr val="8A8A8A"/>
                </a:solidFill>
                <a:latin typeface="Noto Sans KR Medium"/>
              </a:rPr>
              <a:t>(Artful Thinking)</a:t>
            </a:r>
            <a:r>
              <a:rPr lang="ko-KR" altLang="en-US" sz="2000" b="0" dirty="0">
                <a:solidFill>
                  <a:srgbClr val="8A8A8A"/>
                </a:solidFill>
                <a:latin typeface="Noto Sans KR Medium"/>
              </a:rPr>
              <a:t>을 활용한 미술감상</a:t>
            </a:r>
            <a:endParaRPr lang="en-US" altLang="ko-KR" sz="2000" b="0" dirty="0">
              <a:solidFill>
                <a:srgbClr val="8A8A8A"/>
              </a:solidFill>
              <a:latin typeface="Noto Sans KR Medium"/>
            </a:endParaRPr>
          </a:p>
        </p:txBody>
      </p:sp>
    </p:spTree>
    <p:extLst>
      <p:ext uri="{BB962C8B-B14F-4D97-AF65-F5344CB8AC3E}">
        <p14:creationId xmlns:p14="http://schemas.microsoft.com/office/powerpoint/2010/main" val="27461746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2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lvl="0">
              <a:defRPr/>
            </a:pP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일곱 번</a:t>
            </a:r>
            <a:r>
              <a:rPr lang="ko-KR" altLang="en-US" sz="2222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의 생각, 그 중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 오늘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강좌</a:t>
            </a:r>
          </a:p>
        </p:txBody>
      </p:sp>
      <p:grpSp>
        <p:nvGrpSpPr>
          <p:cNvPr id="35" name="그룹 34"/>
          <p:cNvGrpSpPr/>
          <p:nvPr/>
        </p:nvGrpSpPr>
        <p:grpSpPr>
          <a:xfrm>
            <a:off x="643904" y="1422857"/>
            <a:ext cx="6479418" cy="400110"/>
            <a:chOff x="882304" y="1470196"/>
            <a:chExt cx="4859563" cy="300082"/>
          </a:xfrm>
        </p:grpSpPr>
        <p:grpSp>
          <p:nvGrpSpPr>
            <p:cNvPr id="36" name="그룹 35"/>
            <p:cNvGrpSpPr/>
            <p:nvPr/>
          </p:nvGrpSpPr>
          <p:grpSpPr>
            <a:xfrm>
              <a:off x="882304" y="1487958"/>
              <a:ext cx="255983" cy="253915"/>
              <a:chOff x="853872" y="1465626"/>
              <a:chExt cx="318648" cy="316074"/>
            </a:xfrm>
          </p:grpSpPr>
          <p:sp>
            <p:nvSpPr>
              <p:cNvPr id="42" name="모서리가 둥근 직사각형 41"/>
              <p:cNvSpPr/>
              <p:nvPr/>
            </p:nvSpPr>
            <p:spPr>
              <a:xfrm>
                <a:off x="853872" y="1487438"/>
                <a:ext cx="289128" cy="289128"/>
              </a:xfrm>
              <a:prstGeom prst="roundRect">
                <a:avLst>
                  <a:gd name="adj" fmla="val 16667"/>
                </a:avLst>
              </a:prstGeom>
              <a:solidFill>
                <a:srgbClr val="F6877E"/>
              </a:solidFill>
              <a:ln w="12700">
                <a:solidFill>
                  <a:schemeClr val="tx1"/>
                </a:solidFill>
              </a:ln>
              <a:effectLst>
                <a:outerShdw dist="38100" dir="2700000" algn="tl" rotWithShape="0">
                  <a:prstClr val="black">
                    <a:alpha val="1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lvl="0" algn="ctr">
                  <a:defRPr/>
                </a:pPr>
                <a:endParaRPr lang="ko-KR" altLang="en-US" sz="1867">
                  <a:latin typeface="+mj-ea"/>
                  <a:ea typeface="+mj-ea"/>
                </a:endParaRPr>
              </a:p>
            </p:txBody>
          </p:sp>
          <p:sp>
            <p:nvSpPr>
              <p:cNvPr id="43" name="TextBox 42"/>
              <p:cNvSpPr txBox="1"/>
              <p:nvPr/>
            </p:nvSpPr>
            <p:spPr>
              <a:xfrm>
                <a:off x="1000055" y="1465626"/>
                <a:ext cx="172465" cy="316074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lvl="0" algn="r">
                  <a:defRPr/>
                </a:pPr>
                <a:endParaRPr lang="ko-KR" altLang="en-US" sz="1600" dirty="0">
                  <a:latin typeface="+mj-ea"/>
                  <a:ea typeface="+mj-ea"/>
                </a:endParaRPr>
              </a:p>
            </p:txBody>
          </p:sp>
        </p:grpSp>
        <p:sp>
          <p:nvSpPr>
            <p:cNvPr id="41" name="TextBox 40"/>
            <p:cNvSpPr txBox="1"/>
            <p:nvPr/>
          </p:nvSpPr>
          <p:spPr>
            <a:xfrm>
              <a:off x="1139405" y="1470196"/>
              <a:ext cx="4602462" cy="300082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lvl="0">
                <a:defRPr/>
              </a:pPr>
              <a:r>
                <a:rPr lang="ko-KR" altLang="en-US" sz="2000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우리 옛 그림</a:t>
              </a:r>
              <a:r>
                <a:rPr lang="ko-KR" altLang="en-US" sz="1200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을 </a:t>
              </a:r>
              <a:r>
                <a:rPr lang="ko-KR" altLang="en-US" sz="2000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 </a:t>
              </a:r>
              <a:r>
                <a:rPr lang="ko-KR" altLang="en-US" sz="2000" dirty="0" err="1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아트풀</a:t>
              </a:r>
              <a:r>
                <a:rPr lang="ko-KR" altLang="en-US" sz="2000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 </a:t>
              </a:r>
              <a:r>
                <a:rPr lang="ko-KR" altLang="en-US" sz="2000" dirty="0" err="1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씽킹</a:t>
              </a:r>
              <a:r>
                <a:rPr lang="ko-KR" altLang="en-US" sz="2000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 </a:t>
              </a:r>
              <a:r>
                <a:rPr lang="ko-KR" altLang="en-US" sz="1200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방법을 활용하여</a:t>
              </a:r>
              <a:r>
                <a:rPr lang="ko-KR" altLang="en-US" sz="2000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 감상해봅시다.</a:t>
              </a:r>
            </a:p>
          </p:txBody>
        </p:sp>
      </p:grpSp>
      <p:sp>
        <p:nvSpPr>
          <p:cNvPr id="97" name="Oval 96"/>
          <p:cNvSpPr/>
          <p:nvPr/>
        </p:nvSpPr>
        <p:spPr>
          <a:xfrm>
            <a:off x="7322898" y="3011898"/>
            <a:ext cx="1024128" cy="1024128"/>
          </a:xfrm>
          <a:prstGeom prst="ellipse">
            <a:avLst/>
          </a:prstGeom>
          <a:solidFill>
            <a:srgbClr val="F68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lvl="0" algn="ctr">
              <a:defRPr/>
            </a:pPr>
            <a:r>
              <a:rPr lang="ko-KR" altLang="en-US" sz="1800" b="1" dirty="0">
                <a:solidFill>
                  <a:schemeClr val="bg1"/>
                </a:solidFill>
                <a:latin typeface="고양덕양 B"/>
                <a:ea typeface="고양덕양 B"/>
              </a:rPr>
              <a:t>동물화식물화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7322898" y="4109178"/>
            <a:ext cx="1024128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ctr">
              <a:lnSpc>
                <a:spcPct val="90000"/>
              </a:lnSpc>
              <a:defRPr/>
            </a:pPr>
            <a:r>
              <a:rPr lang="en-US" sz="2000" b="1" dirty="0">
                <a:solidFill>
                  <a:srgbClr val="F6877E"/>
                </a:solidFill>
                <a:latin typeface="고양덕양 B"/>
                <a:ea typeface="고양덕양 B"/>
              </a:rPr>
              <a:t>5</a:t>
            </a:r>
            <a:r>
              <a:rPr sz="2000" b="1" dirty="0">
                <a:solidFill>
                  <a:srgbClr val="F6877E"/>
                </a:solidFill>
                <a:latin typeface="고양덕양 B"/>
                <a:ea typeface="고양덕양 B"/>
              </a:rPr>
              <a:t>차시</a:t>
            </a:r>
          </a:p>
        </p:txBody>
      </p:sp>
      <p:sp>
        <p:nvSpPr>
          <p:cNvPr id="99" name="Oval 98"/>
          <p:cNvSpPr/>
          <p:nvPr/>
        </p:nvSpPr>
        <p:spPr>
          <a:xfrm>
            <a:off x="2220545" y="3003064"/>
            <a:ext cx="1024128" cy="1024128"/>
          </a:xfrm>
          <a:prstGeom prst="ellipse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lvl="0" algn="ctr">
              <a:defRPr/>
            </a:pPr>
            <a:r>
              <a:rPr lang="ko-KR" altLang="en-US" b="1" dirty="0">
                <a:solidFill>
                  <a:srgbClr val="8A8A8A"/>
                </a:solidFill>
                <a:latin typeface="고양덕양 B"/>
                <a:ea typeface="고양덕양 B"/>
              </a:rPr>
              <a:t>민화</a:t>
            </a:r>
            <a:endParaRPr b="1" dirty="0">
              <a:solidFill>
                <a:srgbClr val="8A8A8A"/>
              </a:solidFill>
              <a:latin typeface="고양덕양 B"/>
              <a:ea typeface="고양덕양 B"/>
            </a:endParaRPr>
          </a:p>
        </p:txBody>
      </p:sp>
      <p:sp>
        <p:nvSpPr>
          <p:cNvPr id="100" name="TextBox 99"/>
          <p:cNvSpPr txBox="1"/>
          <p:nvPr/>
        </p:nvSpPr>
        <p:spPr>
          <a:xfrm>
            <a:off x="2220545" y="4100344"/>
            <a:ext cx="1024128" cy="2712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ctr">
              <a:lnSpc>
                <a:spcPct val="90000"/>
              </a:lnSpc>
              <a:defRPr/>
            </a:pPr>
            <a:r>
              <a:rPr sz="2000" b="0" dirty="0">
                <a:solidFill>
                  <a:srgbClr val="8A8A8A"/>
                </a:solidFill>
                <a:latin typeface="고양덕양 B"/>
                <a:ea typeface="고양덕양 B"/>
              </a:rPr>
              <a:t>2차시</a:t>
            </a:r>
          </a:p>
        </p:txBody>
      </p:sp>
      <p:sp>
        <p:nvSpPr>
          <p:cNvPr id="101" name="Oval 100"/>
          <p:cNvSpPr/>
          <p:nvPr/>
        </p:nvSpPr>
        <p:spPr>
          <a:xfrm>
            <a:off x="3921329" y="3003064"/>
            <a:ext cx="1024128" cy="1024128"/>
          </a:xfrm>
          <a:prstGeom prst="ellipse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lvl="0" algn="ctr">
              <a:defRPr/>
            </a:pPr>
            <a:r>
              <a:rPr lang="ko-KR" altLang="en-US" b="1" dirty="0">
                <a:solidFill>
                  <a:srgbClr val="8A8A8A"/>
                </a:solidFill>
                <a:latin typeface="고양덕양 B"/>
                <a:ea typeface="고양덕양 B"/>
              </a:rPr>
              <a:t>풍속화</a:t>
            </a:r>
            <a:endParaRPr b="1" dirty="0">
              <a:solidFill>
                <a:srgbClr val="8A8A8A"/>
              </a:solidFill>
              <a:latin typeface="고양덕양 B"/>
              <a:ea typeface="고양덕양 B"/>
            </a:endParaRPr>
          </a:p>
        </p:txBody>
      </p:sp>
      <p:sp>
        <p:nvSpPr>
          <p:cNvPr id="102" name="TextBox 101"/>
          <p:cNvSpPr txBox="1"/>
          <p:nvPr/>
        </p:nvSpPr>
        <p:spPr>
          <a:xfrm>
            <a:off x="3921329" y="4100344"/>
            <a:ext cx="1024128" cy="2712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ctr">
              <a:lnSpc>
                <a:spcPct val="90000"/>
              </a:lnSpc>
              <a:defRPr/>
            </a:pPr>
            <a:r>
              <a:rPr sz="2000" b="0">
                <a:solidFill>
                  <a:srgbClr val="8A8A8A"/>
                </a:solidFill>
                <a:latin typeface="고양덕양 B"/>
                <a:ea typeface="고양덕양 B"/>
              </a:rPr>
              <a:t>3차시</a:t>
            </a:r>
          </a:p>
        </p:txBody>
      </p:sp>
      <p:sp>
        <p:nvSpPr>
          <p:cNvPr id="105" name="Oval 104"/>
          <p:cNvSpPr/>
          <p:nvPr/>
        </p:nvSpPr>
        <p:spPr>
          <a:xfrm>
            <a:off x="798749" y="2984901"/>
            <a:ext cx="1024128" cy="1024128"/>
          </a:xfrm>
          <a:prstGeom prst="ellipse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lvl="0" algn="ctr">
              <a:defRPr/>
            </a:pPr>
            <a:r>
              <a:rPr lang="ko-KR" altLang="en-US" sz="1600" b="1" dirty="0">
                <a:solidFill>
                  <a:srgbClr val="8A8A8A"/>
                </a:solidFill>
                <a:latin typeface="고양덕양 B"/>
                <a:ea typeface="고양덕양 B"/>
              </a:rPr>
              <a:t>산수화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839000" y="4100344"/>
            <a:ext cx="1024128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ctr">
              <a:lnSpc>
                <a:spcPct val="90000"/>
              </a:lnSpc>
              <a:defRPr/>
            </a:pPr>
            <a:r>
              <a:rPr lang="en-US" sz="2000" b="0" dirty="0">
                <a:solidFill>
                  <a:srgbClr val="8A8A8A"/>
                </a:solidFill>
                <a:latin typeface="고양덕양 B"/>
                <a:ea typeface="고양덕양 B"/>
              </a:rPr>
              <a:t>1</a:t>
            </a:r>
            <a:r>
              <a:rPr sz="2000" b="0" dirty="0">
                <a:solidFill>
                  <a:srgbClr val="8A8A8A"/>
                </a:solidFill>
                <a:latin typeface="고양덕양 B"/>
                <a:ea typeface="고양덕양 B"/>
              </a:rPr>
              <a:t>차시</a:t>
            </a:r>
          </a:p>
        </p:txBody>
      </p:sp>
      <p:sp>
        <p:nvSpPr>
          <p:cNvPr id="107" name="Oval 106"/>
          <p:cNvSpPr/>
          <p:nvPr/>
        </p:nvSpPr>
        <p:spPr>
          <a:xfrm>
            <a:off x="5583936" y="2984901"/>
            <a:ext cx="1024128" cy="1024128"/>
          </a:xfrm>
          <a:prstGeom prst="ellipse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lvl="0" algn="ctr">
              <a:defRPr/>
            </a:pPr>
            <a:r>
              <a:rPr lang="ko-KR" altLang="en-US" b="1" dirty="0">
                <a:solidFill>
                  <a:srgbClr val="8A8A8A"/>
                </a:solidFill>
                <a:latin typeface="고양덕양 B"/>
                <a:ea typeface="고양덕양 B"/>
              </a:rPr>
              <a:t>인물화</a:t>
            </a:r>
            <a:endParaRPr b="1" dirty="0">
              <a:solidFill>
                <a:srgbClr val="8A8A8A"/>
              </a:solidFill>
              <a:latin typeface="고양덕양 B"/>
              <a:ea typeface="고양덕양 B"/>
            </a:endParaRPr>
          </a:p>
        </p:txBody>
      </p:sp>
      <p:sp>
        <p:nvSpPr>
          <p:cNvPr id="108" name="TextBox 107"/>
          <p:cNvSpPr txBox="1"/>
          <p:nvPr/>
        </p:nvSpPr>
        <p:spPr>
          <a:xfrm>
            <a:off x="5583936" y="4082181"/>
            <a:ext cx="1024128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ctr">
              <a:lnSpc>
                <a:spcPct val="90000"/>
              </a:lnSpc>
              <a:defRPr/>
            </a:pPr>
            <a:r>
              <a:rPr lang="en-US" sz="2000" dirty="0">
                <a:solidFill>
                  <a:srgbClr val="8A8A8A"/>
                </a:solidFill>
                <a:latin typeface="고양덕양 B"/>
                <a:ea typeface="고양덕양 B"/>
              </a:rPr>
              <a:t>4</a:t>
            </a:r>
            <a:r>
              <a:rPr sz="2000" b="0" dirty="0">
                <a:solidFill>
                  <a:srgbClr val="8A8A8A"/>
                </a:solidFill>
                <a:latin typeface="고양덕양 B"/>
                <a:ea typeface="고양덕양 B"/>
              </a:rPr>
              <a:t>차시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43904" y="4976890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sz="2000" b="1" dirty="0" err="1">
                <a:solidFill>
                  <a:srgbClr val="F6877E"/>
                </a:solidFill>
                <a:latin typeface="고양덕양 B"/>
                <a:ea typeface="고양덕양 B"/>
              </a:rPr>
              <a:t>오늘의</a:t>
            </a:r>
            <a:r>
              <a:rPr sz="2000" b="1" dirty="0">
                <a:solidFill>
                  <a:srgbClr val="F6877E"/>
                </a:solidFill>
                <a:latin typeface="고양덕양 B"/>
                <a:ea typeface="고양덕양 B"/>
              </a:rPr>
              <a:t> </a:t>
            </a:r>
            <a:r>
              <a:rPr sz="2000" b="1" dirty="0" err="1">
                <a:solidFill>
                  <a:srgbClr val="F6877E"/>
                </a:solidFill>
                <a:latin typeface="고양덕양 B"/>
                <a:ea typeface="고양덕양 B"/>
              </a:rPr>
              <a:t>성취기준</a:t>
            </a:r>
            <a:endParaRPr sz="2000" b="1" dirty="0">
              <a:solidFill>
                <a:srgbClr val="F6877E"/>
              </a:solidFill>
              <a:latin typeface="고양덕양 B"/>
              <a:ea typeface="고양덕양 B"/>
            </a:endParaRPr>
          </a:p>
        </p:txBody>
      </p:sp>
      <p:sp>
        <p:nvSpPr>
          <p:cNvPr id="110" name="TextBox 109"/>
          <p:cNvSpPr txBox="1"/>
          <p:nvPr/>
        </p:nvSpPr>
        <p:spPr>
          <a:xfrm>
            <a:off x="643904" y="5338242"/>
            <a:ext cx="10881360" cy="83099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[6</a:t>
            </a:r>
            <a:r>
              <a:rPr lang="ko-KR" altLang="en-US" sz="2000" b="0" dirty="0">
                <a:solidFill>
                  <a:srgbClr val="3B3B3B"/>
                </a:solidFill>
                <a:latin typeface="고양덕양 B"/>
                <a:ea typeface="고양덕양 B"/>
              </a:rPr>
              <a:t>미</a:t>
            </a: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03-01] </a:t>
            </a:r>
            <a:r>
              <a:rPr lang="ko-KR" altLang="en-US" sz="2000" b="0" dirty="0">
                <a:solidFill>
                  <a:srgbClr val="3B3B3B"/>
                </a:solidFill>
                <a:latin typeface="고양덕양 B"/>
                <a:ea typeface="고양덕양 B"/>
              </a:rPr>
              <a:t>미술 작품을 작품이 만들어진 시대적</a:t>
            </a: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, </a:t>
            </a:r>
            <a:r>
              <a:rPr lang="ko-KR" altLang="en-US" sz="2000" b="0" dirty="0">
                <a:solidFill>
                  <a:srgbClr val="3B3B3B"/>
                </a:solidFill>
                <a:latin typeface="고양덕양 B"/>
                <a:ea typeface="고양덕양 B"/>
              </a:rPr>
              <a:t>지역적 배경 등과 연결하여 이해할 수 있다</a:t>
            </a: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.                                         [6</a:t>
            </a:r>
            <a:r>
              <a:rPr lang="ko-KR" altLang="en-US" sz="2000" b="0" dirty="0">
                <a:solidFill>
                  <a:srgbClr val="3B3B3B"/>
                </a:solidFill>
                <a:latin typeface="고양덕양 B"/>
                <a:ea typeface="고양덕양 B"/>
              </a:rPr>
              <a:t>미</a:t>
            </a: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03-02] </a:t>
            </a:r>
            <a:r>
              <a:rPr lang="ko-KR" altLang="en-US" sz="2000" b="0" dirty="0">
                <a:solidFill>
                  <a:srgbClr val="3B3B3B"/>
                </a:solidFill>
                <a:latin typeface="고양덕양 B"/>
                <a:ea typeface="고양덕양 B"/>
              </a:rPr>
              <a:t>미술 작품의 내용과 형식을 분석하여 작품의 특징을 설명할 수 있다</a:t>
            </a: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.</a:t>
            </a:r>
          </a:p>
          <a:p>
            <a:pPr lvl="0" algn="l">
              <a:lnSpc>
                <a:spcPct val="90000"/>
              </a:lnSpc>
              <a:defRPr/>
            </a:pP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[6</a:t>
            </a:r>
            <a:r>
              <a:rPr lang="ko-KR" altLang="en-US" sz="2000" b="0" dirty="0">
                <a:solidFill>
                  <a:srgbClr val="3B3B3B"/>
                </a:solidFill>
                <a:latin typeface="고양덕양 B"/>
                <a:ea typeface="고양덕양 B"/>
              </a:rPr>
              <a:t>미</a:t>
            </a: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03-04] </a:t>
            </a:r>
            <a:r>
              <a:rPr lang="ko-KR" altLang="en-US" sz="2000" b="0" dirty="0">
                <a:solidFill>
                  <a:srgbClr val="3B3B3B"/>
                </a:solidFill>
                <a:latin typeface="고양덕양 B"/>
                <a:ea typeface="고양덕양 B"/>
              </a:rPr>
              <a:t>다양한 방법을 활용하여 작품을 감상하며 작품에 관한 서로 다른 관점을 존중할 수 있다</a:t>
            </a: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.</a:t>
            </a:r>
            <a:endParaRPr sz="2000" b="0" dirty="0">
              <a:solidFill>
                <a:srgbClr val="3B3B3B"/>
              </a:solidFill>
              <a:latin typeface="고양덕양 B"/>
              <a:ea typeface="고양덕양 B"/>
            </a:endParaRPr>
          </a:p>
        </p:txBody>
      </p:sp>
      <p:sp>
        <p:nvSpPr>
          <p:cNvPr id="4" name="Oval 98">
            <a:extLst>
              <a:ext uri="{FF2B5EF4-FFF2-40B4-BE49-F238E27FC236}">
                <a16:creationId xmlns:a16="http://schemas.microsoft.com/office/drawing/2014/main" id="{02F26344-5359-4AC2-BE12-32CE0D8638B4}"/>
              </a:ext>
            </a:extLst>
          </p:cNvPr>
          <p:cNvSpPr/>
          <p:nvPr/>
        </p:nvSpPr>
        <p:spPr>
          <a:xfrm>
            <a:off x="9137904" y="3003064"/>
            <a:ext cx="1024128" cy="1024128"/>
          </a:xfrm>
          <a:prstGeom prst="ellipse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lvl="0" algn="ctr">
              <a:defRPr/>
            </a:pPr>
            <a:r>
              <a:rPr lang="ko-KR" altLang="en-US" b="1" dirty="0">
                <a:solidFill>
                  <a:srgbClr val="8A8A8A"/>
                </a:solidFill>
                <a:latin typeface="고양덕양 B"/>
                <a:ea typeface="고양덕양 B"/>
              </a:rPr>
              <a:t>기록화</a:t>
            </a:r>
            <a:endParaRPr b="1" dirty="0">
              <a:solidFill>
                <a:srgbClr val="8A8A8A"/>
              </a:solidFill>
              <a:latin typeface="고양덕양 B"/>
              <a:ea typeface="고양덕양 B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0D248A6-A714-DF93-F707-004EF684492B}"/>
              </a:ext>
            </a:extLst>
          </p:cNvPr>
          <p:cNvSpPr txBox="1"/>
          <p:nvPr/>
        </p:nvSpPr>
        <p:spPr>
          <a:xfrm>
            <a:off x="9137904" y="4122561"/>
            <a:ext cx="1024128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ctr">
              <a:lnSpc>
                <a:spcPct val="90000"/>
              </a:lnSpc>
              <a:defRPr/>
            </a:pPr>
            <a:r>
              <a:rPr lang="en-US" sz="2000" b="0" dirty="0">
                <a:solidFill>
                  <a:srgbClr val="8A8A8A"/>
                </a:solidFill>
                <a:latin typeface="고양덕양 B"/>
                <a:ea typeface="고양덕양 B"/>
              </a:rPr>
              <a:t>6</a:t>
            </a:r>
            <a:r>
              <a:rPr sz="2000" b="0" dirty="0">
                <a:solidFill>
                  <a:srgbClr val="8A8A8A"/>
                </a:solidFill>
                <a:latin typeface="고양덕양 B"/>
                <a:ea typeface="고양덕양 B"/>
              </a:rPr>
              <a:t>차시</a:t>
            </a:r>
          </a:p>
        </p:txBody>
      </p:sp>
      <p:sp>
        <p:nvSpPr>
          <p:cNvPr id="6" name="Oval 98">
            <a:extLst>
              <a:ext uri="{FF2B5EF4-FFF2-40B4-BE49-F238E27FC236}">
                <a16:creationId xmlns:a16="http://schemas.microsoft.com/office/drawing/2014/main" id="{0A4ED983-2E68-3877-C49F-EFB2AE2ADEEC}"/>
              </a:ext>
            </a:extLst>
          </p:cNvPr>
          <p:cNvSpPr/>
          <p:nvPr/>
        </p:nvSpPr>
        <p:spPr>
          <a:xfrm>
            <a:off x="10800511" y="3002098"/>
            <a:ext cx="1024128" cy="1024128"/>
          </a:xfrm>
          <a:prstGeom prst="ellipse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lvl="0" algn="ctr">
              <a:defRPr/>
            </a:pPr>
            <a:r>
              <a:rPr lang="ko-KR" altLang="en-US" b="1" dirty="0">
                <a:solidFill>
                  <a:srgbClr val="8A8A8A"/>
                </a:solidFill>
                <a:latin typeface="고양덕양 B"/>
                <a:ea typeface="고양덕양 B"/>
              </a:rPr>
              <a:t>마무리</a:t>
            </a:r>
            <a:endParaRPr b="1" dirty="0">
              <a:solidFill>
                <a:srgbClr val="8A8A8A"/>
              </a:solidFill>
              <a:latin typeface="고양덕양 B"/>
              <a:ea typeface="고양덕양 B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5DC0B1F-03BB-D88E-7828-B3657EA91265}"/>
              </a:ext>
            </a:extLst>
          </p:cNvPr>
          <p:cNvSpPr txBox="1"/>
          <p:nvPr/>
        </p:nvSpPr>
        <p:spPr>
          <a:xfrm>
            <a:off x="10839387" y="4109178"/>
            <a:ext cx="1024128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ctr">
              <a:lnSpc>
                <a:spcPct val="90000"/>
              </a:lnSpc>
              <a:defRPr/>
            </a:pPr>
            <a:r>
              <a:rPr lang="en-US" sz="2000" dirty="0">
                <a:solidFill>
                  <a:srgbClr val="8A8A8A"/>
                </a:solidFill>
                <a:latin typeface="고양덕양 B"/>
                <a:ea typeface="고양덕양 B"/>
              </a:rPr>
              <a:t>7</a:t>
            </a:r>
            <a:r>
              <a:rPr sz="2000" b="0" dirty="0">
                <a:solidFill>
                  <a:srgbClr val="8A8A8A"/>
                </a:solidFill>
                <a:latin typeface="고양덕양 B"/>
                <a:ea typeface="고양덕양 B"/>
              </a:rPr>
              <a:t>차시</a:t>
            </a:r>
          </a:p>
        </p:txBody>
      </p:sp>
    </p:spTree>
    <p:extLst>
      <p:ext uri="{BB962C8B-B14F-4D97-AF65-F5344CB8AC3E}">
        <p14:creationId xmlns:p14="http://schemas.microsoft.com/office/powerpoint/2010/main" val="42468317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3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en-US" altLang="ko-KR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‘</a:t>
            </a:r>
            <a:r>
              <a:rPr lang="ko-KR" altLang="en-US" b="1" dirty="0" err="1">
                <a:solidFill>
                  <a:schemeClr val="accent1">
                    <a:alpha val="99000"/>
                  </a:schemeClr>
                </a:solidFill>
                <a:latin typeface="+mj-ea"/>
                <a:ea typeface="+mj-ea"/>
              </a:rPr>
              <a:t>아트풀</a:t>
            </a:r>
            <a:r>
              <a:rPr lang="ko-KR" altLang="en-US" b="1" dirty="0">
                <a:solidFill>
                  <a:schemeClr val="accent1">
                    <a:alpha val="99000"/>
                  </a:schemeClr>
                </a:solidFill>
                <a:latin typeface="+mj-ea"/>
                <a:ea typeface="+mj-ea"/>
              </a:rPr>
              <a:t> </a:t>
            </a:r>
            <a:r>
              <a:rPr lang="ko-KR" altLang="en-US" b="1" dirty="0" err="1">
                <a:solidFill>
                  <a:schemeClr val="accent1">
                    <a:alpha val="99000"/>
                  </a:schemeClr>
                </a:solidFill>
                <a:latin typeface="+mj-ea"/>
                <a:ea typeface="+mj-ea"/>
              </a:rPr>
              <a:t>씽킹</a:t>
            </a:r>
            <a:r>
              <a:rPr lang="en-US" altLang="ko-KR" b="1" dirty="0">
                <a:solidFill>
                  <a:schemeClr val="accent1">
                    <a:alpha val="99000"/>
                  </a:schemeClr>
                </a:solidFill>
                <a:latin typeface="+mj-ea"/>
                <a:ea typeface="+mj-ea"/>
              </a:rPr>
              <a:t>(Artful Thinking)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’ 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이란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?</a:t>
            </a:r>
            <a:endParaRPr lang="ko-KR" altLang="en-US" b="1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강좌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583680" y="2428875"/>
            <a:ext cx="4663440" cy="2762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ctr">
              <a:lnSpc>
                <a:spcPct val="90000"/>
              </a:lnSpc>
              <a:defRPr/>
            </a:pPr>
            <a:r>
              <a:rPr sz="2000">
                <a:solidFill>
                  <a:srgbClr val="FFFFFF"/>
                </a:solidFill>
                <a:latin typeface="고양덕양 B"/>
                <a:ea typeface="고양덕양 B"/>
              </a:rPr>
              <a:t>나는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658368" y="5303520"/>
            <a:ext cx="10881360" cy="1543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endParaRPr sz="1150" b="0">
              <a:solidFill>
                <a:srgbClr val="8A8A8A"/>
              </a:solidFill>
              <a:latin typeface="Noto Sans KR Medium"/>
            </a:endParaRPr>
          </a:p>
        </p:txBody>
      </p:sp>
      <p:sp>
        <p:nvSpPr>
          <p:cNvPr id="4" name="타원 3">
            <a:extLst>
              <a:ext uri="{FF2B5EF4-FFF2-40B4-BE49-F238E27FC236}">
                <a16:creationId xmlns:a16="http://schemas.microsoft.com/office/drawing/2014/main" id="{7BC19595-D9CD-BB7B-661A-6614856CAB6A}"/>
              </a:ext>
            </a:extLst>
          </p:cNvPr>
          <p:cNvSpPr/>
          <p:nvPr/>
        </p:nvSpPr>
        <p:spPr>
          <a:xfrm>
            <a:off x="3257005" y="3281030"/>
            <a:ext cx="5120640" cy="1445390"/>
          </a:xfrm>
          <a:prstGeom prst="ellipse">
            <a:avLst/>
          </a:prstGeom>
          <a:ln>
            <a:headEnd type="none" w="med" len="med"/>
            <a:tailEnd type="none" w="med" len="med"/>
          </a:ln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3200" b="1" dirty="0" err="1">
                <a:solidFill>
                  <a:schemeClr val="bg1">
                    <a:alpha val="99000"/>
                  </a:schemeClr>
                </a:solidFill>
                <a:latin typeface="+mj-ea"/>
                <a:ea typeface="+mj-ea"/>
              </a:rPr>
              <a:t>아트풀</a:t>
            </a:r>
            <a:r>
              <a:rPr lang="ko-KR" altLang="en-US" sz="3200" b="1" dirty="0">
                <a:solidFill>
                  <a:schemeClr val="bg1">
                    <a:alpha val="99000"/>
                  </a:schemeClr>
                </a:solidFill>
                <a:latin typeface="+mj-ea"/>
                <a:ea typeface="+mj-ea"/>
              </a:rPr>
              <a:t> </a:t>
            </a:r>
            <a:r>
              <a:rPr lang="ko-KR" altLang="en-US" sz="3200" b="1" dirty="0" err="1">
                <a:solidFill>
                  <a:schemeClr val="bg1">
                    <a:alpha val="99000"/>
                  </a:schemeClr>
                </a:solidFill>
                <a:latin typeface="+mj-ea"/>
                <a:ea typeface="+mj-ea"/>
              </a:rPr>
              <a:t>씽킹</a:t>
            </a:r>
            <a:endParaRPr lang="en-US" altLang="ko-KR" sz="3200" b="1" dirty="0">
              <a:solidFill>
                <a:schemeClr val="bg1">
                  <a:alpha val="99000"/>
                </a:schemeClr>
              </a:solidFill>
              <a:latin typeface="+mj-ea"/>
              <a:ea typeface="+mj-ea"/>
            </a:endParaRPr>
          </a:p>
          <a:p>
            <a:pPr algn="ctr"/>
            <a:r>
              <a:rPr lang="en-US" altLang="ko-KR" sz="3200" b="1" dirty="0">
                <a:solidFill>
                  <a:schemeClr val="bg1">
                    <a:alpha val="99000"/>
                  </a:schemeClr>
                </a:solidFill>
                <a:latin typeface="+mj-ea"/>
                <a:ea typeface="+mj-ea"/>
              </a:rPr>
              <a:t>(Artful </a:t>
            </a:r>
            <a:r>
              <a:rPr lang="en-US" altLang="ko-KR" sz="3200" b="1" dirty="0">
                <a:solidFill>
                  <a:schemeClr val="bg1"/>
                </a:solidFill>
                <a:latin typeface="+mj-ea"/>
                <a:ea typeface="+mj-ea"/>
              </a:rPr>
              <a:t>Thinking)</a:t>
            </a:r>
            <a:endParaRPr lang="ko-KR" altLang="en-US" sz="3200" dirty="0">
              <a:solidFill>
                <a:schemeClr val="bg1"/>
              </a:solidFill>
            </a:endParaRPr>
          </a:p>
        </p:txBody>
      </p:sp>
      <p:sp>
        <p:nvSpPr>
          <p:cNvPr id="11" name="순서도: 대체 처리 10">
            <a:extLst>
              <a:ext uri="{FF2B5EF4-FFF2-40B4-BE49-F238E27FC236}">
                <a16:creationId xmlns:a16="http://schemas.microsoft.com/office/drawing/2014/main" id="{5DD6F91D-1A8B-DF64-F15C-7D53D4EE2DB9}"/>
              </a:ext>
            </a:extLst>
          </p:cNvPr>
          <p:cNvSpPr/>
          <p:nvPr/>
        </p:nvSpPr>
        <p:spPr>
          <a:xfrm>
            <a:off x="374469" y="1779457"/>
            <a:ext cx="3039291" cy="1887583"/>
          </a:xfrm>
          <a:prstGeom prst="flowChartAlternateProcess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하버드 교육대학원</a:t>
            </a:r>
            <a:endParaRPr lang="en-US" altLang="ko-KR" dirty="0"/>
          </a:p>
          <a:p>
            <a:pPr algn="ctr"/>
            <a:r>
              <a:rPr lang="en-US" altLang="ko-KR" dirty="0"/>
              <a:t>Project Zero</a:t>
            </a:r>
            <a:r>
              <a:rPr lang="ko-KR" altLang="en-US" dirty="0"/>
              <a:t>에서</a:t>
            </a:r>
            <a:endParaRPr lang="en-US" altLang="ko-KR" dirty="0"/>
          </a:p>
          <a:p>
            <a:pPr algn="ctr"/>
            <a:r>
              <a:rPr lang="ko-KR" altLang="en-US" dirty="0"/>
              <a:t>개발한 미술감상교육 프로그램</a:t>
            </a:r>
            <a:endParaRPr lang="ko-KR" altLang="en-US" sz="1600" dirty="0"/>
          </a:p>
        </p:txBody>
      </p:sp>
      <p:sp>
        <p:nvSpPr>
          <p:cNvPr id="12" name="순서도: 대체 처리 11">
            <a:extLst>
              <a:ext uri="{FF2B5EF4-FFF2-40B4-BE49-F238E27FC236}">
                <a16:creationId xmlns:a16="http://schemas.microsoft.com/office/drawing/2014/main" id="{0CE3265F-C9DA-D5E4-1650-F7F647AE4869}"/>
              </a:ext>
            </a:extLst>
          </p:cNvPr>
          <p:cNvSpPr/>
          <p:nvPr/>
        </p:nvSpPr>
        <p:spPr>
          <a:xfrm>
            <a:off x="374469" y="4436880"/>
            <a:ext cx="3039291" cy="1887583"/>
          </a:xfrm>
          <a:prstGeom prst="flowChartAlternateProcess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6</a:t>
            </a:r>
            <a:r>
              <a:rPr lang="ko-KR" altLang="en-US" dirty="0"/>
              <a:t>가지 유형으로 구성된 </a:t>
            </a:r>
            <a:endParaRPr lang="en-US" altLang="ko-KR" dirty="0"/>
          </a:p>
          <a:p>
            <a:pPr algn="ctr"/>
            <a:r>
              <a:rPr lang="ko-KR" altLang="en-US" dirty="0"/>
              <a:t>생각의 팔레트로</a:t>
            </a:r>
            <a:endParaRPr lang="en-US" altLang="ko-KR" dirty="0"/>
          </a:p>
          <a:p>
            <a:pPr algn="ctr"/>
            <a:r>
              <a:rPr lang="ko-KR" altLang="en-US" dirty="0"/>
              <a:t>사고의 깊이를 확장</a:t>
            </a:r>
            <a:endParaRPr lang="en-US" altLang="ko-KR" dirty="0"/>
          </a:p>
        </p:txBody>
      </p:sp>
      <p:sp>
        <p:nvSpPr>
          <p:cNvPr id="13" name="순서도: 대체 처리 12">
            <a:extLst>
              <a:ext uri="{FF2B5EF4-FFF2-40B4-BE49-F238E27FC236}">
                <a16:creationId xmlns:a16="http://schemas.microsoft.com/office/drawing/2014/main" id="{1F314941-B04B-76D2-C6D6-57FB186AA626}"/>
              </a:ext>
            </a:extLst>
          </p:cNvPr>
          <p:cNvSpPr/>
          <p:nvPr/>
        </p:nvSpPr>
        <p:spPr>
          <a:xfrm>
            <a:off x="8500437" y="1823334"/>
            <a:ext cx="3039291" cy="1887583"/>
          </a:xfrm>
          <a:prstGeom prst="flowChartAlternateProcess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예술 작품을 </a:t>
            </a:r>
            <a:endParaRPr lang="en-US" altLang="ko-KR" dirty="0"/>
          </a:p>
          <a:p>
            <a:pPr algn="ctr"/>
            <a:r>
              <a:rPr lang="ko-KR" altLang="en-US" dirty="0"/>
              <a:t>효과적으로 활용하여 사고력과 학습능력을 증진 </a:t>
            </a:r>
          </a:p>
        </p:txBody>
      </p:sp>
      <p:sp>
        <p:nvSpPr>
          <p:cNvPr id="14" name="순서도: 대체 처리 13">
            <a:extLst>
              <a:ext uri="{FF2B5EF4-FFF2-40B4-BE49-F238E27FC236}">
                <a16:creationId xmlns:a16="http://schemas.microsoft.com/office/drawing/2014/main" id="{6D981CF4-E11C-C858-DA25-18FC982743AB}"/>
              </a:ext>
            </a:extLst>
          </p:cNvPr>
          <p:cNvSpPr/>
          <p:nvPr/>
        </p:nvSpPr>
        <p:spPr>
          <a:xfrm>
            <a:off x="8494341" y="4359728"/>
            <a:ext cx="3039291" cy="1887583"/>
          </a:xfrm>
          <a:prstGeom prst="flowChartAlternateProcess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생각하는</a:t>
            </a:r>
            <a:r>
              <a:rPr lang="en-US" altLang="ko-KR" dirty="0"/>
              <a:t> </a:t>
            </a:r>
            <a:r>
              <a:rPr lang="ko-KR" altLang="en-US" dirty="0"/>
              <a:t>방법을 </a:t>
            </a:r>
            <a:endParaRPr lang="en-US" altLang="ko-KR" dirty="0"/>
          </a:p>
          <a:p>
            <a:pPr algn="ctr"/>
            <a:r>
              <a:rPr lang="ko-KR" altLang="en-US" dirty="0"/>
              <a:t>실제 수업에 적용하기 위한 사고 루틴 활용</a:t>
            </a:r>
          </a:p>
        </p:txBody>
      </p:sp>
    </p:spTree>
    <p:extLst>
      <p:ext uri="{BB962C8B-B14F-4D97-AF65-F5344CB8AC3E}">
        <p14:creationId xmlns:p14="http://schemas.microsoft.com/office/powerpoint/2010/main" val="30903848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4189968" y="836713"/>
            <a:ext cx="3876013" cy="1209013"/>
            <a:chOff x="3059832" y="627534"/>
            <a:chExt cx="2907010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3367074" y="748064"/>
              <a:ext cx="2244566" cy="73783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defRPr/>
              </a:pPr>
              <a:r>
                <a:rPr lang="ko-KR" altLang="en-US" sz="5867" spc="-200">
                  <a:solidFill>
                    <a:schemeClr val="bg1"/>
                  </a:solidFill>
                  <a:latin typeface="+mj-ea"/>
                  <a:ea typeface="+mj-ea"/>
                </a:rPr>
                <a:t>학습목표</a:t>
              </a:r>
            </a:p>
          </p:txBody>
        </p:sp>
      </p:grpSp>
      <p:sp>
        <p:nvSpPr>
          <p:cNvPr id="59" name="Oval 58"/>
          <p:cNvSpPr/>
          <p:nvPr/>
        </p:nvSpPr>
        <p:spPr>
          <a:xfrm>
            <a:off x="2395728" y="2414016"/>
            <a:ext cx="384048" cy="384048"/>
          </a:xfrm>
          <a:prstGeom prst="ellipse">
            <a:avLst/>
          </a:prstGeom>
          <a:solidFill>
            <a:srgbClr val="F68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lvl="0" algn="ctr">
              <a:defRPr/>
            </a:pPr>
            <a:r>
              <a:rPr sz="1300">
                <a:solidFill>
                  <a:srgbClr val="FFFFFF"/>
                </a:solidFill>
                <a:latin typeface="Noto Sans KR Black"/>
              </a:rPr>
              <a:t>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934843" y="2505075"/>
            <a:ext cx="1828800" cy="2190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sz="1600">
                <a:solidFill>
                  <a:srgbClr val="F6877E"/>
                </a:solidFill>
              </a:rPr>
              <a:t>핵심 문장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627245" y="2490978"/>
            <a:ext cx="5486400" cy="2339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5000"/>
              </a:lnSpc>
              <a:defRPr/>
            </a:pPr>
            <a:r>
              <a:rPr lang="ko-KR" altLang="en-US" sz="1600" dirty="0">
                <a:solidFill>
                  <a:srgbClr val="3B3B3B"/>
                </a:solidFill>
              </a:rPr>
              <a:t>우리 옛 그림을 </a:t>
            </a:r>
            <a:r>
              <a:rPr lang="ko-KR" altLang="en-US" sz="1600" dirty="0" err="1">
                <a:solidFill>
                  <a:srgbClr val="3B3B3B"/>
                </a:solidFill>
              </a:rPr>
              <a:t>아트풀</a:t>
            </a:r>
            <a:r>
              <a:rPr lang="ko-KR" altLang="en-US" sz="1600" dirty="0">
                <a:solidFill>
                  <a:srgbClr val="3B3B3B"/>
                </a:solidFill>
              </a:rPr>
              <a:t> </a:t>
            </a:r>
            <a:r>
              <a:rPr lang="ko-KR" altLang="en-US" sz="1600" dirty="0" err="1">
                <a:solidFill>
                  <a:srgbClr val="3B3B3B"/>
                </a:solidFill>
              </a:rPr>
              <a:t>씽킹</a:t>
            </a:r>
            <a:r>
              <a:rPr lang="ko-KR" altLang="en-US" sz="1600" dirty="0">
                <a:solidFill>
                  <a:srgbClr val="3B3B3B"/>
                </a:solidFill>
              </a:rPr>
              <a:t> 방법으로 감상한다</a:t>
            </a:r>
            <a:r>
              <a:rPr lang="en-US" altLang="ko-KR" sz="1600" dirty="0">
                <a:solidFill>
                  <a:srgbClr val="3B3B3B"/>
                </a:solidFill>
              </a:rPr>
              <a:t>.</a:t>
            </a:r>
            <a:endParaRPr sz="1600" dirty="0">
              <a:solidFill>
                <a:srgbClr val="3B3B3B"/>
              </a:solidFill>
            </a:endParaRPr>
          </a:p>
        </p:txBody>
      </p:sp>
      <p:sp>
        <p:nvSpPr>
          <p:cNvPr id="62" name="Oval 61"/>
          <p:cNvSpPr/>
          <p:nvPr/>
        </p:nvSpPr>
        <p:spPr>
          <a:xfrm>
            <a:off x="2395728" y="3200400"/>
            <a:ext cx="384048" cy="384048"/>
          </a:xfrm>
          <a:prstGeom prst="ellipse">
            <a:avLst/>
          </a:prstGeom>
          <a:solidFill>
            <a:srgbClr val="F68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lvl="0" algn="ctr">
              <a:defRPr/>
            </a:pPr>
            <a:r>
              <a:rPr sz="1300">
                <a:solidFill>
                  <a:srgbClr val="FFFFFF"/>
                </a:solidFill>
                <a:latin typeface="Noto Sans KR Black"/>
              </a:rPr>
              <a:t>2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934843" y="3295650"/>
            <a:ext cx="1828800" cy="2190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sz="1600">
                <a:solidFill>
                  <a:srgbClr val="F6877E"/>
                </a:solidFill>
              </a:rPr>
              <a:t>지식·이해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627245" y="3277362"/>
            <a:ext cx="5486400" cy="2339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5000"/>
              </a:lnSpc>
              <a:defRPr/>
            </a:pPr>
            <a:r>
              <a:rPr lang="ko-KR" altLang="en-US" sz="1600" dirty="0">
                <a:solidFill>
                  <a:srgbClr val="3B3B3B"/>
                </a:solidFill>
              </a:rPr>
              <a:t>작품을 시대적 배경</a:t>
            </a:r>
            <a:r>
              <a:rPr lang="en-US" altLang="ko-KR" sz="1600" dirty="0">
                <a:solidFill>
                  <a:srgbClr val="3B3B3B"/>
                </a:solidFill>
              </a:rPr>
              <a:t>, </a:t>
            </a:r>
            <a:r>
              <a:rPr lang="ko-KR" altLang="en-US" sz="1600" dirty="0">
                <a:solidFill>
                  <a:srgbClr val="3B3B3B"/>
                </a:solidFill>
              </a:rPr>
              <a:t>지역적 배경과 연결하여 이해한다</a:t>
            </a:r>
            <a:r>
              <a:rPr lang="en-US" altLang="ko-KR" sz="1600" dirty="0">
                <a:solidFill>
                  <a:srgbClr val="3B3B3B"/>
                </a:solidFill>
              </a:rPr>
              <a:t>.</a:t>
            </a:r>
            <a:r>
              <a:rPr lang="ko-KR" altLang="en-US" sz="1600" dirty="0">
                <a:solidFill>
                  <a:srgbClr val="3B3B3B"/>
                </a:solidFill>
              </a:rPr>
              <a:t> </a:t>
            </a:r>
            <a:endParaRPr sz="1600" dirty="0">
              <a:solidFill>
                <a:srgbClr val="3B3B3B"/>
              </a:solidFill>
            </a:endParaRPr>
          </a:p>
        </p:txBody>
      </p:sp>
      <p:sp>
        <p:nvSpPr>
          <p:cNvPr id="65" name="Oval 64"/>
          <p:cNvSpPr/>
          <p:nvPr/>
        </p:nvSpPr>
        <p:spPr>
          <a:xfrm>
            <a:off x="2395728" y="3986783"/>
            <a:ext cx="384048" cy="384048"/>
          </a:xfrm>
          <a:prstGeom prst="ellipse">
            <a:avLst/>
          </a:prstGeom>
          <a:solidFill>
            <a:srgbClr val="F68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lvl="0" algn="ctr">
              <a:defRPr/>
            </a:pPr>
            <a:r>
              <a:rPr sz="1300">
                <a:solidFill>
                  <a:srgbClr val="FFFFFF"/>
                </a:solidFill>
                <a:latin typeface="Noto Sans KR Black"/>
              </a:rPr>
              <a:t>3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934843" y="4086225"/>
            <a:ext cx="1828800" cy="2190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sz="1600">
                <a:solidFill>
                  <a:srgbClr val="F6877E"/>
                </a:solidFill>
              </a:rPr>
              <a:t>과정·기능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627245" y="4063746"/>
            <a:ext cx="5486400" cy="2339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5000"/>
              </a:lnSpc>
              <a:defRPr/>
            </a:pPr>
            <a:r>
              <a:rPr lang="ko-KR" altLang="en-US" sz="1600" dirty="0">
                <a:solidFill>
                  <a:srgbClr val="3B3B3B"/>
                </a:solidFill>
              </a:rPr>
              <a:t>작품의 내용과 형식을 분석하여 설명할 수 있다</a:t>
            </a:r>
            <a:r>
              <a:rPr lang="en-US" altLang="ko-KR" sz="1600" dirty="0">
                <a:solidFill>
                  <a:srgbClr val="3B3B3B"/>
                </a:solidFill>
              </a:rPr>
              <a:t>.</a:t>
            </a:r>
            <a:endParaRPr sz="1600" dirty="0">
              <a:solidFill>
                <a:srgbClr val="3B3B3B"/>
              </a:solidFill>
            </a:endParaRPr>
          </a:p>
        </p:txBody>
      </p:sp>
      <p:sp>
        <p:nvSpPr>
          <p:cNvPr id="68" name="Oval 67"/>
          <p:cNvSpPr/>
          <p:nvPr/>
        </p:nvSpPr>
        <p:spPr>
          <a:xfrm>
            <a:off x="2395728" y="4773168"/>
            <a:ext cx="384048" cy="384048"/>
          </a:xfrm>
          <a:prstGeom prst="ellipse">
            <a:avLst/>
          </a:prstGeom>
          <a:solidFill>
            <a:srgbClr val="F68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lvl="0" algn="ctr">
              <a:defRPr/>
            </a:pPr>
            <a:r>
              <a:rPr sz="1300">
                <a:solidFill>
                  <a:srgbClr val="FFFFFF"/>
                </a:solidFill>
                <a:latin typeface="Noto Sans KR Black"/>
              </a:rPr>
              <a:t>4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934843" y="4867275"/>
            <a:ext cx="1828800" cy="2190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sz="1600">
                <a:solidFill>
                  <a:srgbClr val="F6877E"/>
                </a:solidFill>
              </a:rPr>
              <a:t>가치·태도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627245" y="4850130"/>
            <a:ext cx="5486400" cy="2339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5000"/>
              </a:lnSpc>
              <a:defRPr/>
            </a:pPr>
            <a:r>
              <a:rPr lang="ko-KR" altLang="en-US" sz="1600" dirty="0">
                <a:solidFill>
                  <a:srgbClr val="3B3B3B"/>
                </a:solidFill>
              </a:rPr>
              <a:t>작품에 관한 </a:t>
            </a:r>
            <a:r>
              <a:rPr sz="1600" dirty="0" err="1">
                <a:solidFill>
                  <a:srgbClr val="3B3B3B"/>
                </a:solidFill>
              </a:rPr>
              <a:t>다른</a:t>
            </a:r>
            <a:r>
              <a:rPr sz="1600" dirty="0">
                <a:solidFill>
                  <a:srgbClr val="3B3B3B"/>
                </a:solidFill>
              </a:rPr>
              <a:t> </a:t>
            </a:r>
            <a:r>
              <a:rPr sz="1600" dirty="0" err="1">
                <a:solidFill>
                  <a:srgbClr val="3B3B3B"/>
                </a:solidFill>
              </a:rPr>
              <a:t>관점을</a:t>
            </a:r>
            <a:r>
              <a:rPr sz="1600" dirty="0">
                <a:solidFill>
                  <a:srgbClr val="3B3B3B"/>
                </a:solidFill>
              </a:rPr>
              <a:t> </a:t>
            </a:r>
            <a:r>
              <a:rPr sz="1600" dirty="0" err="1">
                <a:solidFill>
                  <a:srgbClr val="3B3B3B"/>
                </a:solidFill>
              </a:rPr>
              <a:t>존중하는</a:t>
            </a:r>
            <a:r>
              <a:rPr sz="1600" dirty="0">
                <a:solidFill>
                  <a:srgbClr val="3B3B3B"/>
                </a:solidFill>
              </a:rPr>
              <a:t> </a:t>
            </a:r>
            <a:r>
              <a:rPr sz="1600" dirty="0" err="1">
                <a:solidFill>
                  <a:srgbClr val="3B3B3B"/>
                </a:solidFill>
              </a:rPr>
              <a:t>태도를</a:t>
            </a:r>
            <a:r>
              <a:rPr sz="1600" dirty="0">
                <a:solidFill>
                  <a:srgbClr val="3B3B3B"/>
                </a:solidFill>
              </a:rPr>
              <a:t> </a:t>
            </a:r>
            <a:r>
              <a:rPr sz="1600" dirty="0" err="1">
                <a:solidFill>
                  <a:srgbClr val="3B3B3B"/>
                </a:solidFill>
              </a:rPr>
              <a:t>가진다</a:t>
            </a:r>
            <a:r>
              <a:rPr sz="1600" dirty="0">
                <a:solidFill>
                  <a:srgbClr val="3B3B3B"/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828356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Rounded Rectangle 98"/>
          <p:cNvSpPr/>
          <p:nvPr/>
        </p:nvSpPr>
        <p:spPr>
          <a:xfrm>
            <a:off x="724952" y="2150498"/>
            <a:ext cx="10881360" cy="3145402"/>
          </a:xfrm>
          <a:prstGeom prst="roundRect">
            <a:avLst>
              <a:gd name="adj" fmla="val 10000"/>
            </a:avLst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A73DE1A5-A26C-4936-9EB7-341AE0E9F7ED}" type="slidenum">
              <a:rPr lang="en-US" altLang="ko-KR"/>
              <a:pPr lvl="0">
                <a:defRPr/>
              </a:pPr>
              <a:t>5</a:t>
            </a:fld>
            <a:endParaRPr lang="en-US" altLang="ko-KR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lvl="0">
              <a:defRPr/>
            </a:pPr>
            <a:r>
              <a:rPr lang="ko-KR" altLang="en-US" b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오</a:t>
            </a:r>
            <a:r>
              <a:rPr lang="ko-KR" altLang="en-US" sz="2222" b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늘의</a:t>
            </a:r>
            <a:r>
              <a:rPr lang="ko-KR" altLang="en-US" b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 핵심 </a:t>
            </a:r>
            <a:r>
              <a:rPr lang="ko-KR" altLang="en-US" b="1">
                <a:solidFill>
                  <a:srgbClr val="404040"/>
                </a:solidFill>
                <a:latin typeface="+mj-ea"/>
                <a:ea typeface="+mj-ea"/>
              </a:rPr>
              <a:t>문</a:t>
            </a:r>
            <a:r>
              <a:rPr lang="ko-KR" altLang="en-US" b="1">
                <a:solidFill>
                  <a:srgbClr val="289B6E"/>
                </a:solidFill>
                <a:latin typeface="+mj-ea"/>
                <a:ea typeface="+mj-ea"/>
              </a:rPr>
              <a:t>장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bg1">
                    <a:alpha val="99000"/>
                  </a:schemeClr>
                </a:solidFill>
                <a:latin typeface="Noto Sans KR Black"/>
                <a:ea typeface="Noto Sans KR Black"/>
              </a:rPr>
              <a:t>강좌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814558" y="2631947"/>
            <a:ext cx="10881360" cy="2077107"/>
          </a:xfrm>
          <a:prstGeom prst="rect">
            <a:avLst/>
          </a:prstGeom>
          <a:noFill/>
        </p:spPr>
        <p:txBody>
          <a:bodyPr vert="horz" wrap="square" lIns="0" tIns="0" rIns="0" bIns="0" anchor="t">
            <a:spAutoFit/>
          </a:bodyPr>
          <a:lstStyle/>
          <a:p>
            <a:pPr lvl="0" algn="ctr">
              <a:lnSpc>
                <a:spcPct val="115000"/>
              </a:lnSpc>
              <a:defRPr/>
            </a:pPr>
            <a:r>
              <a:rPr lang="ko-KR" altLang="en-US" sz="4000" b="1" spc="500" dirty="0">
                <a:solidFill>
                  <a:srgbClr val="FF843A"/>
                </a:solidFill>
                <a:latin typeface="고양덕양 B"/>
                <a:ea typeface="고양덕양 B"/>
              </a:rPr>
              <a:t>우리 옛 그림</a:t>
            </a:r>
            <a:r>
              <a:rPr lang="ko-KR" altLang="en-US" sz="4000" spc="500" dirty="0">
                <a:solidFill>
                  <a:srgbClr val="3B3B3B"/>
                </a:solidFill>
                <a:latin typeface="고양덕양 B"/>
                <a:ea typeface="고양덕양 B"/>
              </a:rPr>
              <a:t>을</a:t>
            </a:r>
            <a:endParaRPr lang="en-US" altLang="ko-KR" sz="4000" spc="500" dirty="0">
              <a:solidFill>
                <a:srgbClr val="3B3B3B"/>
              </a:solidFill>
              <a:latin typeface="고양덕양 B"/>
              <a:ea typeface="고양덕양 B"/>
            </a:endParaRPr>
          </a:p>
          <a:p>
            <a:pPr lvl="0" algn="ctr">
              <a:lnSpc>
                <a:spcPct val="115000"/>
              </a:lnSpc>
              <a:defRPr/>
            </a:pPr>
            <a:r>
              <a:rPr lang="ko-KR" altLang="en-US" sz="4000" b="1" spc="500" dirty="0" err="1">
                <a:solidFill>
                  <a:srgbClr val="0070C0"/>
                </a:solidFill>
                <a:latin typeface="고양덕양 B"/>
                <a:ea typeface="고양덕양 B"/>
              </a:rPr>
              <a:t>아트풀</a:t>
            </a:r>
            <a:r>
              <a:rPr lang="ko-KR" altLang="en-US" sz="4000" b="1" spc="500" dirty="0">
                <a:solidFill>
                  <a:srgbClr val="0070C0"/>
                </a:solidFill>
                <a:latin typeface="고양덕양 B"/>
                <a:ea typeface="고양덕양 B"/>
              </a:rPr>
              <a:t> </a:t>
            </a:r>
            <a:r>
              <a:rPr lang="ko-KR" altLang="en-US" sz="4000" b="1" spc="500" dirty="0" err="1">
                <a:solidFill>
                  <a:srgbClr val="0070C0"/>
                </a:solidFill>
                <a:latin typeface="고양덕양 B"/>
                <a:ea typeface="고양덕양 B"/>
              </a:rPr>
              <a:t>씽킹</a:t>
            </a:r>
            <a:r>
              <a:rPr lang="ko-KR" altLang="en-US" sz="4000" b="1" spc="500" dirty="0">
                <a:solidFill>
                  <a:srgbClr val="0070C0"/>
                </a:solidFill>
                <a:latin typeface="고양덕양 B"/>
                <a:ea typeface="고양덕양 B"/>
              </a:rPr>
              <a:t> </a:t>
            </a:r>
            <a:r>
              <a:rPr lang="ko-KR" altLang="en-US" sz="4000" spc="500" dirty="0">
                <a:solidFill>
                  <a:srgbClr val="3B3B3B"/>
                </a:solidFill>
                <a:latin typeface="고양덕양 B"/>
                <a:ea typeface="고양덕양 B"/>
              </a:rPr>
              <a:t>방법을 활용하여 </a:t>
            </a:r>
            <a:endParaRPr lang="en-US" altLang="ko-KR" sz="4000" spc="500" dirty="0">
              <a:solidFill>
                <a:srgbClr val="3B3B3B"/>
              </a:solidFill>
              <a:latin typeface="고양덕양 B"/>
              <a:ea typeface="고양덕양 B"/>
            </a:endParaRPr>
          </a:p>
          <a:p>
            <a:pPr lvl="0" algn="ctr">
              <a:lnSpc>
                <a:spcPct val="115000"/>
              </a:lnSpc>
              <a:defRPr/>
            </a:pPr>
            <a:r>
              <a:rPr lang="ko-KR" altLang="en-US" sz="4000" spc="500" dirty="0">
                <a:latin typeface="고양덕양 B"/>
                <a:ea typeface="고양덕양 B"/>
              </a:rPr>
              <a:t>감상해봅</a:t>
            </a:r>
            <a:r>
              <a:rPr lang="ko-KR" altLang="en-US" sz="4000" spc="500" dirty="0">
                <a:solidFill>
                  <a:srgbClr val="3B3B3B"/>
                </a:solidFill>
                <a:latin typeface="고양덕양 B"/>
                <a:ea typeface="고양덕양 B"/>
              </a:rPr>
              <a:t>시다</a:t>
            </a:r>
            <a:r>
              <a:rPr lang="en-US" altLang="ko-KR" sz="4000" spc="500" dirty="0">
                <a:solidFill>
                  <a:srgbClr val="3B3B3B"/>
                </a:solidFill>
                <a:latin typeface="고양덕양 B"/>
                <a:ea typeface="고양덕양 B"/>
              </a:rPr>
              <a:t>.</a:t>
            </a:r>
            <a:endParaRPr sz="4000" spc="500" dirty="0">
              <a:solidFill>
                <a:srgbClr val="3B3B3B"/>
              </a:solidFill>
              <a:latin typeface="고양덕양 B"/>
              <a:ea typeface="고양덕양 B"/>
            </a:endParaRPr>
          </a:p>
        </p:txBody>
      </p:sp>
      <p:sp>
        <p:nvSpPr>
          <p:cNvPr id="100" name="TextBox 99"/>
          <p:cNvSpPr txBox="1"/>
          <p:nvPr/>
        </p:nvSpPr>
        <p:spPr>
          <a:xfrm>
            <a:off x="932688" y="5133975"/>
            <a:ext cx="10332720" cy="16192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endParaRPr sz="1150" b="0">
              <a:solidFill>
                <a:srgbClr val="8A8A8A"/>
              </a:solidFill>
              <a:latin typeface="Noto Sans KR Medium"/>
            </a:endParaRPr>
          </a:p>
        </p:txBody>
      </p:sp>
    </p:spTree>
    <p:extLst>
      <p:ext uri="{BB962C8B-B14F-4D97-AF65-F5344CB8AC3E}">
        <p14:creationId xmlns:p14="http://schemas.microsoft.com/office/powerpoint/2010/main" val="143803312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6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336881" y="560515"/>
            <a:ext cx="10348537" cy="461665"/>
          </a:xfrm>
        </p:spPr>
        <p:txBody>
          <a:bodyPr>
            <a:noAutofit/>
          </a:bodyPr>
          <a:lstStyle/>
          <a:p>
            <a:r>
              <a:rPr lang="en-US" altLang="ko-KR" sz="32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&lt;</a:t>
            </a:r>
            <a:r>
              <a:rPr lang="ko-KR" altLang="en-US" sz="32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동물화</a:t>
            </a:r>
            <a:r>
              <a:rPr lang="en-US" altLang="ko-KR" sz="32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/</a:t>
            </a:r>
            <a:r>
              <a:rPr lang="ko-KR" altLang="en-US" sz="32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식물화</a:t>
            </a:r>
            <a:r>
              <a:rPr lang="en-US" altLang="ko-KR" sz="32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&gt;</a:t>
            </a:r>
            <a:r>
              <a:rPr lang="ko-KR" altLang="en-US" sz="32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를 알아봅시다</a:t>
            </a:r>
            <a:r>
              <a:rPr lang="en-US" altLang="ko-KR" sz="32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(</a:t>
            </a:r>
            <a:r>
              <a:rPr lang="ko-KR" altLang="en-US" sz="32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영상제목</a:t>
            </a:r>
            <a:r>
              <a:rPr lang="en-US" altLang="ko-KR" sz="32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: </a:t>
            </a:r>
            <a:r>
              <a:rPr lang="ko-KR" altLang="en-US" sz="32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동물화</a:t>
            </a:r>
            <a:r>
              <a:rPr lang="en-US" altLang="ko-KR" sz="3200" b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,</a:t>
            </a:r>
            <a:r>
              <a:rPr lang="en-US" altLang="ko-KR" sz="32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 </a:t>
            </a:r>
            <a:r>
              <a:rPr lang="ko-KR" altLang="en-US" sz="3200" b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식물화</a:t>
            </a:r>
            <a:r>
              <a:rPr lang="en-US" altLang="ko-KR" sz="32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)</a:t>
            </a:r>
            <a:endParaRPr lang="ko-KR" altLang="en-US" sz="3200" b="1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강좌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583680" y="2428875"/>
            <a:ext cx="4663440" cy="2762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ctr">
              <a:lnSpc>
                <a:spcPct val="90000"/>
              </a:lnSpc>
              <a:defRPr/>
            </a:pPr>
            <a:r>
              <a:rPr sz="2000">
                <a:solidFill>
                  <a:srgbClr val="FFFFFF"/>
                </a:solidFill>
                <a:latin typeface="고양덕양 B"/>
                <a:ea typeface="고양덕양 B"/>
              </a:rPr>
              <a:t>나는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658368" y="5303520"/>
            <a:ext cx="10881360" cy="1543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endParaRPr sz="1150" b="0">
              <a:solidFill>
                <a:srgbClr val="8A8A8A"/>
              </a:solidFill>
              <a:latin typeface="Noto Sans KR Medium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5B4F98B1-F77B-46B7-817C-150BB7F633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4653" y="1227796"/>
            <a:ext cx="8897656" cy="5004932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16850236-1564-298B-2FCB-156059646D26}"/>
              </a:ext>
            </a:extLst>
          </p:cNvPr>
          <p:cNvSpPr txBox="1"/>
          <p:nvPr/>
        </p:nvSpPr>
        <p:spPr>
          <a:xfrm>
            <a:off x="58500" y="6599812"/>
            <a:ext cx="6734186" cy="1661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lang="ko-KR" altLang="en-US" sz="1200" dirty="0">
                <a:solidFill>
                  <a:srgbClr val="3B3B3B"/>
                </a:solidFill>
                <a:latin typeface="고양덕양 B"/>
                <a:ea typeface="고양덕양 B"/>
              </a:rPr>
              <a:t>출처</a:t>
            </a:r>
            <a:r>
              <a:rPr lang="en-US" altLang="ko-KR" sz="1200" dirty="0">
                <a:solidFill>
                  <a:srgbClr val="3B3B3B"/>
                </a:solidFill>
                <a:latin typeface="고양덕양 B"/>
                <a:ea typeface="고양덕양 B"/>
              </a:rPr>
              <a:t>: </a:t>
            </a:r>
            <a:r>
              <a:rPr lang="ko-KR" altLang="en-US" sz="1200" dirty="0" err="1">
                <a:solidFill>
                  <a:srgbClr val="3B3B3B"/>
                </a:solidFill>
                <a:latin typeface="고양덕양 B"/>
                <a:ea typeface="고양덕양 B"/>
              </a:rPr>
              <a:t>캔바</a:t>
            </a:r>
            <a:r>
              <a:rPr lang="ko-KR" altLang="en-US" sz="1200" dirty="0">
                <a:solidFill>
                  <a:srgbClr val="3B3B3B"/>
                </a:solidFill>
                <a:latin typeface="고양덕양 B"/>
                <a:ea typeface="고양덕양 B"/>
              </a:rPr>
              <a:t> </a:t>
            </a:r>
            <a:r>
              <a:rPr lang="ko-KR" altLang="en-US" sz="1200" dirty="0" err="1">
                <a:solidFill>
                  <a:srgbClr val="3B3B3B"/>
                </a:solidFill>
                <a:latin typeface="고양덕양 B"/>
                <a:ea typeface="고양덕양 B"/>
              </a:rPr>
              <a:t>에듀</a:t>
            </a:r>
            <a:r>
              <a:rPr lang="ko-KR" altLang="en-US" sz="1200" dirty="0">
                <a:solidFill>
                  <a:srgbClr val="3B3B3B"/>
                </a:solidFill>
                <a:latin typeface="고양덕양 B"/>
                <a:ea typeface="고양덕양 B"/>
              </a:rPr>
              <a:t> 이미지</a:t>
            </a:r>
            <a:endParaRPr sz="1200" b="0" dirty="0">
              <a:solidFill>
                <a:srgbClr val="3B3B3B"/>
              </a:solidFill>
              <a:latin typeface="고양덕양 B"/>
              <a:ea typeface="고양덕양 B"/>
            </a:endParaRPr>
          </a:p>
        </p:txBody>
      </p:sp>
    </p:spTree>
    <p:extLst>
      <p:ext uri="{BB962C8B-B14F-4D97-AF65-F5344CB8AC3E}">
        <p14:creationId xmlns:p14="http://schemas.microsoft.com/office/powerpoint/2010/main" val="424683179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ounded Rectangle 22"/>
          <p:cNvSpPr/>
          <p:nvPr/>
        </p:nvSpPr>
        <p:spPr>
          <a:xfrm>
            <a:off x="841248" y="3585019"/>
            <a:ext cx="10424160" cy="1665340"/>
          </a:xfrm>
          <a:prstGeom prst="roundRect">
            <a:avLst>
              <a:gd name="adj" fmla="val 10000"/>
            </a:avLst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anchor="ctr"/>
          <a:lstStyle/>
          <a:p>
            <a:pPr lvl="0" algn="ctr">
              <a:defRPr/>
            </a:pPr>
            <a:endParaRPr lang="ko-KR" altLang="en-US">
              <a:latin typeface="고양덕양 B"/>
              <a:ea typeface="고양덕양 B"/>
            </a:endParaRPr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7</a:t>
            </a:fld>
            <a:endParaRPr lang="en-US" dirty="0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512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 </a:t>
            </a:r>
            <a:r>
              <a:rPr lang="en-US" altLang="ko-KR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1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lvl="0">
              <a:defRPr/>
            </a:pP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옛 그림과 만나기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68680" y="2176272"/>
            <a:ext cx="10424160" cy="1051560"/>
          </a:xfrm>
          <a:prstGeom prst="roundRect">
            <a:avLst>
              <a:gd name="adj" fmla="val 10000"/>
            </a:avLst>
          </a:prstGeom>
          <a:solidFill>
            <a:srgbClr val="FFF4E2"/>
          </a:solidFill>
          <a:ln w="15875">
            <a:solidFill>
              <a:srgbClr val="FBAE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142999" y="2541686"/>
            <a:ext cx="9995263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defRPr/>
            </a:pPr>
            <a:r>
              <a:rPr lang="en-US" sz="2000" b="1" dirty="0">
                <a:solidFill>
                  <a:srgbClr val="3B3B3B"/>
                </a:solidFill>
                <a:latin typeface="고양덕양 B"/>
                <a:ea typeface="고양덕양 B"/>
              </a:rPr>
              <a:t>&lt;</a:t>
            </a:r>
            <a:r>
              <a:rPr lang="ko-KR" altLang="en-US" sz="2000" b="1" dirty="0" err="1">
                <a:solidFill>
                  <a:srgbClr val="3B3B3B"/>
                </a:solidFill>
                <a:latin typeface="고양덕양 B"/>
                <a:ea typeface="고양덕양 B"/>
              </a:rPr>
              <a:t>초충도</a:t>
            </a:r>
            <a:r>
              <a:rPr lang="en-US" altLang="ko-KR" sz="2000" b="1" dirty="0">
                <a:solidFill>
                  <a:srgbClr val="3B3B3B"/>
                </a:solidFill>
                <a:latin typeface="고양덕양 B"/>
                <a:ea typeface="고양덕양 B"/>
              </a:rPr>
              <a:t>&gt;</a:t>
            </a:r>
            <a:r>
              <a:rPr lang="ko-KR" altLang="en-US" sz="2000" dirty="0">
                <a:solidFill>
                  <a:srgbClr val="3B3B3B"/>
                </a:solidFill>
                <a:latin typeface="고양덕양 B"/>
                <a:ea typeface="고양덕양 B"/>
              </a:rPr>
              <a:t>을</a:t>
            </a:r>
            <a:r>
              <a:rPr lang="ko-KR" altLang="en-US" sz="2000" b="0" dirty="0">
                <a:solidFill>
                  <a:srgbClr val="3B3B3B"/>
                </a:solidFill>
                <a:latin typeface="고양덕양 B"/>
                <a:ea typeface="고양덕양 B"/>
              </a:rPr>
              <a:t> 함께 감상해 봅시다</a:t>
            </a: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.</a:t>
            </a:r>
            <a:endParaRPr sz="2000" b="0" dirty="0">
              <a:solidFill>
                <a:srgbClr val="3B3B3B"/>
              </a:solidFill>
              <a:latin typeface="고양덕양 B"/>
              <a:ea typeface="고양덕양 B"/>
            </a:endParaRPr>
          </a:p>
        </p:txBody>
      </p:sp>
      <p:sp>
        <p:nvSpPr>
          <p:cNvPr id="17" name="Oval 16"/>
          <p:cNvSpPr/>
          <p:nvPr/>
        </p:nvSpPr>
        <p:spPr>
          <a:xfrm>
            <a:off x="941832" y="3785615"/>
            <a:ext cx="173736" cy="173736"/>
          </a:xfrm>
          <a:prstGeom prst="ellipse">
            <a:avLst/>
          </a:prstGeom>
          <a:solidFill>
            <a:srgbClr val="FBA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298448" y="3779520"/>
            <a:ext cx="996696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lang="ko-KR" altLang="en-US" sz="2000" dirty="0">
                <a:solidFill>
                  <a:srgbClr val="3B3B3B"/>
                </a:solidFill>
                <a:latin typeface="고양덕양 B"/>
                <a:ea typeface="고양덕양 B"/>
              </a:rPr>
              <a:t>작품의 첫인상은 </a:t>
            </a:r>
            <a:r>
              <a:rPr lang="ko-KR" altLang="en-US" sz="2000" dirty="0" err="1">
                <a:solidFill>
                  <a:srgbClr val="3B3B3B"/>
                </a:solidFill>
                <a:latin typeface="고양덕양 B"/>
                <a:ea typeface="고양덕양 B"/>
              </a:rPr>
              <a:t>어떤가요</a:t>
            </a:r>
            <a:r>
              <a:rPr lang="en-US" altLang="ko-KR" sz="2000" dirty="0">
                <a:solidFill>
                  <a:srgbClr val="3B3B3B"/>
                </a:solidFill>
                <a:latin typeface="고양덕양 B"/>
                <a:ea typeface="고양덕양 B"/>
              </a:rPr>
              <a:t>?</a:t>
            </a:r>
            <a:endParaRPr lang="en-US" altLang="ko-KR" sz="2000" b="0" dirty="0">
              <a:solidFill>
                <a:srgbClr val="3B3B3B"/>
              </a:solidFill>
              <a:latin typeface="고양덕양 B"/>
              <a:ea typeface="고양덕양 B"/>
            </a:endParaRPr>
          </a:p>
        </p:txBody>
      </p:sp>
      <p:sp>
        <p:nvSpPr>
          <p:cNvPr id="19" name="Oval 18"/>
          <p:cNvSpPr/>
          <p:nvPr/>
        </p:nvSpPr>
        <p:spPr>
          <a:xfrm>
            <a:off x="941832" y="4288536"/>
            <a:ext cx="173736" cy="173736"/>
          </a:xfrm>
          <a:prstGeom prst="ellipse">
            <a:avLst/>
          </a:prstGeom>
          <a:solidFill>
            <a:srgbClr val="FBA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298448" y="4282440"/>
            <a:ext cx="996696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lang="ko-KR" altLang="en-US" sz="2000" b="0" dirty="0">
                <a:solidFill>
                  <a:srgbClr val="3B3B3B"/>
                </a:solidFill>
                <a:latin typeface="고양덕양 B"/>
                <a:ea typeface="고양덕양 B"/>
              </a:rPr>
              <a:t>작품 속에 무엇이 보이나요</a:t>
            </a: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?</a:t>
            </a:r>
          </a:p>
        </p:txBody>
      </p:sp>
      <p:sp>
        <p:nvSpPr>
          <p:cNvPr id="21" name="Oval 20"/>
          <p:cNvSpPr/>
          <p:nvPr/>
        </p:nvSpPr>
        <p:spPr>
          <a:xfrm>
            <a:off x="941832" y="4791455"/>
            <a:ext cx="173736" cy="173736"/>
          </a:xfrm>
          <a:prstGeom prst="ellipse">
            <a:avLst/>
          </a:prstGeom>
          <a:solidFill>
            <a:srgbClr val="FBA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298448" y="4785359"/>
            <a:ext cx="996696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lang="ko-KR" altLang="en-US" sz="2000" b="0" dirty="0">
                <a:solidFill>
                  <a:srgbClr val="3B3B3B"/>
                </a:solidFill>
                <a:latin typeface="고양덕양 B"/>
                <a:ea typeface="고양덕양 B"/>
              </a:rPr>
              <a:t>무슨 이야기가 숨어 있을까요</a:t>
            </a: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375650461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8</a:t>
            </a:fld>
            <a:endParaRPr lang="en-US" dirty="0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512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 </a:t>
            </a:r>
            <a:r>
              <a:rPr lang="en-US" altLang="ko-KR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1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lvl="0">
              <a:defRPr/>
            </a:pP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옛 그림과 만나기</a:t>
            </a:r>
          </a:p>
        </p:txBody>
      </p:sp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350D6A15-76B1-0CF5-9ABC-92B22CF4C0D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28163682"/>
              </p:ext>
            </p:extLst>
          </p:nvPr>
        </p:nvGraphicFramePr>
        <p:xfrm>
          <a:off x="361159" y="1522578"/>
          <a:ext cx="9683978" cy="4438878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3719461">
                  <a:extLst>
                    <a:ext uri="{9D8B030D-6E8A-4147-A177-3AD203B41FA5}">
                      <a16:colId xmlns:a16="http://schemas.microsoft.com/office/drawing/2014/main" val="3511918884"/>
                    </a:ext>
                  </a:extLst>
                </a:gridCol>
                <a:gridCol w="5964517">
                  <a:extLst>
                    <a:ext uri="{9D8B030D-6E8A-4147-A177-3AD203B41FA5}">
                      <a16:colId xmlns:a16="http://schemas.microsoft.com/office/drawing/2014/main" val="1190672579"/>
                    </a:ext>
                  </a:extLst>
                </a:gridCol>
              </a:tblGrid>
              <a:tr h="41943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b="1" dirty="0" err="1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초충도</a:t>
                      </a:r>
                      <a:endParaRPr lang="en-US" altLang="ko-KR" sz="1800" b="1" dirty="0">
                        <a:solidFill>
                          <a:srgbClr val="3B3B3B"/>
                        </a:solidFill>
                        <a:latin typeface="고양덕양 B"/>
                        <a:ea typeface="고양덕양 B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작품설명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85455267"/>
                  </a:ext>
                </a:extLst>
              </a:tr>
              <a:tr h="4019444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en-US" altLang="ko-KR" dirty="0"/>
                    </a:p>
                    <a:p>
                      <a:pPr marL="285750" indent="-285750" latinLnBrk="1">
                        <a:buFontTx/>
                        <a:buChar char="-"/>
                      </a:pPr>
                      <a:r>
                        <a:rPr lang="ko-KR" alt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조선시대 신사임당의 </a:t>
                      </a:r>
                      <a:r>
                        <a:rPr lang="ko-KR" altLang="en-US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초충도로</a:t>
                      </a:r>
                      <a:r>
                        <a:rPr lang="en-US" altLang="ko-KR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dirty="0"/>
                        <a:t>풀과 꽃</a:t>
                      </a:r>
                      <a:r>
                        <a:rPr lang="en-US" altLang="ko-KR" dirty="0"/>
                        <a:t>, </a:t>
                      </a:r>
                      <a:r>
                        <a:rPr lang="ko-KR" altLang="en-US" dirty="0"/>
                        <a:t>그리고 작은 벌레나 곤충</a:t>
                      </a:r>
                      <a:r>
                        <a:rPr lang="en-US" altLang="ko-KR" dirty="0"/>
                        <a:t>, </a:t>
                      </a:r>
                      <a:r>
                        <a:rPr lang="ko-KR" altLang="en-US" dirty="0"/>
                        <a:t>동물들을 세밀하게 표현한 그림이다</a:t>
                      </a:r>
                      <a:r>
                        <a:rPr lang="en-US" altLang="ko-KR" dirty="0"/>
                        <a:t>.</a:t>
                      </a:r>
                    </a:p>
                    <a:p>
                      <a:pPr marL="285750" indent="-285750" latinLnBrk="1">
                        <a:buFontTx/>
                        <a:buChar char="-"/>
                      </a:pPr>
                      <a:endParaRPr lang="en-US" altLang="ko-KR" dirty="0"/>
                    </a:p>
                    <a:p>
                      <a:pPr marL="285750" indent="-285750" latinLnBrk="1">
                        <a:buFontTx/>
                        <a:buChar char="-"/>
                      </a:pPr>
                      <a:r>
                        <a:rPr lang="ko-KR" altLang="en-US" dirty="0"/>
                        <a:t>주변 뜰에서 흔히 볼 수 있는 식물</a:t>
                      </a:r>
                      <a:r>
                        <a:rPr lang="en-US" altLang="ko-KR" dirty="0"/>
                        <a:t>(</a:t>
                      </a:r>
                      <a:r>
                        <a:rPr lang="ko-KR" altLang="en-US" dirty="0"/>
                        <a:t>수박</a:t>
                      </a:r>
                      <a:r>
                        <a:rPr lang="en-US" altLang="ko-KR" dirty="0"/>
                        <a:t>, </a:t>
                      </a:r>
                      <a:r>
                        <a:rPr lang="ko-KR" altLang="en-US" dirty="0"/>
                        <a:t>가지</a:t>
                      </a:r>
                      <a:r>
                        <a:rPr lang="en-US" altLang="ko-KR" dirty="0"/>
                        <a:t>, </a:t>
                      </a:r>
                      <a:r>
                        <a:rPr lang="ko-KR" altLang="en-US" dirty="0"/>
                        <a:t>오이</a:t>
                      </a:r>
                      <a:r>
                        <a:rPr lang="en-US" altLang="ko-KR" dirty="0"/>
                        <a:t>, </a:t>
                      </a:r>
                      <a:r>
                        <a:rPr lang="ko-KR" altLang="en-US" dirty="0" err="1"/>
                        <a:t>원추리</a:t>
                      </a:r>
                      <a:r>
                        <a:rPr lang="ko-KR" altLang="en-US" dirty="0"/>
                        <a:t> 등</a:t>
                      </a:r>
                      <a:r>
                        <a:rPr lang="en-US" altLang="ko-KR" dirty="0"/>
                        <a:t>)</a:t>
                      </a:r>
                      <a:r>
                        <a:rPr lang="ko-KR" altLang="en-US" dirty="0"/>
                        <a:t>과 곤충</a:t>
                      </a:r>
                      <a:r>
                        <a:rPr lang="en-US" altLang="ko-KR" dirty="0"/>
                        <a:t>(</a:t>
                      </a:r>
                      <a:r>
                        <a:rPr lang="ko-KR" altLang="en-US" dirty="0"/>
                        <a:t>나비</a:t>
                      </a:r>
                      <a:r>
                        <a:rPr lang="en-US" altLang="ko-KR" dirty="0"/>
                        <a:t>, </a:t>
                      </a:r>
                      <a:r>
                        <a:rPr lang="ko-KR" altLang="en-US" dirty="0"/>
                        <a:t>메뚜기</a:t>
                      </a:r>
                      <a:r>
                        <a:rPr lang="en-US" altLang="ko-KR" dirty="0"/>
                        <a:t>, </a:t>
                      </a:r>
                      <a:r>
                        <a:rPr lang="ko-KR" altLang="en-US" dirty="0"/>
                        <a:t>패랭이</a:t>
                      </a:r>
                      <a:r>
                        <a:rPr lang="en-US" altLang="ko-KR" dirty="0"/>
                        <a:t>, </a:t>
                      </a:r>
                      <a:r>
                        <a:rPr lang="ko-KR" altLang="en-US" dirty="0"/>
                        <a:t>들쥐 등</a:t>
                      </a:r>
                      <a:r>
                        <a:rPr lang="en-US" altLang="ko-KR" dirty="0"/>
                        <a:t>)</a:t>
                      </a:r>
                      <a:r>
                        <a:rPr lang="ko-KR" altLang="en-US" dirty="0"/>
                        <a:t>을 놀라울 정도로 정밀하게 관찰하여 나타내었다</a:t>
                      </a:r>
                      <a:r>
                        <a:rPr lang="en-US" altLang="ko-KR" dirty="0"/>
                        <a:t>.</a:t>
                      </a:r>
                    </a:p>
                    <a:p>
                      <a:pPr marL="285750" indent="-285750" latinLnBrk="1">
                        <a:buFontTx/>
                        <a:buChar char="-"/>
                      </a:pPr>
                      <a:endParaRPr lang="en-US" altLang="ko-KR" dirty="0"/>
                    </a:p>
                    <a:p>
                      <a:pPr marL="285750" indent="-285750" latinLnBrk="1">
                        <a:buFontTx/>
                        <a:buChar char="-"/>
                      </a:pPr>
                      <a:r>
                        <a:rPr lang="ko-KR" altLang="en-US" dirty="0"/>
                        <a:t>자손 번창</a:t>
                      </a:r>
                      <a:r>
                        <a:rPr lang="en-US" altLang="ko-KR" dirty="0"/>
                        <a:t>(</a:t>
                      </a:r>
                      <a:r>
                        <a:rPr lang="ko-KR" altLang="en-US" dirty="0"/>
                        <a:t>수박</a:t>
                      </a:r>
                      <a:r>
                        <a:rPr lang="en-US" altLang="ko-KR" dirty="0"/>
                        <a:t>·</a:t>
                      </a:r>
                      <a:r>
                        <a:rPr lang="ko-KR" altLang="en-US" dirty="0"/>
                        <a:t>가지의 많은 씨앗</a:t>
                      </a:r>
                      <a:r>
                        <a:rPr lang="en-US" altLang="ko-KR" dirty="0"/>
                        <a:t>), </a:t>
                      </a:r>
                      <a:r>
                        <a:rPr lang="ko-KR" altLang="en-US" dirty="0"/>
                        <a:t>장수</a:t>
                      </a:r>
                      <a:r>
                        <a:rPr lang="en-US" altLang="ko-KR" dirty="0"/>
                        <a:t>, </a:t>
                      </a:r>
                      <a:r>
                        <a:rPr lang="ko-KR" altLang="en-US" dirty="0"/>
                        <a:t>부귀 등의 의미가 담겨있다</a:t>
                      </a:r>
                      <a:r>
                        <a:rPr lang="en-US" altLang="ko-KR" dirty="0"/>
                        <a:t>.</a:t>
                      </a:r>
                    </a:p>
                    <a:p>
                      <a:pPr marL="285750" indent="-285750" latinLnBrk="1">
                        <a:buFontTx/>
                        <a:buChar char="-"/>
                      </a:pPr>
                      <a:endParaRPr lang="en-US" altLang="ko-KR" dirty="0"/>
                    </a:p>
                    <a:p>
                      <a:pPr marL="285750" indent="-285750" latinLnBrk="1">
                        <a:buFontTx/>
                        <a:buChar char="-"/>
                      </a:pPr>
                      <a:r>
                        <a:rPr lang="ko-KR" altLang="en-US" dirty="0"/>
                        <a:t>지폐에서 신사임당의 모습과 작품을 확인할 수 있다</a:t>
                      </a:r>
                      <a:r>
                        <a:rPr lang="en-US" altLang="ko-KR" dirty="0"/>
                        <a:t>.</a:t>
                      </a:r>
                      <a:endParaRPr lang="en-US" altLang="ko-KR" sz="18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91339957"/>
                  </a:ext>
                </a:extLst>
              </a:tr>
            </a:tbl>
          </a:graphicData>
        </a:graphic>
      </p:graphicFrame>
      <p:pic>
        <p:nvPicPr>
          <p:cNvPr id="3" name="그림 2">
            <a:hlinkClick r:id="rId3"/>
            <a:extLst>
              <a:ext uri="{FF2B5EF4-FFF2-40B4-BE49-F238E27FC236}">
                <a16:creationId xmlns:a16="http://schemas.microsoft.com/office/drawing/2014/main" id="{FE9DC248-5AB7-3B46-21C0-AD514946C15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842" y="2116183"/>
            <a:ext cx="3104041" cy="3653246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89A1E8C8-9BA0-11E1-A05B-E7EA1C0A43A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63454" y="5348349"/>
            <a:ext cx="3174521" cy="10419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9F0DE910-2A86-8A8E-84BE-A5DD23086D8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32566" y="5341146"/>
            <a:ext cx="3238091" cy="10641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DBD1D3F-C700-3809-0ADA-32E0A11B67D2}"/>
              </a:ext>
            </a:extLst>
          </p:cNvPr>
          <p:cNvSpPr txBox="1"/>
          <p:nvPr/>
        </p:nvSpPr>
        <p:spPr>
          <a:xfrm>
            <a:off x="10530772" y="6246554"/>
            <a:ext cx="1972738" cy="1661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l">
              <a:lnSpc>
                <a:spcPct val="90000"/>
              </a:lnSpc>
              <a:defRPr/>
            </a:pPr>
            <a:r>
              <a:rPr lang="ko-KR" altLang="en-US" sz="1200" dirty="0">
                <a:solidFill>
                  <a:srgbClr val="3B3B3B"/>
                </a:solidFill>
                <a:latin typeface="고양덕양 B"/>
                <a:ea typeface="고양덕양 B"/>
              </a:rPr>
              <a:t>출처</a:t>
            </a:r>
            <a:r>
              <a:rPr lang="en-US" altLang="ko-KR" sz="1200" dirty="0">
                <a:solidFill>
                  <a:srgbClr val="3B3B3B"/>
                </a:solidFill>
                <a:latin typeface="고양덕양 B"/>
                <a:ea typeface="고양덕양 B"/>
              </a:rPr>
              <a:t>: </a:t>
            </a:r>
            <a:r>
              <a:rPr lang="ko-KR" altLang="en-US" sz="1200" dirty="0">
                <a:solidFill>
                  <a:srgbClr val="3B3B3B"/>
                </a:solidFill>
                <a:latin typeface="고양덕양 B"/>
                <a:ea typeface="고양덕양 B"/>
              </a:rPr>
              <a:t>한국은행</a:t>
            </a:r>
            <a:endParaRPr sz="1200" b="0" dirty="0">
              <a:solidFill>
                <a:srgbClr val="3B3B3B"/>
              </a:solidFill>
              <a:latin typeface="고양덕양 B"/>
              <a:ea typeface="고양덕양 B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C734577-34FD-3303-9AF8-945EF35581DC}"/>
              </a:ext>
            </a:extLst>
          </p:cNvPr>
          <p:cNvSpPr txBox="1"/>
          <p:nvPr/>
        </p:nvSpPr>
        <p:spPr>
          <a:xfrm>
            <a:off x="83864" y="6599812"/>
            <a:ext cx="6734186" cy="1661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lang="ko-KR" altLang="en-US" sz="1200" dirty="0">
                <a:solidFill>
                  <a:srgbClr val="3B3B3B"/>
                </a:solidFill>
                <a:latin typeface="고양덕양 B"/>
                <a:ea typeface="고양덕양 B"/>
              </a:rPr>
              <a:t>출처</a:t>
            </a:r>
            <a:r>
              <a:rPr lang="en-US" altLang="ko-KR" sz="1200" dirty="0">
                <a:solidFill>
                  <a:srgbClr val="3B3B3B"/>
                </a:solidFill>
                <a:latin typeface="고양덕양 B"/>
                <a:ea typeface="고양덕양 B"/>
              </a:rPr>
              <a:t>: e</a:t>
            </a:r>
            <a:r>
              <a:rPr lang="ko-KR" altLang="en-US" sz="1200" dirty="0">
                <a:solidFill>
                  <a:srgbClr val="3B3B3B"/>
                </a:solidFill>
                <a:latin typeface="고양덕양 B"/>
                <a:ea typeface="고양덕양 B"/>
              </a:rPr>
              <a:t>뮤지엄</a:t>
            </a:r>
            <a:r>
              <a:rPr lang="en-US" altLang="ko-KR" sz="1200" dirty="0">
                <a:solidFill>
                  <a:srgbClr val="3B3B3B"/>
                </a:solidFill>
                <a:latin typeface="고양덕양 B"/>
                <a:ea typeface="고양덕양 B"/>
              </a:rPr>
              <a:t>(</a:t>
            </a:r>
            <a:r>
              <a:rPr lang="ko-KR" altLang="en-US" sz="1200" dirty="0">
                <a:solidFill>
                  <a:srgbClr val="3B3B3B"/>
                </a:solidFill>
                <a:latin typeface="고양덕양 B"/>
                <a:ea typeface="고양덕양 B"/>
              </a:rPr>
              <a:t>국립중앙박물관</a:t>
            </a:r>
            <a:r>
              <a:rPr lang="en-US" altLang="ko-KR" sz="1200" dirty="0">
                <a:solidFill>
                  <a:srgbClr val="3B3B3B"/>
                </a:solidFill>
                <a:latin typeface="고양덕양 B"/>
                <a:ea typeface="고양덕양 B"/>
              </a:rPr>
              <a:t> </a:t>
            </a:r>
            <a:r>
              <a:rPr lang="ko-KR" altLang="en-US" sz="1200" dirty="0" err="1">
                <a:solidFill>
                  <a:srgbClr val="3B3B3B"/>
                </a:solidFill>
                <a:latin typeface="고양덕양 B"/>
                <a:ea typeface="고양덕양 B"/>
              </a:rPr>
              <a:t>누리집</a:t>
            </a:r>
            <a:r>
              <a:rPr lang="en-US" altLang="ko-KR" sz="1200" dirty="0">
                <a:solidFill>
                  <a:srgbClr val="3B3B3B"/>
                </a:solidFill>
                <a:latin typeface="고양덕양 B"/>
                <a:ea typeface="고양덕양 B"/>
              </a:rPr>
              <a:t>)</a:t>
            </a:r>
            <a:r>
              <a:rPr lang="ko-KR" altLang="en-US" sz="1200" dirty="0">
                <a:solidFill>
                  <a:srgbClr val="3B3B3B"/>
                </a:solidFill>
                <a:latin typeface="고양덕양 B"/>
                <a:ea typeface="고양덕양 B"/>
              </a:rPr>
              <a:t> </a:t>
            </a:r>
            <a:r>
              <a:rPr lang="en-US" altLang="ko-KR" sz="1200" dirty="0">
                <a:solidFill>
                  <a:srgbClr val="3B3B3B"/>
                </a:solidFill>
                <a:latin typeface="고양덕양 B"/>
                <a:ea typeface="고양덕양 B"/>
              </a:rPr>
              <a:t>/ </a:t>
            </a:r>
            <a:r>
              <a:rPr lang="ko-KR" altLang="en-US" sz="1200" b="0" i="0" dirty="0">
                <a:solidFill>
                  <a:srgbClr val="333333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전 </a:t>
            </a:r>
            <a:r>
              <a:rPr lang="ko-KR" altLang="en-US" sz="1200" b="0" i="0" dirty="0" err="1">
                <a:solidFill>
                  <a:srgbClr val="333333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신사임당필</a:t>
            </a:r>
            <a:r>
              <a:rPr lang="ko-KR" altLang="en-US" sz="1200" b="0" i="0" dirty="0">
                <a:solidFill>
                  <a:srgbClr val="333333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sz="1200" b="0" i="0" dirty="0" err="1">
                <a:solidFill>
                  <a:srgbClr val="333333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초충도</a:t>
            </a:r>
            <a:endParaRPr sz="1200" b="0" dirty="0">
              <a:solidFill>
                <a:srgbClr val="3B3B3B"/>
              </a:solidFill>
              <a:latin typeface="고양덕양 B"/>
              <a:ea typeface="고양덕양 B"/>
            </a:endParaRPr>
          </a:p>
        </p:txBody>
      </p:sp>
      <p:pic>
        <p:nvPicPr>
          <p:cNvPr id="6" name="Picture 2" descr="1유형">
            <a:extLst>
              <a:ext uri="{FF2B5EF4-FFF2-40B4-BE49-F238E27FC236}">
                <a16:creationId xmlns:a16="http://schemas.microsoft.com/office/drawing/2014/main" id="{D8E51DC2-9726-67BD-B16E-FB9CD8D34E8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06217" y="6541484"/>
            <a:ext cx="739276" cy="2828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5427807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ounded Rectangle 22"/>
          <p:cNvSpPr/>
          <p:nvPr/>
        </p:nvSpPr>
        <p:spPr>
          <a:xfrm>
            <a:off x="798643" y="3029618"/>
            <a:ext cx="10424160" cy="3736942"/>
          </a:xfrm>
          <a:prstGeom prst="roundRect">
            <a:avLst>
              <a:gd name="adj" fmla="val 10000"/>
            </a:avLst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9</a:t>
            </a:fld>
            <a:endParaRPr lang="en-US" dirty="0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512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</a:t>
            </a:r>
            <a:r>
              <a:rPr lang="en-US" altLang="ko-KR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 2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lvl="0">
              <a:defRPr/>
            </a:pPr>
            <a:r>
              <a:rPr lang="ko-KR" altLang="en-US" b="1" dirty="0" err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아트풀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 </a:t>
            </a:r>
            <a:r>
              <a:rPr lang="ko-KR" altLang="en-US" b="1" dirty="0" err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씽킹으로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 생각하기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83920" y="1826276"/>
            <a:ext cx="10424160" cy="1051560"/>
          </a:xfrm>
          <a:prstGeom prst="roundRect">
            <a:avLst>
              <a:gd name="adj" fmla="val 10000"/>
            </a:avLst>
          </a:prstGeom>
          <a:solidFill>
            <a:srgbClr val="FFF4E2"/>
          </a:solidFill>
          <a:ln w="15875">
            <a:solidFill>
              <a:srgbClr val="FBAE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72963" y="2199656"/>
            <a:ext cx="9875520" cy="304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 algn="ctr">
              <a:lnSpc>
                <a:spcPct val="100000"/>
              </a:lnSpc>
              <a:defRPr/>
            </a:pPr>
            <a:r>
              <a:rPr lang="ko-KR" altLang="en-US" sz="2000" b="1" dirty="0">
                <a:solidFill>
                  <a:srgbClr val="3B3B3B"/>
                </a:solidFill>
                <a:latin typeface="고양덕양 B"/>
                <a:ea typeface="고양덕양 B"/>
              </a:rPr>
              <a:t>정교화 놀이</a:t>
            </a:r>
            <a:endParaRPr sz="2000" b="1" dirty="0">
              <a:solidFill>
                <a:srgbClr val="3B3B3B"/>
              </a:solidFill>
              <a:latin typeface="고양덕양 B"/>
              <a:ea typeface="고양덕양 B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1268773" y="6323362"/>
            <a:ext cx="10185544" cy="4431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ko-KR" altLang="en-US" sz="1600" dirty="0">
                <a:solidFill>
                  <a:srgbClr val="3B3B3B"/>
                </a:solidFill>
                <a:latin typeface="고양덕양 B"/>
                <a:ea typeface="고양덕양 B"/>
              </a:rPr>
              <a:t>* 반드시 눈으로 관찰한 사실만을 말하며 작품에 대한 해석이나 의견은 이야기하지 않는다</a:t>
            </a:r>
            <a:r>
              <a:rPr lang="en-US" altLang="ko-KR" sz="1600" dirty="0">
                <a:solidFill>
                  <a:srgbClr val="3B3B3B"/>
                </a:solidFill>
                <a:latin typeface="고양덕양 B"/>
                <a:ea typeface="고양덕양 B"/>
              </a:rPr>
              <a:t>.</a:t>
            </a:r>
            <a:endParaRPr lang="ko-KR" altLang="en-US" sz="1600" b="0" dirty="0">
              <a:solidFill>
                <a:srgbClr val="3B3B3B"/>
              </a:solidFill>
              <a:latin typeface="고양덕양 B"/>
              <a:ea typeface="고양덕양 B"/>
            </a:endParaRPr>
          </a:p>
          <a:p>
            <a:pPr lvl="0" algn="l">
              <a:lnSpc>
                <a:spcPct val="90000"/>
              </a:lnSpc>
              <a:defRPr/>
            </a:pPr>
            <a:endParaRPr sz="1600" b="0" dirty="0">
              <a:solidFill>
                <a:srgbClr val="3B3B3B"/>
              </a:solidFill>
              <a:latin typeface="고양덕양 B"/>
              <a:ea typeface="고양덕양 B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1143000" y="3317712"/>
            <a:ext cx="9966960" cy="30469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1.</a:t>
            </a:r>
            <a:r>
              <a:rPr lang="ko-KR" altLang="en-US" sz="2000" b="0" dirty="0">
                <a:solidFill>
                  <a:srgbClr val="3B3B3B"/>
                </a:solidFill>
                <a:latin typeface="고양덕양 B"/>
                <a:ea typeface="고양덕양 B"/>
              </a:rPr>
              <a:t> 각자 작품을 조용히 </a:t>
            </a: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1</a:t>
            </a:r>
            <a:r>
              <a:rPr lang="ko-KR" altLang="en-US" sz="2000" b="0" dirty="0">
                <a:solidFill>
                  <a:srgbClr val="3B3B3B"/>
                </a:solidFill>
                <a:latin typeface="고양덕양 B"/>
                <a:ea typeface="고양덕양 B"/>
              </a:rPr>
              <a:t>분간 관찰한다</a:t>
            </a: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.</a:t>
            </a:r>
            <a:endParaRPr lang="en-US" altLang="ko-KR" sz="2000" dirty="0">
              <a:solidFill>
                <a:srgbClr val="3B3B3B"/>
              </a:solidFill>
              <a:latin typeface="고양덕양 B"/>
              <a:ea typeface="고양덕양 B"/>
            </a:endParaRPr>
          </a:p>
          <a:p>
            <a:pPr>
              <a:lnSpc>
                <a:spcPct val="90000"/>
              </a:lnSpc>
              <a:defRPr/>
            </a:pPr>
            <a:endParaRPr lang="en-US" altLang="ko-KR" sz="2000" dirty="0">
              <a:solidFill>
                <a:srgbClr val="3B3B3B"/>
              </a:solidFill>
              <a:latin typeface="고양덕양 B"/>
              <a:ea typeface="고양덕양 B"/>
            </a:endParaRPr>
          </a:p>
          <a:p>
            <a:pPr>
              <a:lnSpc>
                <a:spcPct val="90000"/>
              </a:lnSpc>
              <a:defRPr/>
            </a:pPr>
            <a:r>
              <a:rPr lang="en-US" altLang="ko-KR" sz="2000" dirty="0">
                <a:solidFill>
                  <a:srgbClr val="3B3B3B"/>
                </a:solidFill>
                <a:latin typeface="고양덕양 B"/>
                <a:ea typeface="고양덕양 B"/>
              </a:rPr>
              <a:t>2.</a:t>
            </a:r>
            <a:r>
              <a:rPr lang="ko-KR" altLang="en-US" sz="2000" dirty="0">
                <a:solidFill>
                  <a:srgbClr val="3B3B3B"/>
                </a:solidFill>
                <a:latin typeface="고양덕양 B"/>
                <a:ea typeface="고양덕양 B"/>
              </a:rPr>
              <a:t> </a:t>
            </a:r>
            <a:r>
              <a:rPr lang="ko-KR" altLang="en-US" sz="2000" dirty="0" err="1">
                <a:solidFill>
                  <a:srgbClr val="3B3B3B"/>
                </a:solidFill>
                <a:latin typeface="고양덕양 B"/>
                <a:ea typeface="고양덕양 B"/>
              </a:rPr>
              <a:t>모둠원과</a:t>
            </a:r>
            <a:r>
              <a:rPr lang="ko-KR" altLang="en-US" sz="2000" dirty="0">
                <a:solidFill>
                  <a:srgbClr val="3B3B3B"/>
                </a:solidFill>
                <a:latin typeface="고양덕양 B"/>
                <a:ea typeface="고양덕양 B"/>
              </a:rPr>
              <a:t> 함께 관찰할 작품과 설명 순서를 정한다</a:t>
            </a:r>
            <a:r>
              <a:rPr lang="en-US" altLang="ko-KR" sz="2000" dirty="0">
                <a:solidFill>
                  <a:srgbClr val="3B3B3B"/>
                </a:solidFill>
                <a:latin typeface="고양덕양 B"/>
                <a:ea typeface="고양덕양 B"/>
              </a:rPr>
              <a:t>.</a:t>
            </a:r>
          </a:p>
          <a:p>
            <a:pPr lvl="0" algn="l">
              <a:lnSpc>
                <a:spcPct val="90000"/>
              </a:lnSpc>
              <a:defRPr/>
            </a:pPr>
            <a:endParaRPr lang="en-US" altLang="ko-KR" sz="2000" dirty="0">
              <a:solidFill>
                <a:srgbClr val="3B3B3B"/>
              </a:solidFill>
              <a:latin typeface="고양덕양 B"/>
              <a:ea typeface="고양덕양 B"/>
            </a:endParaRPr>
          </a:p>
          <a:p>
            <a:pPr lvl="0" algn="l">
              <a:lnSpc>
                <a:spcPct val="90000"/>
              </a:lnSpc>
              <a:defRPr/>
            </a:pPr>
            <a:r>
              <a:rPr lang="en-US" altLang="ko-KR" sz="2000" dirty="0">
                <a:solidFill>
                  <a:srgbClr val="3B3B3B"/>
                </a:solidFill>
                <a:latin typeface="고양덕양 B"/>
                <a:ea typeface="고양덕양 B"/>
              </a:rPr>
              <a:t>3. </a:t>
            </a:r>
            <a:r>
              <a:rPr lang="ko-KR" altLang="en-US" sz="2000" dirty="0">
                <a:solidFill>
                  <a:srgbClr val="3B3B3B"/>
                </a:solidFill>
                <a:latin typeface="고양덕양 B"/>
                <a:ea typeface="고양덕양 B"/>
              </a:rPr>
              <a:t>첫 번째 학생은 작품의 특정 부분을 선택하여 해당 부분에서 관찰한 내용을 구체적으로 설명한다</a:t>
            </a:r>
            <a:r>
              <a:rPr lang="en-US" altLang="ko-KR" sz="2000" dirty="0">
                <a:solidFill>
                  <a:srgbClr val="3B3B3B"/>
                </a:solidFill>
                <a:latin typeface="고양덕양 B"/>
                <a:ea typeface="고양덕양 B"/>
              </a:rPr>
              <a:t>.</a:t>
            </a:r>
          </a:p>
          <a:p>
            <a:pPr lvl="0" algn="l">
              <a:lnSpc>
                <a:spcPct val="90000"/>
              </a:lnSpc>
              <a:defRPr/>
            </a:pPr>
            <a:endParaRPr lang="en-US" sz="2000" b="0" dirty="0">
              <a:solidFill>
                <a:srgbClr val="3B3B3B"/>
              </a:solidFill>
              <a:latin typeface="고양덕양 B"/>
              <a:ea typeface="고양덕양 B"/>
            </a:endParaRPr>
          </a:p>
          <a:p>
            <a:pPr lvl="0" algn="l">
              <a:lnSpc>
                <a:spcPct val="90000"/>
              </a:lnSpc>
              <a:defRPr/>
            </a:pPr>
            <a:r>
              <a:rPr lang="en-US" sz="2000" dirty="0">
                <a:solidFill>
                  <a:srgbClr val="3B3B3B"/>
                </a:solidFill>
                <a:latin typeface="고양덕양 B"/>
                <a:ea typeface="고양덕양 B"/>
              </a:rPr>
              <a:t>4. </a:t>
            </a:r>
            <a:r>
              <a:rPr lang="ko-KR" altLang="en-US" sz="2000" dirty="0">
                <a:solidFill>
                  <a:srgbClr val="3B3B3B"/>
                </a:solidFill>
                <a:latin typeface="고양덕양 B"/>
                <a:ea typeface="고양덕양 B"/>
              </a:rPr>
              <a:t>두 번째 학생은 첫번째 학생의 관찰 내용에 세부사항을 덧붙여 설명한다</a:t>
            </a:r>
            <a:r>
              <a:rPr lang="en-US" altLang="ko-KR" sz="2000" dirty="0">
                <a:solidFill>
                  <a:srgbClr val="3B3B3B"/>
                </a:solidFill>
                <a:latin typeface="고양덕양 B"/>
                <a:ea typeface="고양덕양 B"/>
              </a:rPr>
              <a:t>.</a:t>
            </a:r>
          </a:p>
          <a:p>
            <a:pPr lvl="0" algn="l">
              <a:lnSpc>
                <a:spcPct val="90000"/>
              </a:lnSpc>
              <a:defRPr/>
            </a:pPr>
            <a:endParaRPr lang="en-US" sz="2000" b="0" dirty="0">
              <a:solidFill>
                <a:srgbClr val="3B3B3B"/>
              </a:solidFill>
              <a:latin typeface="고양덕양 B"/>
              <a:ea typeface="고양덕양 B"/>
            </a:endParaRPr>
          </a:p>
          <a:p>
            <a:pPr lvl="0" algn="l">
              <a:lnSpc>
                <a:spcPct val="90000"/>
              </a:lnSpc>
              <a:defRPr/>
            </a:pPr>
            <a:r>
              <a:rPr lang="en-US" sz="2000" dirty="0">
                <a:solidFill>
                  <a:srgbClr val="3B3B3B"/>
                </a:solidFill>
                <a:latin typeface="고양덕양 B"/>
                <a:ea typeface="고양덕양 B"/>
              </a:rPr>
              <a:t>5. </a:t>
            </a:r>
            <a:r>
              <a:rPr lang="ko-KR" altLang="en-US" sz="2000" dirty="0">
                <a:solidFill>
                  <a:srgbClr val="3B3B3B"/>
                </a:solidFill>
                <a:latin typeface="고양덕양 B"/>
                <a:ea typeface="고양덕양 B"/>
              </a:rPr>
              <a:t>세 번째 네번째 학생도 같은 방식으로 덧붙여 이야기한다</a:t>
            </a:r>
            <a:r>
              <a:rPr lang="en-US" altLang="ko-KR" sz="2000" dirty="0">
                <a:solidFill>
                  <a:srgbClr val="3B3B3B"/>
                </a:solidFill>
                <a:latin typeface="고양덕양 B"/>
                <a:ea typeface="고양덕양 B"/>
              </a:rPr>
              <a:t>.</a:t>
            </a:r>
          </a:p>
          <a:p>
            <a:pPr lvl="0" algn="l">
              <a:lnSpc>
                <a:spcPct val="90000"/>
              </a:lnSpc>
              <a:defRPr/>
            </a:pPr>
            <a:endParaRPr lang="en-US" sz="2000" b="0" dirty="0">
              <a:solidFill>
                <a:srgbClr val="3B3B3B"/>
              </a:solidFill>
              <a:latin typeface="고양덕양 B"/>
              <a:ea typeface="고양덕양 B"/>
            </a:endParaRPr>
          </a:p>
        </p:txBody>
      </p:sp>
    </p:spTree>
    <p:extLst>
      <p:ext uri="{BB962C8B-B14F-4D97-AF65-F5344CB8AC3E}">
        <p14:creationId xmlns:p14="http://schemas.microsoft.com/office/powerpoint/2010/main" val="375650461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 dirty="0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 </a:t>
            </a:r>
            <a:r>
              <a:rPr lang="en-US" altLang="ko-KR" sz="2400" spc="-147" dirty="0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2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lvl="0">
              <a:defRPr/>
            </a:pPr>
            <a:r>
              <a:rPr lang="ko-KR" altLang="en-US" b="1" dirty="0" err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아트풀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 </a:t>
            </a:r>
            <a:r>
              <a:rPr lang="ko-KR" altLang="en-US" b="1" dirty="0" err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씽킹으로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 생각하기</a:t>
            </a:r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5A9CCF7A-BF13-7DC2-7227-408772CEA12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10050391"/>
              </p:ext>
            </p:extLst>
          </p:nvPr>
        </p:nvGraphicFramePr>
        <p:xfrm>
          <a:off x="415106" y="2059025"/>
          <a:ext cx="2888343" cy="41916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88343">
                  <a:extLst>
                    <a:ext uri="{9D8B030D-6E8A-4147-A177-3AD203B41FA5}">
                      <a16:colId xmlns:a16="http://schemas.microsoft.com/office/drawing/2014/main" val="714158368"/>
                    </a:ext>
                  </a:extLst>
                </a:gridCol>
              </a:tblGrid>
              <a:tr h="53736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&lt;</a:t>
                      </a:r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작품</a:t>
                      </a:r>
                      <a:r>
                        <a:rPr lang="en-US" altLang="ko-KR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&gt;</a:t>
                      </a:r>
                    </a:p>
                  </a:txBody>
                  <a:tcP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81045496"/>
                  </a:ext>
                </a:extLst>
              </a:tr>
              <a:tr h="3654331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6218258"/>
                  </a:ext>
                </a:extLst>
              </a:tr>
            </a:tbl>
          </a:graphicData>
        </a:graphic>
      </p:graphicFrame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770C4C33-8926-7809-302B-EB583947A8B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83142692"/>
              </p:ext>
            </p:extLst>
          </p:nvPr>
        </p:nvGraphicFramePr>
        <p:xfrm>
          <a:off x="3407955" y="2059025"/>
          <a:ext cx="7878354" cy="41916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39177">
                  <a:extLst>
                    <a:ext uri="{9D8B030D-6E8A-4147-A177-3AD203B41FA5}">
                      <a16:colId xmlns:a16="http://schemas.microsoft.com/office/drawing/2014/main" val="3388685008"/>
                    </a:ext>
                  </a:extLst>
                </a:gridCol>
                <a:gridCol w="3939177">
                  <a:extLst>
                    <a:ext uri="{9D8B030D-6E8A-4147-A177-3AD203B41FA5}">
                      <a16:colId xmlns:a16="http://schemas.microsoft.com/office/drawing/2014/main" val="1209160884"/>
                    </a:ext>
                  </a:extLst>
                </a:gridCol>
              </a:tblGrid>
              <a:tr h="2095848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관찰한 부분</a:t>
                      </a:r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왼쪽 위</a:t>
                      </a:r>
                      <a:endParaRPr lang="en-US" altLang="ko-KR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관찰 내용</a:t>
                      </a:r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: 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관찰한 부분</a:t>
                      </a:r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오른쪽 위</a:t>
                      </a:r>
                      <a:endParaRPr lang="en-US" altLang="ko-KR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관찰 내용</a:t>
                      </a:r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: 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14209861"/>
                  </a:ext>
                </a:extLst>
              </a:tr>
              <a:tr h="2095848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관찰한 부분</a:t>
                      </a:r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왼쪽 아래</a:t>
                      </a:r>
                      <a:endParaRPr lang="en-US" altLang="ko-KR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관찰 내용</a:t>
                      </a:r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: 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관찰한 부분</a:t>
                      </a:r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오른쪽 아래</a:t>
                      </a:r>
                      <a:endParaRPr lang="en-US" altLang="ko-KR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관찰 내용</a:t>
                      </a:r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: 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5456603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6228065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ounded Rectangle 22">
            <a:extLst>
              <a:ext uri="{FF2B5EF4-FFF2-40B4-BE49-F238E27FC236}">
                <a16:creationId xmlns:a16="http://schemas.microsoft.com/office/drawing/2014/main" id="{2311F1A2-C57E-8C9B-5CA9-CEC91E942AA4}"/>
              </a:ext>
            </a:extLst>
          </p:cNvPr>
          <p:cNvSpPr/>
          <p:nvPr/>
        </p:nvSpPr>
        <p:spPr>
          <a:xfrm>
            <a:off x="798643" y="3557015"/>
            <a:ext cx="10424160" cy="1651331"/>
          </a:xfrm>
          <a:prstGeom prst="roundRect">
            <a:avLst>
              <a:gd name="adj" fmla="val 10000"/>
            </a:avLst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11</a:t>
            </a:fld>
            <a:endParaRPr lang="en-US" dirty="0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512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 </a:t>
            </a:r>
            <a:r>
              <a:rPr lang="en-US" altLang="ko-KR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3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lvl="0">
              <a:defRPr/>
            </a:pP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생각의 팔레트 확장하기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68680" y="2176272"/>
            <a:ext cx="10424160" cy="1051560"/>
          </a:xfrm>
          <a:prstGeom prst="roundRect">
            <a:avLst>
              <a:gd name="adj" fmla="val 10000"/>
            </a:avLst>
          </a:prstGeom>
          <a:solidFill>
            <a:srgbClr val="FFF4E2"/>
          </a:solidFill>
          <a:ln w="15875">
            <a:solidFill>
              <a:srgbClr val="FBAE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" name="Oval 16">
            <a:extLst>
              <a:ext uri="{FF2B5EF4-FFF2-40B4-BE49-F238E27FC236}">
                <a16:creationId xmlns:a16="http://schemas.microsoft.com/office/drawing/2014/main" id="{85629DCC-9E12-7248-ED30-C7F6ACAF46A0}"/>
              </a:ext>
            </a:extLst>
          </p:cNvPr>
          <p:cNvSpPr/>
          <p:nvPr/>
        </p:nvSpPr>
        <p:spPr>
          <a:xfrm>
            <a:off x="941832" y="3785615"/>
            <a:ext cx="173736" cy="173736"/>
          </a:xfrm>
          <a:prstGeom prst="ellipse">
            <a:avLst/>
          </a:prstGeom>
          <a:solidFill>
            <a:srgbClr val="FBA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8CAB5DD-0815-3520-DA5A-441A8C7E09EA}"/>
              </a:ext>
            </a:extLst>
          </p:cNvPr>
          <p:cNvSpPr txBox="1"/>
          <p:nvPr/>
        </p:nvSpPr>
        <p:spPr>
          <a:xfrm>
            <a:off x="1298448" y="3760470"/>
            <a:ext cx="996696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lang="en-US" altLang="ko-KR" sz="2000" dirty="0">
                <a:solidFill>
                  <a:srgbClr val="3B3B3B"/>
                </a:solidFill>
                <a:latin typeface="고양덕양 B"/>
                <a:ea typeface="고양덕양 B"/>
              </a:rPr>
              <a:t>‘e</a:t>
            </a:r>
            <a:r>
              <a:rPr lang="ko-KR" altLang="en-US" sz="2000" dirty="0">
                <a:solidFill>
                  <a:srgbClr val="3B3B3B"/>
                </a:solidFill>
                <a:latin typeface="고양덕양 B"/>
                <a:ea typeface="고양덕양 B"/>
              </a:rPr>
              <a:t>뮤지엄</a:t>
            </a:r>
            <a:r>
              <a:rPr lang="en-US" altLang="ko-KR" sz="2000" dirty="0">
                <a:solidFill>
                  <a:srgbClr val="3B3B3B"/>
                </a:solidFill>
                <a:latin typeface="고양덕양 B"/>
                <a:ea typeface="고양덕양 B"/>
              </a:rPr>
              <a:t>’ </a:t>
            </a:r>
            <a:r>
              <a:rPr lang="ko-KR" altLang="en-US" sz="2000" dirty="0">
                <a:solidFill>
                  <a:srgbClr val="3B3B3B"/>
                </a:solidFill>
                <a:latin typeface="고양덕양 B"/>
                <a:ea typeface="고양덕양 B"/>
              </a:rPr>
              <a:t>누리집을 방문하여 작품들을 살펴본다</a:t>
            </a:r>
            <a:r>
              <a:rPr lang="en-US" altLang="ko-KR" sz="2000" dirty="0">
                <a:solidFill>
                  <a:srgbClr val="3B3B3B"/>
                </a:solidFill>
                <a:latin typeface="고양덕양 B"/>
                <a:ea typeface="고양덕양 B"/>
              </a:rPr>
              <a:t>.</a:t>
            </a:r>
            <a:endParaRPr sz="2000" b="0" dirty="0">
              <a:solidFill>
                <a:srgbClr val="3B3B3B"/>
              </a:solidFill>
              <a:latin typeface="고양덕양 B"/>
              <a:ea typeface="고양덕양 B"/>
            </a:endParaRPr>
          </a:p>
        </p:txBody>
      </p:sp>
      <p:sp>
        <p:nvSpPr>
          <p:cNvPr id="4" name="Oval 18">
            <a:extLst>
              <a:ext uri="{FF2B5EF4-FFF2-40B4-BE49-F238E27FC236}">
                <a16:creationId xmlns:a16="http://schemas.microsoft.com/office/drawing/2014/main" id="{2EA8DE01-85FB-A8AE-1F77-A5D98EEDA1FF}"/>
              </a:ext>
            </a:extLst>
          </p:cNvPr>
          <p:cNvSpPr/>
          <p:nvPr/>
        </p:nvSpPr>
        <p:spPr>
          <a:xfrm>
            <a:off x="941832" y="4288536"/>
            <a:ext cx="173736" cy="173736"/>
          </a:xfrm>
          <a:prstGeom prst="ellipse">
            <a:avLst/>
          </a:prstGeom>
          <a:solidFill>
            <a:srgbClr val="FBA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0E91CD8-7275-00EC-05AA-7E47289BECC4}"/>
              </a:ext>
            </a:extLst>
          </p:cNvPr>
          <p:cNvSpPr txBox="1"/>
          <p:nvPr/>
        </p:nvSpPr>
        <p:spPr>
          <a:xfrm>
            <a:off x="1298448" y="4263390"/>
            <a:ext cx="996696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lang="ko-KR" altLang="en-US" sz="2000" dirty="0">
                <a:solidFill>
                  <a:srgbClr val="3B3B3B"/>
                </a:solidFill>
                <a:latin typeface="고양덕양 B"/>
                <a:ea typeface="고양덕양 B"/>
              </a:rPr>
              <a:t>마음에 드는 작품을 골라 활동지를 작성한다</a:t>
            </a:r>
            <a:r>
              <a:rPr lang="en-US" altLang="ko-KR" sz="2000" dirty="0">
                <a:solidFill>
                  <a:srgbClr val="3B3B3B"/>
                </a:solidFill>
                <a:latin typeface="고양덕양 B"/>
                <a:ea typeface="고양덕양 B"/>
              </a:rPr>
              <a:t>.</a:t>
            </a:r>
            <a:endParaRPr sz="2000" b="0" dirty="0">
              <a:solidFill>
                <a:srgbClr val="3B3B3B"/>
              </a:solidFill>
              <a:latin typeface="고양덕양 B"/>
              <a:ea typeface="고양덕양 B"/>
            </a:endParaRPr>
          </a:p>
        </p:txBody>
      </p:sp>
      <p:sp>
        <p:nvSpPr>
          <p:cNvPr id="6" name="Oval 20">
            <a:extLst>
              <a:ext uri="{FF2B5EF4-FFF2-40B4-BE49-F238E27FC236}">
                <a16:creationId xmlns:a16="http://schemas.microsoft.com/office/drawing/2014/main" id="{439857FA-9AFC-2A91-2BE8-D848568C3F90}"/>
              </a:ext>
            </a:extLst>
          </p:cNvPr>
          <p:cNvSpPr/>
          <p:nvPr/>
        </p:nvSpPr>
        <p:spPr>
          <a:xfrm>
            <a:off x="941832" y="4791455"/>
            <a:ext cx="173736" cy="173736"/>
          </a:xfrm>
          <a:prstGeom prst="ellipse">
            <a:avLst/>
          </a:prstGeom>
          <a:solidFill>
            <a:srgbClr val="FBA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08AEBA5-8658-E5C6-F107-5A1D10CCE45C}"/>
              </a:ext>
            </a:extLst>
          </p:cNvPr>
          <p:cNvSpPr txBox="1"/>
          <p:nvPr/>
        </p:nvSpPr>
        <p:spPr>
          <a:xfrm>
            <a:off x="1298448" y="4766309"/>
            <a:ext cx="996696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lang="ko-KR" altLang="en-US" sz="2000" b="0" dirty="0">
                <a:solidFill>
                  <a:srgbClr val="3B3B3B"/>
                </a:solidFill>
                <a:latin typeface="고양덕양 B"/>
                <a:ea typeface="고양덕양 B"/>
              </a:rPr>
              <a:t>클래스 보드에 올리고 친구들과 공유한다</a:t>
            </a: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.</a:t>
            </a:r>
            <a:endParaRPr sz="2000" b="0" dirty="0">
              <a:solidFill>
                <a:srgbClr val="3B3B3B"/>
              </a:solidFill>
              <a:latin typeface="고양덕양 B"/>
              <a:ea typeface="고양덕양 B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794D2FC-2480-8BE8-0128-368AD01200E9}"/>
              </a:ext>
            </a:extLst>
          </p:cNvPr>
          <p:cNvSpPr txBox="1"/>
          <p:nvPr/>
        </p:nvSpPr>
        <p:spPr>
          <a:xfrm>
            <a:off x="1143000" y="2541686"/>
            <a:ext cx="987552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 algn="ctr">
              <a:lnSpc>
                <a:spcPct val="100000"/>
              </a:lnSpc>
              <a:defRPr/>
            </a:pPr>
            <a:r>
              <a:rPr lang="ko-KR" altLang="en-US" sz="2000" b="1" dirty="0">
                <a:solidFill>
                  <a:srgbClr val="3B3B3B"/>
                </a:solidFill>
                <a:latin typeface="고양덕양 B"/>
                <a:ea typeface="고양덕양 B"/>
              </a:rPr>
              <a:t>작품을 더 살펴보며 생각의 팔레트를 확장해 봅시다</a:t>
            </a:r>
            <a:r>
              <a:rPr lang="en-US" altLang="ko-KR" sz="2000" b="1" dirty="0">
                <a:solidFill>
                  <a:srgbClr val="3B3B3B"/>
                </a:solidFill>
                <a:latin typeface="고양덕양 B"/>
                <a:ea typeface="고양덕양 B"/>
              </a:rPr>
              <a:t>.</a:t>
            </a:r>
            <a:endParaRPr sz="2000" b="0" dirty="0">
              <a:solidFill>
                <a:srgbClr val="3B3B3B"/>
              </a:solidFill>
              <a:latin typeface="고양덕양 B"/>
              <a:ea typeface="고양덕양 B"/>
            </a:endParaRPr>
          </a:p>
        </p:txBody>
      </p:sp>
    </p:spTree>
    <p:extLst>
      <p:ext uri="{BB962C8B-B14F-4D97-AF65-F5344CB8AC3E}">
        <p14:creationId xmlns:p14="http://schemas.microsoft.com/office/powerpoint/2010/main" val="375650461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8330818-5476-3FAC-3758-BAD397DA97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latin typeface="+mj-ea"/>
                <a:ea typeface="+mj-ea"/>
              </a:rPr>
              <a:t>활동안내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42632AC8-93AA-41DD-6D46-E9E08015A0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45886" y="1422559"/>
            <a:ext cx="3540093" cy="2257287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9AE4EF2E-0B2A-A26C-7747-EF36B036E3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1883" y="1263512"/>
            <a:ext cx="3331089" cy="1194710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8AB4B710-1DCE-436A-F53E-206CDD65AEB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8000" y="2458222"/>
            <a:ext cx="3634731" cy="1310071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C502AA44-F190-4C0F-3066-E5062F04116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42629" y="1617218"/>
            <a:ext cx="4023317" cy="2062628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395A5570-A064-3FFF-AB4F-65BA1D9D67D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6236" y="4082970"/>
            <a:ext cx="3842385" cy="2303831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850955A9-739F-F5AA-75E4-CD36F485181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45887" y="4082970"/>
            <a:ext cx="3729476" cy="2242457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0DC3B78B-2913-FBA6-3AB0-56A0EDDD3FF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42629" y="4021596"/>
            <a:ext cx="4023317" cy="2303831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DB2DE9AB-4D0D-1070-10D1-613337C007C5}"/>
              </a:ext>
            </a:extLst>
          </p:cNvPr>
          <p:cNvSpPr txBox="1"/>
          <p:nvPr/>
        </p:nvSpPr>
        <p:spPr>
          <a:xfrm>
            <a:off x="2689759" y="640538"/>
            <a:ext cx="193449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>
                <a:hlinkClick r:id="rId9"/>
              </a:rPr>
              <a:t>▶</a:t>
            </a:r>
            <a:r>
              <a:rPr lang="en-US" altLang="ko-KR" dirty="0">
                <a:hlinkClick r:id="rId9"/>
              </a:rPr>
              <a:t> e</a:t>
            </a:r>
            <a:r>
              <a:rPr lang="ko-KR" altLang="en-US" dirty="0">
                <a:hlinkClick r:id="rId9"/>
              </a:rPr>
              <a:t>뮤지엄 </a:t>
            </a:r>
            <a:r>
              <a:rPr lang="ko-KR" altLang="en-US" dirty="0" err="1">
                <a:hlinkClick r:id="rId9"/>
              </a:rPr>
              <a:t>누리집</a:t>
            </a:r>
            <a:endParaRPr lang="ko-KR" altLang="en-US" dirty="0"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2DD618A6-0967-E86E-2349-227671D26567}"/>
              </a:ext>
            </a:extLst>
          </p:cNvPr>
          <p:cNvSpPr/>
          <p:nvPr/>
        </p:nvSpPr>
        <p:spPr>
          <a:xfrm>
            <a:off x="258000" y="1968137"/>
            <a:ext cx="1004743" cy="49008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319CC11A-EFA5-EE0B-7CE9-9847CEF4BE3D}"/>
              </a:ext>
            </a:extLst>
          </p:cNvPr>
          <p:cNvSpPr/>
          <p:nvPr/>
        </p:nvSpPr>
        <p:spPr>
          <a:xfrm>
            <a:off x="760371" y="3373678"/>
            <a:ext cx="2618555" cy="49008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1E4DC684-384B-36F7-F9E5-754B7E8B366A}"/>
              </a:ext>
            </a:extLst>
          </p:cNvPr>
          <p:cNvSpPr/>
          <p:nvPr/>
        </p:nvSpPr>
        <p:spPr>
          <a:xfrm>
            <a:off x="8176563" y="2280139"/>
            <a:ext cx="1402866" cy="27106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A5F58DC5-1580-D372-AE4F-EAC79F433E87}"/>
              </a:ext>
            </a:extLst>
          </p:cNvPr>
          <p:cNvSpPr/>
          <p:nvPr/>
        </p:nvSpPr>
        <p:spPr>
          <a:xfrm>
            <a:off x="11133123" y="2322690"/>
            <a:ext cx="309940" cy="27106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0C21248C-F2F4-A06B-459E-F9CA9A9872BB}"/>
              </a:ext>
            </a:extLst>
          </p:cNvPr>
          <p:cNvSpPr/>
          <p:nvPr/>
        </p:nvSpPr>
        <p:spPr>
          <a:xfrm>
            <a:off x="1109557" y="4897684"/>
            <a:ext cx="1050169" cy="142774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E2356446-DB91-14EA-9A52-85223537973C}"/>
              </a:ext>
            </a:extLst>
          </p:cNvPr>
          <p:cNvSpPr/>
          <p:nvPr/>
        </p:nvSpPr>
        <p:spPr>
          <a:xfrm>
            <a:off x="7132320" y="4007698"/>
            <a:ext cx="826676" cy="195767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6FBFE4A1-7DCB-8C96-78B9-D4B95A4B30B9}"/>
              </a:ext>
            </a:extLst>
          </p:cNvPr>
          <p:cNvSpPr/>
          <p:nvPr/>
        </p:nvSpPr>
        <p:spPr>
          <a:xfrm>
            <a:off x="10554789" y="6048517"/>
            <a:ext cx="796834" cy="355701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5073300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 dirty="0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 </a:t>
            </a:r>
            <a:r>
              <a:rPr lang="en-US" altLang="ko-KR" sz="2400" spc="-147" dirty="0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3</a:t>
            </a:r>
          </a:p>
        </p:txBody>
      </p:sp>
      <p:sp>
        <p:nvSpPr>
          <p:cNvPr id="4" name="제목 1">
            <a:extLst>
              <a:ext uri="{FF2B5EF4-FFF2-40B4-BE49-F238E27FC236}">
                <a16:creationId xmlns:a16="http://schemas.microsoft.com/office/drawing/2014/main" id="{F7137300-59CF-4C19-1DA2-44E466D03448}"/>
              </a:ext>
            </a:extLst>
          </p:cNvPr>
          <p:cNvSpPr txBox="1">
            <a:spLocks/>
          </p:cNvSpPr>
          <p:nvPr/>
        </p:nvSpPr>
        <p:spPr>
          <a:xfrm>
            <a:off x="519760" y="440868"/>
            <a:ext cx="9525376" cy="641085"/>
          </a:xfrm>
          <a:prstGeom prst="rect">
            <a:avLst/>
          </a:prstGeom>
        </p:spPr>
        <p:txBody>
          <a:bodyPr anchor="ctr">
            <a:normAutofit fontScale="97500"/>
          </a:bodyPr>
          <a:lstStyle>
            <a:lvl1pPr marL="0" algn="l" defTabSz="1219170" rtl="0" eaLnBrk="1" latinLnBrk="1" hangingPunct="1">
              <a:spcBef>
                <a:spcPct val="0"/>
              </a:spcBef>
              <a:buNone/>
              <a:defRPr lang="ko-KR" altLang="en-US" sz="3733" kern="1200" spc="-147" baseline="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땅스부대찌개 Bold" panose="02020603020101020101" pitchFamily="18" charset="-127"/>
                <a:ea typeface="땅스부대찌개 Bold" panose="02020603020101020101" pitchFamily="18" charset="-127"/>
                <a:cs typeface="+mn-cs"/>
              </a:defRPr>
            </a:lvl1pPr>
          </a:lstStyle>
          <a:p>
            <a:pPr>
              <a:defRPr/>
            </a:pP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생각의 팔레트 확장하기</a:t>
            </a: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FA8C8EE8-BC99-C68E-06DA-6A106E474FB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82587732"/>
              </p:ext>
            </p:extLst>
          </p:nvPr>
        </p:nvGraphicFramePr>
        <p:xfrm>
          <a:off x="406595" y="2129083"/>
          <a:ext cx="11219394" cy="3999373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3739798">
                  <a:extLst>
                    <a:ext uri="{9D8B030D-6E8A-4147-A177-3AD203B41FA5}">
                      <a16:colId xmlns:a16="http://schemas.microsoft.com/office/drawing/2014/main" val="1068825157"/>
                    </a:ext>
                  </a:extLst>
                </a:gridCol>
                <a:gridCol w="3739798">
                  <a:extLst>
                    <a:ext uri="{9D8B030D-6E8A-4147-A177-3AD203B41FA5}">
                      <a16:colId xmlns:a16="http://schemas.microsoft.com/office/drawing/2014/main" val="1128753635"/>
                    </a:ext>
                  </a:extLst>
                </a:gridCol>
                <a:gridCol w="3739798">
                  <a:extLst>
                    <a:ext uri="{9D8B030D-6E8A-4147-A177-3AD203B41FA5}">
                      <a16:colId xmlns:a16="http://schemas.microsoft.com/office/drawing/2014/main" val="454399094"/>
                    </a:ext>
                  </a:extLst>
                </a:gridCol>
              </a:tblGrid>
              <a:tr h="43994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b="1" dirty="0" err="1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어미닭과</a:t>
                      </a:r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 병아리</a:t>
                      </a:r>
                      <a:endParaRPr lang="en-US" altLang="ko-KR" sz="1800" b="1" dirty="0">
                        <a:solidFill>
                          <a:srgbClr val="3B3B3B"/>
                        </a:solidFill>
                        <a:latin typeface="고양덕양 B"/>
                        <a:ea typeface="고양덕양 B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호접도</a:t>
                      </a:r>
                      <a:endParaRPr lang="en-US" altLang="ko-KR" sz="1800" b="1" dirty="0">
                        <a:solidFill>
                          <a:srgbClr val="3B3B3B"/>
                        </a:solidFill>
                        <a:latin typeface="고양덕양 B"/>
                        <a:ea typeface="고양덕양 B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꽃과 풀벌레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4631406"/>
                  </a:ext>
                </a:extLst>
              </a:tr>
              <a:tr h="3559427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5234630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C1A8104C-4B97-A06E-5052-E5D110559104}"/>
              </a:ext>
            </a:extLst>
          </p:cNvPr>
          <p:cNvSpPr txBox="1"/>
          <p:nvPr/>
        </p:nvSpPr>
        <p:spPr>
          <a:xfrm>
            <a:off x="406595" y="1420852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atinLnBrk="1"/>
            <a:r>
              <a:rPr lang="ko-KR" altLang="en-US" sz="1800" b="1" dirty="0">
                <a:solidFill>
                  <a:srgbClr val="3B3B3B"/>
                </a:solidFill>
                <a:latin typeface="고양덕양 B"/>
                <a:ea typeface="고양덕양 B"/>
              </a:rPr>
              <a:t>아래 예시작품을 </a:t>
            </a:r>
            <a:r>
              <a:rPr lang="en-US" altLang="ko-KR" sz="1800" b="1" dirty="0">
                <a:solidFill>
                  <a:srgbClr val="3B3B3B"/>
                </a:solidFill>
                <a:latin typeface="고양덕양 B"/>
                <a:ea typeface="고양덕양 B"/>
              </a:rPr>
              <a:t>‘e</a:t>
            </a:r>
            <a:r>
              <a:rPr lang="ko-KR" altLang="en-US" sz="1800" b="1" dirty="0">
                <a:solidFill>
                  <a:srgbClr val="3B3B3B"/>
                </a:solidFill>
                <a:latin typeface="고양덕양 B"/>
                <a:ea typeface="고양덕양 B"/>
              </a:rPr>
              <a:t>뮤지엄</a:t>
            </a:r>
            <a:r>
              <a:rPr lang="en-US" altLang="ko-KR" sz="1800" b="1" dirty="0">
                <a:solidFill>
                  <a:srgbClr val="3B3B3B"/>
                </a:solidFill>
                <a:latin typeface="고양덕양 B"/>
                <a:ea typeface="고양덕양 B"/>
              </a:rPr>
              <a:t>’</a:t>
            </a:r>
            <a:r>
              <a:rPr lang="ko-KR" altLang="en-US" sz="1800" b="1" dirty="0">
                <a:solidFill>
                  <a:srgbClr val="3B3B3B"/>
                </a:solidFill>
                <a:latin typeface="고양덕양 B"/>
                <a:ea typeface="고양덕양 B"/>
              </a:rPr>
              <a:t>에서 검색해서 살펴보세요</a:t>
            </a:r>
            <a:r>
              <a:rPr lang="en-US" altLang="ko-KR" sz="1800" b="1" dirty="0">
                <a:solidFill>
                  <a:srgbClr val="3B3B3B"/>
                </a:solidFill>
                <a:latin typeface="고양덕양 B"/>
                <a:ea typeface="고양덕양 B"/>
              </a:rPr>
              <a:t>. </a:t>
            </a:r>
          </a:p>
        </p:txBody>
      </p:sp>
      <p:pic>
        <p:nvPicPr>
          <p:cNvPr id="5" name="그림 4">
            <a:hlinkClick r:id="rId3"/>
            <a:extLst>
              <a:ext uri="{FF2B5EF4-FFF2-40B4-BE49-F238E27FC236}">
                <a16:creationId xmlns:a16="http://schemas.microsoft.com/office/drawing/2014/main" id="{DB9D526E-8CC1-6607-F280-1167527349D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02677" y="2662370"/>
            <a:ext cx="1627905" cy="3355254"/>
          </a:xfrm>
          <a:prstGeom prst="rect">
            <a:avLst/>
          </a:prstGeom>
        </p:spPr>
      </p:pic>
      <p:pic>
        <p:nvPicPr>
          <p:cNvPr id="11" name="그림 10">
            <a:hlinkClick r:id="rId5"/>
            <a:extLst>
              <a:ext uri="{FF2B5EF4-FFF2-40B4-BE49-F238E27FC236}">
                <a16:creationId xmlns:a16="http://schemas.microsoft.com/office/drawing/2014/main" id="{E9CE5249-2BE6-0FAA-B297-3E9AF87BAB8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82448" y="2662370"/>
            <a:ext cx="1458033" cy="3380868"/>
          </a:xfrm>
          <a:prstGeom prst="rect">
            <a:avLst/>
          </a:prstGeom>
        </p:spPr>
      </p:pic>
      <p:pic>
        <p:nvPicPr>
          <p:cNvPr id="16" name="그림 15">
            <a:hlinkClick r:id="rId7"/>
            <a:extLst>
              <a:ext uri="{FF2B5EF4-FFF2-40B4-BE49-F238E27FC236}">
                <a16:creationId xmlns:a16="http://schemas.microsoft.com/office/drawing/2014/main" id="{FABD4427-D03E-D2D5-11E5-FA7A2EAE3FB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992347" y="2743879"/>
            <a:ext cx="1730850" cy="323523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86965F9-0D0D-9D07-B2C0-6E47F2AE7DE8}"/>
              </a:ext>
            </a:extLst>
          </p:cNvPr>
          <p:cNvSpPr txBox="1"/>
          <p:nvPr/>
        </p:nvSpPr>
        <p:spPr>
          <a:xfrm>
            <a:off x="0" y="6544412"/>
            <a:ext cx="11785405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dirty="0">
                <a:latin typeface="나눔바른고딕 Light" panose="020B0603020101020101" pitchFamily="50" charset="-127"/>
                <a:ea typeface="나눔바른고딕 Light" panose="020B0603020101020101" pitchFamily="50" charset="-127"/>
              </a:rPr>
              <a:t>본 저작물은 공공누리 제1유형으로 개방한 작품을 이용하였으며, 해당 저작물은 '국립중앙박물관 </a:t>
            </a:r>
            <a:r>
              <a:rPr lang="ko-KR" altLang="en-US" sz="1000" dirty="0" err="1">
                <a:latin typeface="나눔바른고딕 Light" panose="020B0603020101020101" pitchFamily="50" charset="-127"/>
                <a:ea typeface="나눔바른고딕 Light" panose="020B0603020101020101" pitchFamily="50" charset="-127"/>
              </a:rPr>
              <a:t>e뮤지엄</a:t>
            </a:r>
            <a:r>
              <a:rPr lang="ko-KR" altLang="en-US" sz="1000" dirty="0">
                <a:latin typeface="나눔바른고딕 Light" panose="020B0603020101020101" pitchFamily="50" charset="-127"/>
                <a:ea typeface="나눔바른고딕 Light" panose="020B0603020101020101" pitchFamily="50" charset="-127"/>
              </a:rPr>
              <a:t> </a:t>
            </a:r>
            <a:r>
              <a:rPr lang="ko-KR" altLang="en-US" sz="1000" dirty="0" err="1">
                <a:latin typeface="나눔바른고딕 Light" panose="020B0603020101020101" pitchFamily="50" charset="-127"/>
                <a:ea typeface="나눔바른고딕 Light" panose="020B0603020101020101" pitchFamily="50" charset="-127"/>
              </a:rPr>
              <a:t>누리집</a:t>
            </a:r>
            <a:r>
              <a:rPr lang="ko-KR" altLang="en-US" sz="1000" dirty="0">
                <a:latin typeface="나눔바른고딕 Light" panose="020B0603020101020101" pitchFamily="50" charset="-127"/>
                <a:ea typeface="나눔바른고딕 Light" panose="020B0603020101020101" pitchFamily="50" charset="-127"/>
              </a:rPr>
              <a:t>(https://www.emuseum.go.kr)'에서 무료로 다운받으실 수 있습니다.</a:t>
            </a:r>
          </a:p>
        </p:txBody>
      </p:sp>
    </p:spTree>
    <p:extLst>
      <p:ext uri="{BB962C8B-B14F-4D97-AF65-F5344CB8AC3E}">
        <p14:creationId xmlns:p14="http://schemas.microsoft.com/office/powerpoint/2010/main" val="167329566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 dirty="0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 </a:t>
            </a:r>
            <a:r>
              <a:rPr lang="en-US" altLang="ko-KR" sz="2400" spc="-147" dirty="0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3</a:t>
            </a:r>
          </a:p>
        </p:txBody>
      </p:sp>
      <p:sp>
        <p:nvSpPr>
          <p:cNvPr id="4" name="제목 1">
            <a:extLst>
              <a:ext uri="{FF2B5EF4-FFF2-40B4-BE49-F238E27FC236}">
                <a16:creationId xmlns:a16="http://schemas.microsoft.com/office/drawing/2014/main" id="{F7137300-59CF-4C19-1DA2-44E466D03448}"/>
              </a:ext>
            </a:extLst>
          </p:cNvPr>
          <p:cNvSpPr txBox="1">
            <a:spLocks/>
          </p:cNvSpPr>
          <p:nvPr/>
        </p:nvSpPr>
        <p:spPr>
          <a:xfrm>
            <a:off x="519760" y="440868"/>
            <a:ext cx="9525376" cy="641085"/>
          </a:xfrm>
          <a:prstGeom prst="rect">
            <a:avLst/>
          </a:prstGeom>
        </p:spPr>
        <p:txBody>
          <a:bodyPr anchor="ctr">
            <a:normAutofit fontScale="97500"/>
          </a:bodyPr>
          <a:lstStyle>
            <a:lvl1pPr marL="0" algn="l" defTabSz="1219170" rtl="0" eaLnBrk="1" latinLnBrk="1" hangingPunct="1">
              <a:spcBef>
                <a:spcPct val="0"/>
              </a:spcBef>
              <a:buNone/>
              <a:defRPr lang="ko-KR" altLang="en-US" sz="3733" kern="1200" spc="-147" baseline="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땅스부대찌개 Bold" panose="02020603020101020101" pitchFamily="18" charset="-127"/>
                <a:ea typeface="땅스부대찌개 Bold" panose="02020603020101020101" pitchFamily="18" charset="-127"/>
                <a:cs typeface="+mn-cs"/>
              </a:defRPr>
            </a:lvl1pPr>
          </a:lstStyle>
          <a:p>
            <a:pPr>
              <a:defRPr/>
            </a:pP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생각의 팔레트 확장하기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5378A9F-1EAF-E6FC-1F07-E6E10019235D}"/>
              </a:ext>
            </a:extLst>
          </p:cNvPr>
          <p:cNvSpPr txBox="1"/>
          <p:nvPr/>
        </p:nvSpPr>
        <p:spPr>
          <a:xfrm>
            <a:off x="406595" y="1315615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atinLnBrk="1"/>
            <a:r>
              <a:rPr lang="ko-KR" altLang="en-US" sz="1800" b="1" dirty="0">
                <a:solidFill>
                  <a:srgbClr val="3B3B3B"/>
                </a:solidFill>
                <a:latin typeface="고양덕양 B"/>
                <a:ea typeface="고양덕양 B"/>
              </a:rPr>
              <a:t>작품을 한 가지 선택하고 활동지를 작성해보세요</a:t>
            </a:r>
            <a:r>
              <a:rPr lang="en-US" altLang="ko-KR" sz="1800" b="1" dirty="0">
                <a:solidFill>
                  <a:srgbClr val="3B3B3B"/>
                </a:solidFill>
                <a:latin typeface="고양덕양 B"/>
                <a:ea typeface="고양덕양 B"/>
              </a:rPr>
              <a:t>.</a:t>
            </a:r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4D5CE458-490D-F119-FE46-2AD453FD2C3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33872199"/>
              </p:ext>
            </p:extLst>
          </p:nvPr>
        </p:nvGraphicFramePr>
        <p:xfrm>
          <a:off x="415106" y="2059025"/>
          <a:ext cx="2888343" cy="41916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88343">
                  <a:extLst>
                    <a:ext uri="{9D8B030D-6E8A-4147-A177-3AD203B41FA5}">
                      <a16:colId xmlns:a16="http://schemas.microsoft.com/office/drawing/2014/main" val="714158368"/>
                    </a:ext>
                  </a:extLst>
                </a:gridCol>
              </a:tblGrid>
              <a:tr h="53736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&lt;</a:t>
                      </a:r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작품</a:t>
                      </a:r>
                      <a:r>
                        <a:rPr lang="en-US" altLang="ko-KR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&gt;</a:t>
                      </a:r>
                    </a:p>
                  </a:txBody>
                  <a:tcP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81045496"/>
                  </a:ext>
                </a:extLst>
              </a:tr>
              <a:tr h="3654331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6218258"/>
                  </a:ext>
                </a:extLst>
              </a:tr>
            </a:tbl>
          </a:graphicData>
        </a:graphic>
      </p:graphicFrame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D31B39C0-BD74-5538-57BA-45E991B5885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22314182"/>
              </p:ext>
            </p:extLst>
          </p:nvPr>
        </p:nvGraphicFramePr>
        <p:xfrm>
          <a:off x="3407955" y="2059025"/>
          <a:ext cx="7878354" cy="41916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39177">
                  <a:extLst>
                    <a:ext uri="{9D8B030D-6E8A-4147-A177-3AD203B41FA5}">
                      <a16:colId xmlns:a16="http://schemas.microsoft.com/office/drawing/2014/main" val="3388685008"/>
                    </a:ext>
                  </a:extLst>
                </a:gridCol>
                <a:gridCol w="3939177">
                  <a:extLst>
                    <a:ext uri="{9D8B030D-6E8A-4147-A177-3AD203B41FA5}">
                      <a16:colId xmlns:a16="http://schemas.microsoft.com/office/drawing/2014/main" val="1209160884"/>
                    </a:ext>
                  </a:extLst>
                </a:gridCol>
              </a:tblGrid>
              <a:tr h="2095848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관찰한 부분</a:t>
                      </a:r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왼쪽 위</a:t>
                      </a:r>
                      <a:endParaRPr lang="en-US" altLang="ko-KR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관찰 내용</a:t>
                      </a:r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: 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관찰한 부분</a:t>
                      </a:r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오른쪽 위</a:t>
                      </a:r>
                      <a:endParaRPr lang="en-US" altLang="ko-KR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관찰 내용</a:t>
                      </a:r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: 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14209861"/>
                  </a:ext>
                </a:extLst>
              </a:tr>
              <a:tr h="2095848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관찰한 부분</a:t>
                      </a:r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왼쪽 아래</a:t>
                      </a:r>
                      <a:endParaRPr lang="en-US" altLang="ko-KR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관찰 내용</a:t>
                      </a:r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: 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관찰한 부분</a:t>
                      </a:r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오른쪽 아래</a:t>
                      </a:r>
                      <a:endParaRPr lang="en-US" altLang="ko-KR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관찰 내용</a:t>
                      </a:r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: 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5456603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4168874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A73DE1A5-A26C-4936-9EB7-341AE0E9F7ED}" type="slidenum">
              <a:rPr lang="en-US" altLang="ko-KR" b="0"/>
              <a:pPr lvl="0">
                <a:defRPr/>
              </a:pPr>
              <a:t>15</a:t>
            </a:fld>
            <a:endParaRPr lang="en-US" altLang="ko-KR" b="0"/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lvl="0">
              <a:defRPr/>
            </a:pPr>
            <a:r>
              <a:rPr lang="ko-KR" altLang="en-US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정리하기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1248" y="2121180"/>
            <a:ext cx="10424160" cy="2933945"/>
          </a:xfrm>
          <a:prstGeom prst="roundRect">
            <a:avLst>
              <a:gd name="adj" fmla="val 10000"/>
            </a:avLst>
          </a:prstGeom>
          <a:solidFill>
            <a:srgbClr val="FDEEEC"/>
          </a:solidFill>
          <a:ln w="15875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3" name="Oval 12"/>
          <p:cNvSpPr/>
          <p:nvPr/>
        </p:nvSpPr>
        <p:spPr>
          <a:xfrm>
            <a:off x="1629809" y="2554089"/>
            <a:ext cx="173736" cy="173736"/>
          </a:xfrm>
          <a:prstGeom prst="ellipse">
            <a:avLst/>
          </a:prstGeom>
          <a:solidFill>
            <a:srgbClr val="F68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lvl="0" algn="ctr">
              <a:defRPr/>
            </a:pPr>
            <a:endParaRPr lang="ko-KR" altLang="en-US" sz="1400">
              <a:solidFill>
                <a:srgbClr val="FFFFFF"/>
              </a:solidFill>
              <a:latin typeface="Noto Sans KR Black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986425" y="2538849"/>
            <a:ext cx="9966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lang="ko-KR" altLang="en-US" sz="2000" dirty="0">
                <a:solidFill>
                  <a:srgbClr val="3B3B3B"/>
                </a:solidFill>
                <a:latin typeface="고양덕양 B"/>
                <a:ea typeface="고양덕양 B"/>
              </a:rPr>
              <a:t>우리 옛 그림</a:t>
            </a:r>
            <a:r>
              <a:rPr lang="en-US" altLang="ko-KR" sz="2000" dirty="0">
                <a:solidFill>
                  <a:srgbClr val="3B3B3B"/>
                </a:solidFill>
                <a:latin typeface="고양덕양 B"/>
                <a:ea typeface="고양덕양 B"/>
              </a:rPr>
              <a:t>(</a:t>
            </a:r>
            <a:r>
              <a:rPr lang="ko-KR" altLang="en-US" sz="2000" dirty="0">
                <a:solidFill>
                  <a:srgbClr val="3B3B3B"/>
                </a:solidFill>
                <a:latin typeface="고양덕양 B"/>
                <a:ea typeface="고양덕양 B"/>
              </a:rPr>
              <a:t>동물화</a:t>
            </a:r>
            <a:r>
              <a:rPr lang="en-US" altLang="ko-KR" sz="2000" dirty="0">
                <a:solidFill>
                  <a:srgbClr val="3B3B3B"/>
                </a:solidFill>
                <a:latin typeface="고양덕양 B"/>
                <a:ea typeface="고양덕양 B"/>
              </a:rPr>
              <a:t>/</a:t>
            </a:r>
            <a:r>
              <a:rPr lang="ko-KR" altLang="en-US" sz="2000" dirty="0">
                <a:solidFill>
                  <a:srgbClr val="3B3B3B"/>
                </a:solidFill>
                <a:latin typeface="고양덕양 B"/>
                <a:ea typeface="고양덕양 B"/>
              </a:rPr>
              <a:t>식물화</a:t>
            </a:r>
            <a:r>
              <a:rPr lang="en-US" altLang="ko-KR" sz="2000" dirty="0">
                <a:solidFill>
                  <a:srgbClr val="3B3B3B"/>
                </a:solidFill>
                <a:latin typeface="고양덕양 B"/>
                <a:ea typeface="고양덕양 B"/>
              </a:rPr>
              <a:t>)</a:t>
            </a:r>
            <a:r>
              <a:rPr lang="ko-KR" altLang="en-US" sz="2000" dirty="0">
                <a:solidFill>
                  <a:srgbClr val="3B3B3B"/>
                </a:solidFill>
                <a:latin typeface="고양덕양 B"/>
                <a:ea typeface="고양덕양 B"/>
              </a:rPr>
              <a:t>에 대해 설명할 수 있나요</a:t>
            </a:r>
            <a:r>
              <a:rPr lang="en-US" altLang="ko-KR" sz="2000" dirty="0">
                <a:solidFill>
                  <a:srgbClr val="3B3B3B"/>
                </a:solidFill>
                <a:latin typeface="고양덕양 B"/>
                <a:ea typeface="고양덕양 B"/>
              </a:rPr>
              <a:t>?</a:t>
            </a:r>
          </a:p>
        </p:txBody>
      </p:sp>
      <p:sp>
        <p:nvSpPr>
          <p:cNvPr id="15" name="Oval 14"/>
          <p:cNvSpPr/>
          <p:nvPr/>
        </p:nvSpPr>
        <p:spPr>
          <a:xfrm>
            <a:off x="1629809" y="3402624"/>
            <a:ext cx="173736" cy="173736"/>
          </a:xfrm>
          <a:prstGeom prst="ellipse">
            <a:avLst/>
          </a:prstGeom>
          <a:solidFill>
            <a:srgbClr val="F68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lvl="0" algn="ctr">
              <a:defRPr/>
            </a:pPr>
            <a:endParaRPr lang="ko-KR" altLang="en-US" sz="1400">
              <a:solidFill>
                <a:srgbClr val="FFFFFF"/>
              </a:solidFill>
              <a:latin typeface="Noto Sans KR Black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1986425" y="3387385"/>
            <a:ext cx="996696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lang="ko-KR" altLang="en-US" sz="2000" dirty="0">
                <a:solidFill>
                  <a:srgbClr val="3B3B3B"/>
                </a:solidFill>
                <a:latin typeface="고양덕양 B"/>
                <a:ea typeface="고양덕양 B"/>
              </a:rPr>
              <a:t>가장 기억에 남는 작품은 무엇인가요</a:t>
            </a:r>
            <a:r>
              <a:rPr lang="en-US" altLang="ko-KR" sz="2000" dirty="0">
                <a:solidFill>
                  <a:srgbClr val="3B3B3B"/>
                </a:solidFill>
                <a:latin typeface="고양덕양 B"/>
                <a:ea typeface="고양덕양 B"/>
              </a:rPr>
              <a:t>?</a:t>
            </a:r>
          </a:p>
        </p:txBody>
      </p:sp>
      <p:sp>
        <p:nvSpPr>
          <p:cNvPr id="18" name="TextBox 3"/>
          <p:cNvSpPr txBox="1"/>
          <p:nvPr/>
        </p:nvSpPr>
        <p:spPr>
          <a:xfrm>
            <a:off x="1098804" y="5618228"/>
            <a:ext cx="9994392" cy="2331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ctr">
              <a:lnSpc>
                <a:spcPct val="105000"/>
              </a:lnSpc>
              <a:defRPr/>
            </a:pPr>
            <a:r>
              <a:rPr sz="1500" b="0" dirty="0" err="1">
                <a:solidFill>
                  <a:srgbClr val="3B3B3B"/>
                </a:solidFill>
                <a:latin typeface="고양덕양 B"/>
                <a:ea typeface="고양덕양 B"/>
              </a:rPr>
              <a:t>다음</a:t>
            </a:r>
            <a:r>
              <a:rPr sz="1500" b="0" dirty="0">
                <a:solidFill>
                  <a:srgbClr val="3B3B3B"/>
                </a:solidFill>
                <a:latin typeface="고양덕양 B"/>
                <a:ea typeface="고양덕양 B"/>
              </a:rPr>
              <a:t> </a:t>
            </a:r>
            <a:r>
              <a:rPr sz="1500" b="0" dirty="0" err="1">
                <a:solidFill>
                  <a:srgbClr val="3B3B3B"/>
                </a:solidFill>
                <a:latin typeface="고양덕양 B"/>
                <a:ea typeface="고양덕양 B"/>
              </a:rPr>
              <a:t>시간에는</a:t>
            </a:r>
            <a:r>
              <a:rPr sz="1500" b="0" dirty="0">
                <a:solidFill>
                  <a:srgbClr val="3B3B3B"/>
                </a:solidFill>
                <a:latin typeface="고양덕양 B"/>
                <a:ea typeface="고양덕양 B"/>
              </a:rPr>
              <a:t> </a:t>
            </a:r>
            <a:r>
              <a:rPr lang="en-US" sz="1500" dirty="0">
                <a:solidFill>
                  <a:srgbClr val="3B3B3B"/>
                </a:solidFill>
                <a:latin typeface="고양덕양 B"/>
                <a:ea typeface="고양덕양 B"/>
              </a:rPr>
              <a:t>'</a:t>
            </a:r>
            <a:r>
              <a:rPr lang="ko-KR" altLang="en-US" sz="1500" b="0" dirty="0">
                <a:solidFill>
                  <a:srgbClr val="3B3B3B"/>
                </a:solidFill>
                <a:latin typeface="고양덕양 B"/>
                <a:ea typeface="고양덕양 B"/>
              </a:rPr>
              <a:t>우리 옛 그림 기록</a:t>
            </a:r>
            <a:r>
              <a:rPr lang="ko-KR" altLang="en-US" sz="1500" dirty="0">
                <a:solidFill>
                  <a:srgbClr val="3B3B3B"/>
                </a:solidFill>
                <a:latin typeface="고양덕양 B"/>
                <a:ea typeface="고양덕양 B"/>
              </a:rPr>
              <a:t>화</a:t>
            </a:r>
            <a:r>
              <a:rPr lang="en-US" altLang="ko-KR" sz="1500" dirty="0">
                <a:solidFill>
                  <a:srgbClr val="3B3B3B"/>
                </a:solidFill>
                <a:latin typeface="고양덕양 B"/>
                <a:ea typeface="고양덕양 B"/>
              </a:rPr>
              <a:t>’</a:t>
            </a:r>
            <a:r>
              <a:rPr lang="ko-KR" altLang="en-US" sz="1500" dirty="0">
                <a:solidFill>
                  <a:srgbClr val="3B3B3B"/>
                </a:solidFill>
                <a:latin typeface="고양덕양 B"/>
                <a:ea typeface="고양덕양 B"/>
              </a:rPr>
              <a:t>를 알아봅시</a:t>
            </a:r>
            <a:r>
              <a:rPr lang="ko-KR" altLang="en-US" sz="1500" b="0" dirty="0">
                <a:solidFill>
                  <a:srgbClr val="3B3B3B"/>
                </a:solidFill>
                <a:latin typeface="고양덕양 B"/>
                <a:ea typeface="고양덕양 B"/>
              </a:rPr>
              <a:t>다</a:t>
            </a:r>
            <a:r>
              <a:rPr lang="en-US" altLang="ko-KR" sz="1500" b="0" dirty="0">
                <a:solidFill>
                  <a:srgbClr val="3B3B3B"/>
                </a:solidFill>
                <a:latin typeface="고양덕양 B"/>
                <a:ea typeface="고양덕양 B"/>
              </a:rPr>
              <a:t>.</a:t>
            </a:r>
          </a:p>
        </p:txBody>
      </p:sp>
      <p:sp>
        <p:nvSpPr>
          <p:cNvPr id="2" name="Oval 14">
            <a:extLst>
              <a:ext uri="{FF2B5EF4-FFF2-40B4-BE49-F238E27FC236}">
                <a16:creationId xmlns:a16="http://schemas.microsoft.com/office/drawing/2014/main" id="{FF76A8CF-1727-CB58-0BDE-5A31B7CBC241}"/>
              </a:ext>
            </a:extLst>
          </p:cNvPr>
          <p:cNvSpPr/>
          <p:nvPr/>
        </p:nvSpPr>
        <p:spPr>
          <a:xfrm>
            <a:off x="1629809" y="4195140"/>
            <a:ext cx="173736" cy="173736"/>
          </a:xfrm>
          <a:prstGeom prst="ellipse">
            <a:avLst/>
          </a:prstGeom>
          <a:solidFill>
            <a:srgbClr val="F68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lvl="0" algn="ctr">
              <a:defRPr/>
            </a:pPr>
            <a:endParaRPr lang="ko-KR" altLang="en-US" sz="1400">
              <a:solidFill>
                <a:srgbClr val="FFFFFF"/>
              </a:solidFill>
              <a:latin typeface="Noto Sans KR Black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C2F519D-6CC9-CB11-9330-2650761E3889}"/>
              </a:ext>
            </a:extLst>
          </p:cNvPr>
          <p:cNvSpPr txBox="1"/>
          <p:nvPr/>
        </p:nvSpPr>
        <p:spPr>
          <a:xfrm>
            <a:off x="1986425" y="4179901"/>
            <a:ext cx="996696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lang="ko-KR" altLang="en-US" sz="2000" dirty="0">
                <a:solidFill>
                  <a:srgbClr val="3B3B3B"/>
                </a:solidFill>
                <a:latin typeface="고양덕양 B"/>
                <a:ea typeface="고양덕양 B"/>
              </a:rPr>
              <a:t>내 생각과 친구의 생각 중 어떤 점이 비슷하고 어떤 점이 달랐나요</a:t>
            </a:r>
            <a:r>
              <a:rPr lang="en-US" altLang="ko-KR" sz="2000" dirty="0">
                <a:solidFill>
                  <a:srgbClr val="3B3B3B"/>
                </a:solidFill>
                <a:latin typeface="고양덕양 B"/>
                <a:ea typeface="고양덕양 B"/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397436379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/>
          <p:cNvSpPr/>
          <p:nvPr/>
        </p:nvSpPr>
        <p:spPr>
          <a:xfrm>
            <a:off x="431371" y="3500604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</p:spTree>
    <p:extLst>
      <p:ext uri="{BB962C8B-B14F-4D97-AF65-F5344CB8AC3E}">
        <p14:creationId xmlns:p14="http://schemas.microsoft.com/office/powerpoint/2010/main" val="266102211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사용자 지정 10">
      <a:majorFont>
        <a:latin typeface="에스코어 드림 8 Heavy"/>
        <a:ea typeface="에스코어 드림 8 Heavy"/>
        <a:cs typeface=""/>
      </a:majorFont>
      <a:minorFont>
        <a:latin typeface="Noto Sans KR Medium"/>
        <a:ea typeface="Noto Sans KR Medium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Yu Gothic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Yu Gothic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309</TotalTime>
  <Words>705</Words>
  <Application>Microsoft Office PowerPoint</Application>
  <PresentationFormat>와이드스크린</PresentationFormat>
  <Paragraphs>151</Paragraphs>
  <Slides>16</Slides>
  <Notes>15</Notes>
  <HiddenSlides>0</HiddenSlides>
  <MMClips>0</MMClips>
  <ScaleCrop>false</ScaleCrop>
  <HeadingPairs>
    <vt:vector size="6" baseType="variant">
      <vt:variant>
        <vt:lpstr>사용한 글꼴</vt:lpstr>
      </vt:variant>
      <vt:variant>
        <vt:i4>8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16</vt:i4>
      </vt:variant>
    </vt:vector>
  </HeadingPairs>
  <TitlesOfParts>
    <vt:vector size="25" baseType="lpstr">
      <vt:lpstr>Noto Sans KR</vt:lpstr>
      <vt:lpstr>Noto Sans KR Black</vt:lpstr>
      <vt:lpstr>Noto Sans KR Medium</vt:lpstr>
      <vt:lpstr>고양덕양 B</vt:lpstr>
      <vt:lpstr>나눔바른고딕 Light</vt:lpstr>
      <vt:lpstr>나눔스퀘어 ExtraBold</vt:lpstr>
      <vt:lpstr>땅스부대찌개 Bold</vt:lpstr>
      <vt:lpstr>Arial</vt:lpstr>
      <vt:lpstr>Office Theme</vt:lpstr>
      <vt:lpstr>PowerPoint 프레젠테이션</vt:lpstr>
      <vt:lpstr>일곱 번의 생각, 그 중 오늘</vt:lpstr>
      <vt:lpstr>‘아트풀 씽킹(Artful Thinking)’ 이란?</vt:lpstr>
      <vt:lpstr>PowerPoint 프레젠테이션</vt:lpstr>
      <vt:lpstr>오늘의 핵심 문장</vt:lpstr>
      <vt:lpstr>&lt;동물화/식물화&gt;를 알아봅시다(영상제목: 동물화, 식물화)</vt:lpstr>
      <vt:lpstr>옛 그림과 만나기</vt:lpstr>
      <vt:lpstr>옛 그림과 만나기</vt:lpstr>
      <vt:lpstr>아트풀 씽킹으로 생각하기</vt:lpstr>
      <vt:lpstr>아트풀 씽킹으로 생각하기</vt:lpstr>
      <vt:lpstr>생각의 팔레트 확장하기</vt:lpstr>
      <vt:lpstr>활동안내</vt:lpstr>
      <vt:lpstr>PowerPoint 프레젠테이션</vt:lpstr>
      <vt:lpstr>PowerPoint 프레젠테이션</vt:lpstr>
      <vt:lpstr>정리하기</vt:lpstr>
      <vt:lpstr>PowerPoint 프레젠테이션</vt:lpstr>
    </vt:vector>
  </TitlesOfParts>
  <Manager/>
  <Company>PptxGenJS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user</cp:lastModifiedBy>
  <cp:revision>57</cp:revision>
  <dcterms:created xsi:type="dcterms:W3CDTF">2026-07-09T22:35:37Z</dcterms:created>
  <dcterms:modified xsi:type="dcterms:W3CDTF">2026-10-21T06:35:55Z</dcterms:modified>
  <cp:version/>
</cp:coreProperties>
</file>