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6" r:id="rId2"/>
  </p:sldMasterIdLst>
  <p:notesMasterIdLst>
    <p:notesMasterId r:id="rId35"/>
  </p:notesMasterIdLst>
  <p:sldIdLst>
    <p:sldId id="256" r:id="rId3"/>
    <p:sldId id="265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8" r:id="rId12"/>
    <p:sldId id="286" r:id="rId13"/>
    <p:sldId id="289" r:id="rId14"/>
    <p:sldId id="301" r:id="rId15"/>
    <p:sldId id="278" r:id="rId16"/>
    <p:sldId id="266" r:id="rId17"/>
    <p:sldId id="290" r:id="rId18"/>
    <p:sldId id="304" r:id="rId19"/>
    <p:sldId id="303" r:id="rId20"/>
    <p:sldId id="305" r:id="rId21"/>
    <p:sldId id="306" r:id="rId22"/>
    <p:sldId id="302" r:id="rId23"/>
    <p:sldId id="307" r:id="rId24"/>
    <p:sldId id="308" r:id="rId25"/>
    <p:sldId id="293" r:id="rId26"/>
    <p:sldId id="294" r:id="rId27"/>
    <p:sldId id="295" r:id="rId28"/>
    <p:sldId id="296" r:id="rId29"/>
    <p:sldId id="297" r:id="rId30"/>
    <p:sldId id="298" r:id="rId31"/>
    <p:sldId id="299" r:id="rId32"/>
    <p:sldId id="300" r:id="rId33"/>
    <p:sldId id="270" r:id="rId34"/>
  </p:sldIdLst>
  <p:sldSz cx="12192000" cy="6858000"/>
  <p:notesSz cx="6858000" cy="12192000"/>
  <p:embeddedFontLst>
    <p:embeddedFont>
      <p:font typeface="Noto Sans KR Black" panose="020B0200000000000000" pitchFamily="50" charset="-127"/>
      <p:bold r:id="rId36"/>
    </p:embeddedFont>
    <p:embeddedFont>
      <p:font typeface="Noto Sans KR Medium" panose="020B0200000000000000" pitchFamily="50" charset="-127"/>
      <p:regular r:id="rId37"/>
    </p:embeddedFont>
    <p:embeddedFont>
      <p:font typeface="나눔스퀘어 ExtraBold" panose="020B0600000101010101" pitchFamily="50" charset="-127"/>
      <p:bold r:id="rId38"/>
    </p:embeddedFont>
    <p:embeddedFont>
      <p:font typeface="땅스부대찌개 Bold" panose="02020603020101020101" pitchFamily="18" charset="-127"/>
      <p:bold r:id="rId39"/>
    </p:embeddedFont>
    <p:embeddedFont>
      <p:font typeface="에스코어 드림 8 Heavy" panose="020B0903030302020204" pitchFamily="34" charset="-127"/>
      <p:bold r:id="rId4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>
          <p15:clr>
            <a:srgbClr val="A4A3A4"/>
          </p15:clr>
        </p15:guide>
        <p15:guide id="2" pos="383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4.fntdata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1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43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3287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5355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407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0963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875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897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jpe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동네 식물</a:t>
            </a:r>
            <a:r>
              <a:rPr lang="en-US" altLang="ko-KR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우리에게 어떤 이야기를 들려줄까요</a:t>
            </a:r>
            <a:r>
              <a:rPr lang="en-US" altLang="ko-KR" sz="28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15</a:t>
            </a:r>
            <a:r>
              <a:rPr lang="ko-KR" altLang="en-US" sz="3703" dirty="0" err="1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Quiz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54433" y="2741297"/>
            <a:ext cx="6495689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사진은 식물의 일부 모습입니다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사진을 보고 어떤 식물인지 맞혀 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5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문제가 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 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494" y="2438378"/>
            <a:ext cx="2831012" cy="308605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74256" y="3304917"/>
            <a:ext cx="855491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수국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853" b="12736"/>
          <a:stretch/>
        </p:blipFill>
        <p:spPr bwMode="auto">
          <a:xfrm>
            <a:off x="5078968" y="2275014"/>
            <a:ext cx="3868794" cy="316780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039" y="2481262"/>
            <a:ext cx="2537921" cy="2774980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8317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52100" y="3161944"/>
            <a:ext cx="2058255" cy="55399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나팔꽃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919" y="2139755"/>
            <a:ext cx="3848100" cy="340042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08912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6195" y="2346681"/>
            <a:ext cx="3122799" cy="268765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603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43224" y="3372238"/>
            <a:ext cx="1648143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단풍나무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1584" y="2201426"/>
            <a:ext cx="3051587" cy="344962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71846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060" y="2672405"/>
            <a:ext cx="2647950" cy="231457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068778" y="3332649"/>
            <a:ext cx="1282274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무궁화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0737" y="2272480"/>
            <a:ext cx="3352024" cy="322833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5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9827" y="2748498"/>
            <a:ext cx="3632346" cy="1628293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119371" y="3372239"/>
            <a:ext cx="916405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호박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409" y="2252430"/>
            <a:ext cx="5365144" cy="279361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6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1"/>
              <a:ext cx="3579128" cy="7349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경험 나누기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840355"/>
            <a:ext cx="8794678" cy="146304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평소에 동네에서 본 적 있는 식물의 종류와 </a:t>
            </a:r>
          </a:p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식물을 발견한 장소를</a:t>
            </a:r>
          </a:p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친구들에게 이야기해보세요</a:t>
            </a:r>
            <a:r>
              <a:rPr lang="en-US" altLang="ko-KR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7531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773680"/>
            <a:ext cx="8794678" cy="1596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 식물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종류와 특징을 탐색하여 </a:t>
            </a:r>
            <a:endParaRPr lang="ko-KR" altLang="en-US" sz="3300" b="1" u="sng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자연에 대한 이해와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관심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키우고</a:t>
            </a:r>
            <a:r>
              <a:rPr lang="en-US" altLang="ko-KR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endParaRPr lang="ko-KR" altLang="en-US" sz="3300" b="1" u="sng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300" b="1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생명 존중</a:t>
            </a:r>
            <a:r>
              <a:rPr lang="ko-KR" altLang="en-US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태도를 기를 수 있다</a:t>
            </a:r>
            <a:r>
              <a:rPr lang="en-US" altLang="ko-KR" sz="33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3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『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동네식물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』</a:t>
            </a:r>
            <a:r>
              <a:rPr lang="en-US" altLang="ko-KR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글∙그림 안도연</a:t>
            </a:r>
            <a:r>
              <a:rPr lang="en-US" altLang="ko-KR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감상하기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19760" y="4004882"/>
            <a:ext cx="9525376" cy="163121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작가가 그리고 쓴 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『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동네식물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』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일부를 함께 감상하면서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선생님이 동네를 산책하며 찍은 식물 사진도 함께 살펴보겠습니다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영상을 시청하는 동안 식물의 그림과 사진을 주의 깊게 보고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와 닿는 글은 메모하거나 기억하세요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r>
              <a:rPr lang="ko-KR" altLang="en-US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영상 시청 후</a:t>
            </a:r>
            <a:r>
              <a:rPr lang="en-US" altLang="ko-KR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드는 내용을 함께 발표하는 시간을 갖겠습니다</a:t>
            </a:r>
            <a:r>
              <a:rPr lang="en-US" altLang="ko-KR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61" y="1714729"/>
            <a:ext cx="5762625" cy="209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직사각형 7"/>
          <p:cNvSpPr/>
          <p:nvPr/>
        </p:nvSpPr>
        <p:spPr>
          <a:xfrm>
            <a:off x="6397750" y="353895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>
              <a:defRPr/>
            </a:pP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계절의 색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19761" y="1431905"/>
            <a:ext cx="9117399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계절의 색을 알아볼까요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27966" y="1999906"/>
            <a:ext cx="10336067" cy="3353268"/>
          </a:xfrm>
          <a:prstGeom prst="rect">
            <a:avLst/>
          </a:prstGeom>
        </p:spPr>
      </p:pic>
      <p:sp>
        <p:nvSpPr>
          <p:cNvPr id="101" name="직사각형 100"/>
          <p:cNvSpPr/>
          <p:nvPr/>
        </p:nvSpPr>
        <p:spPr>
          <a:xfrm>
            <a:off x="927966" y="5459730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봄</a:t>
            </a:r>
          </a:p>
        </p:txBody>
      </p:sp>
      <p:sp>
        <p:nvSpPr>
          <p:cNvPr id="102" name="직사각형 101"/>
          <p:cNvSpPr/>
          <p:nvPr/>
        </p:nvSpPr>
        <p:spPr>
          <a:xfrm>
            <a:off x="6161442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가을</a:t>
            </a:r>
          </a:p>
        </p:txBody>
      </p:sp>
      <p:sp>
        <p:nvSpPr>
          <p:cNvPr id="103" name="직사각형 102"/>
          <p:cNvSpPr/>
          <p:nvPr/>
        </p:nvSpPr>
        <p:spPr>
          <a:xfrm>
            <a:off x="3544704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여름</a:t>
            </a:r>
          </a:p>
        </p:txBody>
      </p:sp>
      <p:sp>
        <p:nvSpPr>
          <p:cNvPr id="104" name="직사각형 103"/>
          <p:cNvSpPr/>
          <p:nvPr/>
        </p:nvSpPr>
        <p:spPr>
          <a:xfrm>
            <a:off x="8778180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겨울</a:t>
            </a: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12236" y="1285513"/>
            <a:ext cx="9029330" cy="5078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9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여름의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92637"/>
            <a:ext cx="9084815" cy="511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617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가을의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71830"/>
            <a:ext cx="9083787" cy="510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3126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겨울의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95238"/>
            <a:ext cx="9149548" cy="5146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463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0972" y="1315632"/>
            <a:ext cx="9074137" cy="510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076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1941" y="1208366"/>
            <a:ext cx="9231350" cy="519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3251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1723" y="1208366"/>
            <a:ext cx="9251271" cy="520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6439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9935" y="2964180"/>
            <a:ext cx="5793105" cy="136779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배운 내용을 떠올리며 정답을 맞혀보세요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100" name="직사각형 4099"/>
          <p:cNvSpPr/>
          <p:nvPr/>
        </p:nvSpPr>
        <p:spPr>
          <a:xfrm>
            <a:off x="3267604" y="2745105"/>
            <a:ext cx="6040755" cy="13677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개나리의 꽃말은 무엇인가요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기대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희망    ② 이별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슬픔    ③ 가족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사랑</a:t>
            </a:r>
          </a:p>
        </p:txBody>
      </p:sp>
      <p:pic>
        <p:nvPicPr>
          <p:cNvPr id="4103" name="그림 410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48925" y="2042004"/>
            <a:ext cx="1463747" cy="1386996"/>
          </a:xfrm>
          <a:prstGeom prst="rect">
            <a:avLst/>
          </a:prstGeom>
          <a:effectLst>
            <a:reflection blurRad="6350" stA="52000" endA="300" endPos="35000" dir="5400000" sy="-100000" algn="bl" rotWithShape="0"/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033010" y="3464706"/>
            <a:ext cx="21355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기대</a:t>
            </a:r>
            <a:r>
              <a:rPr lang="en-US" altLang="ko-KR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희망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6148" name="직사각형 6147"/>
          <p:cNvSpPr/>
          <p:nvPr/>
        </p:nvSpPr>
        <p:spPr>
          <a:xfrm>
            <a:off x="3075622" y="2174191"/>
            <a:ext cx="6040756" cy="26536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ja-JP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『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 식물</a:t>
            </a:r>
            <a:r>
              <a:rPr lang="ja-JP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』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작가는 접시꽃의 마음을 무엇이라고 표현했나요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 열심히 공부하고 싶은 마음</a:t>
            </a: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가족과 여행가고 싶은 마음</a:t>
            </a: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접시에 수북하게 담아주고 싶은 마음</a:t>
            </a:r>
          </a:p>
        </p:txBody>
      </p:sp>
      <p:pic>
        <p:nvPicPr>
          <p:cNvPr id="6149" name="그림 614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836640" y="2459430"/>
            <a:ext cx="1723538" cy="1811098"/>
          </a:xfrm>
          <a:prstGeom prst="rect">
            <a:avLst/>
          </a:prstGeom>
          <a:effectLst>
            <a:reflection blurRad="6350" stA="52000" endA="300" endPos="35000" dir="5400000" sy="-100000" algn="bl" rotWithShape="0"/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9042" y="3353735"/>
            <a:ext cx="5897880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접시에 수북하게 담아주고 싶은 마음</a:t>
            </a: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8196" name="직사각형 8195"/>
          <p:cNvSpPr/>
          <p:nvPr/>
        </p:nvSpPr>
        <p:spPr>
          <a:xfrm>
            <a:off x="3267604" y="2403406"/>
            <a:ext cx="6040756" cy="26536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봄에 나무 전체에 연분홍 꽃이 아름답게 피는 나무는 무엇인가요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endParaRPr lang="en-US" altLang="ko-KR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①  단풍나무</a:t>
            </a: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 벚나무</a:t>
            </a:r>
          </a:p>
          <a:p>
            <a:pPr lvl="0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③  은행나무</a:t>
            </a:r>
          </a:p>
        </p:txBody>
      </p:sp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851712" y="3157293"/>
            <a:ext cx="17164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②  벚나무</a:t>
            </a:r>
          </a:p>
        </p:txBody>
      </p:sp>
      <p:pic>
        <p:nvPicPr>
          <p:cNvPr id="60" name="그림 5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598104" y="2269696"/>
            <a:ext cx="3157756" cy="3215621"/>
          </a:xfrm>
          <a:prstGeom prst="rect">
            <a:avLst/>
          </a:prstGeom>
          <a:effectLst>
            <a:reflection blurRad="6350" stA="52000" endA="300" endPos="35000" dir="5400000" sy="-100000" algn="bl" rotWithShape="0"/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117399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세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동물도 마음이 있어요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!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 슬픈 동물은 어떤 얼굴일까요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수업을 진행합니다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3" name="그림 1024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465745" y="2657475"/>
            <a:ext cx="2581922" cy="3442563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  <p:sp>
        <p:nvSpPr>
          <p:cNvPr id="10244" name="타원형 설명선 10243"/>
          <p:cNvSpPr/>
          <p:nvPr/>
        </p:nvSpPr>
        <p:spPr>
          <a:xfrm>
            <a:off x="6096000" y="3914497"/>
            <a:ext cx="1941989" cy="1387136"/>
          </a:xfrm>
          <a:prstGeom prst="wedgeEllipseCallout">
            <a:avLst>
              <a:gd name="adj1" fmla="val 61087"/>
              <a:gd name="adj2" fmla="val 24098"/>
            </a:avLst>
          </a:prstGeom>
          <a:solidFill>
            <a:schemeClr val="lt1"/>
          </a:solidFill>
          <a:ln w="25400">
            <a:solidFill>
              <a:srgbClr val="EEAF0F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500">
                <a:solidFill>
                  <a:schemeClr val="tx1"/>
                </a:solidFill>
              </a:rPr>
              <a:t>몽이는 지금 어떤 기분일까요</a:t>
            </a:r>
            <a:r>
              <a:rPr lang="en-US" altLang="ko-KR" sz="150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399</Words>
  <Application>Microsoft Office PowerPoint</Application>
  <PresentationFormat>와이드스크린</PresentationFormat>
  <Paragraphs>114</Paragraphs>
  <Slides>32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32</vt:i4>
      </vt:variant>
    </vt:vector>
  </HeadingPairs>
  <TitlesOfParts>
    <vt:vector size="42" baseType="lpstr">
      <vt:lpstr>에스코어 드림 8 Heavy</vt:lpstr>
      <vt:lpstr>나눔스퀘어 ExtraBold</vt:lpstr>
      <vt:lpstr>땅스부대찌개 Bold</vt:lpstr>
      <vt:lpstr>Noto Sans KR Black</vt:lpstr>
      <vt:lpstr>Arial</vt:lpstr>
      <vt:lpstr>굴림</vt:lpstr>
      <vt:lpstr>Noto Sans KR Medium</vt:lpstr>
      <vt:lpstr>Calibri</vt:lpstr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『동네식물』(글∙그림 안도연) 감상하기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62</cp:revision>
  <dcterms:created xsi:type="dcterms:W3CDTF">2026-07-09T22:35:37Z</dcterms:created>
  <dcterms:modified xsi:type="dcterms:W3CDTF">2026-10-27T16:02:25Z</dcterms:modified>
  <cp:version/>
</cp:coreProperties>
</file>