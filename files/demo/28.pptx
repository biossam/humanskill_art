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1"/>
  </p:notes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296" r:id="rId26"/>
    <p:sldId id="297" r:id="rId27"/>
    <p:sldId id="298" r:id="rId28"/>
    <p:sldId id="299" r:id="rId29"/>
    <p:sldId id="300" r:id="rId30"/>
  </p:sldIdLst>
  <p:sldSz cx="12192000" cy="6858000"/>
  <p:notesSz cx="6858000" cy="12192000"/>
  <p:embeddedFontLst>
    <p:embeddedFont>
      <p:font typeface="Noto Sans KR Black" panose="020B0200000000000000" pitchFamily="50" charset="-127"/>
      <p:bold r:id="rId32"/>
    </p:embeddedFont>
    <p:embeddedFont>
      <p:font typeface="Noto Sans KR Medium" panose="020B0200000000000000" pitchFamily="50" charset="-127"/>
      <p:regular r:id="rId33"/>
    </p:embeddedFont>
    <p:embeddedFont>
      <p:font typeface="나눔스퀘어 ExtraBold" panose="020B0600000101010101" pitchFamily="50" charset="-127"/>
      <p:bold r:id="rId34"/>
    </p:embeddedFont>
    <p:embeddedFont>
      <p:font typeface="땅스부대찌개 Bold" panose="02020603020101020101" pitchFamily="18" charset="-127"/>
      <p:bold r:id="rId35"/>
    </p:embeddedFont>
    <p:embeddedFont>
      <p:font typeface="에스코어 드림 8 Heavy" panose="020B0903030302020204" pitchFamily="34" charset="-127"/>
      <p:bold r:id="rId3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425" y="41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1348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모서리가 둥근 직사각형 10"/>
          <p:cNvSpPr/>
          <p:nvPr userDrawn="1"/>
        </p:nvSpPr>
        <p:spPr>
          <a:xfrm>
            <a:off x="431371" y="4115329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8" name="그림 17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980"/>
          <a:stretch/>
        </p:blipFill>
        <p:spPr>
          <a:xfrm>
            <a:off x="4938523" y="5907625"/>
            <a:ext cx="2314953" cy="764099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409943" y="2042583"/>
            <a:ext cx="6753997" cy="2387600"/>
          </a:xfrm>
        </p:spPr>
        <p:txBody>
          <a:bodyPr anchor="b">
            <a:normAutofit/>
          </a:bodyPr>
          <a:lstStyle>
            <a:lvl1pPr algn="l">
              <a:defRPr sz="64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3" name="Google Shape;23;p37"/>
          <p:cNvSpPr/>
          <p:nvPr/>
        </p:nvSpPr>
        <p:spPr>
          <a:xfrm>
            <a:off x="335361" y="488138"/>
            <a:ext cx="3834759" cy="72171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8493" y="0"/>
                </a:moveTo>
                <a:lnTo>
                  <a:pt x="3107" y="0"/>
                </a:lnTo>
                <a:cubicBezTo>
                  <a:pt x="2222" y="0"/>
                  <a:pt x="1691" y="0"/>
                  <a:pt x="1337" y="651"/>
                </a:cubicBezTo>
                <a:cubicBezTo>
                  <a:pt x="773" y="1743"/>
                  <a:pt x="328" y="4106"/>
                  <a:pt x="123" y="7106"/>
                </a:cubicBezTo>
                <a:cubicBezTo>
                  <a:pt x="41" y="8290"/>
                  <a:pt x="0" y="9540"/>
                  <a:pt x="0" y="10800"/>
                </a:cubicBezTo>
                <a:cubicBezTo>
                  <a:pt x="0" y="12060"/>
                  <a:pt x="41" y="13310"/>
                  <a:pt x="123" y="14494"/>
                </a:cubicBezTo>
                <a:cubicBezTo>
                  <a:pt x="328" y="17494"/>
                  <a:pt x="773" y="19857"/>
                  <a:pt x="1337" y="20949"/>
                </a:cubicBezTo>
                <a:cubicBezTo>
                  <a:pt x="1691" y="21600"/>
                  <a:pt x="2222" y="21600"/>
                  <a:pt x="3107" y="21600"/>
                </a:cubicBezTo>
                <a:lnTo>
                  <a:pt x="18493" y="21600"/>
                </a:lnTo>
                <a:cubicBezTo>
                  <a:pt x="19378" y="21600"/>
                  <a:pt x="19909" y="21600"/>
                  <a:pt x="20263" y="20949"/>
                </a:cubicBezTo>
                <a:cubicBezTo>
                  <a:pt x="20827" y="19857"/>
                  <a:pt x="21272" y="17494"/>
                  <a:pt x="21477" y="14494"/>
                </a:cubicBezTo>
                <a:cubicBezTo>
                  <a:pt x="21559" y="13310"/>
                  <a:pt x="21600" y="12060"/>
                  <a:pt x="21600" y="10800"/>
                </a:cubicBezTo>
                <a:cubicBezTo>
                  <a:pt x="21600" y="9540"/>
                  <a:pt x="21559" y="8290"/>
                  <a:pt x="21477" y="7106"/>
                </a:cubicBezTo>
                <a:cubicBezTo>
                  <a:pt x="21272" y="4106"/>
                  <a:pt x="20827" y="1743"/>
                  <a:pt x="20263" y="651"/>
                </a:cubicBezTo>
                <a:cubicBezTo>
                  <a:pt x="19909" y="0"/>
                  <a:pt x="19378" y="0"/>
                  <a:pt x="18493" y="0"/>
                </a:cubicBezTo>
                <a:close/>
              </a:path>
            </a:pathLst>
          </a:custGeom>
          <a:solidFill>
            <a:srgbClr val="F6877E"/>
          </a:solidFill>
          <a:ln>
            <a:noFill/>
          </a:ln>
        </p:spPr>
        <p:txBody>
          <a:bodyPr spcFirstLastPara="1" wrap="square" lIns="60933" tIns="60933" rIns="60933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Arial"/>
              <a:sym typeface="Arial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176" y="1690809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060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타원 7"/>
          <p:cNvSpPr/>
          <p:nvPr userDrawn="1"/>
        </p:nvSpPr>
        <p:spPr>
          <a:xfrm>
            <a:off x="1314979" y="932723"/>
            <a:ext cx="9562043" cy="51954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774"/>
          <a:stretch/>
        </p:blipFill>
        <p:spPr>
          <a:xfrm>
            <a:off x="5232685" y="6213310"/>
            <a:ext cx="1726629" cy="559532"/>
          </a:xfrm>
          <a:prstGeom prst="rect">
            <a:avLst/>
          </a:prstGeom>
        </p:spPr>
      </p:pic>
      <p:grpSp>
        <p:nvGrpSpPr>
          <p:cNvPr id="3" name="그룹 2"/>
          <p:cNvGrpSpPr/>
          <p:nvPr userDrawn="1"/>
        </p:nvGrpSpPr>
        <p:grpSpPr>
          <a:xfrm>
            <a:off x="8380207" y="4128700"/>
            <a:ext cx="3810915" cy="2740004"/>
            <a:chOff x="8380207" y="4128700"/>
            <a:chExt cx="3810915" cy="2740004"/>
          </a:xfrm>
        </p:grpSpPr>
        <p:pic>
          <p:nvPicPr>
            <p:cNvPr id="5" name="그림 4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0207" y="4139458"/>
              <a:ext cx="3806750" cy="2729246"/>
            </a:xfrm>
            <a:prstGeom prst="rect">
              <a:avLst/>
            </a:prstGeom>
          </p:spPr>
        </p:pic>
        <p:pic>
          <p:nvPicPr>
            <p:cNvPr id="2" name="그림 1"/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5922" y="4128700"/>
              <a:ext cx="3805200" cy="27318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36616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922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818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모서리가 둥근 직사각형 2"/>
          <p:cNvSpPr/>
          <p:nvPr userDrawn="1"/>
        </p:nvSpPr>
        <p:spPr>
          <a:xfrm>
            <a:off x="519762" y="1412776"/>
            <a:ext cx="11144857" cy="4896544"/>
          </a:xfrm>
          <a:prstGeom prst="roundRect">
            <a:avLst>
              <a:gd name="adj" fmla="val 11065"/>
            </a:avLst>
          </a:prstGeom>
          <a:solidFill>
            <a:schemeClr val="bg1"/>
          </a:solidFill>
          <a:ln w="57150">
            <a:solidFill>
              <a:srgbClr val="F687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565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2" name="Google Shape;22;p37"/>
          <p:cNvGrpSpPr/>
          <p:nvPr userDrawn="1"/>
        </p:nvGrpSpPr>
        <p:grpSpPr>
          <a:xfrm>
            <a:off x="335361" y="487206"/>
            <a:ext cx="3834759" cy="722645"/>
            <a:chOff x="0" y="-699"/>
            <a:chExt cx="2876068" cy="541982"/>
          </a:xfrm>
        </p:grpSpPr>
        <p:sp>
          <p:nvSpPr>
            <p:cNvPr id="13" name="Google Shape;23;p37"/>
            <p:cNvSpPr/>
            <p:nvPr/>
          </p:nvSpPr>
          <p:spPr>
            <a:xfrm>
              <a:off x="0" y="0"/>
              <a:ext cx="2876068" cy="54128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493" y="0"/>
                  </a:moveTo>
                  <a:lnTo>
                    <a:pt x="3107" y="0"/>
                  </a:lnTo>
                  <a:cubicBezTo>
                    <a:pt x="2222" y="0"/>
                    <a:pt x="1691" y="0"/>
                    <a:pt x="1337" y="651"/>
                  </a:cubicBezTo>
                  <a:cubicBezTo>
                    <a:pt x="773" y="1743"/>
                    <a:pt x="328" y="4106"/>
                    <a:pt x="123" y="7106"/>
                  </a:cubicBezTo>
                  <a:cubicBezTo>
                    <a:pt x="41" y="8290"/>
                    <a:pt x="0" y="9540"/>
                    <a:pt x="0" y="10800"/>
                  </a:cubicBezTo>
                  <a:cubicBezTo>
                    <a:pt x="0" y="12060"/>
                    <a:pt x="41" y="13310"/>
                    <a:pt x="123" y="14494"/>
                  </a:cubicBezTo>
                  <a:cubicBezTo>
                    <a:pt x="328" y="17494"/>
                    <a:pt x="773" y="19857"/>
                    <a:pt x="1337" y="20949"/>
                  </a:cubicBezTo>
                  <a:cubicBezTo>
                    <a:pt x="1691" y="21600"/>
                    <a:pt x="2222" y="21600"/>
                    <a:pt x="3107" y="21600"/>
                  </a:cubicBezTo>
                  <a:lnTo>
                    <a:pt x="18493" y="21600"/>
                  </a:lnTo>
                  <a:cubicBezTo>
                    <a:pt x="19378" y="21600"/>
                    <a:pt x="19909" y="21600"/>
                    <a:pt x="20263" y="20949"/>
                  </a:cubicBezTo>
                  <a:cubicBezTo>
                    <a:pt x="20827" y="19857"/>
                    <a:pt x="21272" y="17494"/>
                    <a:pt x="21477" y="14494"/>
                  </a:cubicBezTo>
                  <a:cubicBezTo>
                    <a:pt x="21559" y="13310"/>
                    <a:pt x="21600" y="12060"/>
                    <a:pt x="21600" y="10800"/>
                  </a:cubicBezTo>
                  <a:cubicBezTo>
                    <a:pt x="21600" y="9540"/>
                    <a:pt x="21559" y="8290"/>
                    <a:pt x="21477" y="7106"/>
                  </a:cubicBezTo>
                  <a:cubicBezTo>
                    <a:pt x="21272" y="4106"/>
                    <a:pt x="20827" y="1743"/>
                    <a:pt x="20263" y="651"/>
                  </a:cubicBezTo>
                  <a:cubicBezTo>
                    <a:pt x="19909" y="0"/>
                    <a:pt x="19378" y="0"/>
                    <a:pt x="18493" y="0"/>
                  </a:cubicBezTo>
                  <a:close/>
                </a:path>
              </a:pathLst>
            </a:custGeom>
            <a:solidFill>
              <a:srgbClr val="F6877E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chemeClr val="dk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/>
                <a:sym typeface="Arial"/>
              </a:endParaRPr>
            </a:p>
          </p:txBody>
        </p:sp>
        <p:sp>
          <p:nvSpPr>
            <p:cNvPr id="14" name="Google Shape;24;p37"/>
            <p:cNvSpPr txBox="1"/>
            <p:nvPr/>
          </p:nvSpPr>
          <p:spPr>
            <a:xfrm>
              <a:off x="243287" y="-699"/>
              <a:ext cx="2389494" cy="535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333" b="1" dirty="0">
                  <a:solidFill>
                    <a:srgbClr val="FFFFFF"/>
                  </a:solidFill>
                  <a:latin typeface="+mj-ea"/>
                  <a:ea typeface="+mj-ea"/>
                  <a:cs typeface="Arial"/>
                  <a:sym typeface="Arial"/>
                </a:rPr>
                <a:t>초등 미술</a:t>
              </a:r>
              <a:endParaRPr sz="2400" dirty="0">
                <a:latin typeface="+mj-ea"/>
                <a:ea typeface="+mj-ea"/>
              </a:endParaRPr>
            </a:p>
          </p:txBody>
        </p:sp>
      </p:grpSp>
      <p:pic>
        <p:nvPicPr>
          <p:cNvPr id="15" name="그림 14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158" r="34094" b="5158"/>
          <a:stretch/>
        </p:blipFill>
        <p:spPr>
          <a:xfrm>
            <a:off x="4804125" y="5883883"/>
            <a:ext cx="2346484" cy="764099"/>
          </a:xfrm>
          <a:prstGeom prst="rect">
            <a:avLst/>
          </a:prstGeom>
        </p:spPr>
      </p:pic>
      <p:sp>
        <p:nvSpPr>
          <p:cNvPr id="17" name="모서리가 둥근 직사각형 16"/>
          <p:cNvSpPr/>
          <p:nvPr userDrawn="1"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8" name="Google Shape;125;p45"/>
          <p:cNvSpPr txBox="1"/>
          <p:nvPr userDrawn="1"/>
        </p:nvSpPr>
        <p:spPr>
          <a:xfrm>
            <a:off x="2927648" y="3591209"/>
            <a:ext cx="6387312" cy="3200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0" b="1" dirty="0">
                <a:latin typeface="+mj-ea"/>
                <a:ea typeface="+mj-ea"/>
                <a:cs typeface="Arial"/>
                <a:sym typeface="Arial"/>
              </a:rPr>
              <a:t>감사합니다</a:t>
            </a:r>
            <a:endParaRPr sz="10000" b="1" dirty="0">
              <a:latin typeface="+mj-ea"/>
              <a:ea typeface="+mj-ea"/>
              <a:cs typeface="Arial"/>
              <a:sym typeface="Arial"/>
            </a:endParaRPr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758" y="1079178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00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1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/>
          <p:cNvSpPr/>
          <p:nvPr/>
        </p:nvSpPr>
        <p:spPr>
          <a:xfrm>
            <a:off x="512135" y="2972782"/>
            <a:ext cx="7718219" cy="1077218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r>
              <a:rPr lang="ko-KR" altLang="en-US" sz="3200" b="1" spc="-200" dirty="0" err="1">
                <a:solidFill>
                  <a:srgbClr val="F6877E"/>
                </a:solidFill>
                <a:latin typeface="+mj-ea"/>
                <a:ea typeface="+mj-ea"/>
              </a:rPr>
              <a:t>사진은</a:t>
            </a:r>
            <a:endParaRPr lang="ko-KR" altLang="en-US" sz="5867" b="1" spc="-200" dirty="0">
              <a:solidFill>
                <a:srgbClr val="F6877E"/>
              </a:solidFill>
              <a:latin typeface="+mj-ea"/>
              <a:ea typeface="+mj-ea"/>
            </a:endParaRPr>
          </a:p>
          <a:p>
            <a:r>
              <a:rPr lang="ko-KR" altLang="en-US" sz="3200" b="1" spc="-200" dirty="0" err="1">
                <a:solidFill>
                  <a:srgbClr val="F6877E"/>
                </a:solidFill>
                <a:latin typeface="+mj-ea"/>
                <a:ea typeface="+mj-ea"/>
              </a:rPr>
              <a:t>무엇을 담을까?</a:t>
            </a:r>
          </a:p>
        </p:txBody>
      </p:sp>
      <p:sp>
        <p:nvSpPr>
          <p:cNvPr id="2" name="모서리가 둥근 직사각형 1"/>
          <p:cNvSpPr/>
          <p:nvPr/>
        </p:nvSpPr>
        <p:spPr>
          <a:xfrm>
            <a:off x="431371" y="4115329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5" name="제목 1"/>
          <p:cNvSpPr txBox="1">
            <a:spLocks/>
          </p:cNvSpPr>
          <p:nvPr/>
        </p:nvSpPr>
        <p:spPr>
          <a:xfrm>
            <a:off x="431319" y="577123"/>
            <a:ext cx="3552447" cy="547620"/>
          </a:xfrm>
          <a:prstGeom prst="rect">
            <a:avLst/>
          </a:prstGeom>
        </p:spPr>
        <p:txBody>
          <a:bodyPr vert="horz" lIns="121920" tIns="60960" rIns="121920" bIns="6096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2667" dirty="0">
                <a:solidFill>
                  <a:schemeClr val="bg1"/>
                </a:solidFill>
              </a:rPr>
              <a:t>초등 미술</a:t>
            </a:r>
          </a:p>
        </p:txBody>
      </p:sp>
      <p:pic>
        <p:nvPicPr>
          <p:cNvPr id="16" name="Google Shape;26;p37" descr="표지 차시 말풍선 그림"/>
          <p:cNvPicPr preferRelativeResize="0"/>
          <p:nvPr/>
        </p:nvPicPr>
        <p:blipFill rotWithShape="1">
          <a:blip r:embed="rId2">
            <a:alphaModFix/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423925" y="1640745"/>
            <a:ext cx="2067867" cy="138523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31;p1"/>
          <p:cNvSpPr txBox="1">
            <a:spLocks/>
          </p:cNvSpPr>
          <p:nvPr/>
        </p:nvSpPr>
        <p:spPr>
          <a:xfrm>
            <a:off x="5185669" y="2018557"/>
            <a:ext cx="2542512" cy="642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chemeClr val="lt1"/>
              </a:buClr>
              <a:buSzPts val="2800"/>
              <a:buNone/>
            </a:pPr>
            <a:r>
              <a:rPr lang="en-US" altLang="ko-KR" sz="3733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2차시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35722" y="4400000"/>
            <a:ext cx="5925788" cy="56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r"/>
            <a:r>
              <a:rPr sz="2800" b="1" u="none" dirty="0" err="1">
                <a:solidFill>
                  <a:srgbClr val="4472C4"/>
                </a:solidFill>
                <a:latin typeface="+mj-ea"/>
                <a:ea typeface="+mj-ea"/>
              </a:rPr>
              <a:t>단원</a:t>
            </a:r>
            <a:r>
              <a:rPr sz="2800" b="1" u="none" dirty="0">
                <a:solidFill>
                  <a:srgbClr val="4472C4"/>
                </a:solidFill>
                <a:latin typeface="+mj-ea"/>
                <a:ea typeface="+mj-ea"/>
              </a:rPr>
              <a:t>: </a:t>
            </a:r>
            <a:r>
              <a:rPr sz="2800" b="1" u="none" dirty="0" err="1">
                <a:solidFill>
                  <a:srgbClr val="4472C4"/>
                </a:solidFill>
                <a:latin typeface="+mj-ea"/>
                <a:ea typeface="+mj-ea"/>
              </a:rPr>
              <a:t>같은</a:t>
            </a:r>
            <a:r>
              <a:rPr sz="2800" b="1" u="none" dirty="0">
                <a:solidFill>
                  <a:srgbClr val="4472C4"/>
                </a:solidFill>
                <a:latin typeface="+mj-ea"/>
                <a:ea typeface="+mj-ea"/>
              </a:rPr>
              <a:t> </a:t>
            </a:r>
            <a:r>
              <a:rPr sz="2800" b="1" u="none" dirty="0" err="1">
                <a:solidFill>
                  <a:srgbClr val="4472C4"/>
                </a:solidFill>
                <a:latin typeface="+mj-ea"/>
                <a:ea typeface="+mj-ea"/>
              </a:rPr>
              <a:t>세상</a:t>
            </a:r>
            <a:r>
              <a:rPr sz="2800" b="1" u="none" dirty="0">
                <a:solidFill>
                  <a:srgbClr val="4472C4"/>
                </a:solidFill>
                <a:latin typeface="+mj-ea"/>
                <a:ea typeface="+mj-ea"/>
              </a:rPr>
              <a:t>, </a:t>
            </a:r>
            <a:r>
              <a:rPr sz="2800" b="1" u="none" dirty="0" err="1">
                <a:solidFill>
                  <a:srgbClr val="4472C4"/>
                </a:solidFill>
                <a:latin typeface="+mj-ea"/>
                <a:ea typeface="+mj-ea"/>
              </a:rPr>
              <a:t>다른</a:t>
            </a:r>
            <a:r>
              <a:rPr sz="2800" b="1" u="none" dirty="0">
                <a:solidFill>
                  <a:srgbClr val="4472C4"/>
                </a:solidFill>
                <a:latin typeface="+mj-ea"/>
                <a:ea typeface="+mj-ea"/>
              </a:rPr>
              <a:t> 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조형놀이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2400000" y="2550000"/>
            <a:ext cx="7400000" cy="23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0" u="none">
                <a:solidFill>
                  <a:srgbClr val="404040"/>
                </a:solidFill>
                <a:latin typeface="+mn-ea"/>
                <a:ea typeface="+mn-ea"/>
              </a:rPr>
              <a:t>두 가지로 보이는 신기한 그림이 나옵니다.</a:t>
            </a:r>
          </a:p>
          <a:p>
            <a:pPr algn="ctr"/>
            <a:r>
              <a:rPr sz="2800" b="0" u="none">
                <a:solidFill>
                  <a:srgbClr val="404040"/>
                </a:solidFill>
                <a:latin typeface="+mn-ea"/>
                <a:ea typeface="+mn-ea"/>
              </a:rPr>
              <a:t>무엇이 먼저 보이는지 화이트보드에 표시해 보세요.</a:t>
            </a:r>
          </a:p>
          <a:p>
            <a:pPr algn="ctr"/>
            <a:r>
              <a:rPr sz="2800" b="0" u="none">
                <a:solidFill>
                  <a:srgbClr val="404040"/>
                </a:solidFill>
                <a:latin typeface="+mn-ea"/>
                <a:ea typeface="+mn-ea"/>
              </a:rPr>
              <a:t>모두 2문제가 준비되어 있습니다.</a:t>
            </a:r>
          </a:p>
          <a:p>
            <a:pPr algn="ctr"/>
            <a:r>
              <a:rPr sz="2800" b="0" u="none">
                <a:solidFill>
                  <a:srgbClr val="404040"/>
                </a:solidFill>
                <a:latin typeface="+mn-ea"/>
                <a:ea typeface="+mn-ea"/>
              </a:rPr>
              <a:t>정답은 하나가 아닐 수도 있어요.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문제 1</a:t>
              </a:r>
            </a:p>
          </p:txBody>
        </p:sp>
      </p:grpSp>
      <p:pic>
        <p:nvPicPr>
          <p:cNvPr id="59" name="Picture 58" descr="오리-토끼 반전 그림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0000" y="2568706"/>
            <a:ext cx="3500000" cy="2212587"/>
          </a:xfrm>
          <a:prstGeom prst="rect">
            <a:avLst/>
          </a:prstGeom>
        </p:spPr>
      </p:pic>
      <p:sp>
        <p:nvSpPr>
          <p:cNvPr id="60" name="Rounded Rectangle 59"/>
          <p:cNvSpPr/>
          <p:nvPr/>
        </p:nvSpPr>
        <p:spPr>
          <a:xfrm>
            <a:off x="2900000" y="5330000"/>
            <a:ext cx="6400000" cy="52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u="none">
                <a:solidFill>
                  <a:srgbClr val="FFFFFF"/>
                </a:solidFill>
                <a:latin typeface="+mn-ea"/>
                <a:ea typeface="+mn-ea"/>
              </a:rPr>
              <a:t>먼저 보인 쪽은?  O 오리  /  X 토끼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정답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1600000" y="2500000"/>
            <a:ext cx="3600000" cy="9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u="none">
                <a:solidFill>
                  <a:srgbClr val="D9534A"/>
                </a:solidFill>
                <a:latin typeface="+mn-ea"/>
                <a:ea typeface="+mn-ea"/>
              </a:rPr>
              <a:t>오리도, 토끼도 정답!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600000" y="3450000"/>
            <a:ext cx="3600000" cy="11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0" u="none" dirty="0" err="1">
                <a:solidFill>
                  <a:srgbClr val="404040"/>
                </a:solidFill>
                <a:latin typeface="+mn-ea"/>
                <a:ea typeface="+mn-ea"/>
              </a:rPr>
              <a:t>무엇이</a:t>
            </a:r>
            <a:r>
              <a:rPr sz="19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1900" b="0" u="none" dirty="0" err="1">
                <a:solidFill>
                  <a:srgbClr val="404040"/>
                </a:solidFill>
                <a:latin typeface="+mn-ea"/>
                <a:ea typeface="+mn-ea"/>
              </a:rPr>
              <a:t>먼저</a:t>
            </a:r>
            <a:r>
              <a:rPr sz="19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1900" b="0" u="none" dirty="0" err="1">
                <a:solidFill>
                  <a:srgbClr val="404040"/>
                </a:solidFill>
                <a:latin typeface="+mn-ea"/>
                <a:ea typeface="+mn-ea"/>
              </a:rPr>
              <a:t>보였는지가</a:t>
            </a:r>
            <a:r>
              <a:rPr sz="19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endParaRPr lang="en-US" sz="1900" b="0" u="none" dirty="0">
              <a:solidFill>
                <a:srgbClr val="404040"/>
              </a:solidFill>
              <a:latin typeface="+mn-ea"/>
              <a:ea typeface="+mn-ea"/>
            </a:endParaRPr>
          </a:p>
          <a:p>
            <a:pPr algn="ctr"/>
            <a:r>
              <a:rPr sz="1900" b="0" u="none" dirty="0" err="1">
                <a:solidFill>
                  <a:srgbClr val="404040"/>
                </a:solidFill>
                <a:latin typeface="+mn-ea"/>
                <a:ea typeface="+mn-ea"/>
              </a:rPr>
              <a:t>다를</a:t>
            </a:r>
            <a:r>
              <a:rPr sz="19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1900" b="0" u="none" dirty="0" err="1">
                <a:solidFill>
                  <a:srgbClr val="404040"/>
                </a:solidFill>
                <a:latin typeface="+mn-ea"/>
                <a:ea typeface="+mn-ea"/>
              </a:rPr>
              <a:t>뿐이에요</a:t>
            </a:r>
            <a:r>
              <a:rPr sz="1900" b="0" u="none" dirty="0">
                <a:solidFill>
                  <a:srgbClr val="404040"/>
                </a:solidFill>
                <a:latin typeface="+mn-ea"/>
                <a:ea typeface="+mn-ea"/>
              </a:rPr>
              <a:t>.</a:t>
            </a:r>
          </a:p>
        </p:txBody>
      </p:sp>
      <p:pic>
        <p:nvPicPr>
          <p:cNvPr id="61" name="Picture 60" descr="오리와 토끼로 색칠해 본 반전 그림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6748" y="2270000"/>
            <a:ext cx="2196504" cy="2900000"/>
          </a:xfrm>
          <a:prstGeom prst="rect">
            <a:avLst/>
          </a:prstGeom>
        </p:spPr>
      </p:pic>
      <p:sp>
        <p:nvSpPr>
          <p:cNvPr id="62" name="Rectangle 61"/>
          <p:cNvSpPr/>
          <p:nvPr/>
        </p:nvSpPr>
        <p:spPr>
          <a:xfrm>
            <a:off x="5000000" y="5230000"/>
            <a:ext cx="4470000" cy="4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u="none">
                <a:solidFill>
                  <a:srgbClr val="404040"/>
                </a:solidFill>
                <a:latin typeface="+mn-ea"/>
                <a:ea typeface="+mn-ea"/>
              </a:rPr>
              <a:t>노란색은 오리의 부리, 분홍색은 토끼의 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문제 2</a:t>
              </a:r>
            </a:p>
          </p:txBody>
        </p:sp>
      </p:grpSp>
      <p:pic>
        <p:nvPicPr>
          <p:cNvPr id="59" name="Picture 58" descr="잔-두 얼굴 반전 그림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500" y="2150000"/>
            <a:ext cx="2745000" cy="3050000"/>
          </a:xfrm>
          <a:prstGeom prst="rect">
            <a:avLst/>
          </a:prstGeom>
        </p:spPr>
      </p:pic>
      <p:sp>
        <p:nvSpPr>
          <p:cNvPr id="60" name="Rounded Rectangle 59"/>
          <p:cNvSpPr/>
          <p:nvPr/>
        </p:nvSpPr>
        <p:spPr>
          <a:xfrm>
            <a:off x="2900000" y="5330000"/>
            <a:ext cx="6400000" cy="52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u="none">
                <a:solidFill>
                  <a:srgbClr val="FFFFFF"/>
                </a:solidFill>
                <a:latin typeface="+mn-ea"/>
                <a:ea typeface="+mn-ea"/>
              </a:rPr>
              <a:t>먼저 보인 쪽은?  O 잔  /  X 두 얼굴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정답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1600000" y="2500000"/>
            <a:ext cx="3600000" cy="9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u="none">
                <a:solidFill>
                  <a:srgbClr val="D9534A"/>
                </a:solidFill>
                <a:latin typeface="+mn-ea"/>
                <a:ea typeface="+mn-ea"/>
              </a:rPr>
              <a:t>잔도, 두 얼굴도 정답!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600000" y="3450000"/>
            <a:ext cx="3600000" cy="11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0" u="none" dirty="0" err="1">
                <a:solidFill>
                  <a:srgbClr val="404040"/>
                </a:solidFill>
                <a:latin typeface="+mn-ea"/>
                <a:ea typeface="+mn-ea"/>
              </a:rPr>
              <a:t>같은</a:t>
            </a:r>
            <a:r>
              <a:rPr sz="19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1900" b="0" u="none" dirty="0" err="1">
                <a:solidFill>
                  <a:srgbClr val="404040"/>
                </a:solidFill>
                <a:latin typeface="+mn-ea"/>
                <a:ea typeface="+mn-ea"/>
              </a:rPr>
              <a:t>그림도</a:t>
            </a:r>
            <a:r>
              <a:rPr sz="19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endParaRPr lang="en-US" sz="1900" b="0" u="none" dirty="0">
              <a:solidFill>
                <a:srgbClr val="404040"/>
              </a:solidFill>
              <a:latin typeface="+mn-ea"/>
              <a:ea typeface="+mn-ea"/>
            </a:endParaRPr>
          </a:p>
          <a:p>
            <a:pPr algn="ctr"/>
            <a:r>
              <a:rPr sz="1900" b="0" u="none" dirty="0" err="1">
                <a:solidFill>
                  <a:srgbClr val="404040"/>
                </a:solidFill>
                <a:latin typeface="+mn-ea"/>
                <a:ea typeface="+mn-ea"/>
              </a:rPr>
              <a:t>사람마다</a:t>
            </a:r>
            <a:r>
              <a:rPr sz="19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1900" b="0" u="none" dirty="0" err="1">
                <a:solidFill>
                  <a:srgbClr val="404040"/>
                </a:solidFill>
                <a:latin typeface="+mn-ea"/>
                <a:ea typeface="+mn-ea"/>
              </a:rPr>
              <a:t>다르게</a:t>
            </a:r>
            <a:r>
              <a:rPr sz="1900" b="0" u="none" dirty="0">
                <a:solidFill>
                  <a:srgbClr val="404040"/>
                </a:solidFill>
                <a:latin typeface="+mn-ea"/>
                <a:ea typeface="+mn-ea"/>
              </a:rPr>
              <a:t> 볼 수 </a:t>
            </a:r>
            <a:r>
              <a:rPr sz="1900" b="0" u="none" dirty="0" err="1">
                <a:solidFill>
                  <a:srgbClr val="404040"/>
                </a:solidFill>
                <a:latin typeface="+mn-ea"/>
                <a:ea typeface="+mn-ea"/>
              </a:rPr>
              <a:t>있어요</a:t>
            </a:r>
            <a:r>
              <a:rPr sz="1900" b="0" u="none" dirty="0">
                <a:solidFill>
                  <a:srgbClr val="404040"/>
                </a:solidFill>
                <a:latin typeface="+mn-ea"/>
                <a:ea typeface="+mn-ea"/>
              </a:rPr>
              <a:t>.</a:t>
            </a:r>
          </a:p>
        </p:txBody>
      </p:sp>
      <p:pic>
        <p:nvPicPr>
          <p:cNvPr id="61" name="Picture 60" descr="잔과 두 얼굴로 색칠해 본 반전 그림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0000" y="2701579"/>
            <a:ext cx="3870000" cy="2036842"/>
          </a:xfrm>
          <a:prstGeom prst="rect">
            <a:avLst/>
          </a:prstGeom>
        </p:spPr>
      </p:pic>
      <p:sp>
        <p:nvSpPr>
          <p:cNvPr id="62" name="Rectangle 61"/>
          <p:cNvSpPr/>
          <p:nvPr/>
        </p:nvSpPr>
        <p:spPr>
          <a:xfrm>
            <a:off x="5000000" y="5230000"/>
            <a:ext cx="4470000" cy="4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u="none">
                <a:solidFill>
                  <a:srgbClr val="404040"/>
                </a:solidFill>
                <a:latin typeface="+mn-ea"/>
                <a:ea typeface="+mn-ea"/>
              </a:rPr>
              <a:t>노란색은 잔, 붉은 바탕은 마주 본 두 얼굴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7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일곱 번의 눈, 그 중 오늘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50000" y="1480000"/>
            <a:ext cx="290000" cy="29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10000" y="1400000"/>
            <a:ext cx="8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 u="none">
                <a:solidFill>
                  <a:srgbClr val="404040"/>
                </a:solidFill>
                <a:latin typeface="+mn-ea"/>
                <a:ea typeface="+mn-ea"/>
              </a:rPr>
              <a:t>매일 보던 우리 학교를 일곱 번 다르게 보는 사진가(나)가 되어 봐요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1325000" y="3075000"/>
            <a:ext cx="9600000" cy="0"/>
          </a:xfrm>
          <a:prstGeom prst="line">
            <a:avLst/>
          </a:prstGeom>
          <a:ln w="38100">
            <a:solidFill>
              <a:srgbClr val="F687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Oval 99"/>
          <p:cNvSpPr/>
          <p:nvPr/>
        </p:nvSpPr>
        <p:spPr>
          <a:xfrm>
            <a:off x="700000" y="2450000"/>
            <a:ext cx="1250000" cy="1250000"/>
          </a:xfrm>
          <a:prstGeom prst="ellipse">
            <a:avLst/>
          </a:prstGeom>
          <a:solidFill>
            <a:srgbClr val="FDECE9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j-ea"/>
                <a:ea typeface="+mj-ea"/>
              </a:rPr>
              <a:t>관찰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50000" y="3760000"/>
            <a:ext cx="1550000" cy="4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u="none">
                <a:solidFill>
                  <a:srgbClr val="808080"/>
                </a:solidFill>
                <a:latin typeface="+mn-ea"/>
                <a:ea typeface="+mn-ea"/>
              </a:rPr>
              <a:t>1차시</a:t>
            </a:r>
          </a:p>
        </p:txBody>
      </p:sp>
      <p:sp>
        <p:nvSpPr>
          <p:cNvPr id="102" name="Oval 101"/>
          <p:cNvSpPr/>
          <p:nvPr/>
        </p:nvSpPr>
        <p:spPr>
          <a:xfrm>
            <a:off x="2300000" y="2450000"/>
            <a:ext cx="1250000" cy="1250000"/>
          </a:xfrm>
          <a:prstGeom prst="ellipse">
            <a:avLst/>
          </a:prstGeom>
          <a:solidFill>
            <a:srgbClr val="D9534A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 u="none">
                <a:solidFill>
                  <a:srgbClr val="FFFFFF"/>
                </a:solidFill>
                <a:latin typeface="+mj-ea"/>
                <a:ea typeface="+mj-ea"/>
              </a:rPr>
              <a:t>관점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150000" y="3760000"/>
            <a:ext cx="1550000" cy="4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D9534A"/>
                </a:solidFill>
                <a:latin typeface="+mn-ea"/>
                <a:ea typeface="+mn-ea"/>
              </a:rPr>
              <a:t>2차시 (오늘)</a:t>
            </a:r>
          </a:p>
        </p:txBody>
      </p:sp>
      <p:sp>
        <p:nvSpPr>
          <p:cNvPr id="104" name="Oval 103"/>
          <p:cNvSpPr/>
          <p:nvPr/>
        </p:nvSpPr>
        <p:spPr>
          <a:xfrm>
            <a:off x="3900000" y="2450000"/>
            <a:ext cx="1250000" cy="1250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j-ea"/>
                <a:ea typeface="+mj-ea"/>
              </a:rPr>
              <a:t>준비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750000" y="3760000"/>
            <a:ext cx="1550000" cy="4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u="none">
                <a:solidFill>
                  <a:srgbClr val="808080"/>
                </a:solidFill>
                <a:latin typeface="+mn-ea"/>
                <a:ea typeface="+mn-ea"/>
              </a:rPr>
              <a:t>3차시</a:t>
            </a:r>
          </a:p>
        </p:txBody>
      </p:sp>
      <p:sp>
        <p:nvSpPr>
          <p:cNvPr id="106" name="Oval 105"/>
          <p:cNvSpPr/>
          <p:nvPr/>
        </p:nvSpPr>
        <p:spPr>
          <a:xfrm>
            <a:off x="5500000" y="2450000"/>
            <a:ext cx="1250000" cy="1250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j-ea"/>
                <a:ea typeface="+mj-ea"/>
              </a:rPr>
              <a:t>시선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350000" y="3760000"/>
            <a:ext cx="1550000" cy="4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u="none">
                <a:solidFill>
                  <a:srgbClr val="808080"/>
                </a:solidFill>
                <a:latin typeface="+mn-ea"/>
                <a:ea typeface="+mn-ea"/>
              </a:rPr>
              <a:t>4차시</a:t>
            </a:r>
          </a:p>
        </p:txBody>
      </p:sp>
      <p:sp>
        <p:nvSpPr>
          <p:cNvPr id="108" name="Oval 107"/>
          <p:cNvSpPr/>
          <p:nvPr/>
        </p:nvSpPr>
        <p:spPr>
          <a:xfrm>
            <a:off x="7100000" y="2450000"/>
            <a:ext cx="1250000" cy="1250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j-ea"/>
                <a:ea typeface="+mj-ea"/>
              </a:rPr>
              <a:t>구도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950000" y="3760000"/>
            <a:ext cx="1550000" cy="4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u="none">
                <a:solidFill>
                  <a:srgbClr val="808080"/>
                </a:solidFill>
                <a:latin typeface="+mn-ea"/>
                <a:ea typeface="+mn-ea"/>
              </a:rPr>
              <a:t>5차시</a:t>
            </a:r>
          </a:p>
        </p:txBody>
      </p:sp>
      <p:sp>
        <p:nvSpPr>
          <p:cNvPr id="110" name="Oval 109"/>
          <p:cNvSpPr/>
          <p:nvPr/>
        </p:nvSpPr>
        <p:spPr>
          <a:xfrm>
            <a:off x="8700000" y="2450000"/>
            <a:ext cx="1250000" cy="1250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j-ea"/>
                <a:ea typeface="+mj-ea"/>
              </a:rPr>
              <a:t>의도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550000" y="3760000"/>
            <a:ext cx="1550000" cy="4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u="none">
                <a:solidFill>
                  <a:srgbClr val="808080"/>
                </a:solidFill>
                <a:latin typeface="+mn-ea"/>
                <a:ea typeface="+mn-ea"/>
              </a:rPr>
              <a:t>6차시</a:t>
            </a:r>
          </a:p>
        </p:txBody>
      </p:sp>
      <p:sp>
        <p:nvSpPr>
          <p:cNvPr id="112" name="Oval 111"/>
          <p:cNvSpPr/>
          <p:nvPr/>
        </p:nvSpPr>
        <p:spPr>
          <a:xfrm>
            <a:off x="10300000" y="2450000"/>
            <a:ext cx="1250000" cy="1250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j-ea"/>
                <a:ea typeface="+mj-ea"/>
              </a:rPr>
              <a:t>소통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0150000" y="3760000"/>
            <a:ext cx="1550000" cy="4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u="none">
                <a:solidFill>
                  <a:srgbClr val="808080"/>
                </a:solidFill>
                <a:latin typeface="+mn-ea"/>
                <a:ea typeface="+mn-ea"/>
              </a:rPr>
              <a:t>7차시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1300000" y="4950000"/>
            <a:ext cx="9600000" cy="750000"/>
          </a:xfrm>
          <a:prstGeom prst="roundRect">
            <a:avLst/>
          </a:prstGeom>
          <a:solidFill>
            <a:srgbClr val="FFF8F3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404040"/>
                </a:solidFill>
                <a:latin typeface="+mn-ea"/>
                <a:ea typeface="+mn-ea"/>
              </a:rPr>
              <a:t>지난 시간에는 온몸으로 '관찰'했어요. 오늘은 나만의 '관점'을 찾아봐요.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학습목표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1869897" y="2900000"/>
            <a:ext cx="8794678" cy="13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700" b="0" u="none" dirty="0" err="1">
                <a:solidFill>
                  <a:srgbClr val="404040"/>
                </a:solidFill>
                <a:latin typeface="+mn-ea"/>
                <a:ea typeface="+mn-ea"/>
              </a:rPr>
              <a:t>생활</a:t>
            </a:r>
            <a:r>
              <a:rPr sz="2700" b="0" u="none" dirty="0">
                <a:solidFill>
                  <a:srgbClr val="404040"/>
                </a:solidFill>
                <a:latin typeface="+mn-ea"/>
                <a:ea typeface="+mn-ea"/>
              </a:rPr>
              <a:t> 속 </a:t>
            </a:r>
            <a:r>
              <a:rPr sz="2700" b="1" u="sng" dirty="0" err="1">
                <a:solidFill>
                  <a:srgbClr val="404040"/>
                </a:solidFill>
                <a:latin typeface="+mn-ea"/>
                <a:ea typeface="+mn-ea"/>
              </a:rPr>
              <a:t>사진이</a:t>
            </a:r>
            <a:r>
              <a:rPr sz="2700" b="1" u="sng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700" b="1" u="sng" dirty="0" err="1">
                <a:solidFill>
                  <a:srgbClr val="404040"/>
                </a:solidFill>
                <a:latin typeface="+mn-ea"/>
                <a:ea typeface="+mn-ea"/>
              </a:rPr>
              <a:t>하는</a:t>
            </a:r>
            <a:r>
              <a:rPr sz="2700" b="1" u="sng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700" b="1" u="sng" dirty="0" err="1">
                <a:solidFill>
                  <a:srgbClr val="404040"/>
                </a:solidFill>
                <a:latin typeface="+mn-ea"/>
                <a:ea typeface="+mn-ea"/>
              </a:rPr>
              <a:t>일</a:t>
            </a:r>
            <a:r>
              <a:rPr sz="2700" b="0" u="none" dirty="0" err="1">
                <a:solidFill>
                  <a:srgbClr val="404040"/>
                </a:solidFill>
                <a:latin typeface="+mn-ea"/>
                <a:ea typeface="+mn-ea"/>
              </a:rPr>
              <a:t>을</a:t>
            </a:r>
            <a:r>
              <a:rPr sz="27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700" b="0" u="none" dirty="0" err="1">
                <a:solidFill>
                  <a:srgbClr val="404040"/>
                </a:solidFill>
                <a:latin typeface="+mn-ea"/>
                <a:ea typeface="+mn-ea"/>
              </a:rPr>
              <a:t>알고</a:t>
            </a:r>
            <a:r>
              <a:rPr sz="2700" b="0" u="none" dirty="0">
                <a:solidFill>
                  <a:srgbClr val="404040"/>
                </a:solidFill>
                <a:latin typeface="+mn-ea"/>
                <a:ea typeface="+mn-ea"/>
              </a:rPr>
              <a:t>, </a:t>
            </a:r>
            <a:endParaRPr lang="en-US" sz="2700" b="0" u="none" dirty="0">
              <a:solidFill>
                <a:srgbClr val="404040"/>
              </a:solidFill>
              <a:latin typeface="+mn-ea"/>
              <a:ea typeface="+mn-ea"/>
            </a:endParaRPr>
          </a:p>
          <a:p>
            <a:pPr algn="ctr"/>
            <a:r>
              <a:rPr sz="2700" b="0" u="none" dirty="0">
                <a:solidFill>
                  <a:srgbClr val="404040"/>
                </a:solidFill>
                <a:latin typeface="+mn-ea"/>
                <a:ea typeface="+mn-ea"/>
              </a:rPr>
              <a:t>두 </a:t>
            </a:r>
            <a:r>
              <a:rPr sz="2700" b="0" u="none" dirty="0" err="1">
                <a:solidFill>
                  <a:srgbClr val="404040"/>
                </a:solidFill>
                <a:latin typeface="+mn-ea"/>
                <a:ea typeface="+mn-ea"/>
              </a:rPr>
              <a:t>사진에</a:t>
            </a:r>
            <a:r>
              <a:rPr sz="27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700" b="0" u="none" dirty="0" err="1">
                <a:solidFill>
                  <a:srgbClr val="404040"/>
                </a:solidFill>
                <a:latin typeface="+mn-ea"/>
                <a:ea typeface="+mn-ea"/>
              </a:rPr>
              <a:t>담긴</a:t>
            </a:r>
            <a:r>
              <a:rPr sz="27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700" b="1" u="sng" dirty="0" err="1">
                <a:solidFill>
                  <a:srgbClr val="404040"/>
                </a:solidFill>
                <a:latin typeface="+mn-ea"/>
                <a:ea typeface="+mn-ea"/>
              </a:rPr>
              <a:t>사진가의</a:t>
            </a:r>
            <a:r>
              <a:rPr sz="2700" b="1" u="sng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700" b="1" u="sng" dirty="0" err="1">
                <a:solidFill>
                  <a:srgbClr val="404040"/>
                </a:solidFill>
                <a:latin typeface="+mn-ea"/>
                <a:ea typeface="+mn-ea"/>
              </a:rPr>
              <a:t>마음</a:t>
            </a:r>
            <a:r>
              <a:rPr sz="2700" b="0" u="none" dirty="0" err="1">
                <a:solidFill>
                  <a:srgbClr val="404040"/>
                </a:solidFill>
                <a:latin typeface="+mn-ea"/>
                <a:ea typeface="+mn-ea"/>
              </a:rPr>
              <a:t>을</a:t>
            </a:r>
            <a:r>
              <a:rPr sz="27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700" b="0" u="none" dirty="0" err="1">
                <a:solidFill>
                  <a:srgbClr val="404040"/>
                </a:solidFill>
                <a:latin typeface="+mn-ea"/>
                <a:ea typeface="+mn-ea"/>
              </a:rPr>
              <a:t>짐작</a:t>
            </a:r>
            <a:r>
              <a:rPr lang="ko-KR" altLang="en-US" sz="2700" b="0" u="none" dirty="0">
                <a:solidFill>
                  <a:srgbClr val="404040"/>
                </a:solidFill>
                <a:latin typeface="+mn-ea"/>
                <a:ea typeface="+mn-ea"/>
              </a:rPr>
              <a:t>해 봅시다</a:t>
            </a:r>
            <a:r>
              <a:rPr lang="en-US" altLang="ko-KR" sz="2700" b="0" u="none">
                <a:solidFill>
                  <a:srgbClr val="404040"/>
                </a:solidFill>
                <a:latin typeface="+mn-ea"/>
                <a:ea typeface="+mn-ea"/>
              </a:rPr>
              <a:t>.</a:t>
            </a:r>
            <a:endParaRPr sz="2700" b="0" u="none" dirty="0">
              <a:solidFill>
                <a:srgbClr val="40404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9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오늘의 조형 단어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50000" y="1480000"/>
            <a:ext cx="290000" cy="29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10000" y="1400000"/>
            <a:ext cx="8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 u="none">
                <a:solidFill>
                  <a:srgbClr val="404040"/>
                </a:solidFill>
                <a:latin typeface="+mn-ea"/>
                <a:ea typeface="+mn-ea"/>
              </a:rPr>
              <a:t>잔-두 얼굴 그림에서 두 모습이 번갈아 보인 까닭을 떠올려 보세요.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4596000" y="2000000"/>
            <a:ext cx="3000000" cy="115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5400" b="1" u="none">
                <a:solidFill>
                  <a:srgbClr val="FFFFFF"/>
                </a:solidFill>
                <a:latin typeface="+mj-ea"/>
                <a:ea typeface="+mj-ea"/>
              </a:rPr>
              <a:t>대비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00000" y="3250000"/>
            <a:ext cx="10400000" cy="7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404040"/>
                </a:solidFill>
                <a:latin typeface="+mn-ea"/>
                <a:ea typeface="+mn-ea"/>
              </a:rPr>
              <a:t>검은색과 흰색, 밝은 것과 어두운 것처럼 서로 다른 것이 맞서면 서로를 더 또렷하게 보이게 해요. 이것을 대비라고 해요.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721000" y="4100000"/>
            <a:ext cx="2000000" cy="56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D9534A"/>
                </a:solidFill>
                <a:latin typeface="+mn-ea"/>
                <a:ea typeface="+mn-ea"/>
              </a:rPr>
              <a:t>검은색 ↔ 흰색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3971000" y="4100000"/>
            <a:ext cx="2000000" cy="56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D9534A"/>
                </a:solidFill>
                <a:latin typeface="+mn-ea"/>
                <a:ea typeface="+mn-ea"/>
              </a:rPr>
              <a:t>밝음 ↔ 어두움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221000" y="4100000"/>
            <a:ext cx="2000000" cy="56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D9534A"/>
                </a:solidFill>
                <a:latin typeface="+mn-ea"/>
                <a:ea typeface="+mn-ea"/>
              </a:rPr>
              <a:t>큼 ↔ 작음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8471000" y="4100000"/>
            <a:ext cx="2000000" cy="56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D9534A"/>
                </a:solidFill>
                <a:latin typeface="+mn-ea"/>
                <a:ea typeface="+mn-ea"/>
              </a:rPr>
              <a:t>거침 ↔ 매끈함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1300000" y="5050000"/>
            <a:ext cx="9600000" cy="650000"/>
          </a:xfrm>
          <a:prstGeom prst="roundRect">
            <a:avLst/>
          </a:prstGeom>
          <a:solidFill>
            <a:srgbClr val="FFF8F3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0" u="none">
                <a:solidFill>
                  <a:srgbClr val="404040"/>
                </a:solidFill>
                <a:latin typeface="+mn-ea"/>
                <a:ea typeface="+mn-ea"/>
              </a:rPr>
              <a:t>생각해 보기: 활동 2의 두 화단 사진에서는 무엇과 무엇이 대비될까요?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10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오늘의 핵심 문장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50000" y="1480000"/>
            <a:ext cx="290000" cy="29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10000" y="1400000"/>
            <a:ext cx="8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 u="none">
                <a:solidFill>
                  <a:srgbClr val="404040"/>
                </a:solidFill>
                <a:latin typeface="+mn-ea"/>
                <a:ea typeface="+mn-ea"/>
              </a:rPr>
              <a:t>빈칸에 들어갈 말을 추측해 볼까요?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00000" y="2600000"/>
            <a:ext cx="10400000" cy="1750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1100000" y="2850000"/>
            <a:ext cx="10000000" cy="12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사진</a:t>
            </a:r>
            <a:r>
              <a:rPr lang="ko-KR" altLang="en-US" sz="2800" b="1" u="none" dirty="0">
                <a:solidFill>
                  <a:srgbClr val="404040"/>
                </a:solidFill>
                <a:latin typeface="+mj-ea"/>
                <a:ea typeface="+mj-ea"/>
              </a:rPr>
              <a:t>가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는 </a:t>
            </a:r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같은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세상을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나만의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800" b="1" u="none" dirty="0">
                <a:solidFill>
                  <a:srgbClr val="808080"/>
                </a:solidFill>
                <a:latin typeface="+mj-ea"/>
                <a:ea typeface="+mj-ea"/>
              </a:rPr>
              <a:t>  ?  </a:t>
            </a:r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으로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 볼 수 </a:t>
            </a:r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있다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11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오늘의 핵심 문장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50000" y="1480000"/>
            <a:ext cx="290000" cy="29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10000" y="1400000"/>
            <a:ext cx="8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 u="none">
                <a:solidFill>
                  <a:srgbClr val="404040"/>
                </a:solidFill>
                <a:latin typeface="+mn-ea"/>
                <a:ea typeface="+mn-ea"/>
              </a:rPr>
              <a:t>오늘의 핵심 문장을 함께 읽어 봅시다.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00000" y="1880000"/>
            <a:ext cx="10400000" cy="3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/>
            <a:r>
              <a:rPr sz="1400" b="0" u="none">
                <a:solidFill>
                  <a:srgbClr val="808080"/>
                </a:solidFill>
                <a:latin typeface="+mn-ea"/>
                <a:ea typeface="+mn-ea"/>
              </a:rPr>
              <a:t>1차시  사진가(나)는 온몸의 감각으로 세상을 관찰할 수 있다.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900000" y="2330000"/>
            <a:ext cx="10400000" cy="1750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1100000" y="2580000"/>
            <a:ext cx="10000000" cy="12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사진가는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같은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세상을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나만의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800" b="1" u="sng" dirty="0" err="1">
                <a:solidFill>
                  <a:srgbClr val="D9534A"/>
                </a:solidFill>
                <a:latin typeface="+mj-ea"/>
                <a:ea typeface="+mj-ea"/>
              </a:rPr>
              <a:t>관점</a:t>
            </a:r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으로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 볼 수 </a:t>
            </a:r>
            <a:r>
              <a:rPr sz="2800" b="1" u="none" dirty="0" err="1">
                <a:solidFill>
                  <a:srgbClr val="404040"/>
                </a:solidFill>
                <a:latin typeface="+mj-ea"/>
                <a:ea typeface="+mj-ea"/>
              </a:rPr>
              <a:t>있다</a:t>
            </a:r>
            <a:r>
              <a:rPr sz="2800" b="1" u="none" dirty="0">
                <a:solidFill>
                  <a:srgbClr val="404040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300000" y="4280000"/>
            <a:ext cx="9600000" cy="5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404040"/>
                </a:solidFill>
                <a:latin typeface="+mn-ea"/>
                <a:ea typeface="+mn-ea"/>
              </a:rPr>
              <a:t>일곱 차시 동안 일곱 문장을 모아, 7차시에 함께 읽어요.</a:t>
            </a:r>
          </a:p>
        </p:txBody>
      </p:sp>
      <p:sp>
        <p:nvSpPr>
          <p:cNvPr id="103" name="Oval 102"/>
          <p:cNvSpPr/>
          <p:nvPr/>
        </p:nvSpPr>
        <p:spPr>
          <a:xfrm>
            <a:off x="4226000" y="4880000"/>
            <a:ext cx="380000" cy="380000"/>
          </a:xfrm>
          <a:prstGeom prst="ellipse">
            <a:avLst/>
          </a:prstGeom>
          <a:solidFill>
            <a:srgbClr val="D9534A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104" name="Oval 103"/>
          <p:cNvSpPr/>
          <p:nvPr/>
        </p:nvSpPr>
        <p:spPr>
          <a:xfrm>
            <a:off x="4786000" y="4880000"/>
            <a:ext cx="380000" cy="380000"/>
          </a:xfrm>
          <a:prstGeom prst="ellipse">
            <a:avLst/>
          </a:prstGeom>
          <a:solidFill>
            <a:srgbClr val="D9534A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u="none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105" name="Oval 104"/>
          <p:cNvSpPr/>
          <p:nvPr/>
        </p:nvSpPr>
        <p:spPr>
          <a:xfrm>
            <a:off x="5346000" y="4880000"/>
            <a:ext cx="380000" cy="38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u="none">
                <a:solidFill>
                  <a:srgbClr val="D9534A"/>
                </a:solidFill>
                <a:latin typeface="+mn-ea"/>
                <a:ea typeface="+mn-ea"/>
              </a:rPr>
              <a:t>3</a:t>
            </a:r>
          </a:p>
        </p:txBody>
      </p:sp>
      <p:sp>
        <p:nvSpPr>
          <p:cNvPr id="106" name="Oval 105"/>
          <p:cNvSpPr/>
          <p:nvPr/>
        </p:nvSpPr>
        <p:spPr>
          <a:xfrm>
            <a:off x="5906000" y="4880000"/>
            <a:ext cx="380000" cy="38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u="none">
                <a:solidFill>
                  <a:srgbClr val="D9534A"/>
                </a:solidFill>
                <a:latin typeface="+mn-ea"/>
                <a:ea typeface="+mn-ea"/>
              </a:rPr>
              <a:t>4</a:t>
            </a:r>
          </a:p>
        </p:txBody>
      </p:sp>
      <p:sp>
        <p:nvSpPr>
          <p:cNvPr id="107" name="Oval 106"/>
          <p:cNvSpPr/>
          <p:nvPr/>
        </p:nvSpPr>
        <p:spPr>
          <a:xfrm>
            <a:off x="6466000" y="4880000"/>
            <a:ext cx="380000" cy="38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u="none">
                <a:solidFill>
                  <a:srgbClr val="D9534A"/>
                </a:solidFill>
                <a:latin typeface="+mn-ea"/>
                <a:ea typeface="+mn-ea"/>
              </a:rPr>
              <a:t>5</a:t>
            </a:r>
          </a:p>
        </p:txBody>
      </p:sp>
      <p:sp>
        <p:nvSpPr>
          <p:cNvPr id="108" name="Oval 107"/>
          <p:cNvSpPr/>
          <p:nvPr/>
        </p:nvSpPr>
        <p:spPr>
          <a:xfrm>
            <a:off x="7026000" y="4880000"/>
            <a:ext cx="380000" cy="38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u="none">
                <a:solidFill>
                  <a:srgbClr val="D9534A"/>
                </a:solidFill>
                <a:latin typeface="+mn-ea"/>
                <a:ea typeface="+mn-ea"/>
              </a:rPr>
              <a:t>6</a:t>
            </a:r>
          </a:p>
        </p:txBody>
      </p:sp>
      <p:sp>
        <p:nvSpPr>
          <p:cNvPr id="109" name="Oval 108"/>
          <p:cNvSpPr/>
          <p:nvPr/>
        </p:nvSpPr>
        <p:spPr>
          <a:xfrm>
            <a:off x="7586000" y="4880000"/>
            <a:ext cx="380000" cy="38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u="none">
                <a:solidFill>
                  <a:srgbClr val="D9534A"/>
                </a:solidFill>
                <a:latin typeface="+mn-ea"/>
                <a:ea typeface="+mn-ea"/>
              </a:rPr>
              <a:t>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12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AI는? 나는?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50000" y="1480000"/>
            <a:ext cx="290000" cy="29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10000" y="1400000"/>
            <a:ext cx="8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 u="none">
                <a:solidFill>
                  <a:srgbClr val="404040"/>
                </a:solidFill>
                <a:latin typeface="+mn-ea"/>
                <a:ea typeface="+mn-ea"/>
              </a:rPr>
              <a:t>같은 대상을 만날 때, AI와 나는 어떻게 다를까요?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000000" y="2050000"/>
            <a:ext cx="4900000" cy="620000"/>
          </a:xfrm>
          <a:prstGeom prst="roundRect">
            <a:avLst/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 u="none">
                <a:solidFill>
                  <a:srgbClr val="FFFFFF"/>
                </a:solidFill>
                <a:latin typeface="+mj-ea"/>
                <a:ea typeface="+mj-ea"/>
              </a:rPr>
              <a:t>AI는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1000000" y="2750000"/>
            <a:ext cx="4900000" cy="2100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5B6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‘학교’를 검색하면</a:t>
            </a:r>
          </a:p>
          <a:p>
            <a:pPr algn="ctr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수만 장의 사진을</a:t>
            </a:r>
          </a:p>
          <a:p>
            <a:pPr algn="ctr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한꺼번에 보여 줘요.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300000" y="2050000"/>
            <a:ext cx="4900000" cy="62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 u="none">
                <a:solidFill>
                  <a:srgbClr val="FFFFFF"/>
                </a:solidFill>
                <a:latin typeface="+mj-ea"/>
                <a:ea typeface="+mj-ea"/>
              </a:rPr>
              <a:t>나는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300000" y="2750000"/>
            <a:ext cx="4900000" cy="2100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그중 무엇을</a:t>
            </a:r>
          </a:p>
          <a:p>
            <a:pPr algn="ctr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나의 한 장으로 고를지</a:t>
            </a:r>
          </a:p>
          <a:p>
            <a:pPr algn="ctr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스스로 정해요.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900000" y="5250000"/>
            <a:ext cx="10400000" cy="56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u="none">
                <a:solidFill>
                  <a:srgbClr val="FFFFFF"/>
                </a:solidFill>
                <a:latin typeface="+mn-ea"/>
                <a:ea typeface="+mn-ea"/>
              </a:rPr>
              <a:t>많은 사진 가운데 무엇을 고를지는 내가 정해요.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13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1. 사진의 일 찾기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영상 시청</a:t>
            </a:r>
            <a:endParaRPr lang="ko-KR" altLang="en-US" sz="2400" spc="-147" dirty="0">
              <a:solidFill>
                <a:schemeClr val="bg1">
                  <a:alpha val="99000"/>
                </a:scheme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97" name="Rounded Rectangle 96"/>
          <p:cNvSpPr/>
          <p:nvPr/>
        </p:nvSpPr>
        <p:spPr>
          <a:xfrm>
            <a:off x="650000" y="1480000"/>
            <a:ext cx="290000" cy="29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10000" y="1400000"/>
            <a:ext cx="8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 u="none">
                <a:solidFill>
                  <a:srgbClr val="404040"/>
                </a:solidFill>
                <a:latin typeface="+mn-ea"/>
                <a:ea typeface="+mn-ea"/>
              </a:rPr>
              <a:t>영상 속 사진들은 각각 어떤 일을 하고 있을까요?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2496000" y="2000000"/>
            <a:ext cx="7200000" cy="4050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F6877E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  <a:p>
            <a:pPr algn="ctr"/>
            <a:endParaRPr/>
          </a:p>
          <a:p>
            <a:pPr algn="ctr"/>
            <a:r>
              <a:rPr sz="1800" b="0" u="none">
                <a:solidFill>
                  <a:srgbClr val="808080"/>
                </a:solidFill>
                <a:latin typeface="+mn-ea"/>
                <a:ea typeface="+mn-ea"/>
              </a:rPr>
              <a:t>차시 영상 「우리 학교 사진 산책」 (1분 10초 내외)</a:t>
            </a:r>
          </a:p>
          <a:p>
            <a:pPr algn="ctr"/>
            <a:r>
              <a:rPr sz="1800" b="0" u="none">
                <a:solidFill>
                  <a:srgbClr val="808080"/>
                </a:solidFill>
                <a:latin typeface="+mn-ea"/>
                <a:ea typeface="+mn-ea"/>
              </a:rPr>
              <a:t>통합학습창 [함께 보기]로 재생</a:t>
            </a:r>
          </a:p>
        </p:txBody>
      </p:sp>
      <p:sp>
        <p:nvSpPr>
          <p:cNvPr id="100" name="Isosceles Triangle 99"/>
          <p:cNvSpPr/>
          <p:nvPr/>
        </p:nvSpPr>
        <p:spPr>
          <a:xfrm rot="5400000">
            <a:off x="5766000" y="2900000"/>
            <a:ext cx="660000" cy="620000"/>
          </a:xfrm>
          <a:prstGeom prst="triangl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2차시_영상(같은 세상 다른 눈)">
            <a:hlinkClick r:id="" action="ppaction://media"/>
            <a:extLst>
              <a:ext uri="{FF2B5EF4-FFF2-40B4-BE49-F238E27FC236}">
                <a16:creationId xmlns:a16="http://schemas.microsoft.com/office/drawing/2014/main" id="{2C377C2B-6318-EB86-4EE7-970A29DC247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052200" y="1889758"/>
            <a:ext cx="7857800" cy="44200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14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14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 방법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1. 사진의 일 찾기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000" y="167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50000" y="1610000"/>
            <a:ext cx="9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영상에 나온 네 장면을 떠올려요.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000" y="232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50000" y="2260000"/>
            <a:ext cx="90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사진이 하는 네 가지 일을 알아봐요.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50000" y="2820000"/>
            <a:ext cx="2340000" cy="10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n-ea"/>
                <a:ea typeface="+mn-ea"/>
              </a:rPr>
              <a:t>기록</a:t>
            </a:r>
          </a:p>
          <a:p>
            <a:pPr algn="ctr"/>
            <a:r>
              <a:rPr sz="1700" b="0" u="none">
                <a:solidFill>
                  <a:srgbClr val="404040"/>
                </a:solidFill>
                <a:latin typeface="+mn-ea"/>
                <a:ea typeface="+mn-ea"/>
              </a:rPr>
              <a:t>있었던 일을 남겨요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70000" y="2820000"/>
            <a:ext cx="2340000" cy="10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n-ea"/>
                <a:ea typeface="+mn-ea"/>
              </a:rPr>
              <a:t>알림</a:t>
            </a:r>
          </a:p>
          <a:p>
            <a:pPr algn="ctr"/>
            <a:r>
              <a:rPr sz="1700" b="0" u="none">
                <a:solidFill>
                  <a:srgbClr val="404040"/>
                </a:solidFill>
                <a:latin typeface="+mn-ea"/>
                <a:ea typeface="+mn-ea"/>
              </a:rPr>
              <a:t>소식을 전해요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90000" y="2820000"/>
            <a:ext cx="2340000" cy="10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n-ea"/>
                <a:ea typeface="+mn-ea"/>
              </a:rPr>
              <a:t>설득</a:t>
            </a:r>
          </a:p>
          <a:p>
            <a:pPr algn="ctr"/>
            <a:r>
              <a:rPr sz="1700" b="0" u="none">
                <a:solidFill>
                  <a:srgbClr val="404040"/>
                </a:solidFill>
                <a:latin typeface="+mn-ea"/>
                <a:ea typeface="+mn-ea"/>
              </a:rPr>
              <a:t>마음을 움직여요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0000" y="2820000"/>
            <a:ext cx="2340000" cy="10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n-ea"/>
                <a:ea typeface="+mn-ea"/>
              </a:rPr>
              <a:t>추억</a:t>
            </a:r>
          </a:p>
          <a:p>
            <a:pPr algn="ctr"/>
            <a:r>
              <a:rPr sz="1700" b="0" u="none">
                <a:solidFill>
                  <a:srgbClr val="404040"/>
                </a:solidFill>
                <a:latin typeface="+mn-ea"/>
                <a:ea typeface="+mn-ea"/>
              </a:rPr>
              <a:t>소중한 순간을 간직해요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000" y="412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50000" y="4060000"/>
            <a:ext cx="9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화이트보드의 네 칸에 사진을 나누어 놓고, 활동지에 짝지어 적어요.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000" y="5750000"/>
            <a:ext cx="10400000" cy="560000"/>
          </a:xfrm>
          <a:prstGeom prst="round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u="none">
                <a:solidFill>
                  <a:srgbClr val="404040"/>
                </a:solidFill>
                <a:latin typeface="+mn-ea"/>
                <a:ea typeface="+mn-ea"/>
              </a:rPr>
              <a:t>한 사진이 여러 가지 일을 할 수도 있어요. 그렇게 생각한 까닭을 말해 봐요.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15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활동지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1. 사진의 일 찾기_활동지, 활동 예시</a:t>
            </a:r>
          </a:p>
        </p:txBody>
      </p:sp>
      <p:pic>
        <p:nvPicPr>
          <p:cNvPr id="13" name="Picture 12" descr="2차시 활동지: 사진은 무엇을 담을까?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000" y="1780000"/>
            <a:ext cx="8533000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16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예시 작품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1. 사진의 일 찾기_활동지, 활동 예시</a:t>
            </a:r>
          </a:p>
        </p:txBody>
      </p:sp>
      <p:pic>
        <p:nvPicPr>
          <p:cNvPr id="13" name="Picture 12" descr="2차시 활동 예시 작품: 사진은 무엇을 담을까?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000" y="1780000"/>
            <a:ext cx="8533000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17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사진 비교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2. 사진가의 마음 읽기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0000" y="1480000"/>
            <a:ext cx="9300000" cy="5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1" u="none">
                <a:solidFill>
                  <a:srgbClr val="404040"/>
                </a:solidFill>
                <a:latin typeface="+mn-ea"/>
                <a:ea typeface="+mn-ea"/>
              </a:rPr>
              <a:t>같은 학교 화단인데 두 사진의 느낌이 달라요. 두 사진가는 각각 무엇을 말하고 싶었을까요?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000" y="5520000"/>
            <a:ext cx="5000000" cy="4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 u="none">
                <a:solidFill>
                  <a:srgbClr val="D9534A"/>
                </a:solidFill>
                <a:latin typeface="+mn-ea"/>
                <a:ea typeface="+mn-ea"/>
              </a:rPr>
              <a:t>(가)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0000" y="5520000"/>
            <a:ext cx="5000000" cy="48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 u="none">
                <a:solidFill>
                  <a:srgbClr val="D9534A"/>
                </a:solidFill>
                <a:latin typeface="+mn-ea"/>
                <a:ea typeface="+mn-ea"/>
              </a:rPr>
              <a:t>(나)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733833B-723B-68E5-26D2-9C3FF8DCF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000" y="2305925"/>
            <a:ext cx="4192100" cy="314407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BB08CB1-A9FA-9E94-C061-B5946C819A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509" y="2281480"/>
            <a:ext cx="4302291" cy="322671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18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 방법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2. 사진가의 마음 읽기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000" y="167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50000" y="1610000"/>
            <a:ext cx="9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두 사진에서 무엇이 보이는지 찾아요.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000" y="232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50000" y="2260000"/>
            <a:ext cx="9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두 사진가는 무엇을 말하고 싶었을지 모둠에서 이야기하고, 활동지에 적어요.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000" y="297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50000" y="2910000"/>
            <a:ext cx="9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2~3개 모둠이 발표하고, 나머지 모둠은 클래스보드에 한 줄로 올려요.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50000" y="3700000"/>
            <a:ext cx="9500000" cy="700000"/>
          </a:xfrm>
          <a:prstGeom prst="roundRect">
            <a:avLst/>
          </a:prstGeom>
          <a:solidFill>
            <a:srgbClr val="FDECE9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 u="none">
                <a:solidFill>
                  <a:srgbClr val="404040"/>
                </a:solidFill>
                <a:latin typeface="+mn-ea"/>
                <a:ea typeface="+mn-ea"/>
              </a:rPr>
              <a:t>사진은 있는 그대로가 아니라, 찍는 사람의 관점을 담는다.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000" y="5750000"/>
            <a:ext cx="10400000" cy="560000"/>
          </a:xfrm>
          <a:prstGeom prst="round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404040"/>
                </a:solidFill>
                <a:latin typeface="+mn-ea"/>
                <a:ea typeface="+mn-ea"/>
              </a:rPr>
              <a:t>모둠 활동(4인 1조): 어느 사진이 더 좋은지가 아니라, 무엇을 보여 주려 했는지 찾아요.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19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 방법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3. 나의 한 장면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000" y="167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50000" y="1610000"/>
            <a:ext cx="9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내가 사진가라면 우리 학교의 어떤 장면을 세상에 보여 주고 싶나요?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000" y="232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50000" y="2260000"/>
            <a:ext cx="9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보여 주고 싶은 장면과 그 까닭을 한 문장으로 써서 클래스보드에 올려요.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50000" y="3050000"/>
            <a:ext cx="9500000" cy="700000"/>
          </a:xfrm>
          <a:prstGeom prst="roundRect">
            <a:avLst/>
          </a:prstGeom>
          <a:solidFill>
            <a:srgbClr val="FDECE9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 u="none">
                <a:solidFill>
                  <a:srgbClr val="404040"/>
                </a:solidFill>
                <a:latin typeface="+mn-ea"/>
                <a:ea typeface="+mn-ea"/>
              </a:rPr>
              <a:t>예) 아침에 복도 창문으로 들어오는 햇빛을 보여 주고 싶다. 매일 지나치던 복도가 햇빛 때문에 따뜻해 보였기 때문이다.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000" y="5750000"/>
            <a:ext cx="10400000" cy="560000"/>
          </a:xfrm>
          <a:prstGeom prst="round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u="none">
                <a:solidFill>
                  <a:srgbClr val="404040"/>
                </a:solidFill>
                <a:latin typeface="+mn-ea"/>
                <a:ea typeface="+mn-ea"/>
              </a:rPr>
              <a:t>오늘 올린 글은 6차시 촬영 계획의 재료가 돼요.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20</a:t>
            </a:fld>
            <a:endParaRPr lang="en-US" dirty="0"/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정리하기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0000" y="2050000"/>
            <a:ext cx="2300000" cy="90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FFFFFF"/>
                </a:solidFill>
                <a:latin typeface="+mn-ea"/>
                <a:ea typeface="+mn-ea"/>
              </a:rPr>
              <a:t>오늘의 조형 단어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00000" y="2050000"/>
            <a:ext cx="7700000" cy="9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200" b="1" u="none">
                <a:solidFill>
                  <a:srgbClr val="D9534A"/>
                </a:solidFill>
                <a:latin typeface="+mn-ea"/>
                <a:ea typeface="+mn-ea"/>
              </a:rPr>
              <a:t>대비</a:t>
            </a:r>
            <a:r>
              <a:rPr sz="2200" b="0" u="none">
                <a:solidFill>
                  <a:srgbClr val="404040"/>
                </a:solidFill>
                <a:latin typeface="+mn-ea"/>
                <a:ea typeface="+mn-ea"/>
              </a:rPr>
              <a:t>  서로 다른 것이 맞서 서로를 또렷하게 보이게 하는 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0000" y="3450000"/>
            <a:ext cx="2300000" cy="90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FFFFFF"/>
                </a:solidFill>
                <a:latin typeface="+mn-ea"/>
                <a:ea typeface="+mn-ea"/>
              </a:rPr>
              <a:t>오늘 한 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00000" y="3450000"/>
            <a:ext cx="7700000" cy="9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200" b="0" u="none">
                <a:solidFill>
                  <a:srgbClr val="404040"/>
                </a:solidFill>
                <a:latin typeface="+mn-ea"/>
                <a:ea typeface="+mn-ea"/>
              </a:rPr>
              <a:t>같은 화단을 찍은 두 사진에서 사진가가 보여 주고 싶었던 것을 찾았어요.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0000" y="4850000"/>
            <a:ext cx="2300000" cy="90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FFFFFF"/>
                </a:solidFill>
                <a:latin typeface="+mn-ea"/>
                <a:ea typeface="+mn-ea"/>
              </a:rPr>
              <a:t>핵심 문장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0000" y="4850000"/>
            <a:ext cx="7700000" cy="9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200" b="0" u="none">
                <a:solidFill>
                  <a:srgbClr val="404040"/>
                </a:solidFill>
                <a:latin typeface="+mn-ea"/>
                <a:ea typeface="+mn-ea"/>
              </a:rPr>
              <a:t>사진가(나)는 같은 세상을 나만의 관점으로 볼 수 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형성평가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2400000" y="2600000"/>
            <a:ext cx="7400000" cy="20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0" u="none">
                <a:solidFill>
                  <a:srgbClr val="404040"/>
                </a:solidFill>
                <a:latin typeface="+mn-ea"/>
                <a:ea typeface="+mn-ea"/>
              </a:rPr>
              <a:t>오늘 배운 내용을 확인해 볼까요?</a:t>
            </a:r>
          </a:p>
          <a:p>
            <a:pPr algn="ctr"/>
            <a:r>
              <a:rPr sz="2800" b="0" u="none">
                <a:solidFill>
                  <a:srgbClr val="404040"/>
                </a:solidFill>
                <a:latin typeface="+mn-ea"/>
                <a:ea typeface="+mn-ea"/>
              </a:rPr>
              <a:t>모두 3문제가 준비되어 있습니다.</a:t>
            </a:r>
          </a:p>
          <a:p>
            <a:pPr algn="ctr"/>
            <a:r>
              <a:rPr sz="2800" b="0" u="none">
                <a:solidFill>
                  <a:srgbClr val="404040"/>
                </a:solidFill>
                <a:latin typeface="+mn-ea"/>
                <a:ea typeface="+mn-ea"/>
              </a:rPr>
              <a:t>하이러닝 형성평가에서 답을 골라 보세요.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문제 1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1700000" y="2250000"/>
            <a:ext cx="8800000" cy="9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 u="none">
                <a:solidFill>
                  <a:srgbClr val="404040"/>
                </a:solidFill>
                <a:latin typeface="+mn-ea"/>
                <a:ea typeface="+mn-ea"/>
              </a:rPr>
              <a:t>사진은 찍는 사람의 (    )을/를 담습니다. 빈칸에 알맞은 말은 무엇인가요?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5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404040"/>
                </a:solidFill>
                <a:latin typeface="+mn-ea"/>
                <a:ea typeface="+mn-ea"/>
              </a:rPr>
              <a:t>① 질감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4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404040"/>
                </a:solidFill>
                <a:latin typeface="+mn-ea"/>
                <a:ea typeface="+mn-ea"/>
              </a:rPr>
              <a:t>② 관점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3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404040"/>
                </a:solidFill>
                <a:latin typeface="+mn-ea"/>
                <a:ea typeface="+mn-ea"/>
              </a:rPr>
              <a:t>③ 대비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정답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1700000" y="2350000"/>
            <a:ext cx="8800000" cy="7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808080"/>
                </a:solidFill>
                <a:latin typeface="+mn-ea"/>
                <a:ea typeface="+mn-ea"/>
              </a:rPr>
              <a:t>사진은 찍는 사람의 (    )을/를 담습니다. 빈칸에 알맞은 말은 무엇인가요?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00000" y="3100000"/>
            <a:ext cx="7200000" cy="10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1" u="none">
                <a:solidFill>
                  <a:srgbClr val="D9534A"/>
                </a:solidFill>
                <a:latin typeface="+mj-ea"/>
                <a:ea typeface="+mj-ea"/>
              </a:rPr>
              <a:t>② 관점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문제 2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1700000" y="2250000"/>
            <a:ext cx="8800000" cy="9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 u="none">
                <a:solidFill>
                  <a:srgbClr val="404040"/>
                </a:solidFill>
                <a:latin typeface="+mn-ea"/>
                <a:ea typeface="+mn-ea"/>
              </a:rPr>
              <a:t>같은 화단을 찍었는데 두 사진이 서로 다른 까닭으로 가장 알맞은 것은 무엇인가요?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5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0" u="none">
                <a:solidFill>
                  <a:srgbClr val="404040"/>
                </a:solidFill>
                <a:latin typeface="+mn-ea"/>
                <a:ea typeface="+mn-ea"/>
              </a:rPr>
              <a:t>① 사진가가 보여 주고 싶은 것이 달라서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4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0" u="none">
                <a:solidFill>
                  <a:srgbClr val="404040"/>
                </a:solidFill>
                <a:latin typeface="+mn-ea"/>
                <a:ea typeface="+mn-ea"/>
              </a:rPr>
              <a:t>② 카메라가 서로 달라서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3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0" u="none">
                <a:solidFill>
                  <a:srgbClr val="404040"/>
                </a:solidFill>
                <a:latin typeface="+mn-ea"/>
                <a:ea typeface="+mn-ea"/>
              </a:rPr>
              <a:t>③ 찍은 사진의 개수가 달라서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정답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1700000" y="2350000"/>
            <a:ext cx="8800000" cy="7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808080"/>
                </a:solidFill>
                <a:latin typeface="+mn-ea"/>
                <a:ea typeface="+mn-ea"/>
              </a:rPr>
              <a:t>같은 화단을 찍었는데 두 사진이 서로 다른 까닭으로 가장 알맞은 것은 무엇인가요?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00000" y="3100000"/>
            <a:ext cx="7200000" cy="10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u="none">
                <a:solidFill>
                  <a:srgbClr val="D9534A"/>
                </a:solidFill>
                <a:latin typeface="+mj-ea"/>
                <a:ea typeface="+mj-ea"/>
              </a:rPr>
              <a:t>① 사진가가 보여 주고 싶은 것이 달라서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문제 3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1700000" y="2250000"/>
            <a:ext cx="8800000" cy="9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 u="none">
                <a:solidFill>
                  <a:srgbClr val="404040"/>
                </a:solidFill>
                <a:latin typeface="+mn-ea"/>
                <a:ea typeface="+mn-ea"/>
              </a:rPr>
              <a:t>교실 화분이 자라는 모습을 날짜별로 찍어 붙인 사진이 하는 일은 무엇인가요?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5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404040"/>
                </a:solidFill>
                <a:latin typeface="+mn-ea"/>
                <a:ea typeface="+mn-ea"/>
              </a:rPr>
              <a:t>① 알림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4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404040"/>
                </a:solidFill>
                <a:latin typeface="+mn-ea"/>
                <a:ea typeface="+mn-ea"/>
              </a:rPr>
              <a:t>② 설득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3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404040"/>
                </a:solidFill>
                <a:latin typeface="+mn-ea"/>
                <a:ea typeface="+mn-ea"/>
              </a:rPr>
              <a:t>③ 기록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정답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1700000" y="2350000"/>
            <a:ext cx="8800000" cy="7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808080"/>
                </a:solidFill>
                <a:latin typeface="+mn-ea"/>
                <a:ea typeface="+mn-ea"/>
              </a:rPr>
              <a:t>교실 화분이 자라는 모습을 날짜별로 찍어 붙인 사진이 하는 일은 무엇인가요?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00000" y="3100000"/>
            <a:ext cx="7200000" cy="10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1" u="none">
                <a:solidFill>
                  <a:srgbClr val="D9534A"/>
                </a:solidFill>
                <a:latin typeface="+mj-ea"/>
                <a:ea typeface="+mj-ea"/>
              </a:rPr>
              <a:t>③ 기록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900000" y="4250000"/>
            <a:ext cx="8200000" cy="8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0" u="none">
                <a:solidFill>
                  <a:srgbClr val="404040"/>
                </a:solidFill>
                <a:latin typeface="+mn-ea"/>
                <a:ea typeface="+mn-ea"/>
              </a:rPr>
              <a:t>날짜별로 자라는 모습을 남겨 두는 것은 기록이에요.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28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다음 수업 안내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 예고</a:t>
            </a:r>
            <a:endParaRPr lang="ko-KR" altLang="en-US" sz="2400" spc="-147" dirty="0">
              <a:solidFill>
                <a:schemeClr val="bg1">
                  <a:alpha val="99000"/>
                </a:scheme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520000" y="1600000"/>
            <a:ext cx="7400000" cy="17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/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다음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시간에는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 &lt;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같은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세상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, 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다른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 눈&gt; 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단원의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endParaRPr lang="en-US" sz="2400" b="0" u="none" dirty="0">
              <a:solidFill>
                <a:srgbClr val="404040"/>
              </a:solidFill>
              <a:latin typeface="+mn-ea"/>
              <a:ea typeface="+mn-ea"/>
            </a:endParaRPr>
          </a:p>
          <a:p>
            <a:pPr algn="l"/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세 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번째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시간으로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 '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사진가의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첫걸음'을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주제로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endParaRPr lang="en-US" sz="2400" b="0" u="none" dirty="0">
              <a:solidFill>
                <a:srgbClr val="404040"/>
              </a:solidFill>
              <a:latin typeface="+mn-ea"/>
              <a:ea typeface="+mn-ea"/>
            </a:endParaRPr>
          </a:p>
          <a:p>
            <a:pPr algn="l"/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수업을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진행합니다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.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20000" y="3500000"/>
            <a:ext cx="7200000" cy="10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/>
            <a:r>
              <a:rPr sz="2200" b="0" u="none" dirty="0" err="1">
                <a:solidFill>
                  <a:srgbClr val="404040"/>
                </a:solidFill>
                <a:latin typeface="+mn-ea"/>
                <a:ea typeface="+mn-ea"/>
              </a:rPr>
              <a:t>편안한</a:t>
            </a:r>
            <a:r>
              <a:rPr sz="22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200" b="0" u="none" dirty="0" err="1">
                <a:solidFill>
                  <a:srgbClr val="404040"/>
                </a:solidFill>
                <a:latin typeface="+mn-ea"/>
                <a:ea typeface="+mn-ea"/>
              </a:rPr>
              <a:t>마음으로</a:t>
            </a:r>
            <a:r>
              <a:rPr sz="2200" b="0" u="none" dirty="0">
                <a:solidFill>
                  <a:srgbClr val="404040"/>
                </a:solidFill>
                <a:latin typeface="+mn-ea"/>
                <a:ea typeface="+mn-ea"/>
              </a:rPr>
              <a:t>, </a:t>
            </a:r>
            <a:r>
              <a:rPr sz="2200" b="0" u="none" dirty="0" err="1">
                <a:solidFill>
                  <a:srgbClr val="404040"/>
                </a:solidFill>
                <a:latin typeface="+mn-ea"/>
                <a:ea typeface="+mn-ea"/>
              </a:rPr>
              <a:t>열린</a:t>
            </a:r>
            <a:r>
              <a:rPr sz="22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200" b="0" u="none" dirty="0" err="1">
                <a:solidFill>
                  <a:srgbClr val="404040"/>
                </a:solidFill>
                <a:latin typeface="+mn-ea"/>
                <a:ea typeface="+mn-ea"/>
              </a:rPr>
              <a:t>자세로</a:t>
            </a:r>
            <a:r>
              <a:rPr sz="22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200" b="0" u="none" dirty="0" err="1">
                <a:solidFill>
                  <a:srgbClr val="404040"/>
                </a:solidFill>
                <a:latin typeface="+mn-ea"/>
                <a:ea typeface="+mn-ea"/>
              </a:rPr>
              <a:t>수업에</a:t>
            </a:r>
            <a:r>
              <a:rPr sz="22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200" b="0" u="none" dirty="0" err="1">
                <a:solidFill>
                  <a:srgbClr val="404040"/>
                </a:solidFill>
                <a:latin typeface="+mn-ea"/>
                <a:ea typeface="+mn-ea"/>
              </a:rPr>
              <a:t>참여해</a:t>
            </a:r>
            <a:r>
              <a:rPr sz="22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200" b="0" u="none" dirty="0" err="1">
                <a:solidFill>
                  <a:srgbClr val="404040"/>
                </a:solidFill>
                <a:latin typeface="+mn-ea"/>
                <a:ea typeface="+mn-ea"/>
              </a:rPr>
              <a:t>주세요</a:t>
            </a:r>
            <a:r>
              <a:rPr sz="2200" b="0" u="none" dirty="0">
                <a:solidFill>
                  <a:srgbClr val="404040"/>
                </a:solidFill>
                <a:latin typeface="+mn-ea"/>
                <a:ea typeface="+mn-ea"/>
              </a:rPr>
              <a:t>. </a:t>
            </a:r>
            <a:endParaRPr lang="en-US" sz="2200" b="0" u="none" dirty="0">
              <a:solidFill>
                <a:srgbClr val="404040"/>
              </a:solidFill>
              <a:latin typeface="+mn-ea"/>
              <a:ea typeface="+mn-ea"/>
            </a:endParaRPr>
          </a:p>
          <a:p>
            <a:pPr algn="l"/>
            <a:r>
              <a:rPr sz="2200" b="0" u="none" dirty="0" err="1">
                <a:solidFill>
                  <a:srgbClr val="404040"/>
                </a:solidFill>
                <a:latin typeface="+mn-ea"/>
                <a:ea typeface="+mn-ea"/>
              </a:rPr>
              <a:t>다음</a:t>
            </a:r>
            <a:r>
              <a:rPr sz="22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200" b="0" u="none" dirty="0" err="1">
                <a:solidFill>
                  <a:srgbClr val="404040"/>
                </a:solidFill>
                <a:latin typeface="+mn-ea"/>
                <a:ea typeface="+mn-ea"/>
              </a:rPr>
              <a:t>시간에</a:t>
            </a:r>
            <a:r>
              <a:rPr sz="22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200" b="0" u="none" dirty="0" err="1">
                <a:solidFill>
                  <a:srgbClr val="404040"/>
                </a:solidFill>
                <a:latin typeface="+mn-ea"/>
                <a:ea typeface="+mn-ea"/>
              </a:rPr>
              <a:t>만나요</a:t>
            </a:r>
            <a:r>
              <a:rPr sz="2200" b="0" u="none" dirty="0">
                <a:solidFill>
                  <a:srgbClr val="404040"/>
                </a:solidFill>
                <a:latin typeface="+mn-ea"/>
                <a:ea typeface="+mn-ea"/>
              </a:rPr>
              <a:t>!</a:t>
            </a:r>
          </a:p>
        </p:txBody>
      </p:sp>
      <p:pic>
        <p:nvPicPr>
          <p:cNvPr id="99" name="Picture 98" descr="3차시 미리보기: 손가락 액자 그림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0000" y="2328982"/>
            <a:ext cx="2800000" cy="2142036"/>
          </a:xfrm>
          <a:prstGeom prst="rect">
            <a:avLst/>
          </a:prstGeom>
        </p:spPr>
      </p:pic>
      <p:sp>
        <p:nvSpPr>
          <p:cNvPr id="100" name="Oval Callout 99"/>
          <p:cNvSpPr/>
          <p:nvPr/>
        </p:nvSpPr>
        <p:spPr>
          <a:xfrm>
            <a:off x="7600000" y="5100000"/>
            <a:ext cx="2100000" cy="900000"/>
          </a:xfrm>
          <a:prstGeom prst="wedgeEllipseCallou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0" u="none">
                <a:solidFill>
                  <a:srgbClr val="404040"/>
                </a:solidFill>
                <a:latin typeface="+mn-ea"/>
                <a:ea typeface="+mn-ea"/>
              </a:rPr>
              <a:t>손가락 액자로 무엇을 담을까?</a:t>
            </a:r>
          </a:p>
        </p:txBody>
      </p:sp>
      <p:pic>
        <p:nvPicPr>
          <p:cNvPr id="101" name="Picture 100" descr="경기도공공미술교육연구회 로고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9111" y="5335203"/>
            <a:ext cx="1093755" cy="109375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0">
      <a:majorFont>
        <a:latin typeface="에스코어 드림 8 Heavy"/>
        <a:ea typeface="에스코어 드림 8 Heavy"/>
        <a:cs typeface=""/>
      </a:majorFont>
      <a:minorFont>
        <a:latin typeface="Noto Sans KR Medium"/>
        <a:ea typeface="Noto Sans KR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930</Words>
  <Application>Microsoft Office PowerPoint</Application>
  <PresentationFormat>와이드스크린</PresentationFormat>
  <Paragraphs>199</Paragraphs>
  <Slides>29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6" baseType="lpstr">
      <vt:lpstr>에스코어 드림 8 Heavy</vt:lpstr>
      <vt:lpstr>땅스부대찌개 Bold</vt:lpstr>
      <vt:lpstr>나눔스퀘어 ExtraBold</vt:lpstr>
      <vt:lpstr>Noto Sans KR Black</vt:lpstr>
      <vt:lpstr>Arial</vt:lpstr>
      <vt:lpstr>Noto Sans KR Medium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일곱 번의 눈, 그 중 오늘</vt:lpstr>
      <vt:lpstr>PowerPoint 프레젠테이션</vt:lpstr>
      <vt:lpstr>오늘의 조형 단어</vt:lpstr>
      <vt:lpstr>오늘의 핵심 문장</vt:lpstr>
      <vt:lpstr>오늘의 핵심 문장</vt:lpstr>
      <vt:lpstr>AI는? 나는?</vt:lpstr>
      <vt:lpstr>활동 1. 사진의 일 찾기</vt:lpstr>
      <vt:lpstr>활동 1. 사진의 일 찾기</vt:lpstr>
      <vt:lpstr>활동 1. 사진의 일 찾기_활동지, 활동 예시</vt:lpstr>
      <vt:lpstr>활동 1. 사진의 일 찾기_활동지, 활동 예시</vt:lpstr>
      <vt:lpstr>활동 2. 사진가의 마음 읽기</vt:lpstr>
      <vt:lpstr>활동 2. 사진가의 마음 읽기</vt:lpstr>
      <vt:lpstr>활동 3. 나의 한 장면</vt:lpstr>
      <vt:lpstr>정리하기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다음 수업 안내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장 혜림</cp:lastModifiedBy>
  <cp:revision>16</cp:revision>
  <dcterms:created xsi:type="dcterms:W3CDTF">2026-07-09T22:35:37Z</dcterms:created>
  <dcterms:modified xsi:type="dcterms:W3CDTF">2026-10-27T16:06:24Z</dcterms:modified>
</cp:coreProperties>
</file>